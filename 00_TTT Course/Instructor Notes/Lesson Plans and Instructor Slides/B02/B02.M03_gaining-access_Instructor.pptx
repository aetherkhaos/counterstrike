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8"/>
    <p:sldId id="257" r:id="rId14"/>
    <p:sldId id="258" r:id="rId15"/>
    <p:sldId id="259" r:id="rId7"/>
    <p:sldId id="260" r:id="rId6"/>
    <p:sldId id="261" r:id="rId5"/>
    <p:sldId id="262" r:id="rId4"/>
    <p:sldId id="263" r:id="rId3"/>
    <p:sldId id="264" r:id="rId2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  <p:sldId id="299" r:id="rId56"/>
    <p:sldId id="300" r:id="rId57"/>
  </p:sldIdLst>
  <p:sldSz cx="12192000" cy="6858000"/>
  <p:notesSz cx="6858000" cy="9144000"/>
  <p:embeddedFontLst>
    <p:embeddedFont>
      <p:font typeface="Google Sans" panose="020B0604020202020204" charset="0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6" roundtripDataSignature="AMtx7mj7TtVeiHhDOAAACQUvrCI66Sw72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5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1.xml"/><Relationship Id="rId9" Type="http://schemas.openxmlformats.org/officeDocument/2006/relationships/notesMaster" Target="notesMasters/notes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customschemas.google.com/relationships/presentationmetadata" Target="meta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ross, Clay" userId="f346be3b-e1cb-4aec-811e-8a3f5d1dd33f" providerId="ADAL" clId="{5AB2DC96-CDCC-45B4-B053-2F2446580AF9}"/>
    <pc:docChg chg="modSld modMainMaster">
      <pc:chgData name="Cross, Clay" userId="f346be3b-e1cb-4aec-811e-8a3f5d1dd33f" providerId="ADAL" clId="{5AB2DC96-CDCC-45B4-B053-2F2446580AF9}" dt="2026-10-12T17:41:14.911" v="31" actId="20577"/>
      <pc:docMkLst>
        <pc:docMk/>
      </pc:docMkLst>
      <pc:sldChg chg="addSp modSp mod">
        <pc:chgData name="Cross, Clay" userId="f346be3b-e1cb-4aec-811e-8a3f5d1dd33f" providerId="ADAL" clId="{5AB2DC96-CDCC-45B4-B053-2F2446580AF9}" dt="2026-10-12T17:41:14.911" v="31" actId="20577"/>
        <pc:sldMkLst>
          <pc:docMk/>
          <pc:sldMk cId="0" sldId="256"/>
        </pc:sldMkLst>
        <pc:spChg chg="add mod">
          <ac:chgData name="Cross, Clay" userId="f346be3b-e1cb-4aec-811e-8a3f5d1dd33f" providerId="ADAL" clId="{5AB2DC96-CDCC-45B4-B053-2F2446580AF9}" dt="2026-09-16T14:10:03.197" v="14"/>
          <ac:spMkLst>
            <pc:docMk/>
            <pc:sldMk cId="0" sldId="256"/>
            <ac:spMk id="2" creationId="{AF066B48-BBCB-D243-DA16-4C1CF9825479}"/>
          </ac:spMkLst>
        </pc:spChg>
        <pc:spChg chg="mod">
          <ac:chgData name="Cross, Clay" userId="f346be3b-e1cb-4aec-811e-8a3f5d1dd33f" providerId="ADAL" clId="{5AB2DC96-CDCC-45B4-B053-2F2446580AF9}" dt="2026-10-12T17:41:14.911" v="31" actId="20577"/>
          <ac:spMkLst>
            <pc:docMk/>
            <pc:sldMk cId="0" sldId="256"/>
            <ac:spMk id="93" creationId="{00000000-0000-0000-0000-000000000000}"/>
          </ac:spMkLst>
        </pc:spChg>
      </pc:sldChg>
      <pc:sldChg chg="addSp modSp">
        <pc:chgData name="Cross, Clay" userId="f346be3b-e1cb-4aec-811e-8a3f5d1dd33f" providerId="ADAL" clId="{5AB2DC96-CDCC-45B4-B053-2F2446580AF9}" dt="2026-09-16T14:10:05.967" v="15"/>
        <pc:sldMkLst>
          <pc:docMk/>
          <pc:sldMk cId="0" sldId="257"/>
        </pc:sldMkLst>
        <pc:spChg chg="add mod">
          <ac:chgData name="Cross, Clay" userId="f346be3b-e1cb-4aec-811e-8a3f5d1dd33f" providerId="ADAL" clId="{5AB2DC96-CDCC-45B4-B053-2F2446580AF9}" dt="2026-09-16T14:10:05.967" v="15"/>
          <ac:spMkLst>
            <pc:docMk/>
            <pc:sldMk cId="0" sldId="257"/>
            <ac:spMk id="2" creationId="{C59CE0A4-E66C-0842-A9F5-B432CCCBB70C}"/>
          </ac:spMkLst>
        </pc:spChg>
      </pc:sldChg>
      <pc:sldChg chg="addSp modSp">
        <pc:chgData name="Cross, Clay" userId="f346be3b-e1cb-4aec-811e-8a3f5d1dd33f" providerId="ADAL" clId="{5AB2DC96-CDCC-45B4-B053-2F2446580AF9}" dt="2026-09-16T14:10:07.294" v="16"/>
        <pc:sldMkLst>
          <pc:docMk/>
          <pc:sldMk cId="0" sldId="258"/>
        </pc:sldMkLst>
        <pc:spChg chg="add mod">
          <ac:chgData name="Cross, Clay" userId="f346be3b-e1cb-4aec-811e-8a3f5d1dd33f" providerId="ADAL" clId="{5AB2DC96-CDCC-45B4-B053-2F2446580AF9}" dt="2026-09-16T14:10:07.294" v="16"/>
          <ac:spMkLst>
            <pc:docMk/>
            <pc:sldMk cId="0" sldId="258"/>
            <ac:spMk id="2" creationId="{9367D3A5-428A-79F2-AC81-ADCB1A0F11C1}"/>
          </ac:spMkLst>
        </pc:spChg>
      </pc:sldChg>
      <pc:sldChg chg="addSp modSp">
        <pc:chgData name="Cross, Clay" userId="f346be3b-e1cb-4aec-811e-8a3f5d1dd33f" providerId="ADAL" clId="{5AB2DC96-CDCC-45B4-B053-2F2446580AF9}" dt="2026-09-16T14:10:08.375" v="17"/>
        <pc:sldMkLst>
          <pc:docMk/>
          <pc:sldMk cId="0" sldId="259"/>
        </pc:sldMkLst>
        <pc:spChg chg="add mod">
          <ac:chgData name="Cross, Clay" userId="f346be3b-e1cb-4aec-811e-8a3f5d1dd33f" providerId="ADAL" clId="{5AB2DC96-CDCC-45B4-B053-2F2446580AF9}" dt="2026-09-16T14:10:08.375" v="17"/>
          <ac:spMkLst>
            <pc:docMk/>
            <pc:sldMk cId="0" sldId="259"/>
            <ac:spMk id="2" creationId="{07E1C860-F9EC-56A5-3678-9C818C512B47}"/>
          </ac:spMkLst>
        </pc:spChg>
      </pc:sldChg>
      <pc:sldChg chg="addSp modSp">
        <pc:chgData name="Cross, Clay" userId="f346be3b-e1cb-4aec-811e-8a3f5d1dd33f" providerId="ADAL" clId="{5AB2DC96-CDCC-45B4-B053-2F2446580AF9}" dt="2026-09-16T14:10:11.392" v="18"/>
        <pc:sldMkLst>
          <pc:docMk/>
          <pc:sldMk cId="0" sldId="260"/>
        </pc:sldMkLst>
        <pc:spChg chg="add mod">
          <ac:chgData name="Cross, Clay" userId="f346be3b-e1cb-4aec-811e-8a3f5d1dd33f" providerId="ADAL" clId="{5AB2DC96-CDCC-45B4-B053-2F2446580AF9}" dt="2026-09-16T14:10:11.392" v="18"/>
          <ac:spMkLst>
            <pc:docMk/>
            <pc:sldMk cId="0" sldId="260"/>
            <ac:spMk id="2" creationId="{1588E63D-8331-98F8-2393-DF79A145BF58}"/>
          </ac:spMkLst>
        </pc:spChg>
      </pc:sldChg>
      <pc:sldChg chg="addSp modSp">
        <pc:chgData name="Cross, Clay" userId="f346be3b-e1cb-4aec-811e-8a3f5d1dd33f" providerId="ADAL" clId="{5AB2DC96-CDCC-45B4-B053-2F2446580AF9}" dt="2026-09-16T14:10:12.517" v="19"/>
        <pc:sldMkLst>
          <pc:docMk/>
          <pc:sldMk cId="0" sldId="261"/>
        </pc:sldMkLst>
        <pc:spChg chg="add mod">
          <ac:chgData name="Cross, Clay" userId="f346be3b-e1cb-4aec-811e-8a3f5d1dd33f" providerId="ADAL" clId="{5AB2DC96-CDCC-45B4-B053-2F2446580AF9}" dt="2026-09-16T14:10:12.517" v="19"/>
          <ac:spMkLst>
            <pc:docMk/>
            <pc:sldMk cId="0" sldId="261"/>
            <ac:spMk id="2" creationId="{93535A3B-BAB2-61CE-5223-82D4BF2B0E2D}"/>
          </ac:spMkLst>
        </pc:spChg>
      </pc:sldChg>
      <pc:sldChg chg="addSp delSp modSp mod">
        <pc:chgData name="Cross, Clay" userId="f346be3b-e1cb-4aec-811e-8a3f5d1dd33f" providerId="ADAL" clId="{5AB2DC96-CDCC-45B4-B053-2F2446580AF9}" dt="2026-09-16T14:10:13.935" v="20"/>
        <pc:sldMkLst>
          <pc:docMk/>
          <pc:sldMk cId="0" sldId="262"/>
        </pc:sldMkLst>
        <pc:spChg chg="add mod">
          <ac:chgData name="Cross, Clay" userId="f346be3b-e1cb-4aec-811e-8a3f5d1dd33f" providerId="ADAL" clId="{5AB2DC96-CDCC-45B4-B053-2F2446580AF9}" dt="2026-09-16T14:10:13.935" v="20"/>
          <ac:spMkLst>
            <pc:docMk/>
            <pc:sldMk cId="0" sldId="262"/>
            <ac:spMk id="2" creationId="{D7EC3C54-652C-9EC2-FAB0-E19765D5B90B}"/>
          </ac:spMkLst>
        </pc:spChg>
      </pc:sldChg>
      <pc:sldMasterChg chg="modSp mod modSldLayout">
        <pc:chgData name="Cross, Clay" userId="f346be3b-e1cb-4aec-811e-8a3f5d1dd33f" providerId="ADAL" clId="{5AB2DC96-CDCC-45B4-B053-2F2446580AF9}" dt="2026-10-12T16:58:37.748" v="29" actId="14100"/>
        <pc:sldMasterMkLst>
          <pc:docMk/>
          <pc:sldMasterMk cId="0" sldId="2147483648"/>
        </pc:sldMasterMkLst>
        <pc:sldLayoutChg chg="modSp mod">
          <pc:chgData name="Cross, Clay" userId="f346be3b-e1cb-4aec-811e-8a3f5d1dd33f" providerId="ADAL" clId="{5AB2DC96-CDCC-45B4-B053-2F2446580AF9}" dt="2026-10-12T16:58:06.482" v="24" actId="14100"/>
          <pc:sldLayoutMkLst>
            <pc:docMk/>
            <pc:sldMasterMk cId="0" sldId="2147483648"/>
            <pc:sldLayoutMk cId="0" sldId="2147483652"/>
          </pc:sldLayoutMkLst>
          <pc:spChg chg="mod">
            <ac:chgData name="Cross, Clay" userId="f346be3b-e1cb-4aec-811e-8a3f5d1dd33f" providerId="ADAL" clId="{5AB2DC96-CDCC-45B4-B053-2F2446580AF9}" dt="2026-10-12T16:57:55.345" v="22" actId="14100"/>
            <ac:spMkLst>
              <pc:docMk/>
              <pc:sldMasterMk cId="0" sldId="2147483648"/>
              <pc:sldLayoutMk cId="0" sldId="2147483652"/>
              <ac:spMk id="56" creationId="{00000000-0000-0000-0000-000000000000}"/>
            </ac:spMkLst>
          </pc:spChg>
          <pc:spChg chg="mod">
            <ac:chgData name="Cross, Clay" userId="f346be3b-e1cb-4aec-811e-8a3f5d1dd33f" providerId="ADAL" clId="{5AB2DC96-CDCC-45B4-B053-2F2446580AF9}" dt="2026-10-12T16:58:00.151" v="23" actId="14100"/>
            <ac:spMkLst>
              <pc:docMk/>
              <pc:sldMasterMk cId="0" sldId="2147483648"/>
              <pc:sldLayoutMk cId="0" sldId="2147483652"/>
              <ac:spMk id="57" creationId="{00000000-0000-0000-0000-000000000000}"/>
            </ac:spMkLst>
          </pc:spChg>
          <pc:spChg chg="mod">
            <ac:chgData name="Cross, Clay" userId="f346be3b-e1cb-4aec-811e-8a3f5d1dd33f" providerId="ADAL" clId="{5AB2DC96-CDCC-45B4-B053-2F2446580AF9}" dt="2026-10-12T16:58:06.482" v="24" actId="14100"/>
            <ac:spMkLst>
              <pc:docMk/>
              <pc:sldMasterMk cId="0" sldId="2147483648"/>
              <pc:sldLayoutMk cId="0" sldId="2147483652"/>
              <ac:spMk id="58" creationId="{00000000-0000-0000-0000-000000000000}"/>
            </ac:spMkLst>
          </pc:spChg>
        </pc:sldLayoutChg>
        <pc:sldLayoutChg chg="modSp mod">
          <pc:chgData name="Cross, Clay" userId="f346be3b-e1cb-4aec-811e-8a3f5d1dd33f" providerId="ADAL" clId="{5AB2DC96-CDCC-45B4-B053-2F2446580AF9}" dt="2026-10-12T16:58:37.748" v="29" actId="14100"/>
          <pc:sldLayoutMkLst>
            <pc:docMk/>
            <pc:sldMasterMk cId="0" sldId="2147483648"/>
            <pc:sldLayoutMk cId="0" sldId="2147483656"/>
          </pc:sldLayoutMkLst>
          <pc:spChg chg="mod">
            <ac:chgData name="Cross, Clay" userId="f346be3b-e1cb-4aec-811e-8a3f5d1dd33f" providerId="ADAL" clId="{5AB2DC96-CDCC-45B4-B053-2F2446580AF9}" dt="2026-10-12T16:58:32.543" v="27" actId="14100"/>
            <ac:spMkLst>
              <pc:docMk/>
              <pc:sldMasterMk cId="0" sldId="2147483648"/>
              <pc:sldLayoutMk cId="0" sldId="2147483656"/>
              <ac:spMk id="76" creationId="{00000000-0000-0000-0000-000000000000}"/>
            </ac:spMkLst>
          </pc:spChg>
          <pc:spChg chg="mod">
            <ac:chgData name="Cross, Clay" userId="f346be3b-e1cb-4aec-811e-8a3f5d1dd33f" providerId="ADAL" clId="{5AB2DC96-CDCC-45B4-B053-2F2446580AF9}" dt="2026-10-12T16:58:34.943" v="28" actId="14100"/>
            <ac:spMkLst>
              <pc:docMk/>
              <pc:sldMasterMk cId="0" sldId="2147483648"/>
              <pc:sldLayoutMk cId="0" sldId="2147483656"/>
              <ac:spMk id="77" creationId="{00000000-0000-0000-0000-000000000000}"/>
            </ac:spMkLst>
          </pc:spChg>
          <pc:spChg chg="mod">
            <ac:chgData name="Cross, Clay" userId="f346be3b-e1cb-4aec-811e-8a3f5d1dd33f" providerId="ADAL" clId="{5AB2DC96-CDCC-45B4-B053-2F2446580AF9}" dt="2026-10-12T16:58:37.748" v="29" actId="14100"/>
            <ac:spMkLst>
              <pc:docMk/>
              <pc:sldMasterMk cId="0" sldId="2147483648"/>
              <pc:sldLayoutMk cId="0" sldId="2147483656"/>
              <ac:spMk id="7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# Gaining Access — Content Guide</a:t>
            </a:r>
          </a:p>
          <a:p/>
          <a:p>
            <a:r>
              <a:t>**Source:** This Markdown content guide is the source of truth. Instructor deck: [`slides/B02.M03_gaining-access_Instructor.pptx`](slides/B02.M03_gaining-access_Instructor.pptx). The student copy is generated at pack time.</a:t>
            </a:r>
          </a:p>
          <a:p>
            <a:r>
              <a:t>**Audience:** CPT operators who have recon evidence and open-source exploit identification.</a:t>
            </a:r>
          </a:p>
          <a:p>
            <a:r>
              <a:t>**Duration:** ~90 minutes (lecture block before gaining-access labs)</a:t>
            </a:r>
          </a:p>
          <a:p>
            <a:r>
              <a:t>**Prerequisites:** Passive and active recon; open-source exploit ecosystem; Metasploit familiarity.</a:t>
            </a:r>
          </a:p>
          <a:p>
            <a:r>
              <a:t>**References:**</a:t>
            </a:r>
          </a:p>
          <a:p/>
          <a:p>
            <a:r>
              <a:t>- [`slides/B02.M03_gaining-access_Instructor.pptx`](slides/B02.M03_gaining-access_Instructor.pptx)</a:t>
            </a:r>
          </a:p>
          <a:p>
            <a:r>
              <a:t>- `../../activities/L2.8_Gaining_Access/`</a:t>
            </a:r>
          </a:p>
          <a:p>
            <a:r>
              <a:t>- `../../activities/L2.6_Using_MSF/`</a:t>
            </a:r>
          </a:p>
          <a:p>
            <a:r>
              <a:t>- `../B02.M05-philadelphia/` through `../B02.M14-dallas/` (city-coded access labs; deploy stack is `environments/pcte_vulnhub_targets/`)</a:t>
            </a:r>
          </a:p>
          <a:p>
            <a:r>
              <a:t>- `../02-info-gathering-recon/content-guide.md`</a:t>
            </a:r>
          </a:p>
          <a:p>
            <a:r>
              <a:t>- `../05-open-source-ecosystem/content-guide.md`</a:t>
            </a:r>
          </a:p>
          <a:p/>
          <a:p>
            <a:r>
              <a:t>---</a:t>
            </a:r>
          </a:p>
          <a:p/>
          <a:p>
            <a:r>
              <a:t>## Instructor resources and pre-class</a:t>
            </a:r>
          </a:p>
          <a:p/>
          <a:p>
            <a:r>
              <a:t>- Classroom projector and screen; whiteboard for the opening contract</a:t>
            </a:r>
          </a:p>
          <a:p>
            <a:r>
              <a:t>- Parent or sibling briefs listed in this Module folder</a:t>
            </a:r>
          </a:p>
          <a:p>
            <a:r>
              <a:t>- Live tabs and references already named in this file's header</a:t>
            </a:r>
          </a:p>
          <a:p>
            <a:r>
              <a:t>- Do not project flags, tokens, or answer-key values</a:t>
            </a:r>
          </a:p>
          <a:p/>
          <a:p>
            <a:r>
              <a:t>## Student resources</a:t>
            </a:r>
          </a:p>
          <a:p/>
          <a:p>
            <a:r>
              <a:t>- Student brief, student guide, or homework file in this Module folder when present</a:t>
            </a:r>
          </a:p>
          <a:p>
            <a:r>
              <a:t>- Assigned range, workstation, or lab stack named in the student-facing file</a:t>
            </a:r>
          </a:p>
          <a:p>
            <a:r>
              <a:t>- No extra kit beyond what the student-facing file already lists</a:t>
            </a:r>
          </a:p>
          <a:p/>
          <a:p>
            <a:r>
              <a:t>## Dual opening</a:t>
            </a:r>
          </a:p>
          <a:p/>
          <a:p>
            <a:r>
              <a:t>### Option 1 (Interactive / Whiteboard / Kinesthetic)</a:t>
            </a:r>
          </a:p>
          <a:p/>
          <a:p>
            <a:r>
              <a:t>- **Say:** "Recon told you what is exposed and what might be weak."</a:t>
            </a:r>
          </a:p>
          <a:p>
            <a:r>
              <a:t>- **Do:** Put the lesson contract on the board. Keep products from the prerequisite Module available.</a:t>
            </a:r>
          </a:p>
          <a:p>
            <a:r>
              <a:t>- **Ask (Q):** What is the difference between knowing a CVE exists and having a usable session?</a:t>
            </a:r>
          </a:p>
          <a:p>
            <a:r>
              <a:t>- **Expected Response (A):** Facilitation. Use the Say/Do already on this row; do not force a single keyed answer.</a:t>
            </a:r>
          </a:p>
          <a:p/>
          <a:p>
            <a:r>
              <a:t>### Option 2 (Digital Slide / Virtual / Slide Deck)</a:t>
            </a:r>
          </a:p>
          <a:p/>
          <a:p>
            <a:r>
              <a:t>- **Say:** "Recon told you what is exposed and what might be weak."</a:t>
            </a:r>
          </a:p>
          <a:p>
            <a:r>
              <a:t>- **Show:** The title slide and lesson objectives.</a:t>
            </a:r>
          </a:p>
          <a:p>
            <a:r>
              <a:t>- **Do:** Confirm stations can open the required tool or file before the first teaching row.</a:t>
            </a:r>
          </a:p>
          <a:p>
            <a:r>
              <a:t>- **Ask (Q):** What is the difference between knowing a CVE exists and having a usable session?</a:t>
            </a:r>
          </a:p>
          <a:p>
            <a:r>
              <a:t>- **Expected Response (A):** 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"Recon told you what is exposed and what might be weak."</a:t>
            </a:r>
          </a:p>
          <a:p>
            <a:r>
              <a:t>"This lesson turns that evidence into a controlled foothold."</a:t>
            </a:r>
          </a:p>
          <a:p>
            <a:r>
              <a:t>"Objectives are next; they are the contract for this block."</a:t>
            </a:r>
          </a:p>
          <a:p/>
          <a:p>
            <a:r>
              <a:t>Show:</a:t>
            </a:r>
          </a:p>
          <a:p>
            <a:r>
              <a:t>Hold on the access arrow and technique tags long enough for students to orient, then advance.</a:t>
            </a:r>
          </a:p>
          <a:p/>
          <a:p>
            <a:r>
              <a:t>Do:</a:t>
            </a:r>
          </a:p>
          <a:p>
            <a:r>
              <a:t>Ask: "What is the difference between knowing a CVE exists and having a usable session?"</a:t>
            </a:r>
          </a:p>
          <a:p>
            <a:r>
              <a:t>Take one answer; return to it during the access pipeline.</a:t>
            </a:r>
          </a:p>
          <a:p/>
          <a:p>
            <a:r>
              <a:t>Image Prompt:</a:t>
            </a:r>
          </a:p>
          <a:p>
            <a:r>
              <a:t>Title slide only. A CPT ops-station silhouette faces an adversary-infrastructure silhouette; a single arrow labeled "Initial Access" connects them. Four small technique tags (T1190, T1133, T1078, T1534) sit under the arrow. No bullet stack.</a:t>
            </a:r>
          </a:p>
          <a:p/>
          <a:p>
            <a:r>
              <a:t>Ask (Q):</a:t>
            </a:r>
          </a:p>
          <a:p>
            <a:r>
              <a:t>What is the difference between knowing a CVE exists and having a usable session?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"Read these objectives as written—they are the contract for this block."</a:t>
            </a:r>
          </a:p>
          <a:p>
            <a:r>
              <a:t>"T1190: gain initial access by exploiting public-facing applications."</a:t>
            </a:r>
          </a:p>
          <a:p>
            <a:r>
              <a:t>"T1133: gain initial access through compromised external remote services."</a:t>
            </a:r>
          </a:p>
          <a:p>
            <a:r>
              <a:t>"T1078: gain initial access using valid but compromised user accounts."</a:t>
            </a:r>
          </a:p>
          <a:p>
            <a:r>
              <a:t>"T1534: gain initial access through internal spear-phishing attacks."</a:t>
            </a:r>
          </a:p>
          <a:p>
            <a:r>
              <a:t>"This block moves from evidence-driven access selection through four techniques, then combines paths and documents the handoff before labs."</a:t>
            </a:r>
          </a:p>
          <a:p>
            <a:r>
              <a:t>"By the end, you should pick a technique from recon evidence, not from habit."</a:t>
            </a:r>
          </a:p>
          <a:p/>
          <a:p>
            <a:r>
              <a:t>Show:</a:t>
            </a:r>
          </a:p>
          <a:p>
            <a:r>
              <a:t>Walk the four cards left to right while pointing at each matching bullet.</a:t>
            </a:r>
          </a:p>
          <a:p/>
          <a:p>
            <a:r>
              <a:t>Do:</a:t>
            </a:r>
          </a:p>
          <a:p>
            <a:r>
              <a:t>Tell students to write the four IDs in their notebook; they will map lab work to them later.</a:t>
            </a:r>
          </a:p>
          <a:p/>
          <a:p>
            <a:r>
              <a:t>Image Prompt:</a:t>
            </a:r>
          </a:p>
          <a:p>
            <a:r>
              <a:t>Four objective cards in a row, each with a MITRE ID and a one-line operator outcome (shell from web app; entry via VPN/RDP/SSH; login with stolen/default creds; reverse foothold from a lure).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block is the transition from characterizing a target to establishing a controllable foothold."</a:t>
            </a:r>
          </a:p>
          <a:p>
            <a:r>
              <a:t>"Active recon provided service and version evidence; open-source research showed how to find candidate weaknesses."</a:t>
            </a:r>
          </a:p>
          <a:p>
            <a:r>
              <a:t>"Do not treat a banner or a CVE listing as proof that a path will work."</a:t>
            </a:r>
          </a:p>
          <a:p>
            <a:r>
              <a:t>"Use the sequence: observe, reveal or verify applicability, prepare, then act and assess the session."</a:t>
            </a:r>
          </a:p>
          <a:p>
            <a:r>
              <a:t>"A foothold enables later effects; it is not the end state."</a:t>
            </a:r>
          </a:p>
          <a:p/>
          <a:p>
            <a:r>
              <a:t>Show:</a:t>
            </a:r>
          </a:p>
          <a:p>
            <a:r>
              <a:t>Walk the process left to right and point out the assessment step after execution.</a:t>
            </a:r>
          </a:p>
          <a:p/>
          <a:p>
            <a:r>
              <a:t>Do:</a:t>
            </a:r>
          </a:p>
          <a:p>
            <a:r>
              <a:t>Ask: "Where do access attempts most often fail: applicability, preparation, or execution?"</a:t>
            </a:r>
          </a:p>
          <a:p>
            <a:r>
              <a:t>Take two answers.</a:t>
            </a:r>
          </a:p>
          <a:p/>
          <a:p>
            <a:r>
              <a:t>Image Prompt:</a:t>
            </a:r>
          </a:p>
          <a:p>
            <a:r>
              <a:t>Horizontal evidence-driven process diagram: "Recon evidence" → "Reveal / verify applicability" → "Prepare access path" → "Act and assess session." A smaller outcome box reads "Usable foothold for follow-on effects."</a:t>
            </a:r>
          </a:p>
          <a:p/>
          <a:p>
            <a:r>
              <a:t>Ask (Q):</a:t>
            </a:r>
          </a:p>
          <a:p>
            <a:r>
              <a:t>Where do access attempts most often fail: applicability, preparation, or execution?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"Initial access is the beachhead."</a:t>
            </a:r>
          </a:p>
          <a:p>
            <a:r>
              <a:t>"Without it, effects stay theoretical."</a:t>
            </a:r>
          </a:p>
          <a:p>
            <a:r>
              <a:t>"With it, you can disrupt C2, deny malware utility, or strip persistence."</a:t>
            </a:r>
          </a:p>
          <a:p>
            <a:r>
              <a:t>"You are flipping the same techniques they use—on their infrastructure."</a:t>
            </a:r>
          </a:p>
          <a:p>
            <a:r>
              <a:t>"Stay flexible: if one path dies, another may still work."</a:t>
            </a:r>
          </a:p>
          <a:p/>
          <a:p>
            <a:r>
              <a:t>Show:</a:t>
            </a:r>
          </a:p>
          <a:p>
            <a:r>
              <a:t>Point to the foothold.</a:t>
            </a:r>
          </a:p>
          <a:p>
            <a:r>
              <a:t>Point to each effect arrow.</a:t>
            </a:r>
          </a:p>
          <a:p/>
          <a:p>
            <a:r>
              <a:t>Do:</a:t>
            </a:r>
          </a:p>
          <a:p>
            <a:r>
              <a:t>Ask: "If the public web exploit is patched mid-mission, what do you check next?"</a:t>
            </a:r>
          </a:p>
          <a:p/>
          <a:p>
            <a:r>
              <a:t>Image Prompt:</a:t>
            </a:r>
          </a:p>
          <a:p>
            <a:r>
              <a:t>Adversary network sketch with a foothold node highlighted; outbound effect arrows labeled disrupt, deny, degrade toward C2, malware staging, and persistence artifacts.</a:t>
            </a:r>
          </a:p>
          <a:p/>
          <a:p>
            <a:r>
              <a:t>Ask (Q):</a:t>
            </a:r>
          </a:p>
          <a:p>
            <a:r>
              <a:t>If the public web exploit is patched mid-mission, what do you check next?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"Do not marry one technique."</a:t>
            </a:r>
          </a:p>
          <a:p>
            <a:r>
              <a:t>"Typical pattern: exploit for speed, credentials as fallback."</a:t>
            </a:r>
          </a:p>
          <a:p>
            <a:r>
              <a:t>"Selection follows what recon actually produced."</a:t>
            </a:r>
          </a:p>
          <a:p>
            <a:r>
              <a:t>"If research and verification support a reliable module, lead with T1190."</a:t>
            </a:r>
          </a:p>
          <a:p>
            <a:r>
              <a:t>"If you already have working creds from malware analysis, lead with T1078."</a:t>
            </a:r>
          </a:p>
          <a:p>
            <a:r>
              <a:t>"Blue-space vantage lets you iterate without building covert launch infrastructure first."</a:t>
            </a:r>
          </a:p>
          <a:p/>
          <a:p>
            <a:r>
              <a:t>Show:</a:t>
            </a:r>
          </a:p>
          <a:p>
            <a:r>
              <a:t>Trace Path A and Path B to the same session.</a:t>
            </a:r>
          </a:p>
          <a:p/>
          <a:p>
            <a:r>
              <a:t>Do:</a:t>
            </a:r>
          </a:p>
          <a:p>
            <a:r>
              <a:t>Pair students: one names a primary path, the other names a fallback from the same recon packet.</a:t>
            </a:r>
          </a:p>
          <a:p/>
          <a:p>
            <a:r>
              <a:t>Image Prompt:</a:t>
            </a:r>
          </a:p>
          <a:p>
            <a:r>
              <a:t>Two parallel access paths into the same adversary host: Path A "T1190 exploit," Path B "T1078 credentials," converging on "Session / shell." A side note: "Pick from evidence, keep a fallback."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"Positioning is part of the technique."</a:t>
            </a:r>
          </a:p>
          <a:p>
            <a:r>
              <a:t>"From blue space you often ride paths the adversary already trusts or probes."</a:t>
            </a:r>
          </a:p>
          <a:p>
            <a:r>
              <a:t>"That can reach assets blocked to a cold covert launch."</a:t>
            </a:r>
          </a:p>
          <a:p>
            <a:r>
              <a:t>"You also skip much of the setup tax of building and coordinating covert infrastructure."</a:t>
            </a:r>
          </a:p>
          <a:p>
            <a:r>
              <a:t>"This is an execution advantage, not a license to be noisy."</a:t>
            </a:r>
          </a:p>
          <a:p/>
          <a:p>
            <a:r>
              <a:t>Show:</a:t>
            </a:r>
          </a:p>
          <a:p>
            <a:r>
              <a:t>Contrast the multi-hop covert path with the direct blue-space path.</a:t>
            </a:r>
          </a:p>
          <a:p/>
          <a:p>
            <a:r>
              <a:t>Do:</a:t>
            </a:r>
          </a:p>
          <a:p>
            <a:r>
              <a:t>Ask: "What operational delay does a covert path introduce that blue space can avoid?"</a:t>
            </a:r>
          </a:p>
          <a:p/>
          <a:p>
            <a:r>
              <a:t>Image Prompt:</a:t>
            </a:r>
          </a:p>
          <a:p>
            <a:r>
              <a:t>Split comparison. Left: "Covert / CMT-style path" with extra hop boxes and delay icons. Right: "Blue-space path" as a direct allowed route from defended network into adversary-facing services.</a:t>
            </a:r>
          </a:p>
          <a:p/>
          <a:p>
            <a:r>
              <a:t>Ask (Q):</a:t>
            </a:r>
          </a:p>
          <a:p>
            <a:r>
              <a:t>What operational delay does a covert path introduce that blue space can avoid?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"They come to you for data."</a:t>
            </a:r>
          </a:p>
          <a:p>
            <a:r>
              <a:t>"Hunt traffic and samples for credentials and IOCs."</a:t>
            </a:r>
          </a:p>
          <a:p>
            <a:r>
              <a:t>"Those artifacts fuel T1078 and exploit matching."</a:t>
            </a:r>
          </a:p>
          <a:p>
            <a:r>
              <a:t>"You can also plant lures they will steal—setting up T1534."</a:t>
            </a:r>
          </a:p>
          <a:p>
            <a:r>
              <a:t>"Their collection habit becomes your access method."</a:t>
            </a:r>
          </a:p>
          <a:p/>
          <a:p>
            <a:r>
              <a:t>Show:</a:t>
            </a:r>
          </a:p>
          <a:p>
            <a:r>
              <a:t>Walk the cycle clockwise.</a:t>
            </a:r>
          </a:p>
          <a:p/>
          <a:p>
            <a:r>
              <a:t>Do:</a:t>
            </a:r>
          </a:p>
          <a:p>
            <a:r>
              <a:t>Ask for one blue-space artifact that could become an access input (cred, URL, upload path, version string).</a:t>
            </a:r>
          </a:p>
          <a:p/>
          <a:p>
            <a:r>
              <a:t>Image Prompt:</a:t>
            </a:r>
          </a:p>
          <a:p>
            <a:r>
              <a:t>Cycle diagram: Adversary implant → blue-space content/creds → CPT captures IOCs → CPT seeds lure or uses creds → reverse access into red infrastructure.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"Blue space lets you look like traffic they already process."</a:t>
            </a:r>
          </a:p>
          <a:p>
            <a:r>
              <a:t>"That improves OPSEC versus a brand-new covert launch signature."</a:t>
            </a:r>
          </a:p>
          <a:p>
            <a:r>
              <a:t>"You can retune modules and targets from live recon without waiting on new infrastructure."</a:t>
            </a:r>
          </a:p>
          <a:p>
            <a:r>
              <a:t>"Effects remain tied to the assigned campaign and target set."</a:t>
            </a:r>
          </a:p>
          <a:p>
            <a:r>
              <a:t>"We will apply this lens to each technique."</a:t>
            </a:r>
          </a:p>
          <a:p/>
          <a:p>
            <a:r>
              <a:t>Show:</a:t>
            </a:r>
          </a:p>
          <a:p>
            <a:r>
              <a:t>Point to OPSEC checklist and live-recon feed.</a:t>
            </a:r>
          </a:p>
          <a:p/>
          <a:p>
            <a:r>
              <a:t>Do:</a:t>
            </a:r>
          </a:p>
          <a:p>
            <a:r>
              <a:t>Tell students: "For every technique today, ask what blue space uniquely enables."</a:t>
            </a:r>
          </a:p>
          <a:p/>
          <a:p>
            <a:r>
              <a:t>Image Prompt:</a:t>
            </a:r>
          </a:p>
          <a:p>
            <a:r>
              <a:t>Ops dashboard metaphor: live recon feed updating an access COA board, with OPSEC checklist items (timing, payload noise, expected traffic blend) checked green.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"First technique: public-facing application exploitation."</a:t>
            </a:r>
          </a:p>
          <a:p>
            <a:r>
              <a:t>"The next slide applies the definition and operational value."</a:t>
            </a:r>
          </a:p>
          <a:p/>
          <a:p>
            <a:r>
              <a:t>Show:</a:t>
            </a:r>
          </a:p>
          <a:p>
            <a:r>
              <a:t>Hold on the technique title and service icons, then advance.</a:t>
            </a:r>
          </a:p>
          <a:p/>
          <a:p>
            <a:r>
              <a:t>Do:</a:t>
            </a:r>
          </a:p>
          <a:p>
            <a:r>
              <a:t>None required beyond the transition.</a:t>
            </a:r>
          </a:p>
          <a:p/>
          <a:p>
            <a:r>
              <a:t>Image Prompt:</a:t>
            </a:r>
          </a:p>
          <a:p>
            <a:r>
              <a:t>Section title card only: "T1190 — Exploit Public-Facing Application" with icons for a web app, database, and custom HTTP listener. No teaching bullets.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"T1190 means you exploit the application or service itself."</a:t>
            </a:r>
          </a:p>
          <a:p>
            <a:r>
              <a:t>"This is a reminder of the vulnerability-research workflow; the focus here is applying it to initial access."</a:t>
            </a:r>
          </a:p>
          <a:p>
            <a:r>
              <a:t>"Classic counterstrike targets: HTTP listening posts and web management panels."</a:t>
            </a:r>
          </a:p>
          <a:p>
            <a:r>
              <a:t>"RCE gives you code execution."</a:t>
            </a:r>
          </a:p>
          <a:p>
            <a:r>
              <a:t>"SQLi can dump data or chain to a shell."</a:t>
            </a:r>
          </a:p>
          <a:p>
            <a:r>
              <a:t>"Operational value is speed: no credential hunting required if the vuln is remote and unauthenticated."</a:t>
            </a:r>
          </a:p>
          <a:p/>
          <a:p>
            <a:r>
              <a:t>Show:</a:t>
            </a:r>
          </a:p>
          <a:p>
            <a:r>
              <a:t>Trace exploit → shell on the graphic.</a:t>
            </a:r>
          </a:p>
          <a:p/>
          <a:p>
            <a:r>
              <a:t>Do:</a:t>
            </a:r>
          </a:p>
          <a:p>
            <a:r>
              <a:t>Ask: "Why is an unauthenticated RCE usually preferred over an authenticated one for first entry?"</a:t>
            </a:r>
          </a:p>
          <a:p/>
          <a:p>
            <a:r>
              <a:t>Image Prompt:</a:t>
            </a:r>
          </a:p>
          <a:p>
            <a:r>
              <a:t>Public adversary node with open ports; exploit arrow enters an HTTP listener and exits as a shell session. Callouts: "RCE," "SQLi → shell."</a:t>
            </a:r>
          </a:p>
          <a:p/>
          <a:p>
            <a:r>
              <a:t>Ask (Q):</a:t>
            </a:r>
          </a:p>
          <a:p>
            <a:r>
              <a:t>Why is an unauthenticated RCE usually preferred over an authenticated one for first entry?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"Common does not mean only."</a:t>
            </a:r>
          </a:p>
          <a:p>
            <a:r>
              <a:t>"Web frameworks inherit famous RCEs—Log4Shell is the teaching example."</a:t>
            </a:r>
          </a:p>
          <a:p>
            <a:r>
              <a:t>"SQLi remains a path when the app talks to a database carelessly."</a:t>
            </a:r>
          </a:p>
          <a:p>
            <a:r>
              <a:t>"Legacy service vulns still appear on neglected adversary hosts: EternalBlue, BlueKeep."</a:t>
            </a:r>
          </a:p>
          <a:p>
            <a:r>
              <a:t>"Your recon banner is the index key into those CVEs."</a:t>
            </a:r>
          </a:p>
          <a:p/>
          <a:p>
            <a:r>
              <a:t>Show:</a:t>
            </a:r>
          </a:p>
          <a:p>
            <a:r>
              <a:t>Point from banner strip to each CVE example.</a:t>
            </a:r>
          </a:p>
          <a:p/>
          <a:p>
            <a:r>
              <a:t>Do:</a:t>
            </a:r>
          </a:p>
          <a:p>
            <a:r>
              <a:t>Ask which of these they touched in Metasploit practice or vulnhub-style targets.</a:t>
            </a:r>
          </a:p>
          <a:p/>
          <a:p>
            <a:r>
              <a:t>Image Prompt:</a:t>
            </a:r>
          </a:p>
          <a:p>
            <a:r>
              <a:t>Target board with two columns—"Web / app layer" and "Network services"—listing the example CVEs under each, fed by a recon banner strip.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"Adversary tooling is often custom at the top and ordinary underneath."</a:t>
            </a:r>
          </a:p>
          <a:p>
            <a:r>
              <a:t>"Listening posts and botnet panels reuse Apache, PHP, Java, nginx."</a:t>
            </a:r>
          </a:p>
          <a:p>
            <a:r>
              <a:t>"Exploit the framework they inherited, not a mythical unique binary only."</a:t>
            </a:r>
          </a:p>
          <a:p>
            <a:r>
              <a:t>"Version the stack components the same way you version any public app."</a:t>
            </a:r>
          </a:p>
          <a:p/>
          <a:p>
            <a:r>
              <a:t>Show:</a:t>
            </a:r>
          </a:p>
          <a:p>
            <a:r>
              <a:t>Point to the custom UI, then to the underlying stack cracks.</a:t>
            </a:r>
          </a:p>
          <a:p/>
          <a:p>
            <a:r>
              <a:t>Do:</a:t>
            </a:r>
          </a:p>
          <a:p>
            <a:r>
              <a:t>Ask: "If the panel title is unique but the Server header says nginx/1.18, what do you research first?"</a:t>
            </a:r>
          </a:p>
          <a:p/>
          <a:p>
            <a:r>
              <a:t>Image Prompt:</a:t>
            </a:r>
          </a:p>
          <a:p>
            <a:r>
              <a:t>"Custom C2 panel" UI sketch sitting on a labeled stack (Apache/PHP/Java). Cracks in the stack glow to show inherited vulns.</a:t>
            </a:r>
          </a:p>
          <a:p/>
          <a:p>
            <a:r>
              <a:t>Ask (Q):</a:t>
            </a:r>
          </a:p>
          <a:p>
            <a:r>
              <a:t>If the panel title is unique but the Server header says nginx/1.18, what do you research first?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repeats the vulnerability-research workflow from Lessons 2.3 and 2.5, now applied to access."</a:t>
            </a:r>
          </a:p>
          <a:p>
            <a:r>
              <a:t>"Identify: use the banner as a research lead, then verify the target's conditions against authoritative advisory and vendor evidence."</a:t>
            </a:r>
          </a:p>
          <a:p>
            <a:r>
              <a:t>"NVD and ExploitDB can accelerate triage; SI can summarize or organize leads, but neither establishes exploitability. Verify against primary sources before execution."</a:t>
            </a:r>
          </a:p>
          <a:p>
            <a:r>
              <a:t>"Prepare: choose a module or PoC only after confirming it fits the observed version and conditions."</a:t>
            </a:r>
          </a:p>
          <a:p>
            <a:r>
              <a:t>"Execute: set target options carefully—wrong target crashes services."</a:t>
            </a:r>
          </a:p>
          <a:p>
            <a:r>
              <a:t>"Obtain: prove interactive control, not just an error page."</a:t>
            </a:r>
          </a:p>
          <a:p>
            <a:r>
              <a:t>"Labs reinforce this with Metasploit and public-facing app targets."</a:t>
            </a:r>
          </a:p>
          <a:p/>
          <a:p>
            <a:r>
              <a:t>Show:</a:t>
            </a:r>
          </a:p>
          <a:p>
            <a:r>
              <a:t>Walk the four steps.</a:t>
            </a:r>
          </a:p>
          <a:p>
            <a:r>
              <a:t>Linger on "adapt to version."</a:t>
            </a:r>
          </a:p>
          <a:p/>
          <a:p>
            <a:r>
              <a:t>Do:</a:t>
            </a:r>
          </a:p>
          <a:p>
            <a:r>
              <a:t>Have students recite the four verbs: identify, prepare, execute, obtain.</a:t>
            </a:r>
          </a:p>
          <a:p/>
          <a:p>
            <a:r>
              <a:t>Image Prompt:</a:t>
            </a:r>
          </a:p>
          <a:p>
            <a:r>
              <a:t>Four-step flowchart matching the bullets, with example callouts (`nmap -sV` → `curl -s -D` → NVD → `exploit/multi/http/...` → shell).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is a conceptual walk of Metasploit employment—not a live demo. You have already seen msfconsole; Vulnhub and gaining-access labs are where you type."</a:t>
            </a:r>
          </a:p>
          <a:p>
            <a:r>
              <a:t>"Start from evidence: search by CVE, product, or version string from recon. Then use the module that actually fits—do not grab the first hit."</a:t>
            </a:r>
          </a:p>
          <a:p>
            <a:r>
              <a:t>"Before you set a single option, read the module. info tells you what it does and what it expects. show options lists required versus optional. show payloads lists what this exploit can actually deliver."</a:t>
            </a:r>
          </a:p>
          <a:p>
            <a:r>
              <a:t>"Target options first: RHOSTS and RPORT from the banner. If the path is reverse, LHOST must be an address the target can reach, and LPORT must be allowed outbound from their side."</a:t>
            </a:r>
          </a:p>
          <a:p>
            <a:r>
              <a:t>"Then the payload decision, which is the one operators skip. Does this exploit handle a reverse shell itself, or does it only trigger code with no built-in callback?"</a:t>
            </a:r>
          </a:p>
          <a:p>
            <a:r>
              <a:t>"If it does handle a reverse payload: will the default work on this OS, architecture, and egress? Defaults are convenience, not a promise. Staged reverse_tcp fails when the second connection cannot return. Wrong arch or a bind payload on a filtered port fails silently."</a:t>
            </a:r>
          </a:p>
          <a:p>
            <a:r>
              <a:t>"If the exploit does not handle the shell—or the default is wrong—do not fire yet. Stand up exploit/multi/handler with the same payload, LHOST, and LPORT you intend to use, then exploit. Mismatched handler and payload is a common no-session."</a:t>
            </a:r>
          </a:p>
          <a:p>
            <a:r>
              <a:t>"When check exists, run it. Then exploit. A crash, a 500, or a hanging job is not access. You need a session you can interact with."</a:t>
            </a:r>
          </a:p>
          <a:p>
            <a:r>
              <a:t>"Labs will make you type this. Here you own the questions you ask before exploit."</a:t>
            </a:r>
          </a:p>
          <a:p/>
          <a:p>
            <a:r>
              <a:t>Show:</a:t>
            </a:r>
          </a:p>
          <a:p>
            <a:r>
              <a:t>Trace search → use → options → the payload/handler diamond → exploit → session.</a:t>
            </a:r>
          </a:p>
          <a:p>
            <a:r>
              <a:t>Linger on the diamond: default payload versus a separate multi/handler.</a:t>
            </a:r>
          </a:p>
          <a:p/>
          <a:p>
            <a:r>
              <a:t>Do:</a:t>
            </a:r>
          </a:p>
          <a:p>
            <a:r>
              <a:t>Ask: "Name one reason the default reverse payload would fail even if the exploit itself is right."</a:t>
            </a:r>
          </a:p>
          <a:p>
            <a:r>
              <a:t>Accept: wrong LHOST, egress filter, staged second connect blocked, wrong arch, bind instead of reverse.</a:t>
            </a:r>
          </a:p>
          <a:p>
            <a:r>
              <a:t>Follow-up: "When would you start multi/handler before clicking exploit?" Drive toward: exploit does not include a working reverse payload, or you replaced the default and must match the listener.</a:t>
            </a:r>
          </a:p>
          <a:p/>
          <a:p>
            <a:r>
              <a:t>Image Prompt:</a:t>
            </a:r>
          </a:p>
          <a:p>
            <a:r>
              <a:t>Talk-through flowchart, not a live terminal: `search` results → `use` module → options/payload decision diamond ("Does the module handle the callback? Default payload viable?") → either exploit-with-payload or `multi/handler` first → `exploit` → session check. Caption: "Talk through the decision; labs type the commands."</a:t>
            </a:r>
          </a:p>
          <a:p/>
          <a:p>
            <a:r>
              <a:t>Ask (Q):</a:t>
            </a:r>
          </a:p>
          <a:p>
            <a:r>
              <a:t>Name one reason the default reverse payload would fail even if the exploit itself is right.</a:t>
            </a:r>
          </a:p>
          <a:p/>
          <a:p>
            <a:r>
              <a:t>Expected Response (A):</a:t>
            </a:r>
          </a:p>
          <a:p>
            <a:r>
              <a:t>exploit does not include a working reverse payload, or you replaced the default and must match the listener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"Speed favors remote unauthenticated paths."</a:t>
            </a:r>
          </a:p>
          <a:p>
            <a:r>
              <a:t>"Have the post-access action ready before you fire."</a:t>
            </a:r>
          </a:p>
          <a:p>
            <a:r>
              <a:t>"Stock payloads are loud; customize when the environment warrants it."</a:t>
            </a:r>
          </a:p>
          <a:p>
            <a:r>
              <a:t>"If hunt data shows quiet hours on their monitoring, use them."</a:t>
            </a:r>
          </a:p>
          <a:p>
            <a:r>
              <a:t>"Stability matters: a crash without a session can burn the path."</a:t>
            </a:r>
          </a:p>
          <a:p/>
          <a:p>
            <a:r>
              <a:t>Show:</a:t>
            </a:r>
          </a:p>
          <a:p>
            <a:r>
              <a:t>Tick through the checklist aloud.</a:t>
            </a:r>
          </a:p>
          <a:p/>
          <a:p>
            <a:r>
              <a:t>Do:</a:t>
            </a:r>
          </a:p>
          <a:p>
            <a:r>
              <a:t>Ask: "What do you prepare before clicking exploit?"</a:t>
            </a:r>
          </a:p>
          <a:p/>
          <a:p>
            <a:r>
              <a:t>Image Prompt:</a:t>
            </a:r>
          </a:p>
          <a:p>
            <a:r>
              <a:t>Checklist graphic: Unauthenticated?, Payload ready?, Signature risk?, Timing window?—each with pass/fail marks.</a:t>
            </a:r>
          </a:p>
          <a:p/>
          <a:p>
            <a:r>
              <a:t>Ask (Q):</a:t>
            </a:r>
          </a:p>
          <a:p>
            <a:r>
              <a:t>What do you prepare before clicking exploit?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"Blue space does not make exploits invisible."</a:t>
            </a:r>
          </a:p>
          <a:p>
            <a:r>
              <a:t>"It often makes them less anomalous than a brand-new covert source."</a:t>
            </a:r>
          </a:p>
          <a:p>
            <a:r>
              <a:t>"Use that to land the shell, then produce the planned effect."</a:t>
            </a:r>
          </a:p>
          <a:p>
            <a:r>
              <a:t>"Example effect path: shell → locate malware staging → wipe or deny it."</a:t>
            </a:r>
          </a:p>
          <a:p>
            <a:r>
              <a:t>"Stay inside assigned adversary targets."</a:t>
            </a:r>
          </a:p>
          <a:p/>
          <a:p>
            <a:r>
              <a:t>Show:</a:t>
            </a:r>
          </a:p>
          <a:p>
            <a:r>
              <a:t>Point to vantage, path, and effect sequence.</a:t>
            </a:r>
          </a:p>
          <a:p/>
          <a:p>
            <a:r>
              <a:t>Do:</a:t>
            </a:r>
          </a:p>
          <a:p>
            <a:r>
              <a:t>Transition: "Remote services are next—same discipline, different entry surface."</a:t>
            </a:r>
          </a:p>
          <a:p/>
          <a:p>
            <a:r>
              <a:t>Image Prompt:</a:t>
            </a:r>
          </a:p>
          <a:p>
            <a:r>
              <a:t>Blue-space ops station firing a precise T1190 exploit along an allowed path; small footprint meter reading "low relative noise."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"Second technique: external remote services."</a:t>
            </a:r>
          </a:p>
          <a:p>
            <a:r>
              <a:t>"The next slide applies this technique to exposed remote-access surfaces."</a:t>
            </a:r>
          </a:p>
          <a:p/>
          <a:p>
            <a:r>
              <a:t>Show:</a:t>
            </a:r>
          </a:p>
          <a:p>
            <a:r>
              <a:t>Hold on the technique title and icons, then advance.</a:t>
            </a:r>
          </a:p>
          <a:p/>
          <a:p>
            <a:r>
              <a:t>Do:</a:t>
            </a:r>
          </a:p>
          <a:p>
            <a:r>
              <a:t>None required beyond the transition.</a:t>
            </a:r>
          </a:p>
          <a:p/>
          <a:p>
            <a:r>
              <a:t>Image Prompt:</a:t>
            </a:r>
          </a:p>
          <a:p>
            <a:r>
              <a:t>Section title card only: "T1133 — External Remote Services" with VPN gateway, RDP desktop, and SSH server icons. No teaching bullets.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"T1133 is about the remote-access plane."</a:t>
            </a:r>
          </a:p>
          <a:p>
            <a:r>
              <a:t>"VPN gateways, RDP hosts, SSH servers are primary surfaces."</a:t>
            </a:r>
          </a:p>
          <a:p>
            <a:r>
              <a:t>"Counterstrike value is depth: edge compromise unlocks interior effects."</a:t>
            </a:r>
          </a:p>
          <a:p>
            <a:r>
              <a:t>"Use the recon workflow to reveal the service and version, then verify applicability before selecting a module."</a:t>
            </a:r>
          </a:p>
          <a:p/>
          <a:p>
            <a:r>
              <a:t>Show:</a:t>
            </a:r>
          </a:p>
          <a:p>
            <a:r>
              <a:t>Trace internet → edge → internal.</a:t>
            </a:r>
          </a:p>
          <a:p/>
          <a:p>
            <a:r>
              <a:t>Do:</a:t>
            </a:r>
          </a:p>
          <a:p>
            <a:r>
              <a:t>Ask: "Why might SSH on an internal jump host matter more than a public marketing site?"</a:t>
            </a:r>
          </a:p>
          <a:p/>
          <a:p>
            <a:r>
              <a:t>Image Prompt:</a:t>
            </a:r>
          </a:p>
          <a:p>
            <a:r>
              <a:t>Perimeter diagram: Internet → VPN/RDP/SSH edge → internal adversary ops network. Exploit lightning bolt at the edge service.</a:t>
            </a:r>
          </a:p>
          <a:p/>
          <a:p>
            <a:r>
              <a:t>Ask (Q):</a:t>
            </a:r>
          </a:p>
          <a:p>
            <a:r>
              <a:t>Why might SSH on an internal jump host matter more than a public marketing site?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"Primary access method here is vulnerability exploitation."</a:t>
            </a:r>
          </a:p>
          <a:p>
            <a:r>
              <a:t>"Same discipline as T1190: version, match, prepare, execute."</a:t>
            </a:r>
          </a:p>
          <a:p>
            <a:r>
              <a:t>"Pulse Secure RCE, BlueKeep, and regreSSHion are teaching exemplars."</a:t>
            </a:r>
          </a:p>
          <a:p>
            <a:r>
              <a:t>"Metasploit modules exist for several of these; PoCs for others."</a:t>
            </a:r>
          </a:p>
          <a:p>
            <a:r>
              <a:t>"Do not skip version confirmation—remote service exploits are crash-prone."</a:t>
            </a:r>
          </a:p>
          <a:p/>
          <a:p>
            <a:r>
              <a:t>Show:</a:t>
            </a:r>
          </a:p>
          <a:p>
            <a:r>
              <a:t>Align this process strip with the earlier T1190 strip to show reuse.</a:t>
            </a:r>
          </a:p>
          <a:p/>
          <a:p>
            <a:r>
              <a:t>Do:</a:t>
            </a:r>
          </a:p>
          <a:p>
            <a:r>
              <a:t>Ask students where they would look up the CVE after seeing `OpenSSH_7.4` in a banner.</a:t>
            </a:r>
          </a:p>
          <a:p/>
          <a:p>
            <a:r>
              <a:t>Image Prompt:</a:t>
            </a:r>
          </a:p>
          <a:p>
            <a:r>
              <a:t>Process strip identical in shape to the T1190 process, but icons are VPN/RDP/SSH and example CVE labels differ.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"RDP example: BlueKeep module path when version and conditions match."</a:t>
            </a:r>
          </a:p>
          <a:p>
            <a:r>
              <a:t>"SSH example: modern RCE classes like regreSSHion when the OpenSSH build is vulnerable."</a:t>
            </a:r>
          </a:p>
          <a:p>
            <a:r>
              <a:t>"Both aim at a usable shell on the remote service host."</a:t>
            </a:r>
          </a:p>
          <a:p>
            <a:r>
              <a:t>"That host is often an ops console or jump box—high value for follow-on effects."</a:t>
            </a:r>
          </a:p>
          <a:p/>
          <a:p>
            <a:r>
              <a:t>Show:</a:t>
            </a:r>
          </a:p>
          <a:p>
            <a:r>
              <a:t>Compare the two cards.</a:t>
            </a:r>
          </a:p>
          <a:p/>
          <a:p>
            <a:r>
              <a:t>Do:</a:t>
            </a:r>
          </a:p>
          <a:p>
            <a:r>
              <a:t>Ask: "What recon artifact decides BlueKeep versus a credential spray instead?"</a:t>
            </a:r>
          </a:p>
          <a:p/>
          <a:p>
            <a:r>
              <a:t>Image Prompt:</a:t>
            </a:r>
          </a:p>
          <a:p>
            <a:r>
              <a:t>Two example cards side by side—Windows RDP with BlueKeep module path; Linux SSH with regreSSHion PoC path—each ending in a shell icon.</a:t>
            </a:r>
          </a:p>
          <a:p/>
          <a:p>
            <a:r>
              <a:t>Ask (Q):</a:t>
            </a:r>
          </a:p>
          <a:p>
            <a:r>
              <a:t>What recon artifact decides BlueKeep versus a credential spray instead?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"VPN gateways concentrate access."</a:t>
            </a:r>
          </a:p>
          <a:p>
            <a:r>
              <a:t>"Pulse Secure CVE-2019-11510 is the classic teaching exploit."</a:t>
            </a:r>
          </a:p>
          <a:p>
            <a:r>
              <a:t>"Landing there can mean durable reach into adversary operations."</a:t>
            </a:r>
          </a:p>
          <a:p>
            <a:r>
              <a:t>"From that console you stage denial or disruption effects."</a:t>
            </a:r>
          </a:p>
          <a:p>
            <a:r>
              <a:t>"Document the path—follow-on teams need the exact entry method."</a:t>
            </a:r>
          </a:p>
          <a:p/>
          <a:p>
            <a:r>
              <a:t>Show:</a:t>
            </a:r>
          </a:p>
          <a:p>
            <a:r>
              <a:t>Trace gateway → console → effect.</a:t>
            </a:r>
          </a:p>
          <a:p/>
          <a:p>
            <a:r>
              <a:t>Do:</a:t>
            </a:r>
          </a:p>
          <a:p>
            <a:r>
              <a:t>Ask what you would record for handoff after a VPN shell lands.</a:t>
            </a:r>
          </a:p>
          <a:p/>
          <a:p>
            <a:r>
              <a:t>Image Prompt:</a:t>
            </a:r>
          </a:p>
          <a:p>
            <a:r>
              <a:t>VPN gateway icon cracking open to reveal an internal ops console; effect tags "deny data," "disrupt service" attached to the console.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"Purpose: walk T1133 execution without requiring a full live demo."</a:t>
            </a:r>
          </a:p>
          <a:p>
            <a:r>
              <a:t>"Input comes from recon—service and version."</a:t>
            </a:r>
          </a:p>
          <a:p>
            <a:r>
              <a:t>"Vulnerability search follows NVD, ExploitDB, and module fit."</a:t>
            </a:r>
          </a:p>
          <a:p>
            <a:r>
              <a:t>"Use those sources to form and narrow a candidate; verify the advisory and target conditions before treating it as applicable."</a:t>
            </a:r>
          </a:p>
          <a:p>
            <a:r>
              <a:t>"Narrate prepare and execute; if no live target, show expected shell output."</a:t>
            </a:r>
          </a:p>
          <a:p>
            <a:r>
              <a:t>"Blue-space paths keep this lower risk than a cold covert launch."</a:t>
            </a:r>
          </a:p>
          <a:p>
            <a:r>
              <a:t>"Debrief: interpretation matters—version evidence can narrow the path, but it does not establish exploitability alone."</a:t>
            </a:r>
          </a:p>
          <a:p>
            <a:r>
              <a:t>"Transition next to operational checks for T1133."</a:t>
            </a:r>
          </a:p>
          <a:p/>
          <a:p>
            <a:r>
              <a:t>Show:</a:t>
            </a:r>
          </a:p>
          <a:p>
            <a:r>
              <a:t>Point to each walk-through panel in order.</a:t>
            </a:r>
          </a:p>
          <a:p>
            <a:r>
              <a:t>If simulating, display a short expected shell snippet.</a:t>
            </a:r>
          </a:p>
          <a:p/>
          <a:p>
            <a:r>
              <a:t>Do:</a:t>
            </a:r>
          </a:p>
          <a:p>
            <a:r>
              <a:t>Ask: "What would you refuse to execute if the version match was ambiguous?"</a:t>
            </a:r>
          </a:p>
          <a:p>
            <a:r>
              <a:t>Collect one refusal criterion (wrong major version, untested crash risk, etc.).</a:t>
            </a:r>
          </a:p>
          <a:p/>
          <a:p>
            <a:r>
              <a:t>Image Prompt:</a:t>
            </a:r>
          </a:p>
          <a:p>
            <a:r>
              <a:t>Walk-through panel: banner `SSH-2.0-OpenSSH_7.4` → CVE/NVD match → PoC execution → shell prompt. Side callouts: "recon banner," "NVD/ExploitDB."</a:t>
            </a:r>
          </a:p>
          <a:p/>
          <a:p>
            <a:r>
              <a:t>Ask (Q):</a:t>
            </a:r>
          </a:p>
          <a:p>
            <a:r>
              <a:t>What would you refuse to execute if the version match was ambiguous?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"Remote service exploits can brick the door you need."</a:t>
            </a:r>
          </a:p>
          <a:p>
            <a:r>
              <a:t>"Choose stability when the mission needs the service alive under your control."</a:t>
            </a:r>
          </a:p>
          <a:p>
            <a:r>
              <a:t>"Still prepare the effect payload so you do not waste the window."</a:t>
            </a:r>
          </a:p>
          <a:p>
            <a:r>
              <a:t>"Throttle and time probes—banner grabbing can be as loud as the exploit."</a:t>
            </a:r>
          </a:p>
          <a:p>
            <a:r>
              <a:t>"Evasion on the path in protects the technique for reuse."</a:t>
            </a:r>
          </a:p>
          <a:p/>
          <a:p>
            <a:r>
              <a:t>Show:</a:t>
            </a:r>
          </a:p>
          <a:p>
            <a:r>
              <a:t>Move the risk dial toward "Stable session."</a:t>
            </a:r>
          </a:p>
          <a:p/>
          <a:p>
            <a:r>
              <a:t>Do:</a:t>
            </a:r>
          </a:p>
          <a:p>
            <a:r>
              <a:t>Ask when crashing the service might still be acceptable (rare; only if effect requires denial and access is already redundant).</a:t>
            </a:r>
          </a:p>
          <a:p/>
          <a:p>
            <a:r>
              <a:t>Image Prompt:</a:t>
            </a:r>
          </a:p>
          <a:p>
            <a:r>
              <a:t>Risk dial between "Stable session" and "Service crash," with OPSEC notes for timing and probe noise.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"Third technique: valid accounts."</a:t>
            </a:r>
          </a:p>
          <a:p>
            <a:r>
              <a:t>"The next slide covers the evidence sources and operational value."</a:t>
            </a:r>
          </a:p>
          <a:p/>
          <a:p>
            <a:r>
              <a:t>Show:</a:t>
            </a:r>
          </a:p>
          <a:p>
            <a:r>
              <a:t>Hold on the technique title and credential icon, then advance.</a:t>
            </a:r>
          </a:p>
          <a:p/>
          <a:p>
            <a:r>
              <a:t>Do:</a:t>
            </a:r>
          </a:p>
          <a:p>
            <a:r>
              <a:t>None required beyond the transition.</a:t>
            </a:r>
          </a:p>
          <a:p/>
          <a:p>
            <a:r>
              <a:t>Image Prompt:</a:t>
            </a:r>
          </a:p>
          <a:p>
            <a:r>
              <a:t>Section title card only: "T1078 — Valid Accounts" with a key/credential icon unlocking SSH and RDP doors quietly. No teaching bullets.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"Valid means the system accepts the login."</a:t>
            </a:r>
          </a:p>
          <a:p>
            <a:r>
              <a:t>"Primary gold: credentials pulled from malware and live traffic in blue space."</a:t>
            </a:r>
          </a:p>
          <a:p>
            <a:r>
              <a:t>"Secondary: breach corpuses and OSINT when they map to the same actor infrastructure."</a:t>
            </a:r>
          </a:p>
          <a:p>
            <a:r>
              <a:t>"Operationally, successful auth looks like a normal user—ideal for persistence and quiet effects."</a:t>
            </a:r>
          </a:p>
          <a:p/>
          <a:p>
            <a:r>
              <a:t>Show:</a:t>
            </a:r>
          </a:p>
          <a:p>
            <a:r>
              <a:t>Emphasize primary over secondary sources.</a:t>
            </a:r>
          </a:p>
          <a:p/>
          <a:p>
            <a:r>
              <a:t>Do:</a:t>
            </a:r>
          </a:p>
          <a:p>
            <a:r>
              <a:t>Ask why primary defender intel usually beats generic breach lists for counterstrike.</a:t>
            </a:r>
          </a:p>
          <a:p/>
          <a:p>
            <a:r>
              <a:t>Image Prompt:</a:t>
            </a:r>
          </a:p>
          <a:p>
            <a:r>
              <a:t>Credential funnel: malware sample + traffic IOC (primary) and OSINT/breach (secondary) pouring into an auth success on an adversary service.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"Start with what the adversary already sent you."</a:t>
            </a:r>
          </a:p>
          <a:p>
            <a:r>
              <a:t>"Malware samples often embed SSH/RDP/panel passwords."</a:t>
            </a:r>
          </a:p>
          <a:p>
            <a:r>
              <a:t>"Beacon and exfil channels leak auth material."</a:t>
            </a:r>
          </a:p>
          <a:p>
            <a:r>
              <a:t>"A connection between the tooling and target makes the credential a stronger lead, not proof of access."</a:t>
            </a:r>
          </a:p>
          <a:p>
            <a:r>
              <a:t>"Validate the cred against the intended service before claiming access."</a:t>
            </a:r>
          </a:p>
          <a:p/>
          <a:p>
            <a:r>
              <a:t>Show:</a:t>
            </a:r>
          </a:p>
          <a:p>
            <a:r>
              <a:t>Point to sample analysis and PCAP highlight.</a:t>
            </a:r>
          </a:p>
          <a:p/>
          <a:p>
            <a:r>
              <a:t>Do:</a:t>
            </a:r>
          </a:p>
          <a:p>
            <a:r>
              <a:t>Ask for one safe validation step before spraying a harvested password widely.</a:t>
            </a:r>
          </a:p>
          <a:p/>
          <a:p>
            <a:r>
              <a:t>Image Prompt:</a:t>
            </a:r>
          </a:p>
          <a:p>
            <a:r>
              <a:t>Hunt desk view: malware binary open in analysis, PCAP highlight showing cleartext or encoded creds, sticky note "use against actor infra only."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"Secondary methods fill gaps."</a:t>
            </a:r>
          </a:p>
          <a:p>
            <a:r>
              <a:t>"Breach reuse works when actors recycle passwords."</a:t>
            </a:r>
          </a:p>
          <a:p>
            <a:r>
              <a:t>"Spraying tries common passwords across a user list."</a:t>
            </a:r>
          </a:p>
          <a:p>
            <a:r>
              <a:t>"Stuffing replays known pairs at the service."</a:t>
            </a:r>
          </a:p>
          <a:p>
            <a:r>
              <a:t>"These are louder and lockout-prone—throttle and watch responses."</a:t>
            </a:r>
          </a:p>
          <a:p/>
          <a:p>
            <a:r>
              <a:t>Show:</a:t>
            </a:r>
          </a:p>
          <a:p>
            <a:r>
              <a:t>Compare noise meters across tiles.</a:t>
            </a:r>
          </a:p>
          <a:p/>
          <a:p>
            <a:r>
              <a:t>Do:</a:t>
            </a:r>
          </a:p>
          <a:p>
            <a:r>
              <a:t>Ask which secondary method fits a short user list with malware-derived password candidates.</a:t>
            </a:r>
          </a:p>
          <a:p/>
          <a:p>
            <a:r>
              <a:t>Image Prompt:</a:t>
            </a:r>
          </a:p>
          <a:p>
            <a:r>
              <a:t>Three secondary method tiles—OSINT/breach, spray, stuff—each with a noise meter (spray/stuff higher than targeted primary use).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"SSH with malware-hardcoded admin creds is a common win."</a:t>
            </a:r>
          </a:p>
          <a:p>
            <a:r>
              <a:t>"RDP with weak or default passwords from IOCs is the Windows counterpart."</a:t>
            </a:r>
          </a:p>
          <a:p>
            <a:r>
              <a:t>"Tools like Crowbar appear in stuffing/spray workflows—understand lockout risk."</a:t>
            </a:r>
          </a:p>
          <a:p>
            <a:r>
              <a:t>"Valid creds mean the session looks legitimate—use that for deliberate effects, not thrashing."</a:t>
            </a:r>
          </a:p>
          <a:p/>
          <a:p>
            <a:r>
              <a:t>Show:</a:t>
            </a:r>
          </a:p>
          <a:p>
            <a:r>
              <a:t>Contrast SSH and RDP success paths.</a:t>
            </a:r>
          </a:p>
          <a:p/>
          <a:p>
            <a:r>
              <a:t>Do:</a:t>
            </a:r>
          </a:p>
          <a:p>
            <a:r>
              <a:t>Ask what effect they would run first on a quiet valid-account session.</a:t>
            </a:r>
          </a:p>
          <a:p/>
          <a:p>
            <a:r>
              <a:t>Image Prompt:</a:t>
            </a:r>
          </a:p>
          <a:p>
            <a:r>
              <a:t>Split examples: Kali SSH session using extracted password; Windows RDP login success via credential tool. Both lead to "session for effects."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"Walk-through intent: show a controlled spray, not a brute-force flood."</a:t>
            </a:r>
          </a:p>
          <a:p>
            <a:r>
              <a:t>"Users come from recon; passwords prefer malware IOC lists first."</a:t>
            </a:r>
          </a:p>
          <a:p>
            <a:r>
              <a:t>"Hydra is a teaching example—any disciplined sprayer follows the same logic."</a:t>
            </a:r>
          </a:p>
          <a:p>
            <a:r>
              <a:t>"One valid login is enough; stop and document."</a:t>
            </a:r>
          </a:p>
          <a:p>
            <a:r>
              <a:t>"Then establish the interactive session and move to effects."</a:t>
            </a:r>
          </a:p>
          <a:p/>
          <a:p>
            <a:r>
              <a:t>Show:</a:t>
            </a:r>
          </a:p>
          <a:p>
            <a:r>
              <a:t>Narrate the command options: `-L` user list, `-P` password list, `rdp://` target.</a:t>
            </a:r>
          </a:p>
          <a:p>
            <a:r>
              <a:t>Highlight the success line.</a:t>
            </a:r>
          </a:p>
          <a:p/>
          <a:p>
            <a:r>
              <a:t>Do:</a:t>
            </a:r>
          </a:p>
          <a:p>
            <a:r>
              <a:t>Ask: "What evidence tells you to stop spraying immediately?"</a:t>
            </a:r>
          </a:p>
          <a:p/>
          <a:p>
            <a:r>
              <a:t>Image Prompt:</a:t>
            </a:r>
          </a:p>
          <a:p>
            <a:r>
              <a:t>Command-line storyboard showing hydra (or similar) RDP spray, a single success line, then an RDP desktop session. Warning badge: "rate + lockout."</a:t>
            </a:r>
          </a:p>
          <a:p/>
          <a:p>
            <a:r>
              <a:t>Ask (Q):</a:t>
            </a:r>
          </a:p>
          <a:p>
            <a:r>
              <a:t>What evidence tells you to stop spraying immediately?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"Valid-account OPSEC is behavioral."</a:t>
            </a:r>
          </a:p>
          <a:p>
            <a:r>
              <a:t>"Log in when they log in."</a:t>
            </a:r>
          </a:p>
          <a:p>
            <a:r>
              <a:t>"Use tools and clients that look native to that service."</a:t>
            </a:r>
          </a:p>
          <a:p>
            <a:r>
              <a:t>"You avoid the crash and payload signatures that betray exploits."</a:t>
            </a:r>
          </a:p>
          <a:p>
            <a:r>
              <a:t>"That quietness supports longer-lived access for phased effects."</a:t>
            </a:r>
          </a:p>
          <a:p/>
          <a:p>
            <a:r>
              <a:t>Show:</a:t>
            </a:r>
          </a:p>
          <a:p>
            <a:r>
              <a:t>Align CPT markers to the normal-hours band.</a:t>
            </a:r>
          </a:p>
          <a:p/>
          <a:p>
            <a:r>
              <a:t>Do:</a:t>
            </a:r>
          </a:p>
          <a:p>
            <a:r>
              <a:t>Transition: "Last technique flips their collection—internal spear phishing / lures."</a:t>
            </a:r>
          </a:p>
          <a:p/>
          <a:p>
            <a:r>
              <a:t>Image Prompt:</a:t>
            </a:r>
          </a:p>
          <a:p>
            <a:r>
              <a:t>Timeline of adversary "normal login hours" with CPT login markers aligned to those windows; contrast icon of a noisy exploit crash outside the window.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"Fourth technique: internal spear phishing in the hunt/counterstrike sense."</a:t>
            </a:r>
          </a:p>
          <a:p>
            <a:r>
              <a:t>"The next slide explains the observed collection behavior that makes a lure relevant."</a:t>
            </a:r>
          </a:p>
          <a:p/>
          <a:p>
            <a:r>
              <a:t>Show:</a:t>
            </a:r>
          </a:p>
          <a:p>
            <a:r>
              <a:t>Hold on the technique title and image, then advance.</a:t>
            </a:r>
          </a:p>
          <a:p/>
          <a:p>
            <a:r>
              <a:t>Do:</a:t>
            </a:r>
          </a:p>
          <a:p>
            <a:r>
              <a:t>None required beyond the transition.</a:t>
            </a:r>
          </a:p>
          <a:p/>
          <a:p>
            <a:r>
              <a:t>Image Prompt:</a:t>
            </a:r>
          </a:p>
          <a:p>
            <a:r>
              <a:t>Section title card only: "T1534 — Internal Spear Phishing" showing a decoy file in blue space being stolen into red space and beaconing back. No teaching bullets.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is unique to hunt-team counterstrike posture."</a:t>
            </a:r>
          </a:p>
          <a:p>
            <a:r>
              <a:t>"Lures live in blue space—email traps, shares, honey files."</a:t>
            </a:r>
          </a:p>
          <a:p>
            <a:r>
              <a:t>"When they steal and process the lure, the payload fires from their side."</a:t>
            </a:r>
          </a:p>
          <a:p>
            <a:r>
              <a:t>"You gain a foothold on their analysis or C2-adjacent host."</a:t>
            </a:r>
          </a:p>
          <a:p>
            <a:r>
              <a:t>"It is opportunistic: no observed collection pattern, no reliable T1534."</a:t>
            </a:r>
          </a:p>
          <a:p/>
          <a:p>
            <a:r>
              <a:t>Show:</a:t>
            </a:r>
          </a:p>
          <a:p>
            <a:r>
              <a:t>Walk plant → steal → process → reverse shell.</a:t>
            </a:r>
          </a:p>
          <a:p/>
          <a:p>
            <a:r>
              <a:t>Do:</a:t>
            </a:r>
          </a:p>
          <a:p>
            <a:r>
              <a:t>Ask what hunt evidence would justify seeding a lure tomorrow.</a:t>
            </a:r>
          </a:p>
          <a:p/>
          <a:p>
            <a:r>
              <a:t>Image Prompt:</a:t>
            </a:r>
          </a:p>
          <a:p>
            <a:r>
              <a:t>Shared-drive decoy document with embedded beacon; adversary exfil arrow pulls it to an analysis node; reverse shell returns to blue space.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"Craft lures that match what they already steal—fake intel docs, configs, keys."</a:t>
            </a:r>
          </a:p>
          <a:p>
            <a:r>
              <a:t>"Placement matters: put them on paths your sensors watch."</a:t>
            </a:r>
          </a:p>
          <a:p>
            <a:r>
              <a:t>"Value: they initiate contact by stealing."</a:t>
            </a:r>
          </a:p>
          <a:p>
            <a:r>
              <a:t>"You monitor for the trigger, then validate the reverse session."</a:t>
            </a:r>
          </a:p>
          <a:p>
            <a:r>
              <a:t>"If the mission needs deep lateral movement, package the foothold for follow-on / CMT transition."</a:t>
            </a:r>
          </a:p>
          <a:p/>
          <a:p>
            <a:r>
              <a:t>Show:</a:t>
            </a:r>
          </a:p>
          <a:p>
            <a:r>
              <a:t>Tick the checklist.</a:t>
            </a:r>
          </a:p>
          <a:p/>
          <a:p>
            <a:r>
              <a:t>Do:</a:t>
            </a:r>
          </a:p>
          <a:p>
            <a:r>
              <a:t>Ask what "success" looks like before anyone touches a keyboard on the red host.</a:t>
            </a:r>
          </a:p>
          <a:p/>
          <a:p>
            <a:r>
              <a:t>Image Prompt:</a:t>
            </a:r>
          </a:p>
          <a:p>
            <a:r>
              <a:t>Operator checklist: craft lure → place in monitored path → alert on collection → confirm reverse session → handoff package.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"Treat T1534 as a door opener."</a:t>
            </a:r>
          </a:p>
          <a:p>
            <a:r>
              <a:t>"You may land on an analysis box rather than the final objective host."</a:t>
            </a:r>
          </a:p>
          <a:p>
            <a:r>
              <a:t>"Keep other vectors warm so one patch does not end the mission."</a:t>
            </a:r>
          </a:p>
          <a:p>
            <a:r>
              <a:t>"When scope requires lateral movement beyond the foothold, hand off cleanly."</a:t>
            </a:r>
          </a:p>
          <a:p>
            <a:r>
              <a:t>"Handoff quality is part of the technique's success."</a:t>
            </a:r>
          </a:p>
          <a:p/>
          <a:p>
            <a:r>
              <a:t>Show:</a:t>
            </a:r>
          </a:p>
          <a:p>
            <a:r>
              <a:t>Point to each field in the handoff envelope.</a:t>
            </a:r>
          </a:p>
          <a:p/>
          <a:p>
            <a:r>
              <a:t>Do:</a:t>
            </a:r>
          </a:p>
          <a:p>
            <a:r>
              <a:t>Ask students to name three fields they would include in that envelope.</a:t>
            </a:r>
          </a:p>
          <a:p/>
          <a:p>
            <a:r>
              <a:t>Image Prompt:</a:t>
            </a:r>
          </a:p>
          <a:p>
            <a:r>
              <a:t>Handoff envelope from CPT hunt team to follow-on operators: contains session details, lure IOCs, landing host role, and recommended next techniques.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"Last block: put the techniques to work together."</a:t>
            </a:r>
          </a:p>
          <a:p>
            <a:r>
              <a:t>"The next slides provide decision aids for selection, resilience, and handoff."</a:t>
            </a:r>
          </a:p>
          <a:p/>
          <a:p>
            <a:r>
              <a:t>Show:</a:t>
            </a:r>
          </a:p>
          <a:p>
            <a:r>
              <a:t>Hold on the technique icons and plan document, then advance.</a:t>
            </a:r>
          </a:p>
          <a:p/>
          <a:p>
            <a:r>
              <a:t>Do:</a:t>
            </a:r>
          </a:p>
          <a:p>
            <a:r>
              <a:t>None required beyond the transition.</a:t>
            </a:r>
          </a:p>
          <a:p/>
          <a:p>
            <a:r>
              <a:t>Image Prompt:</a:t>
            </a:r>
          </a:p>
          <a:p>
            <a:r>
              <a:t>Section title card only: "Integration and Selection" with four technique icons linked into one access plan document. No teaching bullets.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"Plan primary and fallback before you execute."</a:t>
            </a:r>
          </a:p>
          <a:p>
            <a:r>
              <a:t>"Exploits are fast; credentials are quiet insurance."</a:t>
            </a:r>
          </a:p>
          <a:p>
            <a:r>
              <a:t>"Remote-service paths add depth when the edge web tier is hardened."</a:t>
            </a:r>
          </a:p>
          <a:p>
            <a:r>
              <a:t>"Lures add an asynchronous path when they keep stealing."</a:t>
            </a:r>
          </a:p>
          <a:p>
            <a:r>
              <a:t>"Resilience means the effect still happens after a patch."</a:t>
            </a:r>
          </a:p>
          <a:p/>
          <a:p>
            <a:r>
              <a:t>Show:</a:t>
            </a:r>
          </a:p>
          <a:p>
            <a:r>
              <a:t>Trace each path to the shared effect.</a:t>
            </a:r>
          </a:p>
          <a:p/>
          <a:p>
            <a:r>
              <a:t>Do:</a:t>
            </a:r>
          </a:p>
          <a:p>
            <a:r>
              <a:t>Scenario: "Web CVE patched overnight—what is your morning path?"</a:t>
            </a:r>
          </a:p>
          <a:p/>
          <a:p>
            <a:r>
              <a:t>Image Prompt:</a:t>
            </a:r>
          </a:p>
          <a:p>
            <a:r>
              <a:t>Resilience diagram: primary T1190, fallback T1078, depth path T1133, optional T1534 lure— all capable of feeding "Effect: disrupt C2."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"Selection is evidence-driven."</a:t>
            </a:r>
          </a:p>
          <a:p>
            <a:r>
              <a:t>"Public app surface points to T1190."</a:t>
            </a:r>
          </a:p>
          <a:p>
            <a:r>
              <a:t>"Vulnerable remote services point to T1133."</a:t>
            </a:r>
          </a:p>
          <a:p>
            <a:r>
              <a:t>"Creds in hand point to T1078."</a:t>
            </a:r>
          </a:p>
          <a:p>
            <a:r>
              <a:t>"Active theft from blue space points to T1534."</a:t>
            </a:r>
          </a:p>
          <a:p>
            <a:r>
              <a:t>"If two are green, pick primary by mission tempo and keep the other as backup."</a:t>
            </a:r>
          </a:p>
          <a:p/>
          <a:p>
            <a:r>
              <a:t>Show:</a:t>
            </a:r>
          </a:p>
          <a:p>
            <a:r>
              <a:t>Fill checkmarks on the matrix with the class.</a:t>
            </a:r>
          </a:p>
          <a:p/>
          <a:p>
            <a:r>
              <a:t>Do:</a:t>
            </a:r>
          </a:p>
          <a:p>
            <a:r>
              <a:t>Give a one-minute recon vignette; students vote primary technique.</a:t>
            </a:r>
          </a:p>
          <a:p/>
          <a:p>
            <a:r>
              <a:t>Image Prompt:</a:t>
            </a:r>
          </a:p>
          <a:p>
            <a:r>
              <a:t>Decision matrix: rows are evidence types (web banner, SSH/RDP/VPN version, creds, exfil pattern); columns are techniques with checkmarks where evidence supports them.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"Requirements finish the selection."</a:t>
            </a:r>
          </a:p>
          <a:p>
            <a:r>
              <a:t>"Need a shell in minutes? Lead with a matched exploit."</a:t>
            </a:r>
          </a:p>
          <a:p>
            <a:r>
              <a:t>"Need to blend for days? Lead with valid accounts."</a:t>
            </a:r>
          </a:p>
          <a:p>
            <a:r>
              <a:t>"Need them to pull access to you? Seed the lure."</a:t>
            </a:r>
          </a:p>
          <a:p>
            <a:r>
              <a:t>"Need interior reach? Weight remote-service paths."</a:t>
            </a:r>
          </a:p>
          <a:p>
            <a:r>
              <a:t>"Stay on assigned adversary targets—scope is an execution constraint, not a debate topic."</a:t>
            </a:r>
          </a:p>
          <a:p/>
          <a:p>
            <a:r>
              <a:t>Show:</a:t>
            </a:r>
          </a:p>
          <a:p>
            <a:r>
              <a:t>Adjust the dials per technique.</a:t>
            </a:r>
          </a:p>
          <a:p/>
          <a:p>
            <a:r>
              <a:t>Do:</a:t>
            </a:r>
          </a:p>
          <a:p>
            <a:r>
              <a:t>Ask pairs to justify a primary technique using speed vs stealth for a "disrupt C2 before next beacon" mission.</a:t>
            </a:r>
          </a:p>
          <a:p/>
          <a:p>
            <a:r>
              <a:t>Image Prompt:</a:t>
            </a:r>
          </a:p>
          <a:p>
            <a:r>
              <a:t>Three dials—Speed, Stealth, Depth—set differently for T1190 (speed high), T1078 (stealth high), T1534 (passive/stealth), T1133 (depth high).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"If it is not documented, the team cannot reuse it."</a:t>
            </a:r>
          </a:p>
          <a:p>
            <a:r>
              <a:t>"Name the technique and the exact module or PoC."</a:t>
            </a:r>
          </a:p>
          <a:p>
            <a:r>
              <a:t>"Capture proof: host, user, time, how you verified the session."</a:t>
            </a:r>
          </a:p>
          <a:p>
            <a:r>
              <a:t>"List IOCs you created so defenders and partners are not surprised."</a:t>
            </a:r>
          </a:p>
          <a:p>
            <a:r>
              <a:t>"Hand the live session cleanly—credentials, listener details, stability notes."</a:t>
            </a:r>
          </a:p>
          <a:p>
            <a:r>
              <a:t>"Logging from blue space supports custody and after-action review."</a:t>
            </a:r>
          </a:p>
          <a:p/>
          <a:p>
            <a:r>
              <a:t>Show:</a:t>
            </a:r>
          </a:p>
          <a:p>
            <a:r>
              <a:t>Walk each form field.</a:t>
            </a:r>
          </a:p>
          <a:p/>
          <a:p>
            <a:r>
              <a:t>Do:</a:t>
            </a:r>
          </a:p>
          <a:p>
            <a:r>
              <a:t>Students draft a five-line handoff for a fictional successful T1190.</a:t>
            </a:r>
          </a:p>
          <a:p/>
          <a:p>
            <a:r>
              <a:t>Image Prompt:</a:t>
            </a:r>
          </a:p>
          <a:p>
            <a:r>
              <a:t>Handover form mockup with fields: Technique/CVE/Module, Target, Session ID, IOCs, Proof commands, Next recommended actions.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"Return to positioning."</a:t>
            </a:r>
          </a:p>
          <a:p>
            <a:r>
              <a:t>"Blue space makes selection smarter because the intel is live and local."</a:t>
            </a:r>
          </a:p>
          <a:p>
            <a:r>
              <a:t>"You can swap from exploit to creds without rebuilding launch infrastructure."</a:t>
            </a:r>
          </a:p>
          <a:p>
            <a:r>
              <a:t>"OPSEC benefits compound across T1190 through T1534."</a:t>
            </a:r>
          </a:p>
          <a:p>
            <a:r>
              <a:t>"The product you hand off is a precise foothold for effects—not a fragile one-off."</a:t>
            </a:r>
          </a:p>
          <a:p/>
          <a:p>
            <a:r>
              <a:t>Show:</a:t>
            </a:r>
          </a:p>
          <a:p>
            <a:r>
              <a:t>Spin through the four spokes.</a:t>
            </a:r>
          </a:p>
          <a:p/>
          <a:p>
            <a:r>
              <a:t>Do:</a:t>
            </a:r>
          </a:p>
          <a:p>
            <a:r>
              <a:t>Ask one student to restate the blue-space advantage in one sentence.</a:t>
            </a:r>
          </a:p>
          <a:p/>
          <a:p>
            <a:r>
              <a:t>Image Prompt:</a:t>
            </a:r>
          </a:p>
          <a:p>
            <a:r>
              <a:t>Blue-space advantage summary wheel: Selection accuracy, Live retask, OPSEC, Handoff quality—each spoke tied to "Initial access success."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"You now have four initial-access tools and a selection logic."</a:t>
            </a:r>
          </a:p>
          <a:p>
            <a:r>
              <a:t>"Exploits for exposed apps and remote services."</a:t>
            </a:r>
          </a:p>
          <a:p>
            <a:r>
              <a:t>"Credentials when you already own the password."</a:t>
            </a:r>
          </a:p>
          <a:p>
            <a:r>
              <a:t>"Lures when they keep stealing from you."</a:t>
            </a:r>
          </a:p>
          <a:p>
            <a:r>
              <a:t>"Integrate them; document them; hand them forward."</a:t>
            </a:r>
          </a:p>
          <a:p/>
          <a:p>
            <a:r>
              <a:t>Show:</a:t>
            </a:r>
          </a:p>
          <a:p>
            <a:r>
              <a:t>Tap each quadrant, then the hub.</a:t>
            </a:r>
          </a:p>
          <a:p/>
          <a:p>
            <a:r>
              <a:t>Do:</a:t>
            </a:r>
          </a:p>
          <a:p>
            <a:r>
              <a:t>Rapid-fire: instructor names an evidence type; class names the technique.</a:t>
            </a:r>
          </a:p>
          <a:p/>
          <a:p>
            <a:r>
              <a:t>Image Prompt:</a:t>
            </a:r>
          </a:p>
          <a:p>
            <a:r>
              <a:t>Four-quadrant summary plus a center hub labeled "Select → Execute → Document → Hand off."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"Next you practice."</a:t>
            </a:r>
          </a:p>
          <a:p>
            <a:r>
              <a:t>"Expect to match banners, choose modules, and prove sessions."</a:t>
            </a:r>
          </a:p>
          <a:p>
            <a:r>
              <a:t>"Metasploit labs reinforce exploit execution."</a:t>
            </a:r>
          </a:p>
          <a:p>
            <a:r>
              <a:t>"Gaining-access practicals stretch across app and service surfaces."</a:t>
            </a:r>
          </a:p>
          <a:p>
            <a:r>
              <a:t>"Treat each box as an adversary node—select the technique from evidence."</a:t>
            </a:r>
          </a:p>
          <a:p/>
          <a:p>
            <a:r>
              <a:t>Show:</a:t>
            </a:r>
          </a:p>
          <a:p>
            <a:r>
              <a:t>Point to the lab boxes students will see on the schedule.</a:t>
            </a:r>
          </a:p>
          <a:p/>
          <a:p>
            <a:r>
              <a:t>Do:</a:t>
            </a:r>
          </a:p>
          <a:p>
            <a:r>
              <a:t>Preview the first lab brief location; break if scheduled.</a:t>
            </a:r>
          </a:p>
          <a:p/>
          <a:p>
            <a:r>
              <a:t>Image Prompt:</a:t>
            </a:r>
          </a:p>
          <a:p>
            <a:r>
              <a:t>Three practice-station tiles after the lecture hub: Metasploit module workflow, gaining-access scenarios across services, multi-surface target validation. Skill labels only — no lab names, no Module IDs, no course schedule or road-sign sequencing.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"Questions on T1190, T1133, T1078, T1534, or selection/handoff."</a:t>
            </a:r>
          </a:p>
          <a:p>
            <a:r>
              <a:t>"If it is lab logistics, bring it to the lab brief."</a:t>
            </a:r>
          </a:p>
          <a:p/>
          <a:p>
            <a:r>
              <a:t>Show:</a:t>
            </a:r>
          </a:p>
          <a:p>
            <a:r>
              <a:t>Leave the four IDs visible while taking questions.</a:t>
            </a:r>
          </a:p>
          <a:p/>
          <a:p>
            <a:r>
              <a:t>Do:</a:t>
            </a:r>
          </a:p>
          <a:p>
            <a:r>
              <a:t>Take questions; if none, cold-call one selection vignette before release.</a:t>
            </a:r>
          </a:p>
          <a:p/>
          <a:p>
            <a:r>
              <a:t>Image Prompt:</a:t>
            </a:r>
          </a:p>
          <a:p>
            <a:r>
              <a:t>Simple Q&amp;A slide with footer memory anchors exactly: T1190 Exploit Public-Facing Application, T1133 External Remote Services, T1078 Valid Accounts, T1534 Internal Spearphishing. Do not use T1059, T1547, T1041, or other non-initial-access techniques.</a:t>
            </a:r>
          </a:p>
          <a:p/>
          <a:p>
            <a:r>
              <a:t>Ask (Q):</a:t>
            </a:r>
          </a:p>
          <a:p>
            <a:r>
              <a:t>Which access technique would you select for the vignette, and what evidence makes it suitable?</a:t>
            </a:r>
          </a:p>
          <a:p>
            <a:r>
              <a:t>What is the operational takeaway from this row?</a:t>
            </a:r>
          </a:p>
          <a:p>
            <a:r>
              <a:t>What is the difference between knowing a CVE exists and having a usable session?</a:t>
            </a:r>
          </a:p>
          <a:p>
            <a:r>
              <a:t>What is the operational takeaway from this row?</a:t>
            </a:r>
          </a:p>
          <a:p>
            <a:r>
              <a:t>Where do access attempts most often fail: applicability, preparation, or execution?</a:t>
            </a:r>
          </a:p>
          <a:p/>
          <a:p>
            <a:r>
              <a:t>Expected Response (A):</a:t>
            </a:r>
          </a:p>
          <a:p>
            <a:r>
              <a:t>Facilitation. Tie the choice to T1190, T1133, T1078, or T1534 and the evidence already on the board.</a:t>
            </a:r>
          </a:p>
          <a:p>
            <a:r>
              <a:t>---</a:t>
            </a:r>
          </a:p>
          <a:p>
            <a:r>
              <a:t>## Improvement notes</a:t>
            </a:r>
          </a:p>
          <a:p>
            <a:r>
              <a:t>Facilitation. Restate the Say/Do in operator terms. Do not invent a new teaching point.</a:t>
            </a:r>
          </a:p>
          <a:p>
            <a:r>
              <a:t>## Lesson summary</a:t>
            </a:r>
          </a:p>
          <a:p>
            <a:r>
              <a:t>B02.M03-gaining-access is executed as a generated lesson plan from this file.</a:t>
            </a:r>
          </a:p>
          <a:p>
            <a:r>
              <a:t>Assessment methods live on module.yaml; do not invent extra official ELOs.</a:t>
            </a:r>
          </a:p>
          <a:p>
            <a:r>
              <a:t>Later gaining-access labs continue from the selection logic this session collects.</a:t>
            </a:r>
          </a:p>
          <a:p>
            <a:r>
              <a:t>## Questions and check on learning</a:t>
            </a:r>
          </a:p>
          <a:p>
            <a:r>
              <a:t>Facilitation. Use the Say/Do already on this row; do not force a single keyed answer.</a:t>
            </a:r>
          </a:p>
          <a:p>
            <a:r>
              <a:t>Facilitation. Restate the Say/Do in operator terms. Do not invent a new teaching point.</a:t>
            </a:r>
          </a:p>
          <a:p>
            <a:r>
              <a:t>Facilitation. Use the Say/Do already on this row; do not force a single keyed answer.</a:t>
            </a:r>
          </a:p>
          <a:p/>
          <a:p>
            <a:r>
              <a:t>Before → After Slide Count:</a:t>
            </a:r>
          </a:p>
          <a:p>
            <a:r>
              <a:t>46 → 43.</a:t>
            </a:r>
          </a:p>
          <a:p/>
          <a:p>
            <a:r>
              <a:t>Removed / Merged:</a:t>
            </a:r>
          </a:p>
          <a:p>
            <a:r>
              <a:t>Lesson Overview and Introduction to Gaining Access were removed; From Recon to Initial Access and The Access Pipeline were merged into Slide 3. Overview pacing now lives in the Lesson Objectives notes.</a:t>
            </a:r>
          </a:p>
          <a:p/>
          <a:p>
            <a:r>
              <a:t>Converted Section Transitions:</a:t>
            </a:r>
          </a:p>
          <a:p>
            <a:r>
              <a:t>T1190, T1133, T1078, T1534, and Integration and Selection are title-and-image-only transition slides. Their teaching context now appears in the following operational slides.</a:t>
            </a:r>
          </a:p>
          <a:p/>
          <a:p>
            <a:r>
              <a:t>Evidence-Driven Access:</a:t>
            </a:r>
          </a:p>
          <a:p>
            <a:r>
              <a:t>Slide 3 teaches observe → reveal/verify → prepare → act/assess. Recon and vulnerability-research workflows are acknowledged where they are reused.</a:t>
            </a:r>
          </a:p>
          <a:p/>
          <a:p>
            <a:r>
              <a:t>Research Aids:</a:t>
            </a:r>
          </a:p>
          <a:p>
            <a:r>
              <a:t>Slide 13 is the first NVD/ExploitDB mention and adds the SI guidance: SI may accelerate triage or summaries, but it does not establish exploitability; verify against primary sources. Slide 22 reinforces verification when that research workflow is revisited.</a:t>
            </a:r>
          </a:p>
          <a:p/>
          <a:p>
            <a:r>
              <a:t>Slide 14 (This Pass):</a:t>
            </a:r>
          </a:p>
          <a:p>
            <a:r>
              <a:t>Converted from a live web-app exploit demo to a conceptual Metasploit talk-through: `search` → `use` → options → default-payload vs `multi/handler` → `exploit` / session proof. Keyboard practice remains Metasploit and gaining-access / Vulnhub labs.</a:t>
            </a:r>
          </a:p>
          <a:p/>
          <a:p>
            <a:r>
              <a:t>Delivery Parity:</a:t>
            </a:r>
          </a:p>
          <a:p>
            <a:r>
              <a:t>Say / Show / Do and Image Prompts were retained and refreshed for all changed slides. No section opener contains teaching bullets, and deep questions route to the next lab or block without a deferral label.</a:t>
            </a:r>
          </a:p>
          <a:p/>
          <a:p>
            <a:r>
              <a:t>Voice / Focus:</a:t>
            </a:r>
          </a:p>
          <a:p>
            <a:r>
              <a:t>Redundant audience/scenario tags were trimmed from bullets; the deck retains execution-focused mission framing and doctrinal effect verbs.</a:t>
            </a:r>
          </a:p>
          <a:p/>
          <a:p>
            <a:r>
              <a:t>Lesson Objectives:</a:t>
            </a:r>
          </a:p>
          <a:p>
            <a:r>
              <a:t>Slide 2 on-slide bullets restored verbatim from the faithful extract (commit `92b111f`); wording was not paraphrased.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9"/>
          <p:cNvSpPr txBox="1">
            <a:spLocks noGrp="1"/>
          </p:cNvSpPr>
          <p:nvPr>
            <p:ph type="ctrTitle"/>
          </p:nvPr>
        </p:nvSpPr>
        <p:spPr>
          <a:xfrm>
            <a:off x="2062480" y="89884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40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9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316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0"/>
          <p:cNvSpPr txBox="1">
            <a:spLocks noGrp="1"/>
          </p:cNvSpPr>
          <p:nvPr>
            <p:ph type="body" idx="1"/>
          </p:nvPr>
        </p:nvSpPr>
        <p:spPr>
          <a:xfrm>
            <a:off x="1510029" y="1188720"/>
            <a:ext cx="10361372" cy="5131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600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9" name="Google Shape;49;p80"/>
          <p:cNvSpPr txBox="1"/>
          <p:nvPr/>
        </p:nvSpPr>
        <p:spPr>
          <a:xfrm>
            <a:off x="3657600" y="6553201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80"/>
          <p:cNvSpPr txBox="1"/>
          <p:nvPr/>
        </p:nvSpPr>
        <p:spPr>
          <a:xfrm>
            <a:off x="3657600" y="0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80"/>
          <p:cNvSpPr txBox="1">
            <a:spLocks noGrp="1"/>
          </p:cNvSpPr>
          <p:nvPr>
            <p:ph type="title"/>
          </p:nvPr>
        </p:nvSpPr>
        <p:spPr>
          <a:xfrm>
            <a:off x="1510029" y="437317"/>
            <a:ext cx="10681971" cy="5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0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82"/>
          <p:cNvSpPr txBox="1">
            <a:spLocks noGrp="1"/>
          </p:cNvSpPr>
          <p:nvPr>
            <p:ph type="title"/>
          </p:nvPr>
        </p:nvSpPr>
        <p:spPr>
          <a:xfrm>
            <a:off x="1723854" y="549275"/>
            <a:ext cx="9963493" cy="28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4" name="Google Shape;54;p82"/>
          <p:cNvSpPr txBox="1">
            <a:spLocks noGrp="1"/>
          </p:cNvSpPr>
          <p:nvPr>
            <p:ph type="body" idx="1"/>
          </p:nvPr>
        </p:nvSpPr>
        <p:spPr>
          <a:xfrm>
            <a:off x="1723854" y="3429000"/>
            <a:ext cx="9963493" cy="21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6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100"/>
              <a:buFont typeface="Arial"/>
              <a:buNone/>
              <a:defRPr sz="1333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316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3"/>
          <p:cNvSpPr txBox="1">
            <a:spLocks noGrp="1"/>
          </p:cNvSpPr>
          <p:nvPr>
            <p:ph type="title"/>
          </p:nvPr>
        </p:nvSpPr>
        <p:spPr>
          <a:xfrm>
            <a:off x="1363362" y="952052"/>
            <a:ext cx="10142837" cy="622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2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7" name="Google Shape;57;p83"/>
          <p:cNvSpPr txBox="1">
            <a:spLocks noGrp="1"/>
          </p:cNvSpPr>
          <p:nvPr>
            <p:ph type="body" idx="1"/>
          </p:nvPr>
        </p:nvSpPr>
        <p:spPr>
          <a:xfrm>
            <a:off x="4720611" y="1574799"/>
            <a:ext cx="7091600" cy="47812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6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1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8" name="Google Shape;58;p83"/>
          <p:cNvSpPr txBox="1">
            <a:spLocks noGrp="1"/>
          </p:cNvSpPr>
          <p:nvPr>
            <p:ph type="body" idx="2"/>
          </p:nvPr>
        </p:nvSpPr>
        <p:spPr>
          <a:xfrm>
            <a:off x="1363363" y="1582599"/>
            <a:ext cx="3098248" cy="47812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 pitchFamily="34" charset="0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0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92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1_Section Head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4"/>
          <p:cNvSpPr txBox="1">
            <a:spLocks noGrp="1"/>
          </p:cNvSpPr>
          <p:nvPr>
            <p:ph type="title"/>
          </p:nvPr>
        </p:nvSpPr>
        <p:spPr>
          <a:xfrm>
            <a:off x="1723854" y="549275"/>
            <a:ext cx="9963493" cy="28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3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316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1_Title and Content 2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5"/>
          <p:cNvSpPr txBox="1">
            <a:spLocks noGrp="1"/>
          </p:cNvSpPr>
          <p:nvPr>
            <p:ph type="body" idx="1"/>
          </p:nvPr>
        </p:nvSpPr>
        <p:spPr>
          <a:xfrm>
            <a:off x="1510029" y="1188720"/>
            <a:ext cx="10361372" cy="5131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600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3" name="Google Shape;63;p85"/>
          <p:cNvSpPr txBox="1"/>
          <p:nvPr/>
        </p:nvSpPr>
        <p:spPr>
          <a:xfrm>
            <a:off x="3657600" y="6553201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85"/>
          <p:cNvSpPr txBox="1"/>
          <p:nvPr/>
        </p:nvSpPr>
        <p:spPr>
          <a:xfrm>
            <a:off x="3657600" y="0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85"/>
          <p:cNvSpPr txBox="1">
            <a:spLocks noGrp="1"/>
          </p:cNvSpPr>
          <p:nvPr>
            <p:ph type="title"/>
          </p:nvPr>
        </p:nvSpPr>
        <p:spPr>
          <a:xfrm>
            <a:off x="1510029" y="429225"/>
            <a:ext cx="10666596" cy="5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4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86"/>
          <p:cNvSpPr txBox="1">
            <a:spLocks noGrp="1"/>
          </p:cNvSpPr>
          <p:nvPr>
            <p:ph type="body" idx="1"/>
          </p:nvPr>
        </p:nvSpPr>
        <p:spPr>
          <a:xfrm>
            <a:off x="1141622" y="1000540"/>
            <a:ext cx="4874101" cy="4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2133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67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333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68" name="Google Shape;68;p86"/>
          <p:cNvSpPr txBox="1">
            <a:spLocks noGrp="1"/>
          </p:cNvSpPr>
          <p:nvPr>
            <p:ph type="body" idx="2"/>
          </p:nvPr>
        </p:nvSpPr>
        <p:spPr>
          <a:xfrm>
            <a:off x="1141621" y="1582321"/>
            <a:ext cx="4854344" cy="48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1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69" name="Google Shape;69;p86"/>
          <p:cNvSpPr txBox="1">
            <a:spLocks noGrp="1"/>
          </p:cNvSpPr>
          <p:nvPr>
            <p:ph type="body" idx="3"/>
          </p:nvPr>
        </p:nvSpPr>
        <p:spPr>
          <a:xfrm>
            <a:off x="6195272" y="1000540"/>
            <a:ext cx="5603200" cy="49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2133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67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333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86"/>
          <p:cNvSpPr txBox="1">
            <a:spLocks noGrp="1"/>
          </p:cNvSpPr>
          <p:nvPr>
            <p:ph type="body" idx="4"/>
          </p:nvPr>
        </p:nvSpPr>
        <p:spPr>
          <a:xfrm>
            <a:off x="6199877" y="1582323"/>
            <a:ext cx="5598400" cy="48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1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cxnSp>
        <p:nvCxnSpPr>
          <p:cNvPr id="71" name="Google Shape;71;p86"/>
          <p:cNvCxnSpPr/>
          <p:nvPr/>
        </p:nvCxnSpPr>
        <p:spPr>
          <a:xfrm>
            <a:off x="1141622" y="974035"/>
            <a:ext cx="10830241" cy="0"/>
          </a:xfrm>
          <a:prstGeom prst="straightConnector1">
            <a:avLst/>
          </a:prstGeom>
          <a:noFill/>
          <a:ln w="9525" cap="flat" cmpd="sng">
            <a:solidFill>
              <a:srgbClr val="BFBFBF"/>
            </a:solidFill>
            <a:prstDash val="solid"/>
            <a:miter lim="0"/>
            <a:headEnd type="none" w="sm" len="sm"/>
            <a:tailEnd type="none" w="sm" len="sm"/>
          </a:ln>
        </p:spPr>
      </p:cxnSp>
      <p:cxnSp>
        <p:nvCxnSpPr>
          <p:cNvPr id="72" name="Google Shape;72;p86"/>
          <p:cNvCxnSpPr/>
          <p:nvPr/>
        </p:nvCxnSpPr>
        <p:spPr>
          <a:xfrm>
            <a:off x="6095137" y="974035"/>
            <a:ext cx="800" cy="5382400"/>
          </a:xfrm>
          <a:prstGeom prst="straightConnector1">
            <a:avLst/>
          </a:prstGeom>
          <a:noFill/>
          <a:ln w="9525" cap="flat" cmpd="sng">
            <a:solidFill>
              <a:srgbClr val="BFBFBF"/>
            </a:solidFill>
            <a:prstDash val="solid"/>
            <a:miter lim="0"/>
            <a:headEnd type="none" w="sm" len="sm"/>
            <a:tailEnd type="none" w="sm" len="sm"/>
          </a:ln>
        </p:spPr>
      </p:cxnSp>
      <p:cxnSp>
        <p:nvCxnSpPr>
          <p:cNvPr id="73" name="Google Shape;73;p86"/>
          <p:cNvCxnSpPr/>
          <p:nvPr/>
        </p:nvCxnSpPr>
        <p:spPr>
          <a:xfrm>
            <a:off x="1141621" y="1504121"/>
            <a:ext cx="10830240" cy="0"/>
          </a:xfrm>
          <a:prstGeom prst="straightConnector1">
            <a:avLst/>
          </a:prstGeom>
          <a:noFill/>
          <a:ln w="9525" cap="flat" cmpd="sng">
            <a:solidFill>
              <a:srgbClr val="BFBFBF"/>
            </a:solidFill>
            <a:prstDash val="solid"/>
            <a:miter lim="0"/>
            <a:headEnd type="none" w="sm" len="sm"/>
            <a:tailEnd type="none" w="sm" len="sm"/>
          </a:ln>
        </p:spPr>
      </p:cxnSp>
      <p:sp>
        <p:nvSpPr>
          <p:cNvPr id="74" name="Google Shape;74;p86"/>
          <p:cNvSpPr txBox="1">
            <a:spLocks noGrp="1"/>
          </p:cNvSpPr>
          <p:nvPr>
            <p:ph type="title"/>
          </p:nvPr>
        </p:nvSpPr>
        <p:spPr>
          <a:xfrm>
            <a:off x="1141621" y="326173"/>
            <a:ext cx="10656656" cy="641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5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87"/>
          <p:cNvSpPr txBox="1">
            <a:spLocks noGrp="1"/>
          </p:cNvSpPr>
          <p:nvPr>
            <p:ph type="title"/>
          </p:nvPr>
        </p:nvSpPr>
        <p:spPr>
          <a:xfrm>
            <a:off x="1301577" y="458775"/>
            <a:ext cx="10467243" cy="684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2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77" name="Google Shape;77;p87"/>
          <p:cNvSpPr>
            <a:spLocks noGrp="1"/>
          </p:cNvSpPr>
          <p:nvPr>
            <p:ph type="pic" idx="2"/>
          </p:nvPr>
        </p:nvSpPr>
        <p:spPr>
          <a:xfrm>
            <a:off x="4666821" y="1142999"/>
            <a:ext cx="7102000" cy="52560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8" name="Google Shape;78;p87"/>
          <p:cNvSpPr txBox="1">
            <a:spLocks noGrp="1"/>
          </p:cNvSpPr>
          <p:nvPr>
            <p:ph type="body" idx="1"/>
          </p:nvPr>
        </p:nvSpPr>
        <p:spPr>
          <a:xfrm>
            <a:off x="1301578" y="1142999"/>
            <a:ext cx="3061420" cy="52562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867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9845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3pPr>
            <a:lvl4pPr marL="1828800" lvl="3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4pPr>
            <a:lvl5pPr marL="2286000" lvl="4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5pPr>
            <a:lvl6pPr marL="2743200" lvl="5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6pPr>
            <a:lvl7pPr marL="3200400" lvl="6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7pPr>
            <a:lvl8pPr marL="3657600" lvl="7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8pPr>
            <a:lvl9pPr marL="4114800" lvl="8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9pPr>
          </a:lstStyle>
          <a:p>
            <a:endParaRPr/>
          </a:p>
        </p:txBody>
      </p:sp>
      <p:sp>
        <p:nvSpPr>
          <p:cNvPr id="96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_Title Slide">
  <p:cSld name="11_Title Slide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88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1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ster Use">
  <p:cSld name="Master Use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89"/>
          <p:cNvSpPr txBox="1">
            <a:spLocks noGrp="1"/>
          </p:cNvSpPr>
          <p:nvPr>
            <p:ph type="title"/>
          </p:nvPr>
        </p:nvSpPr>
        <p:spPr>
          <a:xfrm>
            <a:off x="1278542" y="429225"/>
            <a:ext cx="10898083" cy="5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7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1_Title and Content 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90"/>
          <p:cNvSpPr txBox="1">
            <a:spLocks noGrp="1"/>
          </p:cNvSpPr>
          <p:nvPr>
            <p:ph type="body" idx="1"/>
          </p:nvPr>
        </p:nvSpPr>
        <p:spPr>
          <a:xfrm>
            <a:off x="1510029" y="1188720"/>
            <a:ext cx="10361372" cy="5131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600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6" name="Google Shape;86;p90"/>
          <p:cNvSpPr txBox="1"/>
          <p:nvPr/>
        </p:nvSpPr>
        <p:spPr>
          <a:xfrm>
            <a:off x="3657600" y="6553201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90"/>
          <p:cNvSpPr txBox="1"/>
          <p:nvPr/>
        </p:nvSpPr>
        <p:spPr>
          <a:xfrm>
            <a:off x="3657600" y="0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90"/>
          <p:cNvSpPr txBox="1">
            <a:spLocks noGrp="1"/>
          </p:cNvSpPr>
          <p:nvPr>
            <p:ph type="title"/>
          </p:nvPr>
        </p:nvSpPr>
        <p:spPr>
          <a:xfrm>
            <a:off x="1510029" y="429225"/>
            <a:ext cx="10666596" cy="5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8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8"/>
          <p:cNvSpPr/>
          <p:nvPr/>
        </p:nvSpPr>
        <p:spPr>
          <a:xfrm>
            <a:off x="-1" y="-20168"/>
            <a:ext cx="12192000" cy="2637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78"/>
          <p:cNvSpPr/>
          <p:nvPr/>
        </p:nvSpPr>
        <p:spPr>
          <a:xfrm>
            <a:off x="1" y="243443"/>
            <a:ext cx="1128108" cy="6614557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78"/>
          <p:cNvSpPr txBox="1">
            <a:spLocks noGrp="1"/>
          </p:cNvSpPr>
          <p:nvPr>
            <p:ph type="title"/>
          </p:nvPr>
        </p:nvSpPr>
        <p:spPr>
          <a:xfrm>
            <a:off x="1189403" y="646322"/>
            <a:ext cx="10682000" cy="579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78"/>
          <p:cNvSpPr txBox="1">
            <a:spLocks noGrp="1"/>
          </p:cNvSpPr>
          <p:nvPr>
            <p:ph type="body" idx="1"/>
          </p:nvPr>
        </p:nvSpPr>
        <p:spPr>
          <a:xfrm>
            <a:off x="1189401" y="1384879"/>
            <a:ext cx="10682000" cy="4858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78"/>
          <p:cNvSpPr txBox="1">
            <a:spLocks noGrp="1"/>
          </p:cNvSpPr>
          <p:nvPr>
            <p:ph type="sldNum" idx="12"/>
          </p:nvPr>
        </p:nvSpPr>
        <p:spPr>
          <a:xfrm>
            <a:off x="10058399" y="6641435"/>
            <a:ext cx="2133600" cy="2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" name="Google Shape;15;p78"/>
          <p:cNvSpPr/>
          <p:nvPr/>
        </p:nvSpPr>
        <p:spPr>
          <a:xfrm>
            <a:off x="-2" y="6594389"/>
            <a:ext cx="12191999" cy="26361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" name="Google Shape;16;p78"/>
          <p:cNvGrpSpPr/>
          <p:nvPr/>
        </p:nvGrpSpPr>
        <p:grpSpPr>
          <a:xfrm>
            <a:off x="254537" y="37012"/>
            <a:ext cx="4123292" cy="140365"/>
            <a:chOff x="5526083" y="4992009"/>
            <a:chExt cx="3092469" cy="105274"/>
          </a:xfrm>
        </p:grpSpPr>
        <p:sp>
          <p:nvSpPr>
            <p:cNvPr id="17" name="Google Shape;17;p78"/>
            <p:cNvSpPr/>
            <p:nvPr/>
          </p:nvSpPr>
          <p:spPr>
            <a:xfrm>
              <a:off x="8339152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78"/>
            <p:cNvSpPr/>
            <p:nvPr/>
          </p:nvSpPr>
          <p:spPr>
            <a:xfrm>
              <a:off x="8059751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78"/>
            <p:cNvSpPr/>
            <p:nvPr/>
          </p:nvSpPr>
          <p:spPr>
            <a:xfrm>
              <a:off x="7773998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p78"/>
            <p:cNvSpPr/>
            <p:nvPr/>
          </p:nvSpPr>
          <p:spPr>
            <a:xfrm>
              <a:off x="7494596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" name="Google Shape;21;p78"/>
            <p:cNvSpPr/>
            <p:nvPr/>
          </p:nvSpPr>
          <p:spPr>
            <a:xfrm>
              <a:off x="7215195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" name="Google Shape;22;p78"/>
            <p:cNvSpPr/>
            <p:nvPr/>
          </p:nvSpPr>
          <p:spPr>
            <a:xfrm>
              <a:off x="6929442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" name="Google Shape;23;p78"/>
            <p:cNvSpPr/>
            <p:nvPr/>
          </p:nvSpPr>
          <p:spPr>
            <a:xfrm>
              <a:off x="6650040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" name="Google Shape;24;p78"/>
            <p:cNvSpPr/>
            <p:nvPr/>
          </p:nvSpPr>
          <p:spPr>
            <a:xfrm>
              <a:off x="6370639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" name="Google Shape;25;p78"/>
            <p:cNvSpPr/>
            <p:nvPr/>
          </p:nvSpPr>
          <p:spPr>
            <a:xfrm>
              <a:off x="6084886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" name="Google Shape;26;p78"/>
            <p:cNvSpPr/>
            <p:nvPr/>
          </p:nvSpPr>
          <p:spPr>
            <a:xfrm>
              <a:off x="5805484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p78"/>
            <p:cNvSpPr/>
            <p:nvPr/>
          </p:nvSpPr>
          <p:spPr>
            <a:xfrm>
              <a:off x="5526083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8" name="Google Shape;28;p78"/>
          <p:cNvSpPr txBox="1"/>
          <p:nvPr/>
        </p:nvSpPr>
        <p:spPr>
          <a:xfrm flipH="1">
            <a:off x="1043632" y="6366806"/>
            <a:ext cx="4211863" cy="221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UNCLASSIFIED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78"/>
          <p:cNvSpPr txBox="1"/>
          <p:nvPr/>
        </p:nvSpPr>
        <p:spPr>
          <a:xfrm>
            <a:off x="5482963" y="207088"/>
            <a:ext cx="6767512" cy="2121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UNCLASSIFIED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" name="Google Shape;30;p78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 rot="-5400000">
            <a:off x="-2150855" y="3445521"/>
            <a:ext cx="5429815" cy="99117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" name="Google Shape;31;p78"/>
          <p:cNvGrpSpPr/>
          <p:nvPr/>
        </p:nvGrpSpPr>
        <p:grpSpPr>
          <a:xfrm>
            <a:off x="7996753" y="6659805"/>
            <a:ext cx="4123292" cy="140365"/>
            <a:chOff x="5526083" y="4992009"/>
            <a:chExt cx="3092469" cy="105274"/>
          </a:xfrm>
        </p:grpSpPr>
        <p:sp>
          <p:nvSpPr>
            <p:cNvPr id="32" name="Google Shape;32;p78"/>
            <p:cNvSpPr/>
            <p:nvPr/>
          </p:nvSpPr>
          <p:spPr>
            <a:xfrm>
              <a:off x="8339152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p78"/>
            <p:cNvSpPr/>
            <p:nvPr/>
          </p:nvSpPr>
          <p:spPr>
            <a:xfrm>
              <a:off x="8059751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p78"/>
            <p:cNvSpPr/>
            <p:nvPr/>
          </p:nvSpPr>
          <p:spPr>
            <a:xfrm>
              <a:off x="7773998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p78"/>
            <p:cNvSpPr/>
            <p:nvPr/>
          </p:nvSpPr>
          <p:spPr>
            <a:xfrm>
              <a:off x="7494596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p78"/>
            <p:cNvSpPr/>
            <p:nvPr/>
          </p:nvSpPr>
          <p:spPr>
            <a:xfrm>
              <a:off x="7215195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;p78"/>
            <p:cNvSpPr/>
            <p:nvPr/>
          </p:nvSpPr>
          <p:spPr>
            <a:xfrm>
              <a:off x="6929442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" name="Google Shape;38;p78"/>
            <p:cNvSpPr/>
            <p:nvPr/>
          </p:nvSpPr>
          <p:spPr>
            <a:xfrm>
              <a:off x="6650040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" name="Google Shape;39;p78"/>
            <p:cNvSpPr/>
            <p:nvPr/>
          </p:nvSpPr>
          <p:spPr>
            <a:xfrm>
              <a:off x="6370639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" name="Google Shape;40;p78"/>
            <p:cNvSpPr/>
            <p:nvPr/>
          </p:nvSpPr>
          <p:spPr>
            <a:xfrm>
              <a:off x="6084886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" name="Google Shape;41;p78"/>
            <p:cNvSpPr/>
            <p:nvPr/>
          </p:nvSpPr>
          <p:spPr>
            <a:xfrm>
              <a:off x="5805484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42;p78"/>
            <p:cNvSpPr/>
            <p:nvPr/>
          </p:nvSpPr>
          <p:spPr>
            <a:xfrm>
              <a:off x="5526083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3" name="Google Shape;43;p78" title="ACTEC_Logo_v2_Circle.png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-118447" y="193555"/>
            <a:ext cx="1307427" cy="10102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78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70930" y="1270922"/>
            <a:ext cx="928675" cy="92867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4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4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>
            <a:normAutofit/>
          </a:bodyPr>
          <a:lstStyle/>
          <a:p>
            <a:pPr/>
            <a:r>
              <a:rPr sz="4400"/>
              <a:t>Gaining Access</a:t>
            </a:r>
          </a:p>
        </p:txBody>
      </p:sp>
      <p:sp>
        <p:nvSpPr>
          <p:cNvPr id="3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Gaining Access for Cyber Protection Teams</a:t>
            </a:r>
          </a:p>
        </p:txBody>
      </p:sp>
      <p:pic>
        <p:nvPicPr>
          <p:cNvPr id="5" name="Picture 4" descr="b048aa0e6c6b8ae8c01ca7fe6bc82eeeae10b699a033186299288e33862361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Lesson Objectives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600"/>
              <a:t>Understand how to gain initial access by exploiting vulnerabilities in public-facing applications (T1190).</a:t>
            </a:r>
          </a:p>
          <a:p>
            <a:pPr/>
            <a:r>
              <a:rPr sz="1600"/>
              <a:t>Understand how to gain initial access through compromised external remote services (T1133).</a:t>
            </a:r>
          </a:p>
          <a:p>
            <a:pPr/>
            <a:r>
              <a:rPr sz="1600"/>
              <a:t>Understand how to gain initial access using valid but compromised user accounts (T1078).</a:t>
            </a:r>
          </a:p>
          <a:p>
            <a:pPr/>
            <a:r>
              <a:rPr sz="1600"/>
              <a:t>Understand how to gain initial access through internal spear-phishing attacks (T1534).</a:t>
            </a:r>
          </a:p>
        </p:txBody>
      </p:sp>
      <p:pic>
        <p:nvPicPr>
          <p:cNvPr id="5" name="Picture 4" descr="f950669933d4cdda0c60ad045bef1dbead56cb745aab75dcdd01981a4b446e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From Recon to Initial Access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Earlier recon reveals services, versions, and access leads</a:t>
            </a:r>
          </a:p>
          <a:p>
            <a:pPr/>
            <a:r>
              <a:rPr sz="1800"/>
              <a:t>Verify applicability before selecting a technique</a:t>
            </a:r>
          </a:p>
          <a:p>
            <a:pPr/>
            <a:r>
              <a:rPr sz="1800"/>
              <a:t>Prepare the path, act deliberately, and assess the resulting session</a:t>
            </a:r>
          </a:p>
        </p:txBody>
      </p:sp>
      <p:pic>
        <p:nvPicPr>
          <p:cNvPr id="5" name="Picture 4" descr="f28e9eec3d7e45c300d1e92361a26da4769f59203e29636e8402955c9e1c01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Operational Role of Initial Access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Foothold on adversary networks</a:t>
            </a:r>
          </a:p>
          <a:p>
            <a:pPr/>
            <a:r>
              <a:rPr sz="1800"/>
              <a:t>Enables disrupt / deny / degrade against C2, malware, persistence</a:t>
            </a:r>
          </a:p>
          <a:p>
            <a:pPr/>
            <a:r>
              <a:rPr sz="1800"/>
              <a:t>Flip adversary tradecraft against them</a:t>
            </a:r>
          </a:p>
          <a:p>
            <a:pPr/>
            <a:r>
              <a:rPr sz="1800"/>
              <a:t>Flexibility: iterate techniques as recon yield changes</a:t>
            </a:r>
          </a:p>
        </p:txBody>
      </p:sp>
      <p:pic>
        <p:nvPicPr>
          <p:cNvPr id="5" name="Picture 4" descr="ab103626c948e55a006cc5bb4ebab2186259dcc5b7453270429de37578457b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Multiple Vectors and Technique Combinations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Combine techniques for redundancy (e.g., T1190 + T1078)</a:t>
            </a:r>
          </a:p>
          <a:p>
            <a:pPr/>
            <a:r>
              <a:rPr sz="1800"/>
              <a:t>Select from recon yield and mission requirements</a:t>
            </a:r>
          </a:p>
          <a:p>
            <a:pPr/>
            <a:r>
              <a:rPr sz="1800"/>
              <a:t>Iterate rapidly across paths</a:t>
            </a:r>
          </a:p>
          <a:p>
            <a:pPr/>
            <a:r>
              <a:rPr sz="1800"/>
              <a:t>Blue space supports precise, low-latency execution</a:t>
            </a:r>
          </a:p>
        </p:txBody>
      </p:sp>
      <p:pic>
        <p:nvPicPr>
          <p:cNvPr id="5" name="Picture 4" descr="cdf8d6aa3e8b6985a791b234977a558a7d6d6106307a275650990155c277e5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Blue Space vs Covert Launch Paths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Blue space: launch along already-allowed traffic paths</a:t>
            </a:r>
          </a:p>
          <a:p>
            <a:pPr/>
            <a:r>
              <a:rPr sz="1800"/>
              <a:t>Adversary already expects engagement with defended networks</a:t>
            </a:r>
          </a:p>
          <a:p>
            <a:pPr/>
            <a:r>
              <a:rPr sz="1800"/>
              <a:t>Reach assets that covert paths may not</a:t>
            </a:r>
          </a:p>
          <a:p>
            <a:pPr/>
            <a:r>
              <a:rPr sz="1800"/>
              <a:t>Avoid isolation, firewalling, and coordination delays of covert infrastructure</a:t>
            </a:r>
          </a:p>
        </p:txBody>
      </p:sp>
      <p:pic>
        <p:nvPicPr>
          <p:cNvPr id="5" name="Picture 4" descr="feeb0ef3e38e33b36dd00f0405525b9dab99fa3fb70fb635f5a423ee8ac4b3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Leverage Adversary Behavior from Blue Space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Adversary steals/processes content from defended networks</a:t>
            </a:r>
          </a:p>
          <a:p>
            <a:pPr/>
            <a:r>
              <a:rPr sz="1800"/>
              <a:t>Capture credentials and IOCs from malware traffic during hunts</a:t>
            </a:r>
          </a:p>
          <a:p>
            <a:pPr/>
            <a:r>
              <a:rPr sz="1800"/>
              <a:t>Seed lures that trigger reverse effects (including T1534)</a:t>
            </a:r>
          </a:p>
          <a:p>
            <a:pPr/>
            <a:r>
              <a:rPr sz="1800"/>
              <a:t>Turn their collection into your access opportunity</a:t>
            </a:r>
          </a:p>
        </p:txBody>
      </p:sp>
      <p:pic>
        <p:nvPicPr>
          <p:cNvPr id="5" name="Picture 4" descr="13241b09e1e8229daa00950b27fae2c7f52280d151b4d0f925d29872e7129c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Blue Space Application — OPSEC and Tempo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Blend operations with expected engagement</a:t>
            </a:r>
          </a:p>
          <a:p>
            <a:pPr/>
            <a:r>
              <a:rPr sz="1800"/>
              <a:t>Stronger OPSEC than cold covert first contact</a:t>
            </a:r>
          </a:p>
          <a:p>
            <a:pPr/>
            <a:r>
              <a:rPr sz="1800"/>
              <a:t>Real-time adjustments from live recon</a:t>
            </a:r>
          </a:p>
          <a:p>
            <a:pPr/>
            <a:r>
              <a:rPr sz="1800"/>
              <a:t>Attributable effects inside the assigned campaign</a:t>
            </a:r>
          </a:p>
        </p:txBody>
      </p:sp>
      <p:pic>
        <p:nvPicPr>
          <p:cNvPr id="5" name="Picture 4" descr="d1b73a757b35cbf31314045853d39ca2a5b983b0b2591554058a6c96b3096e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T1190 — Exploit Public-Facing Application</a:t>
            </a:r>
          </a:p>
        </p:txBody>
      </p:sp>
      <p:pic>
        <p:nvPicPr>
          <p:cNvPr id="5" name="Picture 4" descr="5d7a0e540cab971d9a84d5106c617afd0dcd98c5e601bc9db77a443b34acbe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T1190 Definition and Operational Value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800"/>
              <a:t>Definition:</a:t>
            </a:r>
            <a:r>
              <a:rPr sz="1800"/>
              <a:t> exploit vulns in internet-exposed services (web apps, databases, listeners)</a:t>
            </a:r>
          </a:p>
          <a:p>
            <a:pPr/>
            <a:r>
              <a:rPr b="1" sz="1800"/>
              <a:t>Examples:</a:t>
            </a:r>
            <a:r>
              <a:rPr sz="1800"/>
              <a:t> RCE on unpatched HTTP C2 listening posts; SQLi → shell on web control panels</a:t>
            </a:r>
          </a:p>
          <a:p>
            <a:pPr/>
            <a:r>
              <a:rPr b="1" sz="1800"/>
              <a:t>Value:</a:t>
            </a:r>
            <a:r>
              <a:rPr sz="1800"/>
              <a:t> high-impact entry to public adversary nodes without prior authentication</a:t>
            </a:r>
          </a:p>
        </p:txBody>
      </p:sp>
      <p:pic>
        <p:nvPicPr>
          <p:cNvPr id="5" name="Picture 4" descr="eaea7052c59a2e35e798a1e185b10b5d844273939cb48a284f3f7538e746c7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Common Targets — Web Apps and Unpatched Services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800"/>
              <a:t>Web apps:</a:t>
            </a:r>
            <a:r>
              <a:rPr sz="1800"/>
              <a:t> framework RCE (e.g., Log4Shell CVE-2021-44228); SQLi → DB dump → shell pivot</a:t>
            </a:r>
          </a:p>
          <a:p>
            <a:pPr/>
            <a:r>
              <a:rPr b="1" sz="1800"/>
              <a:t>Unpatched services:</a:t>
            </a:r>
            <a:r>
              <a:rPr sz="1800"/>
              <a:t> SMB EternalBlue (CVE-2017-0144); RDP BlueKeep (CVE-2019-0708)</a:t>
            </a:r>
          </a:p>
          <a:p>
            <a:pPr/>
            <a:r>
              <a:rPr sz="1800"/>
              <a:t>Use version evidence from recon to research candidate CVEs; verify applicability before execution</a:t>
            </a:r>
          </a:p>
        </p:txBody>
      </p:sp>
      <p:pic>
        <p:nvPicPr>
          <p:cNvPr id="5" name="Picture 4" descr="96799db2c186e3fa0dd65091c4b7c44ca440757ee38a3faadec6a3c9bcfe13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Common Targets — Attacker Custom Applications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Custom HTTP listening posts and web control panels</a:t>
            </a:r>
          </a:p>
          <a:p>
            <a:pPr/>
            <a:r>
              <a:rPr sz="1800"/>
              <a:t>Often built on standard stacks (Apache, PHP, Java frameworks)</a:t>
            </a:r>
          </a:p>
          <a:p>
            <a:pPr/>
            <a:r>
              <a:rPr sz="1800"/>
              <a:t>Inherit framework vulnerabilities</a:t>
            </a:r>
          </a:p>
          <a:p>
            <a:pPr/>
            <a:r>
              <a:rPr sz="1800"/>
              <a:t>Recon the stack, not just the malware name</a:t>
            </a:r>
          </a:p>
        </p:txBody>
      </p:sp>
      <p:pic>
        <p:nvPicPr>
          <p:cNvPr id="5" name="Picture 4" descr="fa28e992005c47bfcc0d8886db483f8b0ab8fd0dfcd6f5669c05d3f16896a6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T1190 Exploitation Process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800"/>
              <a:t>Identify:</a:t>
            </a:r>
            <a:r>
              <a:rPr sz="1800"/>
              <a:t> use recon (e.g., nginx 1.18) to research candidates via NVD</a:t>
            </a:r>
          </a:p>
          <a:p>
            <a:pPr/>
            <a:r>
              <a:rPr b="1" sz="1800"/>
              <a:t>Select/prepare:</a:t>
            </a:r>
            <a:r>
              <a:rPr sz="1800"/>
              <a:t> ExploitDB / Metasploit; adapt PoC to target version</a:t>
            </a:r>
          </a:p>
          <a:p>
            <a:pPr/>
            <a:r>
              <a:rPr b="1" sz="1800"/>
              <a:t>Execute:</a:t>
            </a:r>
            <a:r>
              <a:rPr sz="1800"/>
              <a:t> run against adversary host (e.g., </a:t>
            </a:r>
            <a:r>
              <a:rPr sz="1800">
                <a:latin typeface="Courier New"/>
              </a:rPr>
              <a:t>msfconsole</a:t>
            </a:r>
            <a:r>
              <a:rPr sz="1800"/>
              <a:t> module + </a:t>
            </a:r>
            <a:r>
              <a:rPr sz="1800">
                <a:latin typeface="Courier New"/>
              </a:rPr>
              <a:t>RHOSTS</a:t>
            </a:r>
            <a:r>
              <a:rPr sz="1800"/>
              <a:t>)</a:t>
            </a:r>
          </a:p>
          <a:p>
            <a:pPr/>
            <a:r>
              <a:rPr b="1" sz="1800"/>
              <a:t>Obtain:</a:t>
            </a:r>
            <a:r>
              <a:rPr sz="1800"/>
              <a:t> reverse shell or Meterpreter for post-exploitation effects</a:t>
            </a:r>
          </a:p>
        </p:txBody>
      </p:sp>
      <p:pic>
        <p:nvPicPr>
          <p:cNvPr id="5" name="Picture 4" descr="93e1ca5289f6c3fda0ec4a64ec924a9ff34ec66b19832c85a0e5ba62eb1505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From Search to Execution — Metasploit Considerations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400">
                <a:latin typeface="Courier New"/>
              </a:rPr>
              <a:t>search</a:t>
            </a:r>
            <a:r>
              <a:rPr sz="1400"/>
              <a:t> by CVE/product/version, then </a:t>
            </a:r>
            <a:r>
              <a:rPr sz="1400">
                <a:latin typeface="Courier New"/>
              </a:rPr>
              <a:t>use</a:t>
            </a:r>
            <a:r>
              <a:rPr sz="1400"/>
              <a:t> the module that matches recon</a:t>
            </a:r>
          </a:p>
          <a:p>
            <a:pPr/>
            <a:r>
              <a:rPr sz="1400"/>
              <a:t>Read </a:t>
            </a:r>
            <a:r>
              <a:rPr sz="1400">
                <a:latin typeface="Courier New"/>
              </a:rPr>
              <a:t>info</a:t>
            </a:r>
            <a:r>
              <a:rPr sz="1400"/>
              <a:t>, </a:t>
            </a:r>
            <a:r>
              <a:rPr sz="1400">
                <a:latin typeface="Courier New"/>
              </a:rPr>
              <a:t>show options</a:t>
            </a:r>
            <a:r>
              <a:rPr sz="1400"/>
              <a:t>, and </a:t>
            </a:r>
            <a:r>
              <a:rPr sz="1400">
                <a:latin typeface="Courier New"/>
              </a:rPr>
              <a:t>show payloads</a:t>
            </a:r>
            <a:r>
              <a:rPr sz="1400"/>
              <a:t> before setting anything</a:t>
            </a:r>
          </a:p>
          <a:p>
            <a:pPr/>
            <a:r>
              <a:rPr sz="1400"/>
              <a:t>Set required target options (</a:t>
            </a:r>
            <a:r>
              <a:rPr sz="1400">
                <a:latin typeface="Courier New"/>
              </a:rPr>
              <a:t>RHOSTS</a:t>
            </a:r>
            <a:r>
              <a:rPr sz="1400"/>
              <a:t> / </a:t>
            </a:r>
            <a:r>
              <a:rPr sz="1400">
                <a:latin typeface="Courier New"/>
              </a:rPr>
              <a:t>RPORT</a:t>
            </a:r>
            <a:r>
              <a:rPr sz="1400"/>
              <a:t>); set </a:t>
            </a:r>
            <a:r>
              <a:rPr sz="1400">
                <a:latin typeface="Courier New"/>
              </a:rPr>
              <a:t>LHOST</a:t>
            </a:r>
            <a:r>
              <a:rPr sz="1400"/>
              <a:t> / </a:t>
            </a:r>
            <a:r>
              <a:rPr sz="1400">
                <a:latin typeface="Courier New"/>
              </a:rPr>
              <a:t>LPORT</a:t>
            </a:r>
            <a:r>
              <a:rPr sz="1400"/>
              <a:t> when the path is reverse</a:t>
            </a:r>
          </a:p>
          <a:p>
            <a:pPr/>
            <a:r>
              <a:rPr sz="1400"/>
              <a:t>Does this exploit handle a reverse shell—and will the </a:t>
            </a:r>
            <a:r>
              <a:rPr b="1" sz="1400"/>
              <a:t>default</a:t>
            </a:r>
            <a:r>
              <a:rPr sz="1400"/>
              <a:t> payload work here?</a:t>
            </a:r>
          </a:p>
          <a:p>
            <a:pPr/>
            <a:r>
              <a:rPr sz="1400"/>
              <a:t>If not: start </a:t>
            </a:r>
            <a:r>
              <a:rPr sz="1400">
                <a:latin typeface="Courier New"/>
              </a:rPr>
              <a:t>exploit/multi/handler</a:t>
            </a:r>
            <a:r>
              <a:rPr sz="1400"/>
              <a:t> with a matching payload before you fire</a:t>
            </a:r>
          </a:p>
          <a:p>
            <a:pPr/>
            <a:r>
              <a:rPr sz="1400">
                <a:latin typeface="Courier New"/>
              </a:rPr>
              <a:t>check</a:t>
            </a:r>
            <a:r>
              <a:rPr sz="1400"/>
              <a:t> when available, then </a:t>
            </a:r>
            <a:r>
              <a:rPr sz="1400">
                <a:latin typeface="Courier New"/>
              </a:rPr>
              <a:t>exploit</a:t>
            </a:r>
            <a:r>
              <a:rPr sz="1400"/>
              <a:t>; prove a session, not a crash</a:t>
            </a:r>
          </a:p>
        </p:txBody>
      </p:sp>
      <p:pic>
        <p:nvPicPr>
          <p:cNvPr id="5" name="Picture 4" descr="f3f27ca80141cb2d5071a10470ddf961b524fdafe26f4b6a98542cbf2c61a7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T1190 Operational Considerations and OPSEC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Prefer remote, unauthenticated exploits for speed</a:t>
            </a:r>
          </a:p>
          <a:p>
            <a:pPr/>
            <a:r>
              <a:rPr sz="1800"/>
              <a:t>Chain payloads for immediate effects (e.g., deny/disrupt on C2)</a:t>
            </a:r>
          </a:p>
          <a:p>
            <a:pPr/>
            <a:r>
              <a:rPr sz="1800"/>
              <a:t>Modify exploits/payloads to reduce signature hits</a:t>
            </a:r>
          </a:p>
          <a:p>
            <a:pPr/>
            <a:r>
              <a:rPr sz="1800"/>
              <a:t>Time execution to low-monitoring windows when known</a:t>
            </a:r>
          </a:p>
        </p:txBody>
      </p:sp>
      <p:pic>
        <p:nvPicPr>
          <p:cNvPr id="5" name="Picture 4" descr="2b68fb66909c0b089a493e5196e9d12e29755436815d3f710aaa2046e79d16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T1190 — Blue Space OPSEC Advantages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Execute from defended vantage with expected traffic blend</a:t>
            </a:r>
          </a:p>
          <a:p>
            <a:pPr/>
            <a:r>
              <a:rPr sz="1800"/>
              <a:t>Minimize footprint relative to cold covert first contact</a:t>
            </a:r>
          </a:p>
          <a:p>
            <a:pPr/>
            <a:r>
              <a:rPr sz="1800"/>
              <a:t>Generate effects (e.g., shell for malware wipe) from that foothold</a:t>
            </a:r>
          </a:p>
          <a:p>
            <a:pPr/>
            <a:r>
              <a:rPr sz="1800"/>
              <a:t>Keep actions inside the assigned campaign target set</a:t>
            </a:r>
          </a:p>
        </p:txBody>
      </p:sp>
      <p:pic>
        <p:nvPicPr>
          <p:cNvPr id="5" name="Picture 4" descr="97cc93daa9f05cac6317d48128f19589de45f60a51eda144fe4657f0d8e2e5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T1133 — External Remote Services</a:t>
            </a:r>
          </a:p>
        </p:txBody>
      </p:sp>
      <p:pic>
        <p:nvPicPr>
          <p:cNvPr id="5" name="Picture 4" descr="f9894aba10c08e503d763e5b05df5d9103bdd87e7c88d1f8ed53ac74d4ac72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T1133 Definition and Operational Value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800"/>
              <a:t>Reminder:</a:t>
            </a:r>
            <a:r>
              <a:rPr sz="1800"/>
              <a:t> access via weaknesses in exposed remote-access protocols (VPN, RDP, SSH)</a:t>
            </a:r>
          </a:p>
          <a:p>
            <a:pPr/>
            <a:r>
              <a:rPr b="1" sz="1800"/>
              <a:t>Common targets:</a:t>
            </a:r>
            <a:r>
              <a:rPr sz="1800"/>
              <a:t> VPN (IPsec/IKE), RDP (:3389), SSH (:22)</a:t>
            </a:r>
          </a:p>
          <a:p>
            <a:pPr/>
            <a:r>
              <a:rPr b="1" sz="1800"/>
              <a:t>Role:</a:t>
            </a:r>
            <a:r>
              <a:rPr sz="1800"/>
              <a:t> compromise remote entry → reach internal adversary networks for broader disruption</a:t>
            </a:r>
          </a:p>
        </p:txBody>
      </p:sp>
      <p:pic>
        <p:nvPicPr>
          <p:cNvPr id="5" name="Picture 4" descr="186c4a3cfeb5de7f3acc5b53d302561ab0973a705fe0701f73e5c71cacf318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T1133 Access Method — Vulnerability Exploitation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Exploit CVEs in remote-access software</a:t>
            </a:r>
          </a:p>
          <a:p>
            <a:pPr/>
            <a:r>
              <a:rPr sz="1800"/>
              <a:t>Examples: Pulse Secure CVE-2019-11510; BlueKeep; OpenSSH regreSSHion CVE-2024-6387</a:t>
            </a:r>
          </a:p>
          <a:p>
            <a:pPr/>
            <a:r>
              <a:rPr sz="1800"/>
              <a:t>Process: version from recon → select module/PoC → execute → shell</a:t>
            </a:r>
          </a:p>
        </p:txBody>
      </p:sp>
      <p:pic>
        <p:nvPicPr>
          <p:cNvPr id="5" name="Picture 4" descr="33b80e943146464961758ff5898f10a63b19ace695c117f95065dc4d4f0b12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T1133 Examples — RDP and SSH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800"/>
              <a:t>RDP:</a:t>
            </a:r>
            <a:r>
              <a:rPr sz="1800"/>
              <a:t> Metasploit BlueKeep CVE-2019-0708 → shell on Windows host</a:t>
            </a:r>
          </a:p>
          <a:p>
            <a:pPr/>
            <a:r>
              <a:rPr b="1" sz="1800"/>
              <a:t>SSH:</a:t>
            </a:r>
            <a:r>
              <a:rPr sz="1800"/>
              <a:t> regreSSHion-style RCE (CVE-2024-6387) via PoC against vulnerable OpenSSH</a:t>
            </a:r>
          </a:p>
          <a:p>
            <a:pPr/>
            <a:r>
              <a:rPr sz="1800"/>
              <a:t>Goal: interactive control of the remote entry point</a:t>
            </a:r>
          </a:p>
        </p:txBody>
      </p:sp>
      <p:pic>
        <p:nvPicPr>
          <p:cNvPr id="5" name="Picture 4" descr="84b892123d5f0559cc1deb1596e26bd96d60d4ab100c37711eb314584147d1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T1133 Examples — VPN and Operational Outcome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800"/>
              <a:t>VPN:</a:t>
            </a:r>
            <a:r>
              <a:rPr sz="1800"/>
              <a:t> Metasploit Pulse Secure RCE (CVE-2019-11510) → shell</a:t>
            </a:r>
          </a:p>
          <a:p>
            <a:pPr/>
            <a:r>
              <a:rPr b="1" sz="1800"/>
              <a:t>Operational outcome:</a:t>
            </a:r>
            <a:r>
              <a:rPr sz="1800"/>
              <a:t> persistent reach to adversary ops consoles</a:t>
            </a:r>
          </a:p>
          <a:p>
            <a:pPr/>
            <a:r>
              <a:rPr sz="1800"/>
              <a:t>Effects example: data denial / service disruption from the foothold</a:t>
            </a:r>
          </a:p>
        </p:txBody>
      </p:sp>
      <p:pic>
        <p:nvPicPr>
          <p:cNvPr id="5" name="Picture 4" descr="925ff48fcd6b2b853d4984760248033060dac7257c3db2da2a1c620740423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Walk-Through — SSH Vulnerability Exploitation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800"/>
              <a:t>Input:</a:t>
            </a:r>
            <a:r>
              <a:rPr sz="1800"/>
              <a:t> recon shows SSH 7.4; CVE research yields a candidate path (e.g., user-enum → RCE chain)</a:t>
            </a:r>
          </a:p>
          <a:p>
            <a:pPr/>
            <a:r>
              <a:rPr b="1" sz="1800"/>
              <a:t>Steps:</a:t>
            </a:r>
            <a:r>
              <a:rPr sz="1800"/>
              <a:t> prepare PoC → execute against target</a:t>
            </a:r>
          </a:p>
          <a:p>
            <a:pPr/>
            <a:r>
              <a:rPr b="1" sz="1800"/>
              <a:t>Output:</a:t>
            </a:r>
            <a:r>
              <a:rPr sz="1800"/>
              <a:t> shell → pivot toward internal effects</a:t>
            </a:r>
          </a:p>
          <a:p>
            <a:pPr/>
            <a:r>
              <a:rPr sz="1800"/>
              <a:t>Tie-in: recon banners; vuln research in NVD/ExploitDB</a:t>
            </a:r>
          </a:p>
        </p:txBody>
      </p:sp>
      <p:pic>
        <p:nvPicPr>
          <p:cNvPr id="5" name="Picture 4" descr="9cdeacb4b032b82193361e4039c3a93abdfa1fec7ad6de1c7bdf7aca3f75df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T1133 Operational Considerations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Prefer stable exploits; avoid needless service crashes</a:t>
            </a:r>
          </a:p>
          <a:p>
            <a:pPr/>
            <a:r>
              <a:rPr sz="1800"/>
              <a:t>Chain payloads for immediate effects (e.g., disrupt remote services)</a:t>
            </a:r>
          </a:p>
          <a:p>
            <a:pPr/>
            <a:r>
              <a:rPr sz="1800"/>
              <a:t>Time probes and exploits to low-monitoring windows</a:t>
            </a:r>
          </a:p>
          <a:p>
            <a:pPr/>
            <a:r>
              <a:rPr sz="1800"/>
              <a:t>Evade noisy reconnaissance signatures on the path in</a:t>
            </a:r>
          </a:p>
        </p:txBody>
      </p:sp>
      <p:pic>
        <p:nvPicPr>
          <p:cNvPr id="5" name="Picture 4" descr="5fdcd6914d3150b268d11a400d9d273b988ee35fc2567ee81b248f48b25afa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T1078 — Valid Accounts</a:t>
            </a:r>
          </a:p>
        </p:txBody>
      </p:sp>
      <p:pic>
        <p:nvPicPr>
          <p:cNvPr id="5" name="Picture 4" descr="5302153d8bcc56761581f208fc3cda83531a6e1f0cb9a388566cf14d3bb1bd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T1078 Definition and Operational Use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800"/>
              <a:t>Reminder:</a:t>
            </a:r>
            <a:r>
              <a:rPr sz="1800"/>
              <a:t> authenticate with stolen, guessed, or default credentials</a:t>
            </a:r>
          </a:p>
          <a:p>
            <a:pPr/>
            <a:r>
              <a:rPr b="1" sz="1800"/>
              <a:t>Primary sources:</a:t>
            </a:r>
            <a:r>
              <a:rPr sz="1800"/>
              <a:t> defender intel—hardcoded malware creds; IOCs in traffic</a:t>
            </a:r>
          </a:p>
          <a:p>
            <a:pPr/>
            <a:r>
              <a:rPr b="1" sz="1800"/>
              <a:t>Secondary sources:</a:t>
            </a:r>
            <a:r>
              <a:rPr sz="1800"/>
              <a:t> breach dumps / OSINT</a:t>
            </a:r>
          </a:p>
          <a:p>
            <a:pPr/>
            <a:r>
              <a:rPr b="1" sz="1800"/>
              <a:t>Value:</a:t>
            </a:r>
            <a:r>
              <a:rPr sz="1800"/>
              <a:t> stealthy entry that mimics legitimate user behavior</a:t>
            </a:r>
          </a:p>
        </p:txBody>
      </p:sp>
      <p:pic>
        <p:nvPicPr>
          <p:cNvPr id="5" name="Picture 4" descr="085ff2c3ad032ac94de6aec3a85e5ef264987fc9521b36b572b376f177560e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Credential Sourcing — Primary Defender Intel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Hardcoded credentials in captured malware samples</a:t>
            </a:r>
          </a:p>
          <a:p>
            <a:pPr/>
            <a:r>
              <a:rPr sz="1800"/>
              <a:t>Creds and tokens observed in beacon / exfil traffic</a:t>
            </a:r>
          </a:p>
          <a:p>
            <a:pPr/>
            <a:r>
              <a:rPr sz="1800"/>
              <a:t>Extract during blue-space hunts</a:t>
            </a:r>
          </a:p>
          <a:p>
            <a:pPr/>
            <a:r>
              <a:rPr sz="1800"/>
              <a:t>Strongest lead when tied to live adversary tooling; validate it against the intended service</a:t>
            </a:r>
          </a:p>
        </p:txBody>
      </p:sp>
      <p:pic>
        <p:nvPicPr>
          <p:cNvPr id="5" name="Picture 4" descr="0271c427476522de6aba224dca5a3ba842459c86eea76f23a3d846d39a708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Credential Sourcing — Secondary Techniques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OSINT and breach data (reused passwords)</a:t>
            </a:r>
          </a:p>
          <a:p>
            <a:pPr/>
            <a:r>
              <a:rPr sz="1800"/>
              <a:t>Password spraying: common passwords across many users</a:t>
            </a:r>
          </a:p>
          <a:p>
            <a:pPr/>
            <a:r>
              <a:rPr sz="1800"/>
              <a:t>Credential stuffing: known pairs against the target service</a:t>
            </a:r>
          </a:p>
          <a:p>
            <a:pPr/>
            <a:r>
              <a:rPr sz="1800"/>
              <a:t>Use secondary methods when primary intel is thin—but expect more noise</a:t>
            </a:r>
          </a:p>
        </p:txBody>
      </p:sp>
      <p:pic>
        <p:nvPicPr>
          <p:cNvPr id="5" name="Picture 4" descr="8ab83e90cdc5f383c48848f73dbde164d5cf54a1d868556363dfe03c11e3b8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T1078 Examples — SSH and RDP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800"/>
              <a:t>SSH:</a:t>
            </a:r>
            <a:r>
              <a:rPr sz="1800"/>
              <a:t> hardcoded creds from malware analysis → </a:t>
            </a:r>
            <a:r>
              <a:rPr sz="1800">
                <a:latin typeface="Courier New"/>
              </a:rPr>
              <a:t>ssh user@target</a:t>
            </a:r>
          </a:p>
          <a:p>
            <a:pPr/>
            <a:r>
              <a:rPr b="1" sz="1800"/>
              <a:t>RDP:</a:t>
            </a:r>
            <a:r>
              <a:rPr sz="1800"/>
              <a:t> stuffing/spray tools (e.g., Crowbar) with weak/default passwords from IOCs</a:t>
            </a:r>
          </a:p>
          <a:p>
            <a:pPr/>
            <a:r>
              <a:rPr b="1" sz="1800"/>
              <a:t>Outcome:</a:t>
            </a:r>
            <a:r>
              <a:rPr sz="1800"/>
              <a:t> full session for disruption (e.g., delete configs); low noise if creds are valid</a:t>
            </a:r>
          </a:p>
        </p:txBody>
      </p:sp>
      <p:pic>
        <p:nvPicPr>
          <p:cNvPr id="5" name="Picture 4" descr="0e51c18b1ff4313d554b9e8bf82b4f0fb4c567eeb7b9b105b9a12e2466caa2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Walk-Through — Password Spraying on RDP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800"/>
              <a:t>Input:</a:t>
            </a:r>
            <a:r>
              <a:rPr sz="1800"/>
              <a:t> user list from recon; passwords from malware IOCs / common sets</a:t>
            </a:r>
          </a:p>
          <a:p>
            <a:pPr/>
            <a:r>
              <a:rPr b="1" sz="1800"/>
              <a:t>Tool example:</a:t>
            </a:r>
            <a:r>
              <a:rPr sz="1800"/>
              <a:t> </a:t>
            </a:r>
            <a:r>
              <a:rPr sz="1800">
                <a:latin typeface="Courier New"/>
              </a:rPr>
              <a:t>hydra -L users.txt -P passwords.txt rdp://target</a:t>
            </a:r>
          </a:p>
          <a:p>
            <a:pPr/>
            <a:r>
              <a:rPr b="1" sz="1800"/>
              <a:t>Result:</a:t>
            </a:r>
            <a:r>
              <a:rPr sz="1800"/>
              <a:t> successful login → establish session for effects</a:t>
            </a:r>
          </a:p>
          <a:p>
            <a:pPr/>
            <a:r>
              <a:rPr sz="1800"/>
              <a:t>Control rate; watch for lockouts and alerts</a:t>
            </a:r>
          </a:p>
        </p:txBody>
      </p:sp>
      <p:pic>
        <p:nvPicPr>
          <p:cNvPr id="5" name="Picture 4" descr="d1d8410b36e1c44f7f6ba1e71718337ae3eda1a991e1153076ee4695810652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T1078 OPSEC — Mimicking Legitimate Use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Time logins to adversary work patterns (e.g., business hours)</a:t>
            </a:r>
          </a:p>
          <a:p>
            <a:pPr/>
            <a:r>
              <a:rPr sz="1800"/>
              <a:t>Use expected clients / user agents where relevant</a:t>
            </a:r>
          </a:p>
          <a:p>
            <a:pPr/>
            <a:r>
              <a:rPr sz="1800"/>
              <a:t>Harder to detect than exploit crashes and shellcode</a:t>
            </a:r>
          </a:p>
          <a:p>
            <a:pPr/>
            <a:r>
              <a:rPr sz="1800"/>
              <a:t>Enables quieter persistence</a:t>
            </a:r>
          </a:p>
        </p:txBody>
      </p:sp>
      <p:pic>
        <p:nvPicPr>
          <p:cNvPr id="5" name="Picture 4" descr="e7c4233161fd18f9e6f8c60a33ba2b7574b9712eb3177f11f17e8842d3bf0e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T1534 — Internal Spear Phishing</a:t>
            </a:r>
          </a:p>
        </p:txBody>
      </p:sp>
      <p:pic>
        <p:nvPicPr>
          <p:cNvPr id="5" name="Picture 4" descr="9994ab014cbefcb0ba6e02214e64b5c3ff8aee11c512c4468bcd058842c126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T1534 Definition — Reverse Access via Lures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Place lures (docs with exploits or tracking pixels) in defended blue-space networks</a:t>
            </a:r>
          </a:p>
          <a:p>
            <a:pPr/>
            <a:r>
              <a:rPr sz="1800"/>
              <a:t>Anticipate adversary collection / exfiltration</a:t>
            </a:r>
          </a:p>
          <a:p>
            <a:pPr/>
            <a:r>
              <a:rPr sz="1800"/>
              <a:t>Trigger reverse access into their red infrastructure</a:t>
            </a:r>
          </a:p>
          <a:p>
            <a:pPr/>
            <a:r>
              <a:rPr sz="1800"/>
              <a:t>Opportunistic; based on observed adversary behavior</a:t>
            </a:r>
          </a:p>
        </p:txBody>
      </p:sp>
      <p:pic>
        <p:nvPicPr>
          <p:cNvPr id="5" name="Picture 4" descr="7b81cf63f4a358aa191d6cc06706d21fa9a91007eedc7c00ecda3456c42989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T1534 in Operations — Execution and Value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800"/>
              <a:t>Execute:</a:t>
            </a:r>
            <a:r>
              <a:rPr sz="1800"/>
              <a:t> craft high-value lookalikes; place in monitored theft-prone locations</a:t>
            </a:r>
          </a:p>
          <a:p>
            <a:pPr/>
            <a:r>
              <a:rPr b="1" sz="1800"/>
              <a:t>Value:</a:t>
            </a:r>
            <a:r>
              <a:rPr sz="1800"/>
              <a:t> access activates on their collection—no direct first contact required</a:t>
            </a:r>
          </a:p>
          <a:p>
            <a:pPr/>
            <a:r>
              <a:rPr b="1" sz="1800"/>
              <a:t>Monitor:</a:t>
            </a:r>
            <a:r>
              <a:rPr sz="1800"/>
              <a:t> watch blue-space sensors for collection triggers</a:t>
            </a:r>
          </a:p>
          <a:p>
            <a:pPr/>
            <a:r>
              <a:rPr sz="1800"/>
              <a:t>High OPSEC until they engage; hand off if lateral expansion is required</a:t>
            </a:r>
          </a:p>
        </p:txBody>
      </p:sp>
      <p:pic>
        <p:nvPicPr>
          <p:cNvPr id="5" name="Picture 4" descr="f7884b8ae3c701afac7e1c570892b2d5319f2517b177ed283d8bf6a26f10d1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T1534 — Preview for Follow-On Handoff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T1534 secures initial foothold via reverse access</a:t>
            </a:r>
          </a:p>
          <a:p>
            <a:pPr/>
            <a:r>
              <a:rPr sz="1800"/>
              <a:t>Typical landing: adversary analysis node or C2-adjacent host</a:t>
            </a:r>
          </a:p>
          <a:p>
            <a:pPr/>
            <a:r>
              <a:rPr sz="1800"/>
              <a:t>Combine with T1190 / T1133 / T1078 for resilient access</a:t>
            </a:r>
          </a:p>
          <a:p>
            <a:pPr/>
            <a:r>
              <a:rPr sz="1800"/>
              <a:t>Hand off for lateral movement or expansion when required</a:t>
            </a:r>
          </a:p>
        </p:txBody>
      </p:sp>
      <p:pic>
        <p:nvPicPr>
          <p:cNvPr id="5" name="Picture 4" descr="c8a32301dfc89de833db189c9c83d5ec6cc3dc719995457b594e737a66cd3c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Integration and Selection</a:t>
            </a:r>
          </a:p>
        </p:txBody>
      </p:sp>
      <p:pic>
        <p:nvPicPr>
          <p:cNvPr id="5" name="Picture 4" descr="cdcbafe3122ffc4721adf99e0eead50fda8da469c41a1decfa3096579f5b54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Integrating Vectors for Robust Access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Typical pattern: T1190 for quick shell; T1078 fallback if exploit fails</a:t>
            </a:r>
          </a:p>
          <a:p>
            <a:pPr/>
            <a:r>
              <a:rPr sz="1800"/>
              <a:t>Layer T1133 for remote pivots into deeper networks</a:t>
            </a:r>
          </a:p>
          <a:p>
            <a:pPr/>
            <a:r>
              <a:rPr sz="1800"/>
              <a:t>Multiple paths keep effects alive when one vector is patched</a:t>
            </a:r>
          </a:p>
          <a:p>
            <a:pPr/>
            <a:r>
              <a:rPr sz="1800"/>
              <a:t>Example outcome: disrupt C2 even if the web path dies</a:t>
            </a:r>
          </a:p>
        </p:txBody>
      </p:sp>
      <p:pic>
        <p:nvPicPr>
          <p:cNvPr id="5" name="Picture 4" descr="d536726a020a9ac547bd43f4136c11563869ab49cdb4ace31f716e70c8d328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Selecting Techniques — Environment and Intelligence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700"/>
              <a:t>Exposed web / apps?</a:t>
            </a:r>
            <a:r>
              <a:rPr sz="1700"/>
              <a:t> → prioritize T1190</a:t>
            </a:r>
          </a:p>
          <a:p>
            <a:pPr/>
            <a:r>
              <a:rPr b="1" sz="1700"/>
              <a:t>Remote services with known vulns?</a:t>
            </a:r>
            <a:r>
              <a:rPr sz="1700"/>
              <a:t> → prioritize T1133</a:t>
            </a:r>
          </a:p>
          <a:p>
            <a:pPr/>
            <a:r>
              <a:rPr b="1" sz="1700"/>
              <a:t>Working credentials?</a:t>
            </a:r>
            <a:r>
              <a:rPr sz="1700"/>
              <a:t> → prioritize T1078</a:t>
            </a:r>
          </a:p>
          <a:p>
            <a:pPr/>
            <a:r>
              <a:rPr b="1" sz="1700"/>
              <a:t>Observed exfil / collection patterns?</a:t>
            </a:r>
            <a:r>
              <a:rPr sz="1700"/>
              <a:t> → prioritize T1534 lures</a:t>
            </a:r>
          </a:p>
          <a:p>
            <a:pPr/>
            <a:r>
              <a:rPr sz="1700"/>
              <a:t>Let recon and hunt intel choose—do not default to one technique</a:t>
            </a:r>
          </a:p>
        </p:txBody>
      </p:sp>
      <p:pic>
        <p:nvPicPr>
          <p:cNvPr id="5" name="Picture 4" descr="0782a0705f1a2aba117245ed317a32573c13684e0ffc5021e299e00871c1b9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Selecting Techniques — Speed, Stealth, and Mission Fit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800"/>
              <a:t>Speed:</a:t>
            </a:r>
            <a:r>
              <a:rPr sz="1800"/>
              <a:t> exploits for fast shells</a:t>
            </a:r>
          </a:p>
          <a:p>
            <a:pPr/>
            <a:r>
              <a:rPr b="1" sz="1800"/>
              <a:t>Stealth:</a:t>
            </a:r>
            <a:r>
              <a:rPr sz="1800"/>
              <a:t> valid accounts to blend; lures for passive triggers</a:t>
            </a:r>
          </a:p>
          <a:p>
            <a:pPr/>
            <a:r>
              <a:rPr b="1" sz="1800"/>
              <a:t>Mission fit:</a:t>
            </a:r>
            <a:r>
              <a:rPr sz="1800"/>
              <a:t> match technique to required depth and effect timing</a:t>
            </a:r>
          </a:p>
          <a:p>
            <a:pPr/>
            <a:r>
              <a:rPr sz="1800"/>
              <a:t>Operate against assigned adversary infrastructure only</a:t>
            </a:r>
          </a:p>
        </p:txBody>
      </p:sp>
      <p:pic>
        <p:nvPicPr>
          <p:cNvPr id="5" name="Picture 4" descr="f8ba559f585e4a700be65d1a8d0804cf43088d5e59637b8d7e15877d915f3c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Documenting Access for Operational Handover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Record technique (e.g., "T1190 via CVE-2021-44228 Metasploit")</a:t>
            </a:r>
          </a:p>
          <a:p>
            <a:pPr/>
            <a:r>
              <a:rPr sz="1800"/>
              <a:t>Record success metrics and IOCs generated</a:t>
            </a:r>
          </a:p>
          <a:p>
            <a:pPr/>
            <a:r>
              <a:rPr sz="1800"/>
              <a:t>Share sessions/shells with follow-on teams</a:t>
            </a:r>
          </a:p>
          <a:p>
            <a:pPr/>
            <a:r>
              <a:rPr sz="1800"/>
              <a:t>Log from the secure vantage; preserve chain of custody</a:t>
            </a:r>
          </a:p>
        </p:txBody>
      </p:sp>
      <p:pic>
        <p:nvPicPr>
          <p:cNvPr id="5" name="Picture 4" descr="24d13d7c5a743d2737792880202d1db776c3ae28b928ef589105a00f4982a6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Blue Space Advantages in Selection and Execution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Positioning improves technique selection accuracy</a:t>
            </a:r>
          </a:p>
          <a:p>
            <a:pPr/>
            <a:r>
              <a:rPr sz="1800"/>
              <a:t>Live recon supports rapid retask between vectors</a:t>
            </a:r>
          </a:p>
          <a:p>
            <a:pPr/>
            <a:r>
              <a:rPr sz="1800"/>
              <a:t>Superior OPSEC vs cold covert infrastructure launches</a:t>
            </a:r>
          </a:p>
          <a:p>
            <a:pPr/>
            <a:r>
              <a:rPr sz="1800"/>
              <a:t>Precise countereffects and cleaner foothold handoff</a:t>
            </a:r>
          </a:p>
        </p:txBody>
      </p:sp>
      <p:pic>
        <p:nvPicPr>
          <p:cNvPr id="5" name="Picture 4" descr="3a6acaed3e572dfdf3e61c842f480175db9c3a66c5d3b0a6c0f79c5c558676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Lesson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700"/>
              <a:t>T1190:</a:t>
            </a:r>
            <a:r>
              <a:rPr sz="1700"/>
              <a:t> public apps → RCE shells (web / service vulns)</a:t>
            </a:r>
          </a:p>
          <a:p>
            <a:pPr/>
            <a:r>
              <a:rPr b="1" sz="1700"/>
              <a:t>T1133:</a:t>
            </a:r>
            <a:r>
              <a:rPr sz="1700"/>
              <a:t> remote services via vulns (SSH / RDP / VPN CVEs)</a:t>
            </a:r>
          </a:p>
          <a:p>
            <a:pPr/>
            <a:r>
              <a:rPr b="1" sz="1700"/>
              <a:t>T1078:</a:t>
            </a:r>
            <a:r>
              <a:rPr sz="1700"/>
              <a:t> valid accounts for stealthy auth (spray / harvested creds)</a:t>
            </a:r>
          </a:p>
          <a:p>
            <a:pPr/>
            <a:r>
              <a:rPr b="1" sz="1700"/>
              <a:t>T1534:</a:t>
            </a:r>
            <a:r>
              <a:rPr sz="1700"/>
              <a:t> blue-space lures → reverse access on collection/exfil</a:t>
            </a:r>
          </a:p>
          <a:p>
            <a:pPr/>
            <a:r>
              <a:rPr b="1" sz="1700"/>
              <a:t>Integration:</a:t>
            </a:r>
            <a:r>
              <a:rPr sz="1700"/>
              <a:t> select from recon/intel; use blue-space tempo and OPSEC; keep fallbacks</a:t>
            </a:r>
          </a:p>
        </p:txBody>
      </p:sp>
      <p:pic>
        <p:nvPicPr>
          <p:cNvPr id="5" name="Picture 4" descr="7b16e39a60ebc086b45e03e8d4918937fc1102771eef1cc80e6d0da5de2db90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Next — Gaining Access Labs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Practice initial-access techniques in a simulated adversary scenario</a:t>
            </a:r>
          </a:p>
          <a:p>
            <a:pPr/>
            <a:r>
              <a:rPr sz="1800"/>
              <a:t>Apply selection logic to live targets</a:t>
            </a:r>
          </a:p>
          <a:p>
            <a:pPr/>
            <a:r>
              <a:rPr sz="1800"/>
              <a:t>Related practice: HTB Metasploit and gaining-access prep in </a:t>
            </a:r>
            <a:r>
              <a:rPr sz="1800">
                <a:latin typeface="Courier New"/>
              </a:rPr>
              <a:t>course/prerequisites/using-msf/</a:t>
            </a:r>
            <a:r>
              <a:rPr sz="1800"/>
              <a:t> and </a:t>
            </a:r>
            <a:r>
              <a:rPr sz="1800">
                <a:latin typeface="Courier New"/>
              </a:rPr>
              <a:t>course/prerequisites/gaining-access/</a:t>
            </a:r>
            <a:r>
              <a:rPr sz="1800"/>
              <a:t>, plus city-coded access labs</a:t>
            </a:r>
          </a:p>
        </p:txBody>
      </p:sp>
      <p:pic>
        <p:nvPicPr>
          <p:cNvPr id="5" name="Picture 4" descr="cc1769513f5f06c89176c1ddbf2a35e24de02d89100ffb31da731d198556b2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Questions?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Clarify technique selection</a:t>
            </a:r>
          </a:p>
          <a:p>
            <a:pPr/>
            <a:r>
              <a:rPr sz="1800"/>
              <a:t>Clarify process steps</a:t>
            </a:r>
          </a:p>
          <a:p>
            <a:pPr/>
            <a:r>
              <a:rPr sz="1800"/>
              <a:t>Clarify handoff expectations</a:t>
            </a:r>
          </a:p>
        </p:txBody>
      </p:sp>
      <p:pic>
        <p:nvPicPr>
          <p:cNvPr id="5" name="Picture 4" descr="445c235f3cd0f766bacae43f8d72f5b2d7168b2019481a9c33afe9e5943105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/>
            <a:r>
              <a:rPr sz="2700"/>
              <a:t>Questions?</a:t>
            </a:r>
          </a:p>
        </p:txBody>
      </p:sp>
      <p:sp>
        <p:nvSpPr>
          <p:cNvPr id="4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yberTemplateL_Green Unclass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420</Words>
  <Application>Microsoft Office PowerPoint</Application>
  <PresentationFormat>Widescreen</PresentationFormat>
  <Paragraphs>45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Calibri</vt:lpstr>
      <vt:lpstr>Arial</vt:lpstr>
      <vt:lpstr>Noto Sans Symbols</vt:lpstr>
      <vt:lpstr>Google Sans</vt:lpstr>
      <vt:lpstr>CyberTemplateL_Green Unclass</vt:lpstr>
      <vt:lpstr>Lesson title</vt:lpstr>
      <vt:lpstr>Intro Video</vt:lpstr>
      <vt:lpstr>Lesson Objectives</vt:lpstr>
      <vt:lpstr>What is a Learning Management System?</vt:lpstr>
      <vt:lpstr>Lets log in to Moodle</vt:lpstr>
      <vt:lpstr>Lesson 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Houston, Joshua T</dc:creator>
  <cp:lastModifiedBy>Cross, Clay</cp:lastModifiedBy>
  <cp:revision>1</cp:revision>
  <dcterms:modified xsi:type="dcterms:W3CDTF">2026-10-12T17:41:16Z</dcterms:modified>
</cp:coreProperties>
</file>