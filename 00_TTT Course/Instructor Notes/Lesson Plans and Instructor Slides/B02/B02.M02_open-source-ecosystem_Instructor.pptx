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8"/>
    <p:sldId id="257" r:id="rId14"/>
    <p:sldId id="258" r:id="rId15"/>
    <p:sldId id="259" r:id="rId7"/>
    <p:sldId id="260" r:id="rId6"/>
    <p:sldId id="261" r:id="rId5"/>
    <p:sldId id="262" r:id="rId4"/>
    <p:sldId id="263" r:id="rId3"/>
    <p:sldId id="264" r:id="rId2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23" r:id="rId80"/>
    <p:sldId id="324" r:id="rId81"/>
    <p:sldId id="325" r:id="rId82"/>
  </p:sldIdLst>
  <p:sldSz cx="12192000" cy="6858000"/>
  <p:notesSz cx="6858000" cy="9144000"/>
  <p:embeddedFontLst>
    <p:embeddedFont>
      <p:font typeface="Google Sans" panose="020B0604020202020204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j7TtVeiHhDOAAACQUvrCI66Sw7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customschemas.google.com/relationships/presentationmetadata" Target="meta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Relationship Id="rId82" Type="http://schemas.openxmlformats.org/officeDocument/2006/relationships/slide" Target="slides/slide7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oss, Clay" userId="f346be3b-e1cb-4aec-811e-8a3f5d1dd33f" providerId="ADAL" clId="{5AB2DC96-CDCC-45B4-B053-2F2446580AF9}"/>
    <pc:docChg chg="modSld modMainMaster">
      <pc:chgData name="Cross, Clay" userId="f346be3b-e1cb-4aec-811e-8a3f5d1dd33f" providerId="ADAL" clId="{5AB2DC96-CDCC-45B4-B053-2F2446580AF9}" dt="2026-10-12T17:41:14.911" v="31" actId="20577"/>
      <pc:docMkLst>
        <pc:docMk/>
      </pc:docMkLst>
      <pc:sldChg chg="addSp modSp mod">
        <pc:chgData name="Cross, Clay" userId="f346be3b-e1cb-4aec-811e-8a3f5d1dd33f" providerId="ADAL" clId="{5AB2DC96-CDCC-45B4-B053-2F2446580AF9}" dt="2026-10-12T17:41:14.911" v="31" actId="20577"/>
        <pc:sldMkLst>
          <pc:docMk/>
          <pc:sldMk cId="0" sldId="256"/>
        </pc:sldMkLst>
        <pc:spChg chg="add mod">
          <ac:chgData name="Cross, Clay" userId="f346be3b-e1cb-4aec-811e-8a3f5d1dd33f" providerId="ADAL" clId="{5AB2DC96-CDCC-45B4-B053-2F2446580AF9}" dt="2026-09-16T14:10:03.197" v="14"/>
          <ac:spMkLst>
            <pc:docMk/>
            <pc:sldMk cId="0" sldId="256"/>
            <ac:spMk id="2" creationId="{AF066B48-BBCB-D243-DA16-4C1CF9825479}"/>
          </ac:spMkLst>
        </pc:spChg>
        <pc:spChg chg="mod">
          <ac:chgData name="Cross, Clay" userId="f346be3b-e1cb-4aec-811e-8a3f5d1dd33f" providerId="ADAL" clId="{5AB2DC96-CDCC-45B4-B053-2F2446580AF9}" dt="2026-10-12T17:41:14.911" v="31" actId="20577"/>
          <ac:spMkLst>
            <pc:docMk/>
            <pc:sldMk cId="0" sldId="256"/>
            <ac:spMk id="93" creationId="{00000000-0000-0000-0000-000000000000}"/>
          </ac:spMkLst>
        </pc:spChg>
      </pc:sldChg>
      <pc:sldChg chg="addSp modSp">
        <pc:chgData name="Cross, Clay" userId="f346be3b-e1cb-4aec-811e-8a3f5d1dd33f" providerId="ADAL" clId="{5AB2DC96-CDCC-45B4-B053-2F2446580AF9}" dt="2026-09-16T14:10:05.967" v="15"/>
        <pc:sldMkLst>
          <pc:docMk/>
          <pc:sldMk cId="0" sldId="257"/>
        </pc:sldMkLst>
        <pc:spChg chg="add mod">
          <ac:chgData name="Cross, Clay" userId="f346be3b-e1cb-4aec-811e-8a3f5d1dd33f" providerId="ADAL" clId="{5AB2DC96-CDCC-45B4-B053-2F2446580AF9}" dt="2026-09-16T14:10:05.967" v="15"/>
          <ac:spMkLst>
            <pc:docMk/>
            <pc:sldMk cId="0" sldId="257"/>
            <ac:spMk id="2" creationId="{C59CE0A4-E66C-0842-A9F5-B432CCCBB70C}"/>
          </ac:spMkLst>
        </pc:spChg>
      </pc:sldChg>
      <pc:sldChg chg="addSp modSp">
        <pc:chgData name="Cross, Clay" userId="f346be3b-e1cb-4aec-811e-8a3f5d1dd33f" providerId="ADAL" clId="{5AB2DC96-CDCC-45B4-B053-2F2446580AF9}" dt="2026-09-16T14:10:07.294" v="16"/>
        <pc:sldMkLst>
          <pc:docMk/>
          <pc:sldMk cId="0" sldId="258"/>
        </pc:sldMkLst>
        <pc:spChg chg="add mod">
          <ac:chgData name="Cross, Clay" userId="f346be3b-e1cb-4aec-811e-8a3f5d1dd33f" providerId="ADAL" clId="{5AB2DC96-CDCC-45B4-B053-2F2446580AF9}" dt="2026-09-16T14:10:07.294" v="16"/>
          <ac:spMkLst>
            <pc:docMk/>
            <pc:sldMk cId="0" sldId="258"/>
            <ac:spMk id="2" creationId="{9367D3A5-428A-79F2-AC81-ADCB1A0F11C1}"/>
          </ac:spMkLst>
        </pc:spChg>
      </pc:sldChg>
      <pc:sldChg chg="addSp modSp">
        <pc:chgData name="Cross, Clay" userId="f346be3b-e1cb-4aec-811e-8a3f5d1dd33f" providerId="ADAL" clId="{5AB2DC96-CDCC-45B4-B053-2F2446580AF9}" dt="2026-09-16T14:10:08.375" v="17"/>
        <pc:sldMkLst>
          <pc:docMk/>
          <pc:sldMk cId="0" sldId="259"/>
        </pc:sldMkLst>
        <pc:spChg chg="add mod">
          <ac:chgData name="Cross, Clay" userId="f346be3b-e1cb-4aec-811e-8a3f5d1dd33f" providerId="ADAL" clId="{5AB2DC96-CDCC-45B4-B053-2F2446580AF9}" dt="2026-09-16T14:10:08.375" v="17"/>
          <ac:spMkLst>
            <pc:docMk/>
            <pc:sldMk cId="0" sldId="259"/>
            <ac:spMk id="2" creationId="{07E1C860-F9EC-56A5-3678-9C818C512B47}"/>
          </ac:spMkLst>
        </pc:spChg>
      </pc:sldChg>
      <pc:sldChg chg="addSp modSp">
        <pc:chgData name="Cross, Clay" userId="f346be3b-e1cb-4aec-811e-8a3f5d1dd33f" providerId="ADAL" clId="{5AB2DC96-CDCC-45B4-B053-2F2446580AF9}" dt="2026-09-16T14:10:11.392" v="18"/>
        <pc:sldMkLst>
          <pc:docMk/>
          <pc:sldMk cId="0" sldId="260"/>
        </pc:sldMkLst>
        <pc:spChg chg="add mod">
          <ac:chgData name="Cross, Clay" userId="f346be3b-e1cb-4aec-811e-8a3f5d1dd33f" providerId="ADAL" clId="{5AB2DC96-CDCC-45B4-B053-2F2446580AF9}" dt="2026-09-16T14:10:11.392" v="18"/>
          <ac:spMkLst>
            <pc:docMk/>
            <pc:sldMk cId="0" sldId="260"/>
            <ac:spMk id="2" creationId="{1588E63D-8331-98F8-2393-DF79A145BF58}"/>
          </ac:spMkLst>
        </pc:spChg>
      </pc:sldChg>
      <pc:sldChg chg="addSp modSp">
        <pc:chgData name="Cross, Clay" userId="f346be3b-e1cb-4aec-811e-8a3f5d1dd33f" providerId="ADAL" clId="{5AB2DC96-CDCC-45B4-B053-2F2446580AF9}" dt="2026-09-16T14:10:12.517" v="19"/>
        <pc:sldMkLst>
          <pc:docMk/>
          <pc:sldMk cId="0" sldId="261"/>
        </pc:sldMkLst>
        <pc:spChg chg="add mod">
          <ac:chgData name="Cross, Clay" userId="f346be3b-e1cb-4aec-811e-8a3f5d1dd33f" providerId="ADAL" clId="{5AB2DC96-CDCC-45B4-B053-2F2446580AF9}" dt="2026-09-16T14:10:12.517" v="19"/>
          <ac:spMkLst>
            <pc:docMk/>
            <pc:sldMk cId="0" sldId="261"/>
            <ac:spMk id="2" creationId="{93535A3B-BAB2-61CE-5223-82D4BF2B0E2D}"/>
          </ac:spMkLst>
        </pc:spChg>
      </pc:sldChg>
      <pc:sldChg chg="addSp delSp modSp mod">
        <pc:chgData name="Cross, Clay" userId="f346be3b-e1cb-4aec-811e-8a3f5d1dd33f" providerId="ADAL" clId="{5AB2DC96-CDCC-45B4-B053-2F2446580AF9}" dt="2026-09-16T14:10:13.935" v="20"/>
        <pc:sldMkLst>
          <pc:docMk/>
          <pc:sldMk cId="0" sldId="262"/>
        </pc:sldMkLst>
        <pc:spChg chg="add mod">
          <ac:chgData name="Cross, Clay" userId="f346be3b-e1cb-4aec-811e-8a3f5d1dd33f" providerId="ADAL" clId="{5AB2DC96-CDCC-45B4-B053-2F2446580AF9}" dt="2026-09-16T14:10:13.935" v="20"/>
          <ac:spMkLst>
            <pc:docMk/>
            <pc:sldMk cId="0" sldId="262"/>
            <ac:spMk id="2" creationId="{D7EC3C54-652C-9EC2-FAB0-E19765D5B90B}"/>
          </ac:spMkLst>
        </pc:spChg>
      </pc:sldChg>
      <pc:sldMasterChg chg="modSp mod modSldLayout">
        <pc:chgData name="Cross, Clay" userId="f346be3b-e1cb-4aec-811e-8a3f5d1dd33f" providerId="ADAL" clId="{5AB2DC96-CDCC-45B4-B053-2F2446580AF9}" dt="2026-10-12T16:58:37.748" v="29" actId="14100"/>
        <pc:sldMasterMkLst>
          <pc:docMk/>
          <pc:sldMasterMk cId="0" sldId="2147483648"/>
        </pc:sldMasterMkLst>
        <pc:sldLayoutChg chg="modSp mod">
          <pc:chgData name="Cross, Clay" userId="f346be3b-e1cb-4aec-811e-8a3f5d1dd33f" providerId="ADAL" clId="{5AB2DC96-CDCC-45B4-B053-2F2446580AF9}" dt="2026-10-12T16:58:06.482" v="24" actId="14100"/>
          <pc:sldLayoutMkLst>
            <pc:docMk/>
            <pc:sldMasterMk cId="0" sldId="2147483648"/>
            <pc:sldLayoutMk cId="0" sldId="2147483652"/>
          </pc:sldLayoutMkLst>
          <pc:spChg chg="mod">
            <ac:chgData name="Cross, Clay" userId="f346be3b-e1cb-4aec-811e-8a3f5d1dd33f" providerId="ADAL" clId="{5AB2DC96-CDCC-45B4-B053-2F2446580AF9}" dt="2026-10-12T16:57:55.345" v="22" actId="14100"/>
            <ac:spMkLst>
              <pc:docMk/>
              <pc:sldMasterMk cId="0" sldId="2147483648"/>
              <pc:sldLayoutMk cId="0" sldId="2147483652"/>
              <ac:spMk id="5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0.151" v="23" actId="14100"/>
            <ac:spMkLst>
              <pc:docMk/>
              <pc:sldMasterMk cId="0" sldId="2147483648"/>
              <pc:sldLayoutMk cId="0" sldId="2147483652"/>
              <ac:spMk id="5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6.482" v="24" actId="14100"/>
            <ac:spMkLst>
              <pc:docMk/>
              <pc:sldMasterMk cId="0" sldId="2147483648"/>
              <pc:sldLayoutMk cId="0" sldId="2147483652"/>
              <ac:spMk id="58" creationId="{00000000-0000-0000-0000-000000000000}"/>
            </ac:spMkLst>
          </pc:spChg>
        </pc:sldLayoutChg>
        <pc:sldLayoutChg chg="modSp mod">
          <pc:chgData name="Cross, Clay" userId="f346be3b-e1cb-4aec-811e-8a3f5d1dd33f" providerId="ADAL" clId="{5AB2DC96-CDCC-45B4-B053-2F2446580AF9}" dt="2026-10-12T16:58:37.748" v="29" actId="14100"/>
          <pc:sldLayoutMkLst>
            <pc:docMk/>
            <pc:sldMasterMk cId="0" sldId="2147483648"/>
            <pc:sldLayoutMk cId="0" sldId="2147483656"/>
          </pc:sldLayoutMkLst>
          <pc:spChg chg="mod">
            <ac:chgData name="Cross, Clay" userId="f346be3b-e1cb-4aec-811e-8a3f5d1dd33f" providerId="ADAL" clId="{5AB2DC96-CDCC-45B4-B053-2F2446580AF9}" dt="2026-10-12T16:58:32.543" v="27" actId="14100"/>
            <ac:spMkLst>
              <pc:docMk/>
              <pc:sldMasterMk cId="0" sldId="2147483648"/>
              <pc:sldLayoutMk cId="0" sldId="2147483656"/>
              <ac:spMk id="7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4.943" v="28" actId="14100"/>
            <ac:spMkLst>
              <pc:docMk/>
              <pc:sldMasterMk cId="0" sldId="2147483648"/>
              <pc:sldLayoutMk cId="0" sldId="2147483656"/>
              <ac:spMk id="7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7.748" v="29" actId="14100"/>
            <ac:spMkLst>
              <pc:docMk/>
              <pc:sldMasterMk cId="0" sldId="2147483648"/>
              <pc:sldLayoutMk cId="0" sldId="2147483656"/>
              <ac:spMk id="7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 Navigating the Open-Source Ecosystem — Content Guide</a:t>
            </a:r>
          </a:p>
          <a:p/>
          <a:p>
            <a:r>
              <a:t>**Source:** This Markdown content guide is the source of truth. Instructor deck: [`slides/B02.M02_open-source-ecosystem_Instructor.pptx`](slides/B02.M02_open-source-ecosystem_Instructor.pptx). The student copy is generated at pack time.</a:t>
            </a:r>
          </a:p>
          <a:p>
            <a:r>
              <a:t>**Audience:** CPT operators who hold service/version evidence from enumeration.</a:t>
            </a:r>
          </a:p>
          <a:p>
            <a:r>
              <a:t>**Duration:** ~120 minutes lecture (Searchsploit and Metasploit keyboard practice follow).</a:t>
            </a:r>
          </a:p>
          <a:p>
            <a:r>
              <a:t>**Prerequisites:** Planning pipeline and CG/CV framing; Nmap service/version output as the query key for this block. Hands-on CVE search, Searchsploit, and GitHub PoC work happen in later keyboard practice (including Vulnhub walkthroughs)—not as lecture demos.</a:t>
            </a:r>
          </a:p>
          <a:p>
            <a:r>
              <a:t>**References:**</a:t>
            </a:r>
          </a:p>
          <a:p/>
          <a:p>
            <a:r>
              <a:t>- [`slides/B02.M02_open-source-ecosystem_Instructor.pptx`](slides/B02.M02_open-source-ecosystem_Instructor.pptx)</a:t>
            </a:r>
          </a:p>
          <a:p>
            <a:r>
              <a:t>- `../../archive/L2.5_Navigating_Open_Source/L2.5 Navigating The Open Source Environment.md`</a:t>
            </a:r>
          </a:p>
          <a:p>
            <a:r>
              <a:t>- `../../activities/L2.6_Using_MSF/`</a:t>
            </a:r>
          </a:p>
          <a:p>
            <a:r>
              <a:t>- `../../activities/L2.8_Gaining_Access/`</a:t>
            </a:r>
          </a:p>
          <a:p>
            <a:r>
              <a:t>- `../02-info-gathering-recon/content-guide.md`</a:t>
            </a:r>
          </a:p>
          <a:p/>
          <a:p>
            <a:r>
              <a:t>---</a:t>
            </a:r>
          </a:p>
          <a:p/>
          <a:p>
            <a:r>
              <a:t>## Instructor resources and pre-class</a:t>
            </a:r>
          </a:p>
          <a:p/>
          <a:p>
            <a:r>
              <a:t>- Classroom projector and screen; whiteboard for the opening contract</a:t>
            </a:r>
          </a:p>
          <a:p>
            <a:r>
              <a:t>- Parent or sibling briefs listed in this Module folder</a:t>
            </a:r>
          </a:p>
          <a:p>
            <a:r>
              <a:t>- Live tabs and references already named in this file's header</a:t>
            </a:r>
          </a:p>
          <a:p>
            <a:r>
              <a:t>- Do not project flags, tokens, or answer-key values</a:t>
            </a:r>
          </a:p>
          <a:p/>
          <a:p>
            <a:r>
              <a:t>## Student resources</a:t>
            </a:r>
          </a:p>
          <a:p/>
          <a:p>
            <a:r>
              <a:t>- Student brief, student guide, or homework file in this Module folder when present</a:t>
            </a:r>
          </a:p>
          <a:p>
            <a:r>
              <a:t>- Assigned range, workstation, or lab stack named in the student-facing file</a:t>
            </a:r>
          </a:p>
          <a:p>
            <a:r>
              <a:t>- No extra kit beyond what the student-facing file already lists</a:t>
            </a:r>
          </a:p>
          <a:p/>
          <a:p>
            <a:r>
              <a:t>## Dual opening</a:t>
            </a:r>
          </a:p>
          <a:p/>
          <a:p>
            <a:r>
              <a:t>### Option 1 (Interactive / Whiteboard / Kinesthetic)</a:t>
            </a:r>
          </a:p>
          <a:p/>
          <a:p>
            <a:r>
              <a:t>- **Say:** "You already have ports and versions from active recon."</a:t>
            </a:r>
          </a:p>
          <a:p>
            <a:r>
              <a:t>- **Do:** Put the lesson contract on the board. Keep products from the prerequisite Module available.</a:t>
            </a:r>
          </a:p>
          <a:p>
            <a:r>
              <a:t>- **Ask (Q):** Hold up one service and version from your last Nmap run.</a:t>
            </a:r>
          </a:p>
          <a:p>
            <a:r>
              <a:t>- **Expected Response (A):** Facilitation. Use the Say/Do already on this row; do not force a single keyed answer.</a:t>
            </a:r>
          </a:p>
          <a:p/>
          <a:p>
            <a:r>
              <a:t>### Option 2 (Digital Slide / Virtual / Slide Deck)</a:t>
            </a:r>
          </a:p>
          <a:p/>
          <a:p>
            <a:r>
              <a:t>- **Say:** "You already have ports and versions from active recon."</a:t>
            </a:r>
          </a:p>
          <a:p>
            <a:r>
              <a:t>- **Show:** The title slide and lesson objectives.</a:t>
            </a:r>
          </a:p>
          <a:p>
            <a:r>
              <a:t>- **Do:** Confirm stations can open the required tool or file before the first teaching row.</a:t>
            </a:r>
          </a:p>
          <a:p>
            <a:r>
              <a:t>- **Ask (Q):** Hold up one service and version from your last Nmap run.</a:t>
            </a:r>
          </a:p>
          <a:p>
            <a:r>
              <a:t>- **Expected Response (A):** 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"You already have ports and versions from active recon."</a:t>
            </a:r>
          </a:p>
          <a:p>
            <a:r>
              <a:t>"This lesson turns that evidence into a deliberate exploit path."</a:t>
            </a:r>
          </a:p>
          <a:p>
            <a:r>
              <a:t>"We stay inside the open-source ecosystem: databases, repos, Searchsploit, Metasploit."</a:t>
            </a:r>
          </a:p>
          <a:p>
            <a:r>
              <a:t>"Goal is not 'run the first hit'—it is select, vet, and justify."</a:t>
            </a:r>
          </a:p>
          <a:p/>
          <a:p>
            <a:r>
              <a:t>Show:</a:t>
            </a:r>
          </a:p>
          <a:p>
            <a:r>
              <a:t>Trace the five-stage pipeline left to right.</a:t>
            </a:r>
          </a:p>
          <a:p/>
          <a:p>
            <a:r>
              <a:t>Do:</a:t>
            </a:r>
          </a:p>
          <a:p>
            <a:r>
              <a:t>Ask: "Hold up one service and version from your last Nmap run."</a:t>
            </a:r>
          </a:p>
          <a:p>
            <a:r>
              <a:t>Capture two examples on the board for the pipeline slides that follow.</a:t>
            </a:r>
          </a:p>
          <a:p/>
          <a:p>
            <a:r>
              <a:t>Image Prompt:</a:t>
            </a:r>
          </a:p>
          <a:p>
            <a:r>
              <a:t>Title slide only. A pipeline graphic: "Enumerate" → "Identify CVE" → "Locate Exploit" → "Assess Suitability" → "Initial Access." No week branding; no on-slide bullet stack.</a:t>
            </a:r>
          </a:p>
          <a:p/>
          <a:p>
            <a:r>
              <a:t>Ask (Q):</a:t>
            </a:r>
          </a:p>
          <a:p>
            <a:r>
              <a:t>Hold up one service and version from your last Nmap run.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"Read these objectives as written—they are the contract for this block."</a:t>
            </a:r>
          </a:p>
          <a:p>
            <a:r>
              <a:t>"Identify initial access techniques from MITRE attack."</a:t>
            </a:r>
          </a:p>
          <a:p>
            <a:r>
              <a:t>"Identify key components of an open-source ecosystem."</a:t>
            </a:r>
          </a:p>
          <a:p>
            <a:r>
              <a:t>"Recall and identify different types of vulnerabilities."</a:t>
            </a:r>
          </a:p>
          <a:p>
            <a:r>
              <a:t>"Recognize initial access opportunities."</a:t>
            </a:r>
          </a:p>
          <a:p>
            <a:r>
              <a:t>"This block moves from passive leads and directly observed service/version evidence through vulnerability identification, exploit research, initial-access technique selection, and suitability assessment."</a:t>
            </a:r>
          </a:p>
          <a:p/>
          <a:p>
            <a:r>
              <a:t>Show:</a:t>
            </a:r>
          </a:p>
          <a:p>
            <a:r>
              <a:t>Point to each objective tile as you name the matching bullet.</a:t>
            </a:r>
          </a:p>
          <a:p/>
          <a:p>
            <a:r>
              <a:t>Do:</a:t>
            </a:r>
          </a:p>
          <a:p>
            <a:r>
              <a:t>Tell students to write their own one-line success check for each objective.</a:t>
            </a:r>
          </a:p>
          <a:p/>
          <a:p>
            <a:r>
              <a:t>Image Prompt:</a:t>
            </a:r>
          </a:p>
          <a:p>
            <a:r>
              <a:t>Four objective tiles in a row mirroring the four bullets on this slide (MITRE initial access; ecosystem components; vulnerability types; access opportunities).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"Passive leads prioritize where to look; Nmap gave you directly observed service and version evidence."</a:t>
            </a:r>
          </a:p>
          <a:p>
            <a:r>
              <a:t>"Start with that observed evidence: service and version."</a:t>
            </a:r>
          </a:p>
          <a:p>
            <a:r>
              <a:t>"Search for known weaknesses tied to that exact version."</a:t>
            </a:r>
          </a:p>
          <a:p>
            <a:r>
              <a:t>"Then locate working code or modules."</a:t>
            </a:r>
          </a:p>
          <a:p>
            <a:r>
              <a:t>"The point is a targeted path—not random scanning with exploit tools."</a:t>
            </a:r>
          </a:p>
          <a:p>
            <a:r>
              <a:t>"That path supports deliberate effects on adversary infrastructure."</a:t>
            </a:r>
          </a:p>
          <a:p/>
          <a:p>
            <a:r>
              <a:t>Show:</a:t>
            </a:r>
          </a:p>
          <a:p>
            <a:r>
              <a:t>Trace banner → match → candidate → effect.</a:t>
            </a:r>
          </a:p>
          <a:p/>
          <a:p>
            <a:r>
              <a:t>Do:</a:t>
            </a:r>
          </a:p>
          <a:p>
            <a:r>
              <a:t>Ask: "What version string from Nmap would you feed a search first?"</a:t>
            </a:r>
          </a:p>
          <a:p/>
          <a:p>
            <a:r>
              <a:t>Image Prompt:</a:t>
            </a:r>
          </a:p>
          <a:p>
            <a:r>
              <a:t>Flow: Nmap version banner → vulnerability match → exploit candidate → planned effect on adversary node.</a:t>
            </a:r>
          </a:p>
          <a:p/>
          <a:p>
            <a:r>
              <a:t>Ask (Q):</a:t>
            </a:r>
          </a:p>
          <a:p>
            <a:r>
              <a:t>What version string from Nmap would you feed a search first?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"Three layers."</a:t>
            </a:r>
          </a:p>
          <a:p>
            <a:r>
              <a:t>"Databases tell you what is wrong and how bad it is."</a:t>
            </a:r>
          </a:p>
          <a:p>
            <a:r>
              <a:t>"Repositories give you code and PoCs."</a:t>
            </a:r>
          </a:p>
          <a:p>
            <a:r>
              <a:t>"Searchsploit searches ExploitDB offline from the ops station."</a:t>
            </a:r>
          </a:p>
          <a:p>
            <a:r>
              <a:t>"You are not inventing vulns—you are navigating community work that already exists."</a:t>
            </a:r>
          </a:p>
          <a:p/>
          <a:p>
            <a:r>
              <a:t>Show:</a:t>
            </a:r>
          </a:p>
          <a:p>
            <a:r>
              <a:t>Point databases → repos → tools → planning.</a:t>
            </a:r>
          </a:p>
          <a:p/>
          <a:p>
            <a:r>
              <a:t>Do:</a:t>
            </a:r>
          </a:p>
          <a:p>
            <a:r>
              <a:t>Cold-call: "Name one item in each layer."</a:t>
            </a:r>
          </a:p>
          <a:p/>
          <a:p>
            <a:r>
              <a:t>Image Prompt:</a:t>
            </a:r>
          </a:p>
          <a:p>
            <a:r>
              <a:t>Three stacked boxes labeled Databases (CVE/NVD), Repositories (ExploitDB/GitHub), Tools (Searchsploit), with an arrow into "Effect planning."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"ATT&amp;CK language stays consistent with the planning pipeline."</a:t>
            </a:r>
          </a:p>
          <a:p>
            <a:r>
              <a:t>"Active scanning produced the versions."</a:t>
            </a:r>
          </a:p>
          <a:p>
            <a:r>
              <a:t>"This lesson feeds Initial Access—especially public-facing apps and external remote services."</a:t>
            </a:r>
          </a:p>
          <a:p>
            <a:r>
              <a:t>"You reverse the adversary playbook: same techniques, aimed at their exposed stack."</a:t>
            </a:r>
          </a:p>
          <a:p/>
          <a:p>
            <a:r>
              <a:t>Show:</a:t>
            </a:r>
          </a:p>
          <a:p>
            <a:r>
              <a:t>Point T1595 into TA0001, then highlight T1190 and T1133.</a:t>
            </a:r>
          </a:p>
          <a:p/>
          <a:p>
            <a:r>
              <a:t>Do:</a:t>
            </a:r>
          </a:p>
          <a:p>
            <a:r>
              <a:t>Ask: "Which of your enumerated ports is more T1190 versus T1133?"</a:t>
            </a:r>
          </a:p>
          <a:p/>
          <a:p>
            <a:r>
              <a:t>Image Prompt:</a:t>
            </a:r>
          </a:p>
          <a:p>
            <a:r>
              <a:t>ATT&amp;CK strip: T1595 → TA0001, with callouts T1190 and T1133 fed by "open-source vuln/exploit research."</a:t>
            </a:r>
          </a:p>
          <a:p/>
          <a:p>
            <a:r>
              <a:t>Ask (Q):</a:t>
            </a:r>
          </a:p>
          <a:p>
            <a:r>
              <a:t>Which of your enumerated ports is more T1190 versus T1133?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"Four operator filters before you touch exploit code."</a:t>
            </a:r>
          </a:p>
          <a:p>
            <a:r>
              <a:t>"Impact: does this path actually matter to the adversary mission?"</a:t>
            </a:r>
          </a:p>
          <a:p>
            <a:r>
              <a:t>"Verification: does intel and recon agree this is the right node?"</a:t>
            </a:r>
          </a:p>
          <a:p>
            <a:r>
              <a:t>"Validation: can you prove behavior in a lab first?"</a:t>
            </a:r>
          </a:p>
          <a:p>
            <a:r>
              <a:t>"Evidence: can you report what changed afterward?"</a:t>
            </a:r>
          </a:p>
          <a:p>
            <a:r>
              <a:t>"Keep selection tied to mission effect—not novelty of the CVE."</a:t>
            </a:r>
          </a:p>
          <a:p/>
          <a:p>
            <a:r>
              <a:t>Show:</a:t>
            </a:r>
          </a:p>
          <a:p>
            <a:r>
              <a:t>Tick each checklist item aloud.</a:t>
            </a:r>
          </a:p>
          <a:p/>
          <a:p>
            <a:r>
              <a:t>Do:</a:t>
            </a:r>
          </a:p>
          <a:p>
            <a:r>
              <a:t>Ask students to rank the four filters for a time-sensitive disruption; take disagreement and resolve toward mission fit.</a:t>
            </a:r>
          </a:p>
          <a:p/>
          <a:p>
            <a:r>
              <a:t>Image Prompt:</a:t>
            </a:r>
          </a:p>
          <a:p>
            <a:r>
              <a:t>Checklist graphic: Impact priority, Target verification, Lab validation, Evidence-backed effect—each with a checkbox.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"We now turn observed service and version evidence into vulnerability candidates."</a:t>
            </a:r>
          </a:p>
          <a:p/>
          <a:p>
            <a:r>
              <a:t>Show:</a:t>
            </a:r>
          </a:p>
          <a:p>
            <a:r>
              <a:t>Hold on the version-to-CVE visual, then advance.</a:t>
            </a:r>
          </a:p>
          <a:p/>
          <a:p>
            <a:r>
              <a:t>Do:</a:t>
            </a:r>
          </a:p>
          <a:p>
            <a:r>
              <a:t>Have students keep one observed version ready for the next example.</a:t>
            </a:r>
          </a:p>
          <a:p/>
          <a:p>
            <a:r>
              <a:t>Image Prompt:</a:t>
            </a:r>
          </a:p>
          <a:p>
            <a:r>
              <a:t>Title-only transition slide. "Vulnerability Identification" over a magnifying glass examining a version string that resolves into a CVE ID. No bullets or label text.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"Pipeline, not luck."</a:t>
            </a:r>
          </a:p>
          <a:p>
            <a:r>
              <a:t>"Banner or script output is the query key."</a:t>
            </a:r>
          </a:p>
          <a:p>
            <a:r>
              <a:t>"Search NVD/CVE (and later ExploitDB) for that product and version."</a:t>
            </a:r>
          </a:p>
          <a:p>
            <a:r>
              <a:t>"You leave this step with candidates—not a guaranteed shell."</a:t>
            </a:r>
          </a:p>
          <a:p/>
          <a:p>
            <a:r>
              <a:t>Show:</a:t>
            </a:r>
          </a:p>
          <a:p>
            <a:r>
              <a:t>Walk the four cards.</a:t>
            </a:r>
          </a:p>
          <a:p/>
          <a:p>
            <a:r>
              <a:t>Do:</a:t>
            </a:r>
          </a:p>
          <a:p>
            <a:r>
              <a:t>Write `Apache 2.4.29` on the board as the running query key.</a:t>
            </a:r>
          </a:p>
          <a:p/>
          <a:p>
            <a:r>
              <a:t>Image Prompt:</a:t>
            </a:r>
          </a:p>
          <a:p>
            <a:r>
              <a:t>Pipeline cards: Recon evidence → CVE search → Candidate list → Exploit research handoff.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"Exact version matching beats fuzzy product-only searches."</a:t>
            </a:r>
          </a:p>
          <a:p>
            <a:r>
              <a:t>"OpenSSH 7.4 is the pattern: version in, CVE list out."</a:t>
            </a:r>
          </a:p>
          <a:p>
            <a:r>
              <a:t>"Read the impact class—information leak is not the same as RCE."</a:t>
            </a:r>
          </a:p>
          <a:p>
            <a:r>
              <a:t>"Unpatched legacy on adversary infrastructure is often your best first look."</a:t>
            </a:r>
          </a:p>
          <a:p/>
          <a:p>
            <a:r>
              <a:t>Show:</a:t>
            </a:r>
          </a:p>
          <a:p>
            <a:r>
              <a:t>Point at the caution badge on impact class.</a:t>
            </a:r>
          </a:p>
          <a:p/>
          <a:p>
            <a:r>
              <a:t>Do:</a:t>
            </a:r>
          </a:p>
          <a:p>
            <a:r>
              <a:t>Ask: "What would you record besides the CVE ID?" Prompt for CVSS, auth required, remote/local.</a:t>
            </a:r>
          </a:p>
          <a:p/>
          <a:p>
            <a:r>
              <a:t>Image Prompt:</a:t>
            </a:r>
          </a:p>
          <a:p>
            <a:r>
              <a:t>Callout: "OpenSSH 7.4" feeding a CVE results list; one result highlighted with a caution badge "verify impact class."</a:t>
            </a:r>
          </a:p>
          <a:p/>
          <a:p>
            <a:r>
              <a:t>Ask (Q):</a:t>
            </a:r>
          </a:p>
          <a:p>
            <a:r>
              <a:t>What would you record besides the CVE ID?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"Not every access path is a CVE."</a:t>
            </a:r>
          </a:p>
          <a:p>
            <a:r>
              <a:t>"Misconfiguration is still a vulnerability class."</a:t>
            </a:r>
          </a:p>
          <a:p>
            <a:r>
              <a:t>"Default credentials and cleartext services show up in enum just like versions do."</a:t>
            </a:r>
          </a:p>
          <a:p>
            <a:r>
              <a:t>"Hunt experience helps: the same weak patterns you see on blue hosts appear on adversary nodes."</a:t>
            </a:r>
          </a:p>
          <a:p/>
          <a:p>
            <a:r>
              <a:t>Show:</a:t>
            </a:r>
          </a:p>
          <a:p>
            <a:r>
              <a:t>Contrast version CVE vs misconfig panels.</a:t>
            </a:r>
          </a:p>
          <a:p/>
          <a:p>
            <a:r>
              <a:t>Do:</a:t>
            </a:r>
          </a:p>
          <a:p>
            <a:r>
              <a:t>Ask for one misconfig they have already seen in labs or hunts.</a:t>
            </a:r>
          </a:p>
          <a:p/>
          <a:p>
            <a:r>
              <a:t>Image Prompt:</a:t>
            </a:r>
          </a:p>
          <a:p>
            <a:r>
              <a:t>Split graphic: left "Version CVE," right "Misconfig" (open dir listing, default creds, cleartext protocol).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"Legacy and EOL systems accumulate public exploit coverage."</a:t>
            </a:r>
          </a:p>
          <a:p>
            <a:r>
              <a:t>"OS fingerprinting is a clue, not proof—verify with service banners when you can."</a:t>
            </a:r>
          </a:p>
          <a:p>
            <a:r>
              <a:t>"Patch gaps are opportunities when the version and exposure match."</a:t>
            </a:r>
          </a:p>
          <a:p>
            <a:r>
              <a:t>"Do not assume 'old' equals 'exploitable today' without a matching public path."</a:t>
            </a:r>
          </a:p>
          <a:p/>
          <a:p>
            <a:r>
              <a:t>Show:</a:t>
            </a:r>
          </a:p>
          <a:p>
            <a:r>
              <a:t>Trace EOL → CVE pile → opportunity.</a:t>
            </a:r>
          </a:p>
          <a:p/>
          <a:p>
            <a:r>
              <a:t>Do:</a:t>
            </a:r>
          </a:p>
          <a:p>
            <a:r>
              <a:t>Ask: "How would you distinguish a fingerprint guess from a banner-verified version?"</a:t>
            </a:r>
          </a:p>
          <a:p/>
          <a:p>
            <a:r>
              <a:t>Image Prompt:</a:t>
            </a:r>
          </a:p>
          <a:p>
            <a:r>
              <a:t>Timeline: supported OS → EOL marker → growing CVE pile; arrow to "access / disrupt adversary tooling."</a:t>
            </a:r>
          </a:p>
          <a:p/>
          <a:p>
            <a:r>
              <a:t>Ask (Q):</a:t>
            </a:r>
          </a:p>
          <a:p>
            <a:r>
              <a:t>How would you distinguish a fingerprint guess from a banner-verified version?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"CVE is the shared ID language."</a:t>
            </a:r>
          </a:p>
          <a:p>
            <a:r>
              <a:t>"NVD adds the operator-useful detail: what is affected and how it is described."</a:t>
            </a:r>
          </a:p>
          <a:p>
            <a:r>
              <a:t>"Search with product and version, not vibes."</a:t>
            </a:r>
          </a:p>
          <a:p>
            <a:r>
              <a:t>"Log4Shell is the famous example of a CVE ID everyone recognizes—use the same discipline for boring CVEs too."</a:t>
            </a:r>
          </a:p>
          <a:p/>
          <a:p>
            <a:r>
              <a:t>Show:</a:t>
            </a:r>
          </a:p>
          <a:p>
            <a:r>
              <a:t>Point CVE ID card, then NVD enrichment card.</a:t>
            </a:r>
          </a:p>
          <a:p/>
          <a:p>
            <a:r>
              <a:t>Do:</a:t>
            </a:r>
          </a:p>
          <a:p>
            <a:r>
              <a:t>Have students write one search string for their board version example.</a:t>
            </a:r>
          </a:p>
          <a:p/>
          <a:p>
            <a:r>
              <a:t>Image Prompt:</a:t>
            </a:r>
          </a:p>
          <a:p>
            <a:r>
              <a:t>Two cards: CVE (ID catalog) and NVD (enriched record with description, CPE/products, links). Search bar example: "Apache 2.4.29 CVE."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"Recon evidence is the filter that makes NVD useful."</a:t>
            </a:r>
          </a:p>
          <a:p>
            <a:r>
              <a:t>"If the affected version range misses your banner, discard the candidate."</a:t>
            </a:r>
          </a:p>
          <a:p>
            <a:r>
              <a:t>"Capture vector and privilege needs now—they drive suitability later."</a:t>
            </a:r>
          </a:p>
          <a:p>
            <a:r>
              <a:t>"Your handoff is a short note, not a screenshot dump."</a:t>
            </a:r>
          </a:p>
          <a:p/>
          <a:p>
            <a:r>
              <a:t>Show:</a:t>
            </a:r>
          </a:p>
          <a:p>
            <a:r>
              <a:t>Walk each notepad field.</a:t>
            </a:r>
          </a:p>
          <a:p/>
          <a:p>
            <a:r>
              <a:t>Do:</a:t>
            </a:r>
          </a:p>
          <a:p>
            <a:r>
              <a:t>Fill one example note together from the Apache/OpenSSH board examples.</a:t>
            </a:r>
          </a:p>
          <a:p/>
          <a:p>
            <a:r>
              <a:t>Image Prompt:</a:t>
            </a:r>
          </a:p>
          <a:p>
            <a:r>
              <a:t>Operator notepad template fields: CVE ID, Affected versions, Vector, Privs, Recon source (port/service).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"CVSS ranks severity and context—it does not replace suitability assessment."</a:t>
            </a:r>
          </a:p>
          <a:p>
            <a:r>
              <a:t>"Base tells you inherent severity."</a:t>
            </a:r>
          </a:p>
          <a:p>
            <a:r>
              <a:t>"Temporal reflects exploit maturity over time."</a:t>
            </a:r>
          </a:p>
          <a:p>
            <a:r>
              <a:t>"Environmental is where your target context matters."</a:t>
            </a:r>
          </a:p>
          <a:p>
            <a:r>
              <a:t>"High scores earn review priority, not blind execution."</a:t>
            </a:r>
          </a:p>
          <a:p/>
          <a:p>
            <a:r>
              <a:t>Show:</a:t>
            </a:r>
          </a:p>
          <a:p>
            <a:r>
              <a:t>Point at the three metric groups and the high band.</a:t>
            </a:r>
          </a:p>
          <a:p/>
          <a:p>
            <a:r>
              <a:t>Do:</a:t>
            </a:r>
          </a:p>
          <a:p>
            <a:r>
              <a:t>Ask: "When would you skip a 9.8?" Prompt for auth required, local-only, wrong version, noisy crash risk.</a:t>
            </a:r>
          </a:p>
          <a:p/>
          <a:p>
            <a:r>
              <a:t>Image Prompt:</a:t>
            </a:r>
          </a:p>
          <a:p>
            <a:r>
              <a:t>CVSS meter 0–10 with Base/Temporal/Environmental callouts; a "prioritize review" zone above 7.0.</a:t>
            </a:r>
          </a:p>
          <a:p/>
          <a:p>
            <a:r>
              <a:t>Ask (Q):</a:t>
            </a:r>
          </a:p>
          <a:p>
            <a:r>
              <a:t>When would you skip a 9.8?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"Vendor write-ups verify scope and sometimes preconditions."</a:t>
            </a:r>
          </a:p>
          <a:p>
            <a:r>
              <a:t>"They are slower to give full exploit code—but strong for version truth."</a:t>
            </a:r>
          </a:p>
          <a:p>
            <a:r>
              <a:t>"Corroborate community exploits against vendor affected lists."</a:t>
            </a:r>
          </a:p>
          <a:p>
            <a:r>
              <a:t>"If vendor says not affected, stop and re-check your banner."</a:t>
            </a:r>
          </a:p>
          <a:p/>
          <a:p>
            <a:r>
              <a:t>Show:</a:t>
            </a:r>
          </a:p>
          <a:p>
            <a:r>
              <a:t>Trace corroboration triangle.</a:t>
            </a:r>
          </a:p>
          <a:p/>
          <a:p>
            <a:r>
              <a:t>Do:</a:t>
            </a:r>
          </a:p>
          <a:p>
            <a:r>
              <a:t>Ask: "What would you trust first if ExploitDB and vendor disagree on affected versions?"</a:t>
            </a:r>
          </a:p>
          <a:p/>
          <a:p>
            <a:r>
              <a:t>Image Prompt:</a:t>
            </a:r>
          </a:p>
          <a:p>
            <a:r>
              <a:t>Triangle: Vendor bulletin, NVD record, ExploitDB entry—arrows labeled "corroborate."</a:t>
            </a:r>
          </a:p>
          <a:p/>
          <a:p>
            <a:r>
              <a:t>Ask (Q):</a:t>
            </a:r>
          </a:p>
          <a:p>
            <a:r>
              <a:t>What would you trust first if ExploitDB and vendor disagree on affected versions?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"Memorize the order."</a:t>
            </a:r>
          </a:p>
          <a:p>
            <a:r>
              <a:t>"Version first."</a:t>
            </a:r>
          </a:p>
          <a:p>
            <a:r>
              <a:t>"Database match second."</a:t>
            </a:r>
          </a:p>
          <a:p>
            <a:r>
              <a:t>"Exploitability third."</a:t>
            </a:r>
          </a:p>
          <a:p>
            <a:r>
              <a:t>"Suitability fourth—before you run anything."</a:t>
            </a:r>
          </a:p>
          <a:p>
            <a:r>
              <a:t>"Skipping to 'run module' is how you crash the wrong thing."</a:t>
            </a:r>
          </a:p>
          <a:p/>
          <a:p>
            <a:r>
              <a:t>Show:</a:t>
            </a:r>
          </a:p>
          <a:p>
            <a:r>
              <a:t>Tap each step in order.</a:t>
            </a:r>
          </a:p>
          <a:p/>
          <a:p>
            <a:r>
              <a:t>Do:</a:t>
            </a:r>
          </a:p>
          <a:p>
            <a:r>
              <a:t>Students recite the four steps to a partner in 20 seconds.</a:t>
            </a:r>
          </a:p>
          <a:p/>
          <a:p>
            <a:r>
              <a:t>Image Prompt:</a:t>
            </a:r>
          </a:p>
          <a:p>
            <a:r>
              <a:t>Numbered four-step flowchart with icons: banner, database, score/requirements, suitability gauges.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"Blue-space advantage is controlled testing."</a:t>
            </a:r>
          </a:p>
          <a:p>
            <a:r>
              <a:t>"Prove crash versus shell in the lab."</a:t>
            </a:r>
          </a:p>
          <a:p>
            <a:r>
              <a:t>"Prove options and callbacks before live employment."</a:t>
            </a:r>
          </a:p>
          <a:p>
            <a:r>
              <a:t>"If it only works once by luck, it is not ready."</a:t>
            </a:r>
          </a:p>
          <a:p/>
          <a:p>
            <a:r>
              <a:t>Show:</a:t>
            </a:r>
          </a:p>
          <a:p>
            <a:r>
              <a:t>Point at the gate between lab and live.</a:t>
            </a:r>
          </a:p>
          <a:p/>
          <a:p>
            <a:r>
              <a:t>Do:</a:t>
            </a:r>
          </a:p>
          <a:p>
            <a:r>
              <a:t>Tie forward: Searchsploit judgment and Metasploit keyboard practice are the proving ground for this lecture.</a:t>
            </a:r>
          </a:p>
          <a:p/>
          <a:p>
            <a:r>
              <a:t>Image Prompt:</a:t>
            </a:r>
          </a:p>
          <a:p>
            <a:r>
              <a:t>Two environments: Lab (green) with exploit test; Live adversary target (amber) with a gate labeled "only after lab proof."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"Exploitability is requirements."</a:t>
            </a:r>
          </a:p>
          <a:p>
            <a:r>
              <a:t>"Impact is what breaks for the adversary."</a:t>
            </a:r>
          </a:p>
          <a:p>
            <a:r>
              <a:t>"For initial access, remote and unauthenticated usually wins the first pass."</a:t>
            </a:r>
          </a:p>
          <a:p>
            <a:r>
              <a:t>"A local privilege bug may be useless until you already have a session."</a:t>
            </a:r>
          </a:p>
          <a:p>
            <a:r>
              <a:t>"Match impact language to mission: access, disrupt, deny—not 'pwned.'"</a:t>
            </a:r>
          </a:p>
          <a:p/>
          <a:p>
            <a:r>
              <a:t>Show:</a:t>
            </a:r>
          </a:p>
          <a:p>
            <a:r>
              <a:t>Highlight the preferred matrix cell; note exceptions.</a:t>
            </a:r>
          </a:p>
          <a:p/>
          <a:p>
            <a:r>
              <a:t>Do:</a:t>
            </a:r>
          </a:p>
          <a:p>
            <a:r>
              <a:t>Give a local-only CVE and ask whether it belongs in the initial-access shortlist.</a:t>
            </a:r>
          </a:p>
          <a:p/>
          <a:p>
            <a:r>
              <a:t>Image Prompt:</a:t>
            </a:r>
          </a:p>
          <a:p>
            <a:r>
              <a:t>2x2 matrix: Remote/Local vs Auth/No-auth; preferred cell highlighted "remote + unauthenticated."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 candidate CVE is a lead; this block is about finding and vetting the code or framework that might apply."</a:t>
            </a:r>
          </a:p>
          <a:p/>
          <a:p>
            <a:r>
              <a:t>Show:</a:t>
            </a:r>
          </a:p>
          <a:p>
            <a:r>
              <a:t>Hold on the source icons, then advance.</a:t>
            </a:r>
          </a:p>
          <a:p/>
          <a:p>
            <a:r>
              <a:t>Do:</a:t>
            </a:r>
          </a:p>
          <a:p>
            <a:r>
              <a:t>Ask students to name one source they would use after checking a vendor advisory.</a:t>
            </a:r>
          </a:p>
          <a:p/>
          <a:p>
            <a:r>
              <a:t>Image Prompt:</a:t>
            </a:r>
          </a:p>
          <a:p>
            <a:r>
              <a:t>Title-only transition slide. "Open-Source Exploit Ecosystem" above icons for ExploitDB, GitHub, Packet Storm, blogs, vendor PoCs, and Metasploit. No bullets or label text.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"You already used version evidence to find CVE candidates; ExploitDB is often the first place to look for public code tied to those findings."</a:t>
            </a:r>
          </a:p>
          <a:p>
            <a:r>
              <a:t>"Search with the product and version you observed—not a vague product name alone."</a:t>
            </a:r>
          </a:p>
          <a:p>
            <a:r>
              <a:t>"Read platform and exploit type before you copy anything."</a:t>
            </a:r>
          </a:p>
          <a:p>
            <a:r>
              <a:t>"A hit is a candidate. Lab validation still decides employment."</a:t>
            </a:r>
          </a:p>
          <a:p/>
          <a:p>
            <a:r>
              <a:t>Show:</a:t>
            </a:r>
          </a:p>
          <a:p>
            <a:r>
              <a:t>Point from the recon version string into the highlighted result row.</a:t>
            </a:r>
          </a:p>
          <a:p/>
          <a:p>
            <a:r>
              <a:t>Do:</a:t>
            </a:r>
          </a:p>
          <a:p>
            <a:r>
              <a:t>Ask: "If ExploitDB and the vendor advisory disagree on affected versions, which do you trust first?"</a:t>
            </a:r>
          </a:p>
          <a:p/>
          <a:p>
            <a:r>
              <a:t>Image Prompt:</a:t>
            </a:r>
          </a:p>
          <a:p>
            <a:r>
              <a:t>ExploitDB search results panel seeded by a version string from recon; one row highlighted with EDB-ID, platform, and CVE cross-link.</a:t>
            </a:r>
          </a:p>
          <a:p/>
          <a:p>
            <a:r>
              <a:t>Ask (Q):</a:t>
            </a:r>
          </a:p>
          <a:p>
            <a:r>
              <a:t>If ExploitDB and the vendor advisory disagree on affected versions, which do you trust first?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"GitHub is fast and uneven."</a:t>
            </a:r>
          </a:p>
          <a:p>
            <a:r>
              <a:t>"Great for recent PoCs and variants."</a:t>
            </a:r>
          </a:p>
          <a:p>
            <a:r>
              <a:t>"Stars help triage; they do not certify safety or correctness."</a:t>
            </a:r>
          </a:p>
          <a:p>
            <a:r>
              <a:t>"Always read the code before you run it."</a:t>
            </a:r>
          </a:p>
          <a:p/>
          <a:p>
            <a:r>
              <a:t>Show:</a:t>
            </a:r>
          </a:p>
          <a:p>
            <a:r>
              <a:t>Point at stars/forks/last update fields.</a:t>
            </a:r>
          </a:p>
          <a:p/>
          <a:p>
            <a:r>
              <a:t>Do:</a:t>
            </a:r>
          </a:p>
          <a:p>
            <a:r>
              <a:t>Ask: "What would make you reject a high-star repo immediately?"</a:t>
            </a:r>
          </a:p>
          <a:p/>
          <a:p>
            <a:r>
              <a:t>Image Prompt:</a:t>
            </a:r>
          </a:p>
          <a:p>
            <a:r>
              <a:t>GitHub search bar with CVE exploit query; repo card showing stars, forks, last update.</a:t>
            </a:r>
          </a:p>
          <a:p/>
          <a:p>
            <a:r>
              <a:t>Ask (Q):</a:t>
            </a:r>
          </a:p>
          <a:p>
            <a:r>
              <a:t>What would make you reject a high-star repo immediately?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"Packet Storm is a secondary shelf."</a:t>
            </a:r>
          </a:p>
          <a:p>
            <a:r>
              <a:t>"Useful when ExploitDB is thin on a new issue."</a:t>
            </a:r>
          </a:p>
          <a:p>
            <a:r>
              <a:t>"Pre-CVE content can be noisy—verify against your version evidence."</a:t>
            </a:r>
          </a:p>
          <a:p/>
          <a:p>
            <a:r>
              <a:t>Show:</a:t>
            </a:r>
          </a:p>
          <a:p>
            <a:r>
              <a:t>Emphasize supplement badge.</a:t>
            </a:r>
          </a:p>
          <a:p/>
          <a:p>
            <a:r>
              <a:t>Do:</a:t>
            </a:r>
          </a:p>
          <a:p>
            <a:r>
              <a:t>Note: course labs primarily use Searchsploit/MSF; Packet Storm is awareness.</a:t>
            </a:r>
          </a:p>
          <a:p/>
          <a:p>
            <a:r>
              <a:t>Image Prompt:</a:t>
            </a:r>
          </a:p>
          <a:p>
            <a:r>
              <a:t>Secondary shelf labeled Packet Storm beside ExploitDB; badge "supplement, not replace."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"Write-ups teach adaptation."</a:t>
            </a:r>
          </a:p>
          <a:p>
            <a:r>
              <a:t>"You want preconditions and failure modes, not hype."</a:t>
            </a:r>
          </a:p>
          <a:p>
            <a:r>
              <a:t>"Chaining ideas matter when one CVE is not enough."</a:t>
            </a:r>
          </a:p>
          <a:p>
            <a:r>
              <a:t>"Translate blog steps into your own checklist."</a:t>
            </a:r>
          </a:p>
          <a:p/>
          <a:p>
            <a:r>
              <a:t>Show:</a:t>
            </a:r>
          </a:p>
          <a:p>
            <a:r>
              <a:t>Highlight Preconditions / Payload / Pitfalls.</a:t>
            </a:r>
          </a:p>
          <a:p/>
          <a:p>
            <a:r>
              <a:t>Do:</a:t>
            </a:r>
          </a:p>
          <a:p>
            <a:r>
              <a:t>Ask students what pitfall they would record from a write-up before testing.</a:t>
            </a:r>
          </a:p>
          <a:p/>
          <a:p>
            <a:r>
              <a:t>Image Prompt:</a:t>
            </a:r>
          </a:p>
          <a:p>
            <a:r>
              <a:t>Blog post mock with highlighted sections: Preconditions, Payload, Pitfalls.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"Vendor PoCs are usually cleaner and narrower."</a:t>
            </a:r>
          </a:p>
          <a:p>
            <a:r>
              <a:t>"They prove the bug more than they deliver a full kit."</a:t>
            </a:r>
          </a:p>
          <a:p>
            <a:r>
              <a:t>"Expect to extend payloads and options."</a:t>
            </a:r>
          </a:p>
          <a:p>
            <a:r>
              <a:t>"Lab validation still required."</a:t>
            </a:r>
          </a:p>
          <a:p/>
          <a:p>
            <a:r>
              <a:t>Show:</a:t>
            </a:r>
          </a:p>
          <a:p>
            <a:r>
              <a:t>Show small PoC → adapted path.</a:t>
            </a:r>
          </a:p>
          <a:p/>
          <a:p>
            <a:r>
              <a:t>Do:</a:t>
            </a:r>
          </a:p>
          <a:p>
            <a:r>
              <a:t>Contrast: vendor PoC vs random GitHub one-liner—what differs in trust?</a:t>
            </a:r>
          </a:p>
          <a:p/>
          <a:p>
            <a:r>
              <a:t>Image Prompt:</a:t>
            </a:r>
          </a:p>
          <a:p>
            <a:r>
              <a:t>Vendor PoC (small) growing into "adapted operator exploit" via lab wrench icon.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"Public ready-to-run code is fast."</a:t>
            </a:r>
          </a:p>
          <a:p>
            <a:r>
              <a:t>"It is also well known to defenders and vendors."</a:t>
            </a:r>
          </a:p>
          <a:p>
            <a:r>
              <a:t>"Use when speed beats novelty and you accept signature risk."</a:t>
            </a:r>
          </a:p>
          <a:p>
            <a:r>
              <a:t>"Still read it—malware in 'exploit' wrappers exists."</a:t>
            </a:r>
          </a:p>
          <a:p/>
          <a:p>
            <a:r>
              <a:t>Show:</a:t>
            </a:r>
          </a:p>
          <a:p>
            <a:r>
              <a:t>Balance speed vs detection.</a:t>
            </a:r>
          </a:p>
          <a:p/>
          <a:p>
            <a:r>
              <a:t>Do:</a:t>
            </a:r>
          </a:p>
          <a:p>
            <a:r>
              <a:t>Ask when they would choose a quieter modified PoC instead.</a:t>
            </a:r>
          </a:p>
          <a:p/>
          <a:p>
            <a:r>
              <a:t>Image Prompt:</a:t>
            </a:r>
          </a:p>
          <a:p>
            <a:r>
              <a:t>Speedometer on "fast" with a detection radar warning icon.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"Many 'exploits' only prove a crash."</a:t>
            </a:r>
          </a:p>
          <a:p>
            <a:r>
              <a:t>"Your job is to adapt toward the intended effect."</a:t>
            </a:r>
          </a:p>
          <a:p>
            <a:r>
              <a:t>"Match OS, arch, paths, and callback addresses."</a:t>
            </a:r>
          </a:p>
          <a:p>
            <a:r>
              <a:t>"If you cannot explain the change, do not run it live."</a:t>
            </a:r>
          </a:p>
          <a:p/>
          <a:p>
            <a:r>
              <a:t>Show:</a:t>
            </a:r>
          </a:p>
          <a:p>
            <a:r>
              <a:t>Point at the fields that usually need edits.</a:t>
            </a:r>
          </a:p>
          <a:p/>
          <a:p>
            <a:r>
              <a:t>Do:</a:t>
            </a:r>
          </a:p>
          <a:p>
            <a:r>
              <a:t>Preview keyboard practice: inspect script variables before execution.</a:t>
            </a:r>
          </a:p>
          <a:p/>
          <a:p>
            <a:r>
              <a:t>Image Prompt:</a:t>
            </a:r>
          </a:p>
          <a:p>
            <a:r>
              <a:t>Before/after code snippet: "crash PoC" → "payload-adapted exploit" with fields for LHOST/RHOST/version.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"Metasploit packages a large share of public exploit work into modules."</a:t>
            </a:r>
          </a:p>
          <a:p>
            <a:r>
              <a:t>"Console is the operator interface."</a:t>
            </a:r>
          </a:p>
          <a:p>
            <a:r>
              <a:t>"Modules are the weapons; payloads are what you deliver; auxiliaries help enum/check."</a:t>
            </a:r>
          </a:p>
          <a:p>
            <a:r>
              <a:t>"It speeds disciplined testing—it does not remove suitability judgment."</a:t>
            </a:r>
          </a:p>
          <a:p/>
          <a:p>
            <a:r>
              <a:t>Show:</a:t>
            </a:r>
          </a:p>
          <a:p>
            <a:r>
              <a:t>Walk console → modules → sessions.</a:t>
            </a:r>
          </a:p>
          <a:p/>
          <a:p>
            <a:r>
              <a:t>Do:</a:t>
            </a:r>
          </a:p>
          <a:p>
            <a:r>
              <a:t>Point ahead to Metasploit as the hands-on proving ground for these families.</a:t>
            </a:r>
          </a:p>
          <a:p/>
          <a:p>
            <a:r>
              <a:t>Image Prompt:</a:t>
            </a:r>
          </a:p>
          <a:p>
            <a:r>
              <a:t>MSF architecture sketch: Console → Modules (exploit/payload/auxiliary) → Sessions DB.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"Strength is integration and speed."</a:t>
            </a:r>
          </a:p>
          <a:p>
            <a:r>
              <a:t>"Your recon notes become module options."</a:t>
            </a:r>
          </a:p>
          <a:p>
            <a:r>
              <a:t>"Wrong LHOST still fails the best module."</a:t>
            </a:r>
          </a:p>
          <a:p>
            <a:r>
              <a:t>"Version mismatch still fails EternalBlue-class paths."</a:t>
            </a:r>
          </a:p>
          <a:p/>
          <a:p>
            <a:r>
              <a:t>Show:</a:t>
            </a:r>
          </a:p>
          <a:p>
            <a:r>
              <a:t>Trace Nmap → set options.</a:t>
            </a:r>
          </a:p>
          <a:p/>
          <a:p>
            <a:r>
              <a:t>Do:</a:t>
            </a:r>
          </a:p>
          <a:p>
            <a:r>
              <a:t>Ask: "What is your callback interface on Academy VPN?" (expect tun0 / lab-specific)</a:t>
            </a:r>
          </a:p>
          <a:p/>
          <a:p>
            <a:r>
              <a:t>Image Prompt:</a:t>
            </a:r>
          </a:p>
          <a:p>
            <a:r>
              <a:t>Arrow from Nmap `-sV` output into MSF `set RHOSTS` / `set` options panel.</a:t>
            </a:r>
          </a:p>
          <a:p/>
          <a:p>
            <a:r>
              <a:t>Ask (Q):</a:t>
            </a:r>
          </a:p>
          <a:p>
            <a:r>
              <a:t>What is your callback interface on Academy VPN?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"You will touch all four families in later Metasploit practice."</a:t>
            </a:r>
          </a:p>
          <a:p>
            <a:r>
              <a:t>"Exploits get you in."</a:t>
            </a:r>
          </a:p>
          <a:p>
            <a:r>
              <a:t>"Payloads define the session you catch."</a:t>
            </a:r>
          </a:p>
          <a:p>
            <a:r>
              <a:t>"Auxiliaries verify before you burn an exploit."</a:t>
            </a:r>
          </a:p>
          <a:p>
            <a:r>
              <a:t>"Resource scripts save time on repeat targets."</a:t>
            </a:r>
          </a:p>
          <a:p/>
          <a:p>
            <a:r>
              <a:t>Show:</a:t>
            </a:r>
          </a:p>
          <a:p>
            <a:r>
              <a:t>Tap each tile.</a:t>
            </a:r>
          </a:p>
          <a:p/>
          <a:p>
            <a:r>
              <a:t>Do:</a:t>
            </a:r>
          </a:p>
          <a:p>
            <a:r>
              <a:t>Tell students to note one example module name during the next lab for their journal.</a:t>
            </a:r>
          </a:p>
          <a:p/>
          <a:p>
            <a:r>
              <a:t>Image Prompt:</a:t>
            </a:r>
          </a:p>
          <a:p>
            <a:r>
              <a:t>Four tiles: Exploits, Payloads, Auxiliaries, Resource scripts—with one example under each.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"Six verbs: launch, search, use, set, exploit, verify session."</a:t>
            </a:r>
          </a:p>
          <a:p>
            <a:r>
              <a:t>"Search before use."</a:t>
            </a:r>
          </a:p>
          <a:p>
            <a:r>
              <a:t>"Set both remote and callback addresses deliberately."</a:t>
            </a:r>
          </a:p>
          <a:p>
            <a:r>
              <a:t>"Read errors—most failures are options, not 'MSF is broken.'"</a:t>
            </a:r>
          </a:p>
          <a:p/>
          <a:p>
            <a:r>
              <a:t>Show:</a:t>
            </a:r>
          </a:p>
          <a:p>
            <a:r>
              <a:t>Walk the checklist without rushing.</a:t>
            </a:r>
          </a:p>
          <a:p/>
          <a:p>
            <a:r>
              <a:t>Do:</a:t>
            </a:r>
          </a:p>
          <a:p>
            <a:r>
              <a:t>Students write the six steps in order from memory; spot-check two notebooks.</a:t>
            </a:r>
          </a:p>
          <a:p/>
          <a:p>
            <a:r>
              <a:t>Image Prompt:</a:t>
            </a:r>
          </a:p>
          <a:p>
            <a:r>
              <a:t>Vertical CLI checklist of the six workflow steps with example commands beside each.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"We are not writing 0-days in this block."</a:t>
            </a:r>
          </a:p>
          <a:p>
            <a:r>
              <a:t>"Master navigation, vetting, and adaptation first."</a:t>
            </a:r>
          </a:p>
          <a:p>
            <a:r>
              <a:t>"Custom development is a different skill pipeline."</a:t>
            </a:r>
          </a:p>
          <a:p>
            <a:r>
              <a:t>"If a public path does not exist, escalate that finding—do not invent unsafe code under time pressure."</a:t>
            </a:r>
          </a:p>
          <a:p/>
          <a:p>
            <a:r>
              <a:t>Show:</a:t>
            </a:r>
          </a:p>
          <a:p>
            <a:r>
              <a:t>Point at the closed door vs main hallway.</a:t>
            </a:r>
          </a:p>
          <a:p/>
          <a:p>
            <a:r>
              <a:t>Do:</a:t>
            </a:r>
          </a:p>
          <a:p>
            <a:r>
              <a:t>Ask for a thumbs-up that scope is clear before continuing.</a:t>
            </a:r>
          </a:p>
          <a:p/>
          <a:p>
            <a:r>
              <a:t>Image Prompt:</a:t>
            </a:r>
          </a:p>
          <a:p>
            <a:r>
              <a:t>Door labeled "Custom exploit dev" marked "Later"; main hallway labeled "Reuse / adapt open-source."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"Reliability is repeatability."</a:t>
            </a:r>
          </a:p>
          <a:p>
            <a:r>
              <a:t>"One lucky shell is not a plan."</a:t>
            </a:r>
          </a:p>
          <a:p>
            <a:r>
              <a:t>"Read the docs and issues for known failure cases."</a:t>
            </a:r>
          </a:p>
          <a:p>
            <a:r>
              <a:t>"Lab rate informs live confidence."</a:t>
            </a:r>
          </a:p>
          <a:p/>
          <a:p>
            <a:r>
              <a:t>Show:</a:t>
            </a:r>
          </a:p>
          <a:p>
            <a:r>
              <a:t>Tick the checklist.</a:t>
            </a:r>
          </a:p>
          <a:p/>
          <a:p>
            <a:r>
              <a:t>Do:</a:t>
            </a:r>
          </a:p>
          <a:p>
            <a:r>
              <a:t>Ask what evidence would convince them an exploit is reliable enough for their COA.</a:t>
            </a:r>
          </a:p>
          <a:p/>
          <a:p>
            <a:r>
              <a:t>Image Prompt:</a:t>
            </a:r>
          </a:p>
          <a:p>
            <a:r>
              <a:t>Checklist: version matrix, community reports, lab success rate, "predictable effect" stamp.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"Stability is about side effects."</a:t>
            </a:r>
          </a:p>
          <a:p>
            <a:r>
              <a:t>"A crash can alert defenders and destroy access opportunities."</a:t>
            </a:r>
          </a:p>
          <a:p>
            <a:r>
              <a:t>"If the tasked effect is disrupt/deny via outage, say so explicitly."</a:t>
            </a:r>
          </a:p>
          <a:p>
            <a:r>
              <a:t>"Otherwise, treat crash as failure."</a:t>
            </a:r>
          </a:p>
          <a:p/>
          <a:p>
            <a:r>
              <a:t>Show:</a:t>
            </a:r>
          </a:p>
          <a:p>
            <a:r>
              <a:t>Contrast session vs crash outcomes.</a:t>
            </a:r>
          </a:p>
          <a:p/>
          <a:p>
            <a:r>
              <a:t>Do:</a:t>
            </a:r>
          </a:p>
          <a:p>
            <a:r>
              <a:t>Pose: "Mission needs a shell for follow-on. Is a crash PoC suitable?" Expect no.</a:t>
            </a:r>
          </a:p>
          <a:p/>
          <a:p>
            <a:r>
              <a:t>Image Prompt:</a:t>
            </a:r>
          </a:p>
          <a:p>
            <a:r>
              <a:t>Forked outcomes from one exploit: Session (green) vs Crash/DoS (red) with question "intended?"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"Every exploit has homework."</a:t>
            </a:r>
          </a:p>
          <a:p>
            <a:r>
              <a:t>"If the module needs a file path, prove the path."</a:t>
            </a:r>
          </a:p>
          <a:p>
            <a:r>
              <a:t>"If it needs auth, prove creds."</a:t>
            </a:r>
          </a:p>
          <a:p>
            <a:r>
              <a:t>"Recon either satisfies requirements or the candidate is parked."</a:t>
            </a:r>
          </a:p>
          <a:p/>
          <a:p>
            <a:r>
              <a:t>Show:</a:t>
            </a:r>
          </a:p>
          <a:p>
            <a:r>
              <a:t>Match each requirement to a recon artifact.</a:t>
            </a:r>
          </a:p>
          <a:p/>
          <a:p>
            <a:r>
              <a:t>Do:</a:t>
            </a:r>
          </a:p>
          <a:p>
            <a:r>
              <a:t>Give a fake module requiring SMB + guest access; ask what enum proves guest.</a:t>
            </a:r>
          </a:p>
          <a:p/>
          <a:p>
            <a:r>
              <a:t>Image Prompt:</a:t>
            </a:r>
          </a:p>
          <a:p>
            <a:r>
              <a:t>Requirements list with green checks and red X's mapped to recon notes (port open, path present, creds known).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"OPSEC is detectability under adversary eyes."</a:t>
            </a:r>
          </a:p>
          <a:p>
            <a:r>
              <a:t>"Default public exploits are loud."</a:t>
            </a:r>
          </a:p>
          <a:p>
            <a:r>
              <a:t>"Retries and wrong payloads create logs."</a:t>
            </a:r>
          </a:p>
          <a:p>
            <a:r>
              <a:t>"When stealth matters, modify and rehearse; when speed matters, accept noise consciously."</a:t>
            </a:r>
          </a:p>
          <a:p/>
          <a:p>
            <a:r>
              <a:t>Show:</a:t>
            </a:r>
          </a:p>
          <a:p>
            <a:r>
              <a:t>Walk noise meter and mitigations.</a:t>
            </a:r>
          </a:p>
          <a:p/>
          <a:p>
            <a:r>
              <a:t>Do:</a:t>
            </a:r>
          </a:p>
          <a:p>
            <a:r>
              <a:t>Ask which upcoming lab values learning speed over stealth (expect early HTB skill labs).</a:t>
            </a:r>
          </a:p>
          <a:p/>
          <a:p>
            <a:r>
              <a:t>Image Prompt:</a:t>
            </a:r>
          </a:p>
          <a:p>
            <a:r>
              <a:t>Noise meter beside an exploit; mitigations listed: modify signatures, limit retries, match expected paths.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the detailed Searchsploit workflow; earlier vulnerability research established the evidence that supplies its query terms."</a:t>
            </a:r>
          </a:p>
          <a:p>
            <a:r>
              <a:t>"Basics you will type repeatedly."</a:t>
            </a:r>
          </a:p>
          <a:p>
            <a:r>
              <a:t>"Update when you can; search when you must."</a:t>
            </a:r>
          </a:p>
          <a:p>
            <a:r>
              <a:t>"Add platform to cut noise."</a:t>
            </a:r>
          </a:p>
          <a:p>
            <a:r>
              <a:t>"Copy the EDB-ID—you need it for examine/mirror commands."</a:t>
            </a:r>
          </a:p>
          <a:p/>
          <a:p>
            <a:r>
              <a:t>Show:</a:t>
            </a:r>
          </a:p>
          <a:p>
            <a:r>
              <a:t>Annotate each syntax token.</a:t>
            </a:r>
          </a:p>
          <a:p/>
          <a:p>
            <a:r>
              <a:t>Do:</a:t>
            </a:r>
          </a:p>
          <a:p>
            <a:r>
              <a:t>Students craft one Searchsploit line from their Nmap service.</a:t>
            </a:r>
          </a:p>
          <a:p/>
          <a:p>
            <a:r>
              <a:t>Image Prompt:</a:t>
            </a:r>
          </a:p>
          <a:p>
            <a:r>
              <a:t>Terminal with `searchsploit ssh 7.4 linux` and annotated syntax tokens: app, version, platform.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"Reading beats running."</a:t>
            </a:r>
          </a:p>
          <a:p>
            <a:r>
              <a:t>"Mirror the exploit into your working directory."</a:t>
            </a:r>
          </a:p>
          <a:p>
            <a:r>
              <a:t>"Open it; find the variables that must change."</a:t>
            </a:r>
          </a:p>
          <a:p>
            <a:r>
              <a:t>"Flags can vary slightly by Searchsploit version—check `--help` once per image."</a:t>
            </a:r>
          </a:p>
          <a:p/>
          <a:p>
            <a:r>
              <a:t>Show:</a:t>
            </a:r>
          </a:p>
          <a:p>
            <a:r>
              <a:t>Walk search → copy → edit.</a:t>
            </a:r>
          </a:p>
          <a:p/>
          <a:p>
            <a:r>
              <a:t>Do:</a:t>
            </a:r>
          </a:p>
          <a:p>
            <a:r>
              <a:t>In lab: require a pre-execution `head`/`less` of the script before any run.</a:t>
            </a:r>
          </a:p>
          <a:p/>
          <a:p>
            <a:r>
              <a:t>Image Prompt:</a:t>
            </a:r>
          </a:p>
          <a:p>
            <a:r>
              <a:t>Three-step strip: Search results → `-m` copy → local edit/test.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"Search like an analyst."</a:t>
            </a:r>
          </a:p>
          <a:p>
            <a:r>
              <a:t>"CVE ID queries are precise; service PoC queries are broader."</a:t>
            </a:r>
          </a:p>
          <a:p>
            <a:r>
              <a:t>"Language filters help when you must maintain the code."</a:t>
            </a:r>
          </a:p>
          <a:p>
            <a:r>
              <a:t>"Record the query for reproducibility."</a:t>
            </a:r>
          </a:p>
          <a:p/>
          <a:p>
            <a:r>
              <a:t>Show:</a:t>
            </a:r>
          </a:p>
          <a:p>
            <a:r>
              <a:t>Show example queries.</a:t>
            </a:r>
          </a:p>
          <a:p/>
          <a:p>
            <a:r>
              <a:t>Do:</a:t>
            </a:r>
          </a:p>
          <a:p>
            <a:r>
              <a:t>Pair students: one writes a CVE query, one writes a service PoC query.</a:t>
            </a:r>
          </a:p>
          <a:p/>
          <a:p>
            <a:r>
              <a:t>Image Prompt:</a:t>
            </a:r>
          </a:p>
          <a:p>
            <a:r>
              <a:t>GitHub filter panel with Language and Stars; query examples listed.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"Quality check is mandatory."</a:t>
            </a:r>
          </a:p>
          <a:p>
            <a:r>
              <a:t>"Dead repos with bold README claims are common."</a:t>
            </a:r>
          </a:p>
          <a:p>
            <a:r>
              <a:t>"Issues often tell you it only works on one build."</a:t>
            </a:r>
          </a:p>
          <a:p>
            <a:r>
              <a:t>"SI can accelerate searches and summarize leads, but it is not evidence."</a:t>
            </a:r>
          </a:p>
          <a:p>
            <a:r>
              <a:t>"Verify every SI-sourced lead against primary sources, observed version evidence, and the code you reviewed."</a:t>
            </a:r>
          </a:p>
          <a:p>
            <a:r>
              <a:t>"If NVD says not vulnerable, the README does not override reality."</a:t>
            </a:r>
          </a:p>
          <a:p/>
          <a:p>
            <a:r>
              <a:t>Show:</a:t>
            </a:r>
          </a:p>
          <a:p>
            <a:r>
              <a:t>Walk the scorecard.</a:t>
            </a:r>
          </a:p>
          <a:p/>
          <a:p>
            <a:r>
              <a:t>Do:</a:t>
            </a:r>
          </a:p>
          <a:p>
            <a:r>
              <a:t>Show a hypothetical README claiming universal RCE; ask what they verify first.</a:t>
            </a:r>
          </a:p>
          <a:p/>
          <a:p>
            <a:r>
              <a:t>Image Prompt:</a:t>
            </a:r>
          </a:p>
          <a:p>
            <a:r>
              <a:t>Quality scorecard with pass/fail rows for freshness, issues, version match, code readability, and SI-lead verification.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"Clone is the start, not the finish."</a:t>
            </a:r>
          </a:p>
          <a:p>
            <a:r>
              <a:t>"Edit for your address plan and version."</a:t>
            </a:r>
          </a:p>
          <a:p>
            <a:r>
              <a:t>"Lab test is the go/no-go gate."</a:t>
            </a:r>
          </a:p>
          <a:p>
            <a:r>
              <a:t>"No silent live first-tries with untrusted code."</a:t>
            </a:r>
          </a:p>
          <a:p/>
          <a:p>
            <a:r>
              <a:t>Show:</a:t>
            </a:r>
          </a:p>
          <a:p>
            <a:r>
              <a:t>Walk the four chevrons.</a:t>
            </a:r>
          </a:p>
          <a:p/>
          <a:p>
            <a:r>
              <a:t>Do:</a:t>
            </a:r>
          </a:p>
          <a:p>
            <a:r>
              <a:t>Ask what single parameter mistake most often breaks reverse shells (LHOST/callback).</a:t>
            </a:r>
          </a:p>
          <a:p>
            <a:r>
              <a:t>Ask: "Name three things you would read in a cloned PoC before any execution." Drive toward: target OS assumptions, required ports, and whether recon actually shows that service/version.</a:t>
            </a:r>
          </a:p>
          <a:p/>
          <a:p>
            <a:r>
              <a:t>Image Prompt:</a:t>
            </a:r>
          </a:p>
          <a:p>
            <a:r>
              <a:t>Four chevrons: Clone → Modify → Lab test → Employ.</a:t>
            </a:r>
          </a:p>
          <a:p/>
          <a:p>
            <a:r>
              <a:t>Ask (Q):</a:t>
            </a:r>
          </a:p>
          <a:p>
            <a:r>
              <a:t>Name three things you would read in a cloned PoC before any execution.</a:t>
            </a:r>
          </a:p>
          <a:p/>
          <a:p>
            <a:r>
              <a:t>Expected Response (A):</a:t>
            </a:r>
          </a:p>
          <a:p>
            <a:r>
              <a:t>target OS assumptions, required ports, and whether recon actually shows that service/version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"Research becomes operational only when it maps to an access technique that the evidence supports."</a:t>
            </a:r>
          </a:p>
          <a:p/>
          <a:p>
            <a:r>
              <a:t>Show:</a:t>
            </a:r>
          </a:p>
          <a:p>
            <a:r>
              <a:t>Hold on the TA0001 visual, then advance.</a:t>
            </a:r>
          </a:p>
          <a:p/>
          <a:p>
            <a:r>
              <a:t>Do:</a:t>
            </a:r>
          </a:p>
          <a:p>
            <a:r>
              <a:t>Have students keep one candidate in mind to map during this block.</a:t>
            </a:r>
          </a:p>
          <a:p/>
          <a:p>
            <a:r>
              <a:t>Image Prompt:</a:t>
            </a:r>
          </a:p>
          <a:p>
            <a:r>
              <a:t>Title-only transition slide. "Initial Access Techniques" with a TA0001 shield and technique IDs T1190, T1133, T1078, and T1534. No bullets or label text.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"Initial Access is the tactic."</a:t>
            </a:r>
          </a:p>
          <a:p>
            <a:r>
              <a:t>"Techniques are how you enter."</a:t>
            </a:r>
          </a:p>
          <a:p>
            <a:r>
              <a:t>"Your research narrows which technique is honest."</a:t>
            </a:r>
          </a:p>
          <a:p>
            <a:r>
              <a:t>"Prefer paths that match how you already reach the target."</a:t>
            </a:r>
          </a:p>
          <a:p/>
          <a:p>
            <a:r>
              <a:t>Show:</a:t>
            </a:r>
          </a:p>
          <a:p>
            <a:r>
              <a:t>Sweep the technique icons.</a:t>
            </a:r>
          </a:p>
          <a:p/>
          <a:p>
            <a:r>
              <a:t>Do:</a:t>
            </a:r>
          </a:p>
          <a:p>
            <a:r>
              <a:t>Ask for a one-sentence definition of Initial Access in operator language.</a:t>
            </a:r>
          </a:p>
          <a:p/>
          <a:p>
            <a:r>
              <a:t>Image Prompt:</a:t>
            </a:r>
          </a:p>
          <a:p>
            <a:r>
              <a:t>TA0001 banner with subtitle "Research-enabled entry" and icons for web, remote services, accounts, lure-based paths.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"T1190 is your default when a public app is exposed."</a:t>
            </a:r>
          </a:p>
          <a:p>
            <a:r>
              <a:t>"SQLi and RCE are common shapes—later access practice will use several."</a:t>
            </a:r>
          </a:p>
          <a:p>
            <a:r>
              <a:t>"Version-matched CVEs make this technique concrete."</a:t>
            </a:r>
          </a:p>
          <a:p>
            <a:r>
              <a:t>"Foothold is the start; effects come after."</a:t>
            </a:r>
          </a:p>
          <a:p/>
          <a:p>
            <a:r>
              <a:t>Show:</a:t>
            </a:r>
          </a:p>
          <a:p>
            <a:r>
              <a:t>Trace public app → exploit → shell.</a:t>
            </a:r>
          </a:p>
          <a:p/>
          <a:p>
            <a:r>
              <a:t>Do:</a:t>
            </a:r>
          </a:p>
          <a:p>
            <a:r>
              <a:t>Ask which student ports from recon look T1190-shaped (80/443/app ports).</a:t>
            </a:r>
          </a:p>
          <a:p/>
          <a:p>
            <a:r>
              <a:t>Image Prompt:</a:t>
            </a:r>
          </a:p>
          <a:p>
            <a:r>
              <a:t>Public web app icon with exploit arrow into shell; label T1190; small "version-matched CVE" tag.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"Same technique, multiple actions."</a:t>
            </a:r>
          </a:p>
          <a:p>
            <a:r>
              <a:t>"MSF when a good module exists and fits policy/lab rules."</a:t>
            </a:r>
          </a:p>
          <a:p>
            <a:r>
              <a:t>"PoC when you need transparency or MSF is unavailable."</a:t>
            </a:r>
          </a:p>
          <a:p>
            <a:r>
              <a:t>"Plan the follow-on before you celebrate the shell."</a:t>
            </a:r>
          </a:p>
          <a:p/>
          <a:p>
            <a:r>
              <a:t>Show:</a:t>
            </a:r>
          </a:p>
          <a:p>
            <a:r>
              <a:t>Compare the two toolkit cards.</a:t>
            </a:r>
          </a:p>
          <a:p/>
          <a:p>
            <a:r>
              <a:t>Do:</a:t>
            </a:r>
          </a:p>
          <a:p>
            <a:r>
              <a:t>Tie to Metasploit and to manual Searchsploit judgment.</a:t>
            </a:r>
          </a:p>
          <a:p/>
          <a:p>
            <a:r>
              <a:t>Image Prompt:</a:t>
            </a:r>
          </a:p>
          <a:p>
            <a:r>
              <a:t>Toolkit choice: MSF module card vs PoC script card, both pointing to "foothold," then dashed arrow "follow-on."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"T1133 is remote administration surfaces."</a:t>
            </a:r>
          </a:p>
          <a:p>
            <a:r>
              <a:t>"Sometimes you exploit the service."</a:t>
            </a:r>
          </a:p>
          <a:p>
            <a:r>
              <a:t>"Sometimes you authenticate with discovered credentials."</a:t>
            </a:r>
          </a:p>
          <a:p>
            <a:r>
              <a:t>"Enum tells you which door is real and which path is viable."</a:t>
            </a:r>
          </a:p>
          <a:p/>
          <a:p>
            <a:r>
              <a:t>Show:</a:t>
            </a:r>
          </a:p>
          <a:p>
            <a:r>
              <a:t>Point at exploit vs credential keys on each door.</a:t>
            </a:r>
          </a:p>
          <a:p/>
          <a:p>
            <a:r>
              <a:t>Do:</a:t>
            </a:r>
          </a:p>
          <a:p>
            <a:r>
              <a:t>Ask: "From Nmap, what evidence pushes you to T1133 over T1190?"</a:t>
            </a:r>
          </a:p>
          <a:p/>
          <a:p>
            <a:r>
              <a:t>Image Prompt:</a:t>
            </a:r>
          </a:p>
          <a:p>
            <a:r>
              <a:t>Three service doors—VPN, RDP, SSH—each with dual keys labeled "exploit" and "credential."</a:t>
            </a:r>
          </a:p>
          <a:p/>
          <a:p>
            <a:r>
              <a:t>Ask (Q):</a:t>
            </a:r>
          </a:p>
          <a:p>
            <a:r>
              <a:t>From Nmap, what evidence pushes you to T1133 over T1190?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"Valid accounts skip a lot of exploit noise."</a:t>
            </a:r>
          </a:p>
          <a:p>
            <a:r>
              <a:t>"Build the user list from enum and hunt evidence."</a:t>
            </a:r>
          </a:p>
          <a:p>
            <a:r>
              <a:t>"Stuffing and spraying are different tempos—know which you are doing."</a:t>
            </a:r>
          </a:p>
          <a:p>
            <a:r>
              <a:t>"Validate carefully; lockouts are an OPSEC and stability issue."</a:t>
            </a:r>
          </a:p>
          <a:p/>
          <a:p>
            <a:r>
              <a:t>Show:</a:t>
            </a:r>
          </a:p>
          <a:p>
            <a:r>
              <a:t>Walk the funnel.</a:t>
            </a:r>
          </a:p>
          <a:p/>
          <a:p>
            <a:r>
              <a:t>Do:</a:t>
            </a:r>
          </a:p>
          <a:p>
            <a:r>
              <a:t>Ask where they already saw username discovery during recon.</a:t>
            </a:r>
          </a:p>
          <a:p/>
          <a:p>
            <a:r>
              <a:t>Image Prompt:</a:t>
            </a:r>
          </a:p>
          <a:p>
            <a:r>
              <a:t>Credential funnel: enum users + hunt IOCs + breach-style lists → stuffing/spraying → valid session.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"T1534 here is the reverse lure idea."</a:t>
            </a:r>
          </a:p>
          <a:p>
            <a:r>
              <a:t>"You place bait on terrain the adversary already steals from."</a:t>
            </a:r>
          </a:p>
          <a:p>
            <a:r>
              <a:t>"The lure must look like something worth taking."</a:t>
            </a:r>
          </a:p>
          <a:p>
            <a:r>
              <a:t>"This is planning-heavy and environment-dependent—not every mission uses it."</a:t>
            </a:r>
          </a:p>
          <a:p/>
          <a:p>
            <a:r>
              <a:t>Show:</a:t>
            </a:r>
          </a:p>
          <a:p>
            <a:r>
              <a:t>Trace adversary collection to the lure.</a:t>
            </a:r>
          </a:p>
          <a:p/>
          <a:p>
            <a:r>
              <a:t>Do:</a:t>
            </a:r>
          </a:p>
          <a:p>
            <a:r>
              <a:t>Ask what blue artifact an adversary might routinely collect in a hunt scenario.</a:t>
            </a:r>
          </a:p>
          <a:p/>
          <a:p>
            <a:r>
              <a:t>Image Prompt:</a:t>
            </a:r>
          </a:p>
          <a:p>
            <a:r>
              <a:t>Blue-space file share with a lure document; red adversary collector icon reaching for it; caption "collection expected."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"Value appears only if collection actually happens."</a:t>
            </a:r>
          </a:p>
          <a:p>
            <a:r>
              <a:t>"You need a monitor plan and a callback plan."</a:t>
            </a:r>
          </a:p>
          <a:p>
            <a:r>
              <a:t>"This is not 'spray phishing the internet'—it is terrain the adversary already touches."</a:t>
            </a:r>
          </a:p>
          <a:p>
            <a:r>
              <a:t>"Treat it as advanced sequencing relative to straight T1190."</a:t>
            </a:r>
          </a:p>
          <a:p/>
          <a:p>
            <a:r>
              <a:t>Show:</a:t>
            </a:r>
          </a:p>
          <a:p>
            <a:r>
              <a:t>Step through plant → collect → trigger → access.</a:t>
            </a:r>
          </a:p>
          <a:p/>
          <a:p>
            <a:r>
              <a:t>Do:</a:t>
            </a:r>
          </a:p>
          <a:p>
            <a:r>
              <a:t>Contrast speed: T1190 direct exploit vs T1534 waiting on adversary behavior.</a:t>
            </a:r>
          </a:p>
          <a:p/>
          <a:p>
            <a:r>
              <a:t>Image Prompt:</a:t>
            </a:r>
          </a:p>
          <a:p>
            <a:r>
              <a:t>Sequence: Plant lure → Adversary collects → Trigger/beacon → Access path back toward adversary tier.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"Selection is conditional."</a:t>
            </a:r>
          </a:p>
          <a:p>
            <a:r>
              <a:t>"Public app evidence points T1190."</a:t>
            </a:r>
          </a:p>
          <a:p>
            <a:r>
              <a:t>"Admin services point T1133."</a:t>
            </a:r>
          </a:p>
          <a:p>
            <a:r>
              <a:t>"Creds point T1078."</a:t>
            </a:r>
          </a:p>
          <a:p>
            <a:r>
              <a:t>"Expected collection points T1534."</a:t>
            </a:r>
          </a:p>
          <a:p>
            <a:r>
              <a:t>"Open-source research informs feasibility inside each row."</a:t>
            </a:r>
          </a:p>
          <a:p/>
          <a:p>
            <a:r>
              <a:t>Show:</a:t>
            </a:r>
          </a:p>
          <a:p>
            <a:r>
              <a:t>Walk the table row by row.</a:t>
            </a:r>
          </a:p>
          <a:p/>
          <a:p>
            <a:r>
              <a:t>Do:</a:t>
            </a:r>
          </a:p>
          <a:p>
            <a:r>
              <a:t>Give one scenario per row; students call the technique ID.</a:t>
            </a:r>
          </a:p>
          <a:p/>
          <a:p>
            <a:r>
              <a:t>Image Prompt:</a:t>
            </a:r>
          </a:p>
          <a:p>
            <a:r>
              <a:t>Decision table with technique rows and "use when" columns; a footer "recon + environment decide."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"T1190 execution still has operator choices."</a:t>
            </a:r>
          </a:p>
          <a:p>
            <a:r>
              <a:t>"Adaptation can reduce trivial signature hits."</a:t>
            </a:r>
          </a:p>
          <a:p>
            <a:r>
              <a:t>"RCE is the usual path to meaningful follow-on."</a:t>
            </a:r>
          </a:p>
          <a:p>
            <a:r>
              <a:t>"If you cannot state success criteria, you are not ready to launch."</a:t>
            </a:r>
          </a:p>
          <a:p/>
          <a:p>
            <a:r>
              <a:t>Show:</a:t>
            </a:r>
          </a:p>
          <a:p>
            <a:r>
              <a:t>Tick the checklist.</a:t>
            </a:r>
          </a:p>
          <a:p/>
          <a:p>
            <a:r>
              <a:t>Do:</a:t>
            </a:r>
          </a:p>
          <a:p>
            <a:r>
              <a:t>Students write one success criterion for a web RCE attempt.</a:t>
            </a:r>
          </a:p>
          <a:p/>
          <a:p>
            <a:r>
              <a:t>Image Prompt:</a:t>
            </a:r>
          </a:p>
          <a:p>
            <a:r>
              <a:t>T1190 ops checklist: PoC adaptation, RCE vs non-RCE, callback ready, success criteria defined.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"Each technique fails differently."</a:t>
            </a:r>
          </a:p>
          <a:p>
            <a:r>
              <a:t>"Remote services produce authentication and session logs."</a:t>
            </a:r>
          </a:p>
          <a:p>
            <a:r>
              <a:t>"Credential attacks produce lockouts and alerts."</a:t>
            </a:r>
          </a:p>
          <a:p>
            <a:r>
              <a:t>"Lures produce nothing until collection happens—patience and monitoring."</a:t>
            </a:r>
          </a:p>
          <a:p/>
          <a:p>
            <a:r>
              <a:t>Show:</a:t>
            </a:r>
          </a:p>
          <a:p>
            <a:r>
              <a:t>Point to each caution.</a:t>
            </a:r>
          </a:p>
          <a:p/>
          <a:p>
            <a:r>
              <a:t>Do:</a:t>
            </a:r>
          </a:p>
          <a:p>
            <a:r>
              <a:t>Ask which failure mode is hardest to recover from; discuss briefly.</a:t>
            </a:r>
          </a:p>
          <a:p/>
          <a:p>
            <a:r>
              <a:t>Image Prompt:</a:t>
            </a:r>
          </a:p>
          <a:p>
            <a:r>
              <a:t>Three mini-cards for T1133/T1078/T1534 with one primary caution each (logs, lockouts, trigger monitoring).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"Where you launch from changes outcomes."</a:t>
            </a:r>
          </a:p>
          <a:p>
            <a:r>
              <a:t>"Adversaries often expect and allow certain blue-origin patterns."</a:t>
            </a:r>
          </a:p>
          <a:p>
            <a:r>
              <a:t>"Unfamiliar sources get blocked or watched."</a:t>
            </a:r>
          </a:p>
          <a:p>
            <a:r>
              <a:t>"Blending is an advantage—not a free pass to be loud."</a:t>
            </a:r>
          </a:p>
          <a:p/>
          <a:p>
            <a:r>
              <a:t>Show:</a:t>
            </a:r>
          </a:p>
          <a:p>
            <a:r>
              <a:t>Compare rejected vs accepted paths.</a:t>
            </a:r>
          </a:p>
          <a:p/>
          <a:p>
            <a:r>
              <a:t>Do:</a:t>
            </a:r>
          </a:p>
          <a:p>
            <a:r>
              <a:t>Ask for an example of traffic an adversary C2 might already expect from victims.</a:t>
            </a:r>
          </a:p>
          <a:p/>
          <a:p>
            <a:r>
              <a:t>Image Prompt:</a:t>
            </a:r>
          </a:p>
          <a:p>
            <a:r>
              <a:t>Two source maps: "unfamiliar VPS" rejected; "expected blue-path traffic" accepted by adversary edge.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"Control means you can adapt mid-operation."</a:t>
            </a:r>
          </a:p>
          <a:p>
            <a:r>
              <a:t>"You see recon updates and change COAs."</a:t>
            </a:r>
          </a:p>
          <a:p>
            <a:r>
              <a:t>"Fewer external dependencies means fewer broken handoffs."</a:t>
            </a:r>
          </a:p>
          <a:p>
            <a:r>
              <a:t>"Effects stay reportable because you own the execution trail."</a:t>
            </a:r>
          </a:p>
          <a:p/>
          <a:p>
            <a:r>
              <a:t>Show:</a:t>
            </a:r>
          </a:p>
          <a:p>
            <a:r>
              <a:t>Walk the control loop.</a:t>
            </a:r>
          </a:p>
          <a:p/>
          <a:p>
            <a:r>
              <a:t>Do:</a:t>
            </a:r>
          </a:p>
          <a:p>
            <a:r>
              <a:t>Ask how lab logging mirrors this control advantage at small scale.</a:t>
            </a:r>
          </a:p>
          <a:p/>
          <a:p>
            <a:r>
              <a:t>Image Prompt:</a:t>
            </a:r>
          </a:p>
          <a:p>
            <a:r>
              <a:t>Control loop: Recon feed → Operator decision → Action → Observe → Adapt; labeled "blue-space control."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"Before employment, verify whether a candidate fits the target, task, and expected effect."</a:t>
            </a:r>
          </a:p>
          <a:p/>
          <a:p>
            <a:r>
              <a:t>Show:</a:t>
            </a:r>
          </a:p>
          <a:p>
            <a:r>
              <a:t>Hold on the suitability gauges, then advance.</a:t>
            </a:r>
          </a:p>
          <a:p/>
          <a:p>
            <a:r>
              <a:t>Do:</a:t>
            </a:r>
          </a:p>
          <a:p>
            <a:r>
              <a:t>Tell students to use these factors when they justify their lab selection.</a:t>
            </a:r>
          </a:p>
          <a:p/>
          <a:p>
            <a:r>
              <a:t>Image Prompt:</a:t>
            </a:r>
          </a:p>
          <a:p>
            <a:r>
              <a:t>Title-only transition slide. "Operational Suitability Assessment" with gauges for Likelihood, Stealth, Reliability, Risk, and Time plus a documentation icon. No bullets or label text.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"Likelihood starts with match quality."</a:t>
            </a:r>
          </a:p>
          <a:p>
            <a:r>
              <a:t>"Version and config alignment first."</a:t>
            </a:r>
          </a:p>
          <a:p>
            <a:r>
              <a:t>"Lab proof second."</a:t>
            </a:r>
          </a:p>
          <a:p>
            <a:r>
              <a:t>"Do not build the primary COA on a long shot."</a:t>
            </a:r>
          </a:p>
          <a:p/>
          <a:p>
            <a:r>
              <a:t>Show:</a:t>
            </a:r>
          </a:p>
          <a:p>
            <a:r>
              <a:t>Move the dial as matches align.</a:t>
            </a:r>
          </a:p>
          <a:p/>
          <a:p>
            <a:r>
              <a:t>Do:</a:t>
            </a:r>
          </a:p>
          <a:p>
            <a:r>
              <a:t>Give a mismatched version scenario; students call likelihood low and say why.</a:t>
            </a:r>
          </a:p>
          <a:p/>
          <a:p>
            <a:r>
              <a:t>Image Prompt:</a:t>
            </a:r>
          </a:p>
          <a:p>
            <a:r>
              <a:t>Overlay of recon facts onto exploit requirements with a likelihood dial moving high when matches align.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"Stealth is not always the top priority—but it is always assessed."</a:t>
            </a:r>
          </a:p>
          <a:p>
            <a:r>
              <a:t>"Name what will log you."</a:t>
            </a:r>
          </a:p>
          <a:p>
            <a:r>
              <a:t>"Name what you will do to reduce that."</a:t>
            </a:r>
          </a:p>
          <a:p>
            <a:r>
              <a:t>"If you choose noisy, own it in the plan."</a:t>
            </a:r>
          </a:p>
          <a:p/>
          <a:p>
            <a:r>
              <a:t>Show:</a:t>
            </a:r>
          </a:p>
          <a:p>
            <a:r>
              <a:t>Tip the scale both ways with example missions.</a:t>
            </a:r>
          </a:p>
          <a:p/>
          <a:p>
            <a:r>
              <a:t>Do:</a:t>
            </a:r>
          </a:p>
          <a:p>
            <a:r>
              <a:t>Two volunteers: one argues stealth COA, one argues speed COA, same target.</a:t>
            </a:r>
          </a:p>
          <a:p/>
          <a:p>
            <a:r>
              <a:t>Image Prompt:</a:t>
            </a:r>
          </a:p>
          <a:p>
            <a:r>
              <a:t>Balance scale: Stealth/persistence vs Speed/decisive effect; mitigation chips underneath.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"Reliability is statistical intuition plus evidence."</a:t>
            </a:r>
          </a:p>
          <a:p>
            <a:r>
              <a:t>"Community failure notes matter."</a:t>
            </a:r>
          </a:p>
          <a:p>
            <a:r>
              <a:t>"Comparable configs matter—do not borrow success from a different stack."</a:t>
            </a:r>
          </a:p>
          <a:p>
            <a:r>
              <a:t>"Primary COAs need boring, repeatable tools."</a:t>
            </a:r>
          </a:p>
          <a:p/>
          <a:p>
            <a:r>
              <a:t>Show:</a:t>
            </a:r>
          </a:p>
          <a:p>
            <a:r>
              <a:t>Point at repeated successes vs one-off spike.</a:t>
            </a:r>
          </a:p>
          <a:p/>
          <a:p>
            <a:r>
              <a:t>Do:</a:t>
            </a:r>
          </a:p>
          <a:p>
            <a:r>
              <a:t>Ask what lab evidence would raise confidence after a first success.</a:t>
            </a:r>
          </a:p>
          <a:p/>
          <a:p>
            <a:r>
              <a:t>Image Prompt:</a:t>
            </a:r>
          </a:p>
          <a:p>
            <a:r>
              <a:t>Run chart of attempt 1..N with success marks; community "known failures" sticky notes.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"Risk starts technical."</a:t>
            </a:r>
          </a:p>
          <a:p>
            <a:r>
              <a:t>"Crash and alerting are first-order concerns."</a:t>
            </a:r>
          </a:p>
          <a:p>
            <a:r>
              <a:t>"Lab testing is how you price residual risk."</a:t>
            </a:r>
          </a:p>
          <a:p>
            <a:r>
              <a:t>"Accept risk only when the tasked effect justifies it."</a:t>
            </a:r>
          </a:p>
          <a:p/>
          <a:p>
            <a:r>
              <a:t>Show:</a:t>
            </a:r>
          </a:p>
          <a:p>
            <a:r>
              <a:t>Walk the risk board.</a:t>
            </a:r>
          </a:p>
          <a:p/>
          <a:p>
            <a:r>
              <a:t>Do:</a:t>
            </a:r>
          </a:p>
          <a:p>
            <a:r>
              <a:t>Ask which side effect is worst for a follow-on collection mission (usually alerting/crash).</a:t>
            </a:r>
          </a:p>
          <a:p/>
          <a:p>
            <a:r>
              <a:t>Image Prompt:</a:t>
            </a:r>
          </a:p>
          <a:p>
            <a:r>
              <a:t>Risk board: Crash, Data loss, Alerting—each with lab test checkbox and residual-risk note.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"Effects create responses."</a:t>
            </a:r>
          </a:p>
          <a:p>
            <a:r>
              <a:t>"Ask how the adversary will notice."</a:t>
            </a:r>
          </a:p>
          <a:p>
            <a:r>
              <a:t>"Ask what they will do next."</a:t>
            </a:r>
          </a:p>
          <a:p>
            <a:r>
              <a:t>"Put expected response in the plan next to expected effect."</a:t>
            </a:r>
          </a:p>
          <a:p/>
          <a:p>
            <a:r>
              <a:t>Show:</a:t>
            </a:r>
          </a:p>
          <a:p>
            <a:r>
              <a:t>Walk detect → response branches.</a:t>
            </a:r>
          </a:p>
          <a:p/>
          <a:p>
            <a:r>
              <a:t>Do:</a:t>
            </a:r>
          </a:p>
          <a:p>
            <a:r>
              <a:t>Students write one expected adversary response for a noisy T1190.</a:t>
            </a:r>
          </a:p>
          <a:p/>
          <a:p>
            <a:r>
              <a:t>Image Prompt:</a:t>
            </a:r>
          </a:p>
          <a:p>
            <a:r>
              <a:t>Simple red-team response tree: Detect → Monitor↑ / Relocate / Counter-action; blue mitigations listed beside.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"Alignment beats cleverness."</a:t>
            </a:r>
          </a:p>
          <a:p>
            <a:r>
              <a:t>"If it does not support the tasked effect, drop it."</a:t>
            </a:r>
          </a:p>
          <a:p>
            <a:r>
              <a:t>"Stay inside assigned targets."</a:t>
            </a:r>
          </a:p>
          <a:p>
            <a:r>
              <a:t>"Your notes should let another operator understand the choice tomorrow."</a:t>
            </a:r>
          </a:p>
          <a:p/>
          <a:p>
            <a:r>
              <a:t>Show:</a:t>
            </a:r>
          </a:p>
          <a:p>
            <a:r>
              <a:t>Fill one example trail on the board.</a:t>
            </a:r>
          </a:p>
          <a:p/>
          <a:p>
            <a:r>
              <a:t>Do:</a:t>
            </a:r>
          </a:p>
          <a:p>
            <a:r>
              <a:t>Students copy the blank trail fields into their notebook for labs.</a:t>
            </a:r>
          </a:p>
          <a:p/>
          <a:p>
            <a:r>
              <a:t>Image Prompt:</a:t>
            </a:r>
          </a:p>
          <a:p>
            <a:r>
              <a:t>Decision trail form fields: Tasked effect, Target, Technique, CVE/EDB, Rationale, Approver/time.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"Time is a suitability factor."</a:t>
            </a:r>
          </a:p>
          <a:p>
            <a:r>
              <a:t>"Adaptation cost is real."</a:t>
            </a:r>
          </a:p>
          <a:p>
            <a:r>
              <a:t>"MSF speed helps when modules fit."</a:t>
            </a:r>
          </a:p>
          <a:p>
            <a:r>
              <a:t>"Always leave buffer for target change after recon."</a:t>
            </a:r>
          </a:p>
          <a:p/>
          <a:p>
            <a:r>
              <a:t>Show:</a:t>
            </a:r>
          </a:p>
          <a:p>
            <a:r>
              <a:t>Compare the two timeline bars.</a:t>
            </a:r>
          </a:p>
          <a:p/>
          <a:p>
            <a:r>
              <a:t>Do:</a:t>
            </a:r>
          </a:p>
          <a:p>
            <a:r>
              <a:t>Ask which path they choose with 20 minutes until a mission window.</a:t>
            </a:r>
          </a:p>
          <a:p/>
          <a:p>
            <a:r>
              <a:t>Image Prompt:</a:t>
            </a:r>
          </a:p>
          <a:p>
            <a:r>
              <a:t>Timeline bars comparing PoC adaptation vs MSF module path; a buffer labeled "target change."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"Make the tradeoffs visible."</a:t>
            </a:r>
          </a:p>
          <a:p>
            <a:r>
              <a:t>"Weights change with mission—stealth rises for long games."</a:t>
            </a:r>
          </a:p>
          <a:p>
            <a:r>
              <a:t>"Score at least two COAs."</a:t>
            </a:r>
          </a:p>
          <a:p>
            <a:r>
              <a:t>"The matrix supports the recommendation; it does not replace judgment."</a:t>
            </a:r>
          </a:p>
          <a:p/>
          <a:p>
            <a:r>
              <a:t>Show:</a:t>
            </a:r>
          </a:p>
          <a:p>
            <a:r>
              <a:t>Fill two candidate rows quickly.</a:t>
            </a:r>
          </a:p>
          <a:p/>
          <a:p>
            <a:r>
              <a:t>Do:</a:t>
            </a:r>
          </a:p>
          <a:p>
            <a:r>
              <a:t>Class scores a noisy high-success exploit vs a quiet lower-success PoC.</a:t>
            </a:r>
          </a:p>
          <a:p/>
          <a:p>
            <a:r>
              <a:t>Image Prompt:</a:t>
            </a:r>
          </a:p>
          <a:p>
            <a:r>
              <a:t>Spreadsheet-style matrix: candidates as rows; Likelihood/Stealth/Reliability/Risk/Time as columns; weighted total.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"Practical choice looks like this."</a:t>
            </a:r>
          </a:p>
          <a:p>
            <a:r>
              <a:t>"Urgent disruption can justify noise."</a:t>
            </a:r>
          </a:p>
          <a:p>
            <a:r>
              <a:t>"Long-game access usually cannot."</a:t>
            </a:r>
          </a:p>
          <a:p>
            <a:r>
              <a:t>"Re-check recon right before execution—targets move."</a:t>
            </a:r>
          </a:p>
          <a:p/>
          <a:p>
            <a:r>
              <a:t>Show:</a:t>
            </a:r>
          </a:p>
          <a:p>
            <a:r>
              <a:t>Compare the two COA cards.</a:t>
            </a:r>
          </a:p>
          <a:p/>
          <a:p>
            <a:r>
              <a:t>Do:</a:t>
            </a:r>
          </a:p>
          <a:p>
            <a:r>
              <a:t>Vote with hands on the urgent scenario; require one sentence rationale from a voter.</a:t>
            </a:r>
          </a:p>
          <a:p/>
          <a:p>
            <a:r>
              <a:t>Image Prompt:</a:t>
            </a:r>
          </a:p>
          <a:p>
            <a:r>
              <a:t>Two COA cards—Speed takedown vs Quiet foothold—with mission tags and expected responses.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"If it is not written, the team cannot reuse it."</a:t>
            </a:r>
          </a:p>
          <a:p>
            <a:r>
              <a:t>"Evidence beats adjectives."</a:t>
            </a:r>
          </a:p>
          <a:p>
            <a:r>
              <a:t>"Documentation is part of execution quality."</a:t>
            </a:r>
          </a:p>
          <a:p>
            <a:r>
              <a:t>"Your future self is a customer of these notes."</a:t>
            </a:r>
          </a:p>
          <a:p/>
          <a:p>
            <a:r>
              <a:t>Show:</a:t>
            </a:r>
          </a:p>
          <a:p>
            <a:r>
              <a:t>Trace the journal chain.</a:t>
            </a:r>
          </a:p>
          <a:p/>
          <a:p>
            <a:r>
              <a:t>Do:</a:t>
            </a:r>
          </a:p>
          <a:p>
            <a:r>
              <a:t>Require a five-line selection rationale as the exit ticket before questions.</a:t>
            </a:r>
          </a:p>
          <a:p/>
          <a:p>
            <a:r>
              <a:t>Image Prompt:</a:t>
            </a:r>
          </a:p>
          <a:p>
            <a:r>
              <a:t>Operator journal template linking Recon → Vuln note → Exploit choice → Lab result → Employment decision.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"Takeaway one: order of operations."</a:t>
            </a:r>
          </a:p>
          <a:p>
            <a:r>
              <a:t>"Enumeration keys the search."</a:t>
            </a:r>
          </a:p>
          <a:p>
            <a:r>
              <a:t>"Databases and repos feed evaluation."</a:t>
            </a:r>
          </a:p>
          <a:p>
            <a:r>
              <a:t>"Technique selection makes it operational."</a:t>
            </a:r>
          </a:p>
          <a:p/>
          <a:p>
            <a:r>
              <a:t>Show:</a:t>
            </a:r>
          </a:p>
          <a:p>
            <a:r>
              <a:t>Trace the pipeline once more.</a:t>
            </a:r>
          </a:p>
          <a:p/>
          <a:p>
            <a:r>
              <a:t>Do:</a:t>
            </a:r>
          </a:p>
          <a:p>
            <a:r>
              <a:t>Students redraw the pipeline from memory in 60 seconds.</a:t>
            </a:r>
          </a:p>
          <a:p/>
          <a:p>
            <a:r>
              <a:t>Image Prompt:</a:t>
            </a:r>
          </a:p>
          <a:p>
            <a:r>
              <a:t>End-to-end pipeline banner with source logos under the middle stages.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"Takeaway two: ATT&amp;CK keeps language consistent."</a:t>
            </a:r>
          </a:p>
          <a:p>
            <a:r>
              <a:t>"Takeaway three: where you plan and test matters."</a:t>
            </a:r>
          </a:p>
          <a:p>
            <a:r>
              <a:t>"Validation is part of access tradecraft."</a:t>
            </a:r>
          </a:p>
          <a:p/>
          <a:p>
            <a:r>
              <a:t>Show:</a:t>
            </a:r>
          </a:p>
          <a:p>
            <a:r>
              <a:t>Point both tiles.</a:t>
            </a:r>
          </a:p>
          <a:p/>
          <a:p>
            <a:r>
              <a:t>Do:</a:t>
            </a:r>
          </a:p>
          <a:p>
            <a:r>
              <a:t>Ask for one sentence linking their next keyboard practice to TA0001.</a:t>
            </a:r>
          </a:p>
          <a:p/>
          <a:p>
            <a:r>
              <a:t>Image Prompt:</a:t>
            </a:r>
          </a:p>
          <a:p>
            <a:r>
              <a:t>Pair of takeaway tiles: ATT&amp;CK-enabled access; Blue-space validation advantage.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"Lecture ends; reps begin."</a:t>
            </a:r>
          </a:p>
          <a:p>
            <a:r>
              <a:t>"Searchsploit emphasizes exploit judgment."</a:t>
            </a:r>
          </a:p>
          <a:p>
            <a:r>
              <a:t>"Metasploit builds module-employment fluency."</a:t>
            </a:r>
          </a:p>
          <a:p>
            <a:r>
              <a:t>"Later access practice applies those techniques across common services."</a:t>
            </a:r>
          </a:p>
          <a:p>
            <a:r>
              <a:t>"Bring version evidence and your suitability checklist."</a:t>
            </a:r>
          </a:p>
          <a:p/>
          <a:p>
            <a:r>
              <a:t>Show:</a:t>
            </a:r>
          </a:p>
          <a:p>
            <a:r>
              <a:t>Point to each lab sign.</a:t>
            </a:r>
          </a:p>
          <a:p/>
          <a:p>
            <a:r>
              <a:t>Do:</a:t>
            </a:r>
          </a:p>
          <a:p>
            <a:r>
              <a:t>Hand out or display the Searchsploit/open-source brief pointer; break.</a:t>
            </a:r>
          </a:p>
          <a:p/>
          <a:p>
            <a:r>
              <a:t>Image Prompt:</a:t>
            </a:r>
          </a:p>
          <a:p>
            <a:r>
              <a:t>Road signs: Searchsploit/manual, Metasploit, gaining access—lecture box behind them checked done. No lesson numbers.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"Questions on the pipeline, sources, techniques, or suitability."</a:t>
            </a:r>
          </a:p>
          <a:p>
            <a:r>
              <a:t>"Tool errors and target IPs wait for the lab block."</a:t>
            </a:r>
          </a:p>
          <a:p/>
          <a:p>
            <a:r>
              <a:t>Show:</a:t>
            </a:r>
          </a:p>
          <a:p>
            <a:r>
              <a:t>Open the floor; note lab-specific issues for the lab block.</a:t>
            </a:r>
          </a:p>
          <a:p/>
          <a:p>
            <a:r>
              <a:t>Do:</a:t>
            </a:r>
          </a:p>
          <a:p>
            <a:r>
              <a:t>Take 3–5 questions; defer environment issues cleanly; release to break/lab.</a:t>
            </a:r>
          </a:p>
          <a:p/>
          <a:p>
            <a:r>
              <a:t>Image Prompt:</a:t>
            </a:r>
          </a:p>
          <a:p>
            <a:r>
              <a:t>Empty dark classroom projection with a single large word Questions centered. No footer, no deferral text, no lab names, no lesson numbers.</a:t>
            </a:r>
          </a:p>
          <a:p/>
          <a:p>
            <a:r>
              <a:t>Ask (Q):</a:t>
            </a:r>
          </a:p>
          <a:p>
            <a:r>
              <a:t>What question still has to wait for the lab block?</a:t>
            </a:r>
          </a:p>
          <a:p>
            <a:r>
              <a:t>What is the operational takeaway from this row?</a:t>
            </a:r>
          </a:p>
          <a:p>
            <a:r>
              <a:t>Hold up one service and version from your last Nmap run.</a:t>
            </a:r>
          </a:p>
          <a:p>
            <a:r>
              <a:t>What is the operational takeaway from this row?</a:t>
            </a:r>
          </a:p>
          <a:p>
            <a:r>
              <a:t>What version string from Nmap would you feed a search first?</a:t>
            </a:r>
          </a:p>
          <a:p/>
          <a:p>
            <a:r>
              <a:t>Expected Response (A):</a:t>
            </a:r>
          </a:p>
          <a:p>
            <a:r>
              <a:t>Tool errors and target IPs wait for the lab. Tradecraft questions belong here.</a:t>
            </a:r>
          </a:p>
          <a:p>
            <a:r>
              <a:t>---</a:t>
            </a:r>
          </a:p>
          <a:p>
            <a:r>
              <a:t>## Improvement notes</a:t>
            </a:r>
          </a:p>
          <a:p>
            <a:r>
              <a:t>Facilitation. Restate the Say/Do in operator terms. Do not invent a new teaching point.</a:t>
            </a:r>
          </a:p>
          <a:p>
            <a:r>
              <a:t>## Lesson summary</a:t>
            </a:r>
          </a:p>
          <a:p>
            <a:r>
              <a:t>B02.M02-open-source-ecosystem is executed as a generated lesson plan from this file.</a:t>
            </a:r>
          </a:p>
          <a:p>
            <a:r>
              <a:t>Assessment methods live on module.yaml; do not invent extra official ELOs.</a:t>
            </a:r>
          </a:p>
          <a:p>
            <a:r>
              <a:t>Later Searchsploit and Metasploit practice continues from the version evidence this session collects.</a:t>
            </a:r>
          </a:p>
          <a:p>
            <a:r>
              <a:t>## Questions and check on learning</a:t>
            </a:r>
          </a:p>
          <a:p>
            <a:r>
              <a:t>Facilitation. Use the Say/Do already on this row; do not force a single keyed answer.</a:t>
            </a:r>
          </a:p>
          <a:p>
            <a:r>
              <a:t>Facilitation. Restate the Say/Do in operator terms. Do not invent a new teaching point.</a:t>
            </a:r>
          </a:p>
          <a:p>
            <a:r>
              <a:t>Facilitation. Use the Say/Do already on this row; do not force a single keyed answer.</a:t>
            </a:r>
          </a:p>
          <a:p/>
          <a:p>
            <a:r>
              <a:t>Before → After Slide Count:</a:t>
            </a:r>
          </a:p>
          <a:p>
            <a:r>
              <a:t>78 → 71 → 68</a:t>
            </a:r>
          </a:p>
          <a:p/>
          <a:p>
            <a:r>
              <a:t>Live Demos Removed (This Pass):</a:t>
            </a:r>
          </a:p>
          <a:p>
            <a:r>
              <a:t>Dropped former slides 19 (CVE/NVD live search), 39 (Searchsploit live query), and 43 (GitHub/EternalBlue live clone). How-to remains on the teaching slides before each; keyboard practice is deferred to follow-on labs / Vulnhub walkthroughs. PoC pre-execution reading habit folded into Slide 40 Do.</a:t>
            </a:r>
          </a:p>
          <a:p/>
          <a:p>
            <a:r>
              <a:t>Structural Revisions:</a:t>
            </a:r>
          </a:p>
          <a:p>
            <a:r>
              <a:t>Removed the Lesson Overview and introductory transition slides; converted the Vulnerability Identification, Open-Source Exploit Ecosystem, Initial Access Techniques, and Operational Suitability Assessment transitions to title-and-image-only slides. Consolidated early ExploitDB teaching into a single Primary Source — ExploitDB slide after the ecosystem transition; removed the duplicate early Searchsploit overview, the repeated Metasploit course/lab-ties slide, and the redundant lesson-summary slide.</a:t>
            </a:r>
          </a:p>
          <a:p/>
          <a:p>
            <a:r>
              <a:t>Continuity And Research Quality:</a:t>
            </a:r>
          </a:p>
          <a:p>
            <a:r>
              <a:t>Slide 3 now bridges passive leads and observed service/version evidence. Slide 36 acknowledges that its detailed Searchsploit workflow builds on the earlier evidence chain. Slide 39 adds SI guidance: use SI assistants to accelerate leads, then verify every lead against primary sources, version evidence, and reviewed code.</a:t>
            </a:r>
          </a:p>
          <a:p/>
          <a:p>
            <a:r>
              <a:t>Splits (Source Pptx → 71-Slide Revision; Demo Removal Did Not Re-Audit This Table):</a:t>
            </a:r>
          </a:p>
          <a:p>
            <a:r>
              <a:t>Source 14 (CVE/NVD + use) → Slides 14–15</a:t>
            </a:r>
          </a:p>
          <a:p>
            <a:r>
              <a:t>Source 16 (ExploitDB + example query) → Slides 17–18</a:t>
            </a:r>
          </a:p>
          <a:p>
            <a:r>
              <a:t>Source 19 (step-by-step + blue-space integration) → Slides 21–22</a:t>
            </a:r>
          </a:p>
          <a:p>
            <a:r>
              <a:t>Source 30 (Metasploit overview dense) → Slides 33–34</a:t>
            </a:r>
          </a:p>
          <a:p>
            <a:r>
              <a:t>Source 52 (T1534 dense) → Slides 56–57</a:t>
            </a:r>
          </a:p>
          <a:p>
            <a:r>
              <a:t>Source 56 (blue-space advantages dense) → Slides 61–62</a:t>
            </a:r>
          </a:p>
          <a:p/>
          <a:p>
            <a:r>
              <a:t>Other Packing Notes:</a:t>
            </a:r>
          </a:p>
          <a:p>
            <a:r>
              <a:t>Long paragraph bullets on suitability/OPSEC/risk slides compressed to scannable bullets; detail moved into Say/Show/Do. ROE/authority framing de-emphasized per execution-focus guidance; retained mission-alignment and decision-trail documentation (Slide 60) without expanding authority discussion.</a:t>
            </a:r>
          </a:p>
          <a:p/>
          <a:p>
            <a:r>
              <a:t>Instructor Notes Disclaimer:</a:t>
            </a:r>
          </a:p>
          <a:p>
            <a:r>
              <a:t>Source student PPTX had empty speaker notes. All Image Prompt / Say / Show / Do content in this file was authored during the improvement pass for Week 4 content-guide parity—not extracted from the deck.</a:t>
            </a:r>
          </a:p>
          <a:p/>
          <a:p>
            <a:r>
              <a:t>Lesson Objectives:</a:t>
            </a:r>
          </a:p>
          <a:p>
            <a:r>
              <a:t>Slide 2 on-slide bullets preserved verbatim from the faithful extract (commit `92b111f`), including `MITRE® attack` wording; not paraphrased.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9"/>
          <p:cNvSpPr txBox="1">
            <a:spLocks noGrp="1"/>
          </p:cNvSpPr>
          <p:nvPr>
            <p:ph type="ctrTitle"/>
          </p:nvPr>
        </p:nvSpPr>
        <p:spPr>
          <a:xfrm>
            <a:off x="2062480" y="89884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40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8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8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80"/>
          <p:cNvSpPr txBox="1">
            <a:spLocks noGrp="1"/>
          </p:cNvSpPr>
          <p:nvPr>
            <p:ph type="title"/>
          </p:nvPr>
        </p:nvSpPr>
        <p:spPr>
          <a:xfrm>
            <a:off x="1510029" y="437317"/>
            <a:ext cx="10681971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0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2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4" name="Google Shape;54;p82"/>
          <p:cNvSpPr txBox="1">
            <a:spLocks noGrp="1"/>
          </p:cNvSpPr>
          <p:nvPr>
            <p:ph type="body" idx="1"/>
          </p:nvPr>
        </p:nvSpPr>
        <p:spPr>
          <a:xfrm>
            <a:off x="1723854" y="3429000"/>
            <a:ext cx="9963493" cy="21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6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Arial"/>
              <a:buNone/>
              <a:defRPr sz="1333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3"/>
          <p:cNvSpPr txBox="1">
            <a:spLocks noGrp="1"/>
          </p:cNvSpPr>
          <p:nvPr>
            <p:ph type="title"/>
          </p:nvPr>
        </p:nvSpPr>
        <p:spPr>
          <a:xfrm>
            <a:off x="1363362" y="952052"/>
            <a:ext cx="10142837" cy="62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7" name="Google Shape;57;p83"/>
          <p:cNvSpPr txBox="1">
            <a:spLocks noGrp="1"/>
          </p:cNvSpPr>
          <p:nvPr>
            <p:ph type="body" idx="1"/>
          </p:nvPr>
        </p:nvSpPr>
        <p:spPr>
          <a:xfrm>
            <a:off x="4720611" y="1574799"/>
            <a:ext cx="7091600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6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8" name="Google Shape;58;p83"/>
          <p:cNvSpPr txBox="1">
            <a:spLocks noGrp="1"/>
          </p:cNvSpPr>
          <p:nvPr>
            <p:ph type="body" idx="2"/>
          </p:nvPr>
        </p:nvSpPr>
        <p:spPr>
          <a:xfrm>
            <a:off x="1363363" y="1582599"/>
            <a:ext cx="3098248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0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2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4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2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5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85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85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85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4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6"/>
          <p:cNvSpPr txBox="1">
            <a:spLocks noGrp="1"/>
          </p:cNvSpPr>
          <p:nvPr>
            <p:ph type="body" idx="1"/>
          </p:nvPr>
        </p:nvSpPr>
        <p:spPr>
          <a:xfrm>
            <a:off x="1141622" y="1000540"/>
            <a:ext cx="4874101" cy="4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8" name="Google Shape;68;p86"/>
          <p:cNvSpPr txBox="1">
            <a:spLocks noGrp="1"/>
          </p:cNvSpPr>
          <p:nvPr>
            <p:ph type="body" idx="2"/>
          </p:nvPr>
        </p:nvSpPr>
        <p:spPr>
          <a:xfrm>
            <a:off x="1141621" y="1582321"/>
            <a:ext cx="4854344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9" name="Google Shape;69;p86"/>
          <p:cNvSpPr txBox="1">
            <a:spLocks noGrp="1"/>
          </p:cNvSpPr>
          <p:nvPr>
            <p:ph type="body" idx="3"/>
          </p:nvPr>
        </p:nvSpPr>
        <p:spPr>
          <a:xfrm>
            <a:off x="6195272" y="1000540"/>
            <a:ext cx="5603200" cy="4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86"/>
          <p:cNvSpPr txBox="1">
            <a:spLocks noGrp="1"/>
          </p:cNvSpPr>
          <p:nvPr>
            <p:ph type="body" idx="4"/>
          </p:nvPr>
        </p:nvSpPr>
        <p:spPr>
          <a:xfrm>
            <a:off x="6199877" y="1582323"/>
            <a:ext cx="5598400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cxnSp>
        <p:nvCxnSpPr>
          <p:cNvPr id="71" name="Google Shape;71;p86"/>
          <p:cNvCxnSpPr/>
          <p:nvPr/>
        </p:nvCxnSpPr>
        <p:spPr>
          <a:xfrm>
            <a:off x="1141622" y="974035"/>
            <a:ext cx="10830241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2" name="Google Shape;72;p86"/>
          <p:cNvCxnSpPr/>
          <p:nvPr/>
        </p:nvCxnSpPr>
        <p:spPr>
          <a:xfrm>
            <a:off x="6095137" y="974035"/>
            <a:ext cx="800" cy="538240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3" name="Google Shape;73;p86"/>
          <p:cNvCxnSpPr/>
          <p:nvPr/>
        </p:nvCxnSpPr>
        <p:spPr>
          <a:xfrm>
            <a:off x="1141621" y="1504121"/>
            <a:ext cx="10830240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74" name="Google Shape;74;p86"/>
          <p:cNvSpPr txBox="1">
            <a:spLocks noGrp="1"/>
          </p:cNvSpPr>
          <p:nvPr>
            <p:ph type="title"/>
          </p:nvPr>
        </p:nvSpPr>
        <p:spPr>
          <a:xfrm>
            <a:off x="1141621" y="326173"/>
            <a:ext cx="10656656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5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7"/>
          <p:cNvSpPr txBox="1">
            <a:spLocks noGrp="1"/>
          </p:cNvSpPr>
          <p:nvPr>
            <p:ph type="title"/>
          </p:nvPr>
        </p:nvSpPr>
        <p:spPr>
          <a:xfrm>
            <a:off x="1301577" y="458775"/>
            <a:ext cx="10467243" cy="68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7" name="Google Shape;77;p87"/>
          <p:cNvSpPr>
            <a:spLocks noGrp="1"/>
          </p:cNvSpPr>
          <p:nvPr>
            <p:ph type="pic" idx="2"/>
          </p:nvPr>
        </p:nvSpPr>
        <p:spPr>
          <a:xfrm>
            <a:off x="4666821" y="1142999"/>
            <a:ext cx="7102000" cy="52560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Google Shape;78;p87"/>
          <p:cNvSpPr txBox="1">
            <a:spLocks noGrp="1"/>
          </p:cNvSpPr>
          <p:nvPr>
            <p:ph type="body" idx="1"/>
          </p:nvPr>
        </p:nvSpPr>
        <p:spPr>
          <a:xfrm>
            <a:off x="1301578" y="1142999"/>
            <a:ext cx="3061420" cy="5256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867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984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3pPr>
            <a:lvl4pPr marL="1828800" lvl="3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4pPr>
            <a:lvl5pPr marL="2286000" lvl="4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5pPr>
            <a:lvl6pPr marL="2743200" lvl="5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6pPr>
            <a:lvl7pPr marL="3200400" lvl="6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7pPr>
            <a:lvl8pPr marL="3657600" lvl="7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8pPr>
            <a:lvl9pPr marL="4114800" lvl="8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9pPr>
          </a:lstStyle>
          <a:p>
            <a:endParaRPr/>
          </a:p>
        </p:txBody>
      </p:sp>
      <p:sp>
        <p:nvSpPr>
          <p:cNvPr id="96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Title Slide">
  <p:cSld name="11_Title Sli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8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 Use">
  <p:cSld name="Master Use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89"/>
          <p:cNvSpPr txBox="1">
            <a:spLocks noGrp="1"/>
          </p:cNvSpPr>
          <p:nvPr>
            <p:ph type="title"/>
          </p:nvPr>
        </p:nvSpPr>
        <p:spPr>
          <a:xfrm>
            <a:off x="1278542" y="429225"/>
            <a:ext cx="10898083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7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6" name="Google Shape;86;p9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0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8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8"/>
          <p:cNvSpPr/>
          <p:nvPr/>
        </p:nvSpPr>
        <p:spPr>
          <a:xfrm>
            <a:off x="-1" y="-20168"/>
            <a:ext cx="12192000" cy="2637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78"/>
          <p:cNvSpPr/>
          <p:nvPr/>
        </p:nvSpPr>
        <p:spPr>
          <a:xfrm>
            <a:off x="1" y="243443"/>
            <a:ext cx="1128108" cy="661455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78"/>
          <p:cNvSpPr txBox="1">
            <a:spLocks noGrp="1"/>
          </p:cNvSpPr>
          <p:nvPr>
            <p:ph type="title"/>
          </p:nvPr>
        </p:nvSpPr>
        <p:spPr>
          <a:xfrm>
            <a:off x="1189403" y="646322"/>
            <a:ext cx="10682000" cy="57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8"/>
          <p:cNvSpPr txBox="1">
            <a:spLocks noGrp="1"/>
          </p:cNvSpPr>
          <p:nvPr>
            <p:ph type="body" idx="1"/>
          </p:nvPr>
        </p:nvSpPr>
        <p:spPr>
          <a:xfrm>
            <a:off x="1189401" y="1384879"/>
            <a:ext cx="10682000" cy="485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8"/>
          <p:cNvSpPr txBox="1">
            <a:spLocks noGrp="1"/>
          </p:cNvSpPr>
          <p:nvPr>
            <p:ph type="sldNum" idx="12"/>
          </p:nvPr>
        </p:nvSpPr>
        <p:spPr>
          <a:xfrm>
            <a:off x="10058399" y="6641435"/>
            <a:ext cx="2133600" cy="2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78"/>
          <p:cNvSpPr/>
          <p:nvPr/>
        </p:nvSpPr>
        <p:spPr>
          <a:xfrm>
            <a:off x="-2" y="6594389"/>
            <a:ext cx="12191999" cy="26361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" name="Google Shape;16;p78"/>
          <p:cNvGrpSpPr/>
          <p:nvPr/>
        </p:nvGrpSpPr>
        <p:grpSpPr>
          <a:xfrm>
            <a:off x="254537" y="37012"/>
            <a:ext cx="4123292" cy="140365"/>
            <a:chOff x="5526083" y="4992009"/>
            <a:chExt cx="3092469" cy="105274"/>
          </a:xfrm>
        </p:grpSpPr>
        <p:sp>
          <p:nvSpPr>
            <p:cNvPr id="17" name="Google Shape;17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" name="Google Shape;28;p78"/>
          <p:cNvSpPr txBox="1"/>
          <p:nvPr/>
        </p:nvSpPr>
        <p:spPr>
          <a:xfrm flipH="1">
            <a:off x="1043632" y="6366806"/>
            <a:ext cx="4211863" cy="221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78"/>
          <p:cNvSpPr txBox="1"/>
          <p:nvPr/>
        </p:nvSpPr>
        <p:spPr>
          <a:xfrm>
            <a:off x="5482963" y="207088"/>
            <a:ext cx="6767512" cy="212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7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5400000">
            <a:off x="-2150855" y="3445521"/>
            <a:ext cx="5429815" cy="9911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" name="Google Shape;31;p78"/>
          <p:cNvGrpSpPr/>
          <p:nvPr/>
        </p:nvGrpSpPr>
        <p:grpSpPr>
          <a:xfrm>
            <a:off x="7996753" y="6659805"/>
            <a:ext cx="4123292" cy="140365"/>
            <a:chOff x="5526083" y="4992009"/>
            <a:chExt cx="3092469" cy="105274"/>
          </a:xfrm>
        </p:grpSpPr>
        <p:sp>
          <p:nvSpPr>
            <p:cNvPr id="32" name="Google Shape;32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3" name="Google Shape;43;p78" title="ACTEC_Logo_v2_Circle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-118447" y="193555"/>
            <a:ext cx="1307427" cy="10102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8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0930" y="1270922"/>
            <a:ext cx="928675" cy="9286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5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5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6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6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6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6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6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6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6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68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6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rmAutofit/>
          </a:bodyPr>
          <a:lstStyle/>
          <a:p>
            <a:pPr/>
            <a:r>
              <a:rPr sz="4400"/>
              <a:t>Navigating the Open-Source Ecosystem</a:t>
            </a:r>
          </a:p>
        </p:txBody>
      </p:sp>
      <p:sp>
        <p:nvSpPr>
          <p:cNvPr id="3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400"/>
              <a:t>Navigating Open-Source Ecosystem for Cyber Protection Teams</a:t>
            </a:r>
          </a:p>
        </p:txBody>
      </p:sp>
      <p:pic>
        <p:nvPicPr>
          <p:cNvPr id="5" name="Picture 4" descr="a5bae5416b51e43985df200ba60f7fdba0eae520eb1e28f37c4da7b4dfbdc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Lesson Objectives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Identify initial access techniques from MITRE® attack</a:t>
            </a:r>
          </a:p>
          <a:p>
            <a:pPr/>
            <a:r>
              <a:rPr sz="1800"/>
              <a:t>Identify key components of an open-source ecosystem</a:t>
            </a:r>
          </a:p>
          <a:p>
            <a:pPr/>
            <a:r>
              <a:rPr sz="1800"/>
              <a:t>Recall and identify different types of vulnerabilities</a:t>
            </a:r>
          </a:p>
          <a:p>
            <a:pPr/>
            <a:r>
              <a:rPr sz="1800"/>
              <a:t>Recognize initial access opportunities</a:t>
            </a:r>
          </a:p>
        </p:txBody>
      </p:sp>
      <p:pic>
        <p:nvPicPr>
          <p:cNvPr id="5" name="Picture 4" descr="9322627b213e2a74942e089201bd8a0ac84c97410b6ba5d540fb44af72b101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From Recon to Exploitable Findings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700"/>
              <a:t>Identifying exploitable vulnerabilities and finding exploits</a:t>
            </a:r>
          </a:p>
          <a:p>
            <a:pPr/>
            <a:r>
              <a:rPr sz="1700"/>
              <a:t>Builds on active recon: service/version evidence from Nmap</a:t>
            </a:r>
          </a:p>
          <a:p>
            <a:pPr/>
            <a:r>
              <a:rPr sz="1700"/>
              <a:t>Reuses passive leads to prioritize what to investigate</a:t>
            </a:r>
          </a:p>
          <a:p>
            <a:pPr/>
            <a:r>
              <a:rPr sz="1700"/>
              <a:t>Turns enumerated data into actionable exploit paths</a:t>
            </a:r>
          </a:p>
          <a:p>
            <a:pPr/>
            <a:r>
              <a:rPr sz="1700"/>
              <a:t>Supports targeted effects on adversary infrastructure (e.g., C2 disruption)</a:t>
            </a:r>
          </a:p>
        </p:txBody>
      </p:sp>
      <p:pic>
        <p:nvPicPr>
          <p:cNvPr id="5" name="Picture 4" descr="7aa562d0398fe0029cf9f4083793c458656958d47659393064dfa0fccee0d3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Ecosystem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Vulnerability databases: CVE, NVD</a:t>
            </a:r>
          </a:p>
          <a:p>
            <a:pPr/>
            <a:r>
              <a:rPr sz="1800"/>
              <a:t>Exploit repositories: ExploitDB, GitHub</a:t>
            </a:r>
          </a:p>
          <a:p>
            <a:pPr/>
            <a:r>
              <a:rPr sz="1800"/>
              <a:t>Search tools: Searchsploit</a:t>
            </a:r>
          </a:p>
          <a:p>
            <a:pPr/>
            <a:r>
              <a:rPr sz="1800"/>
              <a:t>Community-vetted intel for rapid selection</a:t>
            </a:r>
          </a:p>
          <a:p>
            <a:pPr/>
            <a:r>
              <a:rPr sz="1800"/>
              <a:t>Enables operators to move from finding → effect planning</a:t>
            </a:r>
          </a:p>
        </p:txBody>
      </p:sp>
      <p:pic>
        <p:nvPicPr>
          <p:cNvPr id="5" name="Picture 4" descr="4351a1902c52f53e75e8af81c8eb459ff21d0bb3c06b6182b08ab8bdfa4154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ATT&amp;CK Mapping — TA0001 Initial Access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ATT&amp;CK: </a:t>
            </a:r>
            <a:r>
              <a:rPr b="1" sz="1800"/>
              <a:t>TA0001 Initial Access</a:t>
            </a:r>
          </a:p>
          <a:p>
            <a:pPr/>
            <a:r>
              <a:rPr sz="1800"/>
              <a:t>Recon (e.g., T1595 Active Scanning) feeds Initial Access</a:t>
            </a:r>
          </a:p>
          <a:p>
            <a:pPr/>
            <a:r>
              <a:rPr sz="1800"/>
              <a:t>Open-source research supports </a:t>
            </a:r>
            <a:r>
              <a:rPr b="1" sz="1800"/>
              <a:t>T1190</a:t>
            </a:r>
            <a:r>
              <a:rPr sz="1800"/>
              <a:t> (Exploit Public-Facing Application)</a:t>
            </a:r>
          </a:p>
          <a:p>
            <a:pPr/>
            <a:r>
              <a:rPr sz="1800"/>
              <a:t>Also supports </a:t>
            </a:r>
            <a:r>
              <a:rPr b="1" sz="1800"/>
              <a:t>T1133</a:t>
            </a:r>
            <a:r>
              <a:rPr sz="1800"/>
              <a:t> (External Remote Services)</a:t>
            </a:r>
          </a:p>
          <a:p>
            <a:pPr/>
            <a:r>
              <a:rPr sz="1800"/>
              <a:t>Application: use discovered exploits to achieve access on adversary systems</a:t>
            </a:r>
          </a:p>
        </p:txBody>
      </p:sp>
      <p:pic>
        <p:nvPicPr>
          <p:cNvPr id="5" name="Picture 4" descr="4795e603ad09ce5aa5b5eddf6efcdc20af95c2bcd229eb6afe7c5d164c81e6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Key Considerations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Prioritize high-impact paths (e.g., RCE on command servers)</a:t>
            </a:r>
          </a:p>
          <a:p>
            <a:pPr/>
            <a:r>
              <a:rPr sz="1800"/>
              <a:t>Verify target identity with intel before exploit selection</a:t>
            </a:r>
          </a:p>
          <a:p>
            <a:pPr/>
            <a:r>
              <a:rPr sz="1800"/>
              <a:t>Test and adapt exploits in isolated labs when possible</a:t>
            </a:r>
          </a:p>
          <a:p>
            <a:pPr/>
            <a:r>
              <a:rPr sz="1800"/>
              <a:t>Prefer predictable, evidence-backed effects over speculative strikes</a:t>
            </a:r>
          </a:p>
        </p:txBody>
      </p:sp>
      <p:pic>
        <p:nvPicPr>
          <p:cNvPr id="5" name="Picture 4" descr="a7e38898b6b48203880d79f06cbc198580f4f27b40266daed9b455962aac07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Vulnerability Identification</a:t>
            </a:r>
          </a:p>
        </p:txBody>
      </p:sp>
      <p:pic>
        <p:nvPicPr>
          <p:cNvPr id="5" name="Picture 4" descr="7dd4988b1b11bd237bd1168b2a872aa288e093221c1118c0ef4bacf31cf627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Enumeration to Vulnerability Pipeline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600"/>
              <a:t>Start with recon data: service versions (e.g., Apache 2.4.29 from </a:t>
            </a:r>
            <a:r>
              <a:rPr sz="1600">
                <a:latin typeface="Courier New"/>
              </a:rPr>
              <a:t>nmap -sV</a:t>
            </a:r>
            <a:r>
              <a:rPr sz="1600"/>
              <a:t>)</a:t>
            </a:r>
          </a:p>
          <a:p>
            <a:pPr/>
            <a:r>
              <a:rPr sz="1600"/>
              <a:t>For web services: enumerate service further by sending a </a:t>
            </a:r>
            <a:r>
              <a:rPr sz="1600">
                <a:latin typeface="Courier New"/>
              </a:rPr>
              <a:t>curl -s -D - http://&lt;ip&gt;:&lt;port&gt;/ -o &lt;output file&gt;</a:t>
            </a:r>
          </a:p>
          <a:p>
            <a:pPr/>
            <a:r>
              <a:rPr sz="1600"/>
              <a:t>Map to known issues: search databases for CVEs tied to that version</a:t>
            </a:r>
          </a:p>
          <a:p>
            <a:pPr/>
            <a:r>
              <a:rPr sz="1600"/>
              <a:t>Quickly identify exploitable flaws in adversary attack infrastructure</a:t>
            </a:r>
          </a:p>
          <a:p>
            <a:pPr/>
            <a:r>
              <a:rPr sz="1600"/>
              <a:t>Output: candidate CVE list for exploit research</a:t>
            </a:r>
          </a:p>
        </p:txBody>
      </p:sp>
      <p:pic>
        <p:nvPicPr>
          <p:cNvPr id="5" name="Picture 4" descr="4155a90729de47e6fc0a043ac9036ba8e736e9e28674a0b1a37389310a70f8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Version-Based Vulnerability Discovery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Example: OpenSSH 7.4 → search reveals version-tied CVEs</a:t>
            </a:r>
          </a:p>
          <a:p>
            <a:pPr/>
            <a:r>
              <a:rPr sz="1800"/>
              <a:t>Example pattern: CVE-2016-0777 class findings (assess carefully—not every hit is RCE)</a:t>
            </a:r>
          </a:p>
          <a:p>
            <a:pPr/>
            <a:r>
              <a:rPr sz="1800"/>
              <a:t>Process: cross-reference versions with databases for unpatched weaknesses</a:t>
            </a:r>
          </a:p>
          <a:p>
            <a:pPr/>
            <a:r>
              <a:rPr sz="1800"/>
              <a:t>Operational value: outdated adversary services become access candidates</a:t>
            </a:r>
          </a:p>
        </p:txBody>
      </p:sp>
      <p:pic>
        <p:nvPicPr>
          <p:cNvPr id="5" name="Picture 4" descr="f21f320602eeb6c3bf5579b5cce67983df8c50a6dfc953dba0ab9f2fac3d1b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Beyond Versions — Configuration Weaknesses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Enumeration also reveals misconfigs (e.g., exposed directories via HTTP enum)</a:t>
            </a:r>
          </a:p>
          <a:p>
            <a:pPr/>
            <a:r>
              <a:rPr sz="1800"/>
              <a:t>Common: default credentials</a:t>
            </a:r>
          </a:p>
          <a:p>
            <a:pPr/>
            <a:r>
              <a:rPr sz="1800"/>
              <a:t>Common: insecure protocols (HTTP instead of HTTPS)</a:t>
            </a:r>
          </a:p>
          <a:p>
            <a:pPr/>
            <a:r>
              <a:rPr sz="1800"/>
              <a:t>Pattern recognition from defensive hunts transfers to adversary nodes</a:t>
            </a:r>
          </a:p>
        </p:txBody>
      </p:sp>
      <p:pic>
        <p:nvPicPr>
          <p:cNvPr id="5" name="Picture 4" descr="944f74895eb3dd73e5aa2057fb086bbc2ad4699a8abe682efb1b8cfedb6f93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Patching Gaps as Opportunities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Adversaries often run legacy systems for persistence (e.g., Windows Server 2008)</a:t>
            </a:r>
          </a:p>
          <a:p>
            <a:pPr/>
            <a:r>
              <a:rPr sz="1800"/>
              <a:t>Identify via OS fingerprinting (</a:t>
            </a:r>
            <a:r>
              <a:rPr sz="1800">
                <a:latin typeface="Courier New"/>
              </a:rPr>
              <a:t>nmap -O</a:t>
            </a:r>
            <a:r>
              <a:rPr sz="1800"/>
              <a:t>) → link to end-of-life CVEs</a:t>
            </a:r>
          </a:p>
          <a:p>
            <a:pPr/>
            <a:r>
              <a:rPr sz="1800"/>
              <a:t>Unpatched flaws can enable access or disruptive effects on adversary tooling</a:t>
            </a:r>
          </a:p>
          <a:p>
            <a:pPr/>
            <a:r>
              <a:rPr sz="1800"/>
              <a:t>Prefer evidence of EOL/unpatched state before investing exploit effort</a:t>
            </a:r>
          </a:p>
        </p:txBody>
      </p:sp>
      <p:pic>
        <p:nvPicPr>
          <p:cNvPr id="5" name="Picture 4" descr="4ffe859dc3c68dffbb9d54cdc06cd748c40430252cf4a3df235da98e452f00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CVE and NVD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CVE:</a:t>
            </a:r>
            <a:r>
              <a:rPr sz="1800"/>
              <a:t> centralized list of publicly disclosed vulnerabilities</a:t>
            </a:r>
          </a:p>
          <a:p>
            <a:pPr/>
            <a:r>
              <a:rPr sz="1800"/>
              <a:t>Example: CVE-2021-44228 (Log4Shell)</a:t>
            </a:r>
          </a:p>
          <a:p>
            <a:pPr/>
            <a:r>
              <a:rPr b="1" sz="1800"/>
              <a:t>NVD:</a:t>
            </a:r>
            <a:r>
              <a:rPr sz="1800"/>
              <a:t> NIST-maintained details—descriptions, affected products, scoring links</a:t>
            </a:r>
          </a:p>
          <a:p>
            <a:pPr/>
            <a:r>
              <a:rPr sz="1800"/>
              <a:t>Search pattern: product + version + "CVE"</a:t>
            </a:r>
          </a:p>
          <a:p>
            <a:pPr/>
            <a:r>
              <a:rPr sz="1800"/>
              <a:t>Example query framing: "Apache 2.4.29 CVE"</a:t>
            </a:r>
          </a:p>
        </p:txBody>
      </p:sp>
      <p:pic>
        <p:nvPicPr>
          <p:cNvPr id="5" name="Picture 4" descr="91a04e8802c8690e9736a1b99e0bb8e8d382e0374a490d26387b3aae4d8d5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Using CVE/NVD with Recon Evidence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Tie searches to enumerated versions</a:t>
            </a:r>
          </a:p>
          <a:p>
            <a:pPr/>
            <a:r>
              <a:rPr sz="1800"/>
              <a:t>Precise vulnerability intel for adversary infrastructure</a:t>
            </a:r>
          </a:p>
          <a:p>
            <a:pPr/>
            <a:r>
              <a:rPr sz="1800"/>
              <a:t>Record: CVE ID, affected versions, attack vector, privileges required</a:t>
            </a:r>
          </a:p>
          <a:p>
            <a:pPr/>
            <a:r>
              <a:rPr sz="1800"/>
              <a:t>Handoff artifact: short vuln note for exploit search</a:t>
            </a:r>
          </a:p>
        </p:txBody>
      </p:sp>
      <p:pic>
        <p:nvPicPr>
          <p:cNvPr id="5" name="Picture 4" descr="bb9a7719c473f26bcc4b0ed94d8a911da9a345b9b978d616fb89fd142cfa86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CVSS Scoring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CVSS:</a:t>
            </a:r>
            <a:r>
              <a:rPr sz="1800"/>
              <a:t> scores 0–10</a:t>
            </a:r>
          </a:p>
          <a:p>
            <a:pPr/>
            <a:r>
              <a:rPr sz="1800"/>
              <a:t>Base (severity), Temporal (exploit maturity), Environmental (context)</a:t>
            </a:r>
          </a:p>
          <a:p>
            <a:pPr/>
            <a:r>
              <a:rPr sz="1800"/>
              <a:t>High band (~7.0–10.0): prioritize for review</a:t>
            </a:r>
          </a:p>
          <a:p>
            <a:pPr/>
            <a:r>
              <a:rPr sz="1800"/>
              <a:t>Example: CVSS 9.8 remote exploit → strong suitability signal—not automatic go</a:t>
            </a:r>
          </a:p>
        </p:txBody>
      </p:sp>
      <p:pic>
        <p:nvPicPr>
          <p:cNvPr id="5" name="Picture 4" descr="2f4509730c65a262a5641f7daebbd4a0504bccc181bd108532eb6392016fcb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Vendor Resources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Official patches and bulletins (e.g., Microsoft Security Updates for SMB vulns)</a:t>
            </a:r>
          </a:p>
          <a:p>
            <a:pPr/>
            <a:r>
              <a:rPr sz="1800"/>
              <a:t>Sometimes include PoC snippets or workarounds</a:t>
            </a:r>
          </a:p>
          <a:p>
            <a:pPr/>
            <a:r>
              <a:rPr sz="1800"/>
              <a:t>Use to verify affected versions and exploit preconditions</a:t>
            </a:r>
          </a:p>
          <a:p>
            <a:pPr/>
            <a:r>
              <a:rPr sz="1800"/>
              <a:t>Cross-check community exploits against vendor affected-product lists</a:t>
            </a:r>
          </a:p>
        </p:txBody>
      </p:sp>
      <p:pic>
        <p:nvPicPr>
          <p:cNvPr id="5" name="Picture 4" descr="38faa314eac9c76bee20967c1fc4c36d53bb0cd48db4671a7cb089a52e8615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Step-by-Step Vulnerability Process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1. Identify service/version from enumeration (e.g., SSH 7.4)</a:t>
            </a:r>
          </a:p>
          <a:p>
            <a:pPr/>
            <a:r>
              <a:rPr sz="1800"/>
              <a:t>2. Search CVE/NVD for matches</a:t>
            </a:r>
          </a:p>
          <a:p>
            <a:pPr/>
            <a:r>
              <a:rPr sz="1800"/>
              <a:t>3. Evaluate exploitability (CVSS, requirements)</a:t>
            </a:r>
          </a:p>
          <a:p>
            <a:pPr/>
            <a:r>
              <a:rPr sz="1800"/>
              <a:t>4. Assess operational suitability (stealth, impact, reliability)</a:t>
            </a:r>
          </a:p>
        </p:txBody>
      </p:sp>
      <p:pic>
        <p:nvPicPr>
          <p:cNvPr id="5" name="Picture 4" descr="324c623bee3ebc25c84ab02eb42505d98b5e8637159fffd1de56c825b030f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Blue-Space Validation Before Employment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Research from a controlled vantage</a:t>
            </a:r>
          </a:p>
          <a:p>
            <a:pPr/>
            <a:r>
              <a:rPr sz="1800"/>
              <a:t>Validate against simulated targets when possible</a:t>
            </a:r>
          </a:p>
          <a:p>
            <a:pPr/>
            <a:r>
              <a:rPr sz="1800"/>
              <a:t>Verify effects and failure modes without burning the live path</a:t>
            </a:r>
          </a:p>
          <a:p>
            <a:pPr/>
            <a:r>
              <a:rPr sz="1800"/>
              <a:t>Carry forward only candidates that survive lab checks</a:t>
            </a:r>
          </a:p>
        </p:txBody>
      </p:sp>
      <p:pic>
        <p:nvPicPr>
          <p:cNvPr id="5" name="Picture 4" descr="ec768ed4a015896edd44016d322aaa31e09710d1f07df5ff9452cad0a67cbd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Evaluate Exploitability and Impact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Assessment criteria</a:t>
            </a:r>
          </a:p>
          <a:p>
            <a:pPr/>
            <a:r>
              <a:rPr sz="1800"/>
              <a:t>Exploitability: auth required? local or remote?</a:t>
            </a:r>
          </a:p>
          <a:p>
            <a:pPr/>
            <a:r>
              <a:rPr sz="1800"/>
              <a:t>Impact: confidentiality / integrity / availability effects</a:t>
            </a:r>
          </a:p>
          <a:p>
            <a:pPr/>
            <a:r>
              <a:rPr sz="1800"/>
              <a:t>Prefer remote, unauthenticated paths for initial access when mission allows</a:t>
            </a:r>
          </a:p>
          <a:p>
            <a:pPr/>
            <a:r>
              <a:rPr sz="1800"/>
              <a:t>Example impact framing: disrupt botnet controller availability vs read-only leak</a:t>
            </a:r>
          </a:p>
        </p:txBody>
      </p:sp>
      <p:pic>
        <p:nvPicPr>
          <p:cNvPr id="5" name="Picture 4" descr="fc326b6fa56d6eee3c48952ceb19229f624c54d47ea4ab850e9d6ea57b323d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Open-Source Exploit Ecosystem</a:t>
            </a:r>
          </a:p>
        </p:txBody>
      </p:sp>
      <p:pic>
        <p:nvPicPr>
          <p:cNvPr id="5" name="Picture 4" descr="c3a7a8bfbc3314f953bd8fae785ab1e2925fa3ddc1ef6303c01876adae2f1d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Primary Source — ExploitDB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Archive of public exploits and PoCs indexed by product, version, and CVE</a:t>
            </a:r>
          </a:p>
          <a:p>
            <a:pPr/>
            <a:r>
              <a:rPr sz="1800"/>
              <a:t>Query by observed service/version (example: </a:t>
            </a:r>
            <a:r>
              <a:rPr sz="1800">
                <a:latin typeface="Courier New"/>
              </a:rPr>
              <a:t>Apache 2.4.49</a:t>
            </a:r>
            <a:r>
              <a:rPr sz="1800"/>
              <a:t>)</a:t>
            </a:r>
          </a:p>
          <a:p>
            <a:pPr/>
            <a:r>
              <a:rPr sz="1800"/>
              <a:t>Prefer matches that align with platform and remote/local constraints from recon</a:t>
            </a:r>
          </a:p>
          <a:p>
            <a:pPr/>
            <a:r>
              <a:rPr sz="1800"/>
              <a:t>Goal: candidates whose type and prerequisites match the observed service—not a guaranteed shell</a:t>
            </a:r>
          </a:p>
        </p:txBody>
      </p:sp>
      <p:pic>
        <p:nvPicPr>
          <p:cNvPr id="5" name="Picture 4" descr="c9b8021c51dae636ebc9252c16b37bd889931f6fe76d34a76adb7ca6b79776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GitHub as Exploit Repository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Repos: ExploitDB mirrors and user-shared PoCs</a:t>
            </a:r>
          </a:p>
          <a:p>
            <a:pPr/>
            <a:r>
              <a:rPr sz="1800"/>
              <a:t>Search: "CVE-2021-44228 exploit" pattern</a:t>
            </a:r>
          </a:p>
          <a:p>
            <a:pPr/>
            <a:r>
              <a:rPr sz="1800"/>
              <a:t>Clone for modification</a:t>
            </a:r>
          </a:p>
          <a:p>
            <a:pPr/>
            <a:r>
              <a:rPr sz="1800"/>
              <a:t>Use stars/forks as weak quality signals—not proof</a:t>
            </a:r>
          </a:p>
        </p:txBody>
      </p:sp>
      <p:pic>
        <p:nvPicPr>
          <p:cNvPr id="5" name="Picture 4" descr="3aa2c071f1692151fc7e79286db810d1f85bbd81b58ae5d345c53bdfc524b2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Packet Storm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Curated exploits, tools, and advisories</a:t>
            </a:r>
          </a:p>
          <a:p>
            <a:pPr/>
            <a:r>
              <a:rPr sz="1800"/>
              <a:t>Focus: newer vulnerabilities and pre-CVE material</a:t>
            </a:r>
          </a:p>
          <a:p>
            <a:pPr/>
            <a:r>
              <a:rPr sz="1800"/>
              <a:t>Use to supplement ExploitDB for emerging threats</a:t>
            </a:r>
          </a:p>
          <a:p>
            <a:pPr/>
            <a:r>
              <a:rPr sz="1800"/>
              <a:t>Still requires the same suitability checks</a:t>
            </a:r>
          </a:p>
        </p:txBody>
      </p:sp>
      <p:pic>
        <p:nvPicPr>
          <p:cNvPr id="5" name="Picture 4" descr="f86604245ae3ee862a4414b5f3fcb655bca54acb1d729a72fdcd70be8c29c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Blogs and Write-Ups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Researcher blogs, vendor research posts, detailed write-ups</a:t>
            </a:r>
          </a:p>
          <a:p>
            <a:pPr/>
            <a:r>
              <a:rPr sz="1800"/>
              <a:t>Context, modified exploits, chaining techniques</a:t>
            </a:r>
          </a:p>
          <a:p>
            <a:pPr/>
            <a:r>
              <a:rPr sz="1800"/>
              <a:t>Learn adaptation for specific configs found in recon</a:t>
            </a:r>
          </a:p>
          <a:p>
            <a:pPr/>
            <a:r>
              <a:rPr sz="1800"/>
              <a:t>Extract commands and preconditions; discard narrative fluff</a:t>
            </a:r>
          </a:p>
        </p:txBody>
      </p:sp>
      <p:pic>
        <p:nvPicPr>
          <p:cNvPr id="5" name="Picture 4" descr="78f70230c26397b62031afb1f56bdc789f8c5dc8c043e5d21d178fc0c1493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Vendor-Provided PoCs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Examples: vendor research teams publishing sample code</a:t>
            </a:r>
          </a:p>
          <a:p>
            <a:pPr/>
            <a:r>
              <a:rPr sz="1800"/>
              <a:t>Reliable starting points; often basic</a:t>
            </a:r>
          </a:p>
          <a:p>
            <a:pPr/>
            <a:r>
              <a:rPr sz="1800"/>
              <a:t>Extend for full operational effect</a:t>
            </a:r>
          </a:p>
          <a:p>
            <a:pPr/>
            <a:r>
              <a:rPr sz="1800"/>
              <a:t>Validate in labs for compatibility with target stack</a:t>
            </a:r>
          </a:p>
        </p:txBody>
      </p:sp>
      <p:pic>
        <p:nvPicPr>
          <p:cNvPr id="5" name="Picture 4" descr="1bb8112fd751ee1f8120c371b4335165debf03a7e5dcc4e1338b0c8887a0ae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Public Exploits (Ready-to-Run)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Ready-to-run code (e.g., Python RCE scripts)</a:t>
            </a:r>
          </a:p>
          <a:p>
            <a:pPr/>
            <a:r>
              <a:rPr sz="1800"/>
              <a:t>Pros: speed against known vulns</a:t>
            </a:r>
          </a:p>
          <a:p>
            <a:pPr/>
            <a:r>
              <a:rPr sz="1800"/>
              <a:t>Cons: signatures and widespread detection</a:t>
            </a:r>
          </a:p>
          <a:p>
            <a:pPr/>
            <a:r>
              <a:rPr sz="1800"/>
              <a:t>Fit: immediate access attempts on exposed adversary services after vetting</a:t>
            </a:r>
          </a:p>
        </p:txBody>
      </p:sp>
      <p:pic>
        <p:nvPicPr>
          <p:cNvPr id="5" name="Picture 4" descr="82e12044c0ae4c6ff6d758e9aec70f6dab9d258f058765ce06aa4112b9c5cf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PoCs Requiring Modification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Demonstrations, not full exploits (e.g., crash reproducers)</a:t>
            </a:r>
          </a:p>
          <a:p>
            <a:pPr/>
            <a:r>
              <a:rPr sz="1800"/>
              <a:t>Require tweaks: payloads, offsets, target OS/version</a:t>
            </a:r>
          </a:p>
          <a:p>
            <a:pPr/>
            <a:r>
              <a:rPr sz="1800"/>
              <a:t>Modify on the ops station for target-specific use</a:t>
            </a:r>
          </a:p>
          <a:p>
            <a:pPr/>
            <a:r>
              <a:rPr sz="1800"/>
              <a:t>Goal: reliable effect, not demo crash</a:t>
            </a:r>
          </a:p>
        </p:txBody>
      </p:sp>
      <p:pic>
        <p:nvPicPr>
          <p:cNvPr id="5" name="Picture 4" descr="9e51831385cd2f11b0cce01e23ba7ea4091cc477243a4137ec308f1c49e21e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Metasploit Framework 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Open-source penetration testing platform (Rapid7)</a:t>
            </a:r>
          </a:p>
          <a:p>
            <a:pPr/>
            <a:r>
              <a:rPr sz="1800"/>
              <a:t>Components: </a:t>
            </a:r>
            <a:r>
              <a:rPr sz="1800">
                <a:latin typeface="Courier New"/>
              </a:rPr>
              <a:t>msfconsole</a:t>
            </a:r>
            <a:r>
              <a:rPr sz="1800"/>
              <a:t>, modules, databases/sessions</a:t>
            </a:r>
          </a:p>
          <a:p>
            <a:pPr/>
            <a:r>
              <a:rPr sz="1800"/>
              <a:t>Modular design chains recon data into exploit attempts</a:t>
            </a:r>
          </a:p>
          <a:p>
            <a:pPr/>
            <a:r>
              <a:rPr sz="1800"/>
              <a:t>Accelerates testing of public exploits against target infrastructure</a:t>
            </a:r>
          </a:p>
        </p:txBody>
      </p:sp>
      <p:pic>
        <p:nvPicPr>
          <p:cNvPr id="5" name="Picture 4" descr="805e8e68f240b03033bb1bf543dbd127d8b48db8d7af17728413ee434e4b55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Metasploit — Core Strength for 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Feed Nmap/service intel into module options</a:t>
            </a:r>
          </a:p>
          <a:p>
            <a:pPr/>
            <a:r>
              <a:rPr sz="1800"/>
              <a:t>Automate repetitive option setting and payload handling</a:t>
            </a:r>
          </a:p>
          <a:p>
            <a:pPr/>
            <a:r>
              <a:rPr sz="1800"/>
              <a:t>Useful for rapid iteration during access attempts</a:t>
            </a:r>
          </a:p>
          <a:p>
            <a:pPr/>
            <a:r>
              <a:rPr sz="1800"/>
              <a:t>Still requires correct RHOST/LHOST and version match</a:t>
            </a:r>
          </a:p>
        </p:txBody>
      </p:sp>
      <p:pic>
        <p:nvPicPr>
          <p:cNvPr id="5" name="Picture 4" descr="cdd3d3df3a9756678e10caecabd70d3d5dab7bc2f3ddb2fb707fd4c8235a0c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Metasploit — Key Features for This Course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2,000+ modules (example class: SMB EternalBlue </a:t>
            </a:r>
            <a:r>
              <a:rPr sz="1800">
                <a:latin typeface="Courier New"/>
              </a:rPr>
              <a:t>ms17_010_*</a:t>
            </a:r>
            <a:r>
              <a:rPr sz="1800"/>
              <a:t> / CVE-2017-0144 family)</a:t>
            </a:r>
          </a:p>
          <a:p>
            <a:pPr/>
            <a:r>
              <a:rPr sz="1800"/>
              <a:t>Payloads: reverse shells, Meterpreter for post-access work</a:t>
            </a:r>
          </a:p>
          <a:p>
            <a:pPr/>
            <a:r>
              <a:rPr sz="1800"/>
              <a:t>Auxiliary modules: scanners and version/vuln checks</a:t>
            </a:r>
          </a:p>
          <a:p>
            <a:pPr/>
            <a:r>
              <a:rPr sz="1800"/>
              <a:t>Resource scripts: automate repeatable workflows</a:t>
            </a:r>
          </a:p>
        </p:txBody>
      </p:sp>
      <p:pic>
        <p:nvPicPr>
          <p:cNvPr id="5" name="Picture 4" descr="e871c485aaa45f5500eadfded96c920b5957f82e0d9567fee426c501c78eb6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Metasploit — Basic Usage Workflow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Launch: </a:t>
            </a:r>
            <a:r>
              <a:rPr sz="1800">
                <a:latin typeface="Courier New"/>
              </a:rPr>
              <a:t>msfconsole</a:t>
            </a:r>
          </a:p>
          <a:p>
            <a:pPr/>
            <a:r>
              <a:rPr sz="1800"/>
              <a:t>Search: </a:t>
            </a:r>
            <a:r>
              <a:rPr sz="1800">
                <a:latin typeface="Courier New"/>
              </a:rPr>
              <a:t>search [keyword]</a:t>
            </a:r>
            <a:r>
              <a:rPr sz="1800"/>
              <a:t> (e.g., </a:t>
            </a:r>
            <a:r>
              <a:rPr sz="1800">
                <a:latin typeface="Courier New"/>
              </a:rPr>
              <a:t>search log4shell</a:t>
            </a:r>
            <a:r>
              <a:rPr sz="1800"/>
              <a:t>)</a:t>
            </a:r>
          </a:p>
          <a:p>
            <a:pPr/>
            <a:r>
              <a:rPr sz="1800"/>
              <a:t>Select: </a:t>
            </a:r>
            <a:r>
              <a:rPr sz="1800">
                <a:latin typeface="Courier New"/>
              </a:rPr>
              <a:t>use exploit/...</a:t>
            </a:r>
          </a:p>
          <a:p>
            <a:pPr/>
            <a:r>
              <a:rPr sz="1800"/>
              <a:t>Configure: </a:t>
            </a:r>
            <a:r>
              <a:rPr sz="1800">
                <a:latin typeface="Courier New"/>
              </a:rPr>
              <a:t>set RHOSTS ...</a:t>
            </a:r>
            <a:r>
              <a:rPr sz="1800"/>
              <a:t> ; </a:t>
            </a:r>
            <a:r>
              <a:rPr sz="1800">
                <a:latin typeface="Courier New"/>
              </a:rPr>
              <a:t>set LHOST ...</a:t>
            </a:r>
          </a:p>
          <a:p>
            <a:pPr/>
            <a:r>
              <a:rPr sz="1800"/>
              <a:t>Execute: </a:t>
            </a:r>
            <a:r>
              <a:rPr sz="1800">
                <a:latin typeface="Courier New"/>
              </a:rPr>
              <a:t>exploit</a:t>
            </a:r>
            <a:r>
              <a:rPr sz="1800"/>
              <a:t> or </a:t>
            </a:r>
            <a:r>
              <a:rPr sz="1800">
                <a:latin typeface="Courier New"/>
              </a:rPr>
              <a:t>run</a:t>
            </a:r>
          </a:p>
          <a:p>
            <a:pPr/>
            <a:r>
              <a:rPr sz="1800"/>
              <a:t>Success signal: session opened for follow-on actions</a:t>
            </a:r>
          </a:p>
        </p:txBody>
      </p:sp>
      <p:pic>
        <p:nvPicPr>
          <p:cNvPr id="5" name="Picture 4" descr="40db932ad8ca06e092a849dd314b1fa6ab8779595a7603525ff17c61629f86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Custom Exploit Development (Out of Scope)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Custom exploit development is advanced</a:t>
            </a:r>
          </a:p>
          <a:p>
            <a:pPr/>
            <a:r>
              <a:rPr sz="1800"/>
              <a:t>This course focuses on leveraging existing open-source work</a:t>
            </a:r>
          </a:p>
          <a:p>
            <a:pPr/>
            <a:r>
              <a:rPr sz="1800"/>
              <a:t>Reuse and adapt community code to accelerate access planning</a:t>
            </a:r>
          </a:p>
          <a:p>
            <a:pPr/>
            <a:r>
              <a:rPr sz="1800"/>
              <a:t>Note custom development as a future training path if needed</a:t>
            </a:r>
          </a:p>
        </p:txBody>
      </p:sp>
      <p:pic>
        <p:nvPicPr>
          <p:cNvPr id="5" name="Picture 4" descr="955b92cfebdd8ceac8cab814024b63b20d826fea425a9f9a1743a0b35eb3d0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Reliability Assessment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Does the exploit work across versions and configs?</a:t>
            </a:r>
          </a:p>
          <a:p>
            <a:pPr/>
            <a:r>
              <a:rPr sz="1800"/>
              <a:t>Review documented success/failure notes</a:t>
            </a:r>
          </a:p>
          <a:p>
            <a:pPr/>
            <a:r>
              <a:rPr sz="1800"/>
              <a:t>Test in a simulated target environment</a:t>
            </a:r>
          </a:p>
          <a:p>
            <a:pPr/>
            <a:r>
              <a:rPr sz="1800"/>
              <a:t>Prefer proven exploits for predictable effects</a:t>
            </a:r>
          </a:p>
        </p:txBody>
      </p:sp>
      <p:pic>
        <p:nvPicPr>
          <p:cNvPr id="5" name="Picture 4" descr="a6a547b867b65f452232e5bad22e8752c5bf08b6e9afc764eca3110d35490f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Stability Check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Will the exploit crash the target without achieving the effect?</a:t>
            </a:r>
          </a:p>
          <a:p>
            <a:pPr/>
            <a:r>
              <a:rPr sz="1800"/>
              <a:t>Watch for unintended DoS from overflow/crash PoCs</a:t>
            </a:r>
          </a:p>
          <a:p>
            <a:pPr/>
            <a:r>
              <a:rPr sz="1800"/>
              <a:t>Lab-test stability before live use</a:t>
            </a:r>
          </a:p>
          <a:p>
            <a:pPr/>
            <a:r>
              <a:rPr sz="1800"/>
              <a:t>Optimize for intended access/effect, not accidental outage—unless outage is the tasked effect</a:t>
            </a:r>
          </a:p>
        </p:txBody>
      </p:sp>
      <p:pic>
        <p:nvPicPr>
          <p:cNvPr id="5" name="Picture 4" descr="05e44fb74f39cf0272a239ebe58f941849ebe1897c69a20d33607f5066f88e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Requirements 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Preconditions: paths, credentials, configs, reachable ports</a:t>
            </a:r>
          </a:p>
          <a:p>
            <a:pPr/>
            <a:r>
              <a:rPr sz="1800"/>
              <a:t>Cross-check against recon evidence</a:t>
            </a:r>
          </a:p>
          <a:p>
            <a:pPr/>
            <a:r>
              <a:rPr sz="1800"/>
              <a:t>Example: verify </a:t>
            </a:r>
            <a:r>
              <a:rPr sz="1800">
                <a:latin typeface="Courier New"/>
              </a:rPr>
              <a:t>/admin</a:t>
            </a:r>
            <a:r>
              <a:rPr sz="1800"/>
              <a:t> exists before using an admin-only exploit</a:t>
            </a:r>
          </a:p>
          <a:p>
            <a:pPr/>
            <a:r>
              <a:rPr sz="1800"/>
              <a:t>Align requirements with what you can actually reach from the ops station</a:t>
            </a:r>
          </a:p>
        </p:txBody>
      </p:sp>
      <p:pic>
        <p:nvPicPr>
          <p:cNvPr id="5" name="Picture 4" descr="eaad7a5e380eca3505a172a93993789d73f3acc6e7914d78db1c609cac0aa8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OPSEC Evaluation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How noisy is the exploit?</a:t>
            </a:r>
          </a:p>
          <a:p>
            <a:pPr/>
            <a:r>
              <a:rPr sz="1800"/>
              <a:t>Failed attempts, anomalous traffic, known signatures</a:t>
            </a:r>
          </a:p>
          <a:p>
            <a:pPr/>
            <a:r>
              <a:rPr sz="1800"/>
              <a:t>Reduce detection by adapting PoCs and matching expected traffic patterns when feasible</a:t>
            </a:r>
          </a:p>
          <a:p>
            <a:pPr/>
            <a:r>
              <a:rPr sz="1800"/>
              <a:t>Balance stealth needs against mission urgency</a:t>
            </a:r>
          </a:p>
        </p:txBody>
      </p:sp>
      <p:pic>
        <p:nvPicPr>
          <p:cNvPr id="5" name="Picture 4" descr="a949f1e815fafb06cd6071269d7a4af1409d0a10b927736b65085392eba04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Searchsploit Basics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Often preinstalled on Kali-class images; update with </a:t>
            </a:r>
            <a:r>
              <a:rPr sz="1800">
                <a:latin typeface="Courier New"/>
              </a:rPr>
              <a:t>searchsploit -u</a:t>
            </a:r>
            <a:r>
              <a:rPr sz="1800"/>
              <a:t> when online</a:t>
            </a:r>
          </a:p>
          <a:p>
            <a:pPr/>
            <a:r>
              <a:rPr sz="1800"/>
              <a:t>Syntax: </a:t>
            </a:r>
            <a:r>
              <a:rPr sz="1800">
                <a:latin typeface="Courier New"/>
              </a:rPr>
              <a:t>searchsploit [app] [version] [platform]</a:t>
            </a:r>
          </a:p>
          <a:p>
            <a:pPr/>
            <a:r>
              <a:rPr sz="1800"/>
              <a:t>Example: </a:t>
            </a:r>
            <a:r>
              <a:rPr sz="1800">
                <a:latin typeface="Courier New"/>
              </a:rPr>
              <a:t>searchsploit ssh 7.4 linux</a:t>
            </a:r>
          </a:p>
          <a:p>
            <a:pPr/>
            <a:r>
              <a:rPr sz="1800"/>
              <a:t>Output feeds EDB-ID selection</a:t>
            </a:r>
          </a:p>
        </p:txBody>
      </p:sp>
      <p:pic>
        <p:nvPicPr>
          <p:cNvPr id="5" name="Picture 4" descr="1ca37818bc03be7348570761ad468860be5035d0f50d7157f94daf94ec1ee8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Searchsploit Details and Usage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Output: EDB-ID, type, platform</a:t>
            </a:r>
          </a:p>
          <a:p>
            <a:pPr/>
            <a:r>
              <a:rPr sz="1800"/>
              <a:t>Examine/copy patterns: </a:t>
            </a:r>
            <a:r>
              <a:rPr sz="1800">
                <a:latin typeface="Courier New"/>
              </a:rPr>
              <a:t>searchsploit -m [ID]</a:t>
            </a:r>
            <a:r>
              <a:rPr sz="1800"/>
              <a:t> (mirror/copy into cwd—verify help on your build)</a:t>
            </a:r>
          </a:p>
          <a:p>
            <a:pPr/>
            <a:r>
              <a:rPr sz="1800"/>
              <a:t>Path/print options: </a:t>
            </a:r>
            <a:r>
              <a:rPr sz="1800">
                <a:latin typeface="Courier New"/>
              </a:rPr>
              <a:t>searchsploit -p [ID]</a:t>
            </a:r>
            <a:r>
              <a:rPr sz="1800"/>
              <a:t> (path disclosure for local review)</a:t>
            </a:r>
          </a:p>
          <a:p>
            <a:pPr/>
            <a:r>
              <a:rPr sz="1800"/>
              <a:t>Adapt locally for the target before execution</a:t>
            </a:r>
          </a:p>
        </p:txBody>
      </p:sp>
      <p:pic>
        <p:nvPicPr>
          <p:cNvPr id="5" name="Picture 4" descr="d16d909dd0c4795ff0fd18a4a76b101593a5af859a34ba7abad224f1334c2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GitHub Search Strategies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Keywords: </a:t>
            </a:r>
            <a:r>
              <a:rPr sz="1800">
                <a:latin typeface="Courier New"/>
              </a:rPr>
              <a:t>exploit CVE-XXXX</a:t>
            </a:r>
            <a:r>
              <a:rPr sz="1800"/>
              <a:t> or </a:t>
            </a:r>
            <a:r>
              <a:rPr sz="1800">
                <a:latin typeface="Courier New"/>
              </a:rPr>
              <a:t>PoC [service]</a:t>
            </a:r>
          </a:p>
          <a:p>
            <a:pPr/>
            <a:r>
              <a:rPr sz="1800"/>
              <a:t>Filters: language (e.g., Python), stars as a weak prior</a:t>
            </a:r>
          </a:p>
          <a:p>
            <a:pPr/>
            <a:r>
              <a:rPr sz="1800"/>
              <a:t>Look for recent commits on emerging issues</a:t>
            </a:r>
          </a:p>
          <a:p>
            <a:pPr/>
            <a:r>
              <a:rPr sz="1800"/>
              <a:t>Save the exact query you used in notes</a:t>
            </a:r>
          </a:p>
        </p:txBody>
      </p:sp>
      <p:pic>
        <p:nvPicPr>
          <p:cNvPr id="5" name="Picture 4" descr="a7a2cd88982b45edfde53491fa566492b57d86abf938a7900e5bb2041ac014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900"/>
              <a:t>GitHub Quality Check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 wrap="square">
            <a:normAutofit/>
          </a:bodyPr>
          <a:lstStyle/>
          <a:p>
            <a:pPr/>
            <a:r>
              <a:rPr sz="1400"/>
              <a:t>Metrics: stars, forks, last commit, author reputation signals</a:t>
            </a:r>
          </a:p>
          <a:p>
            <a:pPr/>
            <a:r>
              <a:rPr sz="1400"/>
              <a:t>Read issues/PRs for fixes and failure reports</a:t>
            </a:r>
          </a:p>
          <a:p>
            <a:pPr/>
            <a:r>
              <a:rPr sz="1400"/>
              <a:t>Cross-check claims against CVE/NVD details</a:t>
            </a:r>
          </a:p>
          <a:p>
            <a:pPr/>
            <a:r>
              <a:rPr sz="1400"/>
              <a:t>Use SI assistants to accelerate leads, not replace research; verify every SI lead against primary sources, version evidence, and reviewed code</a:t>
            </a:r>
          </a:p>
          <a:p>
            <a:pPr/>
            <a:r>
              <a:rPr sz="1400"/>
              <a:t>Reject repos that disagree with affected-version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0611" y="1574799"/>
            <a:ext cx="7091600" cy="4781253"/>
          </a:xfrm>
          <a:prstGeom prst="rect">
            <a:avLst/>
          </a:prstGeom>
          <a:solidFill>
            <a:srgbClr val="D9D9D9"/>
          </a:solidFill>
          <a:ln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Image Placeholder</a:t>
            </a:r>
          </a:p>
        </p:txBody>
      </p:sp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Cloning and Adaptation Process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>
                <a:latin typeface="Courier New"/>
              </a:rPr>
              <a:t>git clone [repo URL]</a:t>
            </a:r>
          </a:p>
          <a:p>
            <a:pPr/>
            <a:r>
              <a:rPr sz="1800"/>
              <a:t>Modify parameters for target IP/version</a:t>
            </a:r>
          </a:p>
          <a:p>
            <a:pPr/>
            <a:r>
              <a:rPr sz="1800"/>
              <a:t>Test in a lab simulating the adversary environment</a:t>
            </a:r>
          </a:p>
          <a:p>
            <a:pPr/>
            <a:r>
              <a:rPr sz="1800"/>
              <a:t>Employ only after successful lab validation</a:t>
            </a:r>
          </a:p>
        </p:txBody>
      </p:sp>
      <p:pic>
        <p:nvPicPr>
          <p:cNvPr id="5" name="Picture 4" descr="eb826ce367e657f0e3116453f94708c45aa72d1a97428310fda1917a3f51dc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Initial Access Techniques</a:t>
            </a:r>
          </a:p>
        </p:txBody>
      </p:sp>
      <p:pic>
        <p:nvPicPr>
          <p:cNvPr id="5" name="Picture 4" descr="051f8f5f1fdc44d9bca3c2bc5ba6fb14567402b961e5163c23575be23b5acc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MITRE ATT&amp;CK Initial Access 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TA0001: Initial Access</a:t>
            </a:r>
          </a:p>
          <a:p>
            <a:pPr/>
            <a:r>
              <a:rPr sz="1800"/>
              <a:t>Entry techniques applied against adversary infrastructure</a:t>
            </a:r>
          </a:p>
          <a:p>
            <a:pPr/>
            <a:r>
              <a:rPr sz="1800"/>
              <a:t>Informed by open-source vuln/exploit research</a:t>
            </a:r>
          </a:p>
          <a:p>
            <a:pPr/>
            <a:r>
              <a:rPr sz="1800"/>
              <a:t>Launch from positions that already engage the adversary when feasible</a:t>
            </a:r>
          </a:p>
        </p:txBody>
      </p:sp>
      <p:pic>
        <p:nvPicPr>
          <p:cNvPr id="5" name="Picture 4" descr="7d3f57d8e6b6a62b1d4010ed196bd98a6ac91cad018bff1548fe965cbf5e82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T1190 — Exploit Public-Facing Application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Common fit for exposed application access problems</a:t>
            </a:r>
          </a:p>
          <a:p>
            <a:pPr/>
            <a:r>
              <a:rPr sz="1800"/>
              <a:t>Exploit web apps/APIs on adversary infrastructure (SQLi, RCE via CVE)</a:t>
            </a:r>
          </a:p>
          <a:p>
            <a:pPr/>
            <a:r>
              <a:rPr sz="1800"/>
              <a:t>Example class: Log4Shell-style RCE on a C2 web tier → shell for follow-on effects</a:t>
            </a:r>
          </a:p>
          <a:p>
            <a:pPr/>
            <a:r>
              <a:rPr sz="1800"/>
              <a:t>Select exploits from enumerated versions</a:t>
            </a:r>
          </a:p>
        </p:txBody>
      </p:sp>
      <p:pic>
        <p:nvPicPr>
          <p:cNvPr id="5" name="Picture 4" descr="c1574f0c9a7b7c58ca1e5cbf3b035c86ed2b6ed570b9db66799c55528c961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T1190 Examples — Web RCE Paths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Web server exploits and RCE</a:t>
            </a:r>
          </a:p>
          <a:p>
            <a:pPr/>
            <a:r>
              <a:rPr sz="1800"/>
              <a:t>Tools: Metasploit modules or adapted PoCs</a:t>
            </a:r>
          </a:p>
          <a:p>
            <a:pPr/>
            <a:r>
              <a:rPr sz="1800"/>
              <a:t>Operational pattern: foothold on public attack nodes, then follow-on actions</a:t>
            </a:r>
          </a:p>
          <a:p>
            <a:pPr/>
            <a:r>
              <a:rPr sz="1800"/>
              <a:t>Timing and preparation still matter for detection management</a:t>
            </a:r>
          </a:p>
        </p:txBody>
      </p:sp>
      <p:pic>
        <p:nvPicPr>
          <p:cNvPr id="5" name="Picture 4" descr="6d71d1b320e4989b7287a4dfddf1bf1556059b2bdf2dff5ca50c24ffcef3e3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T1133 — External Remote Services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Targets: VPN, RDP, SSH</a:t>
            </a:r>
          </a:p>
          <a:p>
            <a:pPr/>
            <a:r>
              <a:rPr sz="1800"/>
              <a:t>Examples: RDP vulnerability classes (e.g., BlueKeep-era), SSH weak keys/creds from enum</a:t>
            </a:r>
          </a:p>
          <a:p>
            <a:pPr/>
            <a:r>
              <a:rPr sz="1800"/>
              <a:t>Credential path vs exploit path</a:t>
            </a:r>
          </a:p>
          <a:p>
            <a:pPr/>
            <a:r>
              <a:rPr sz="1800"/>
              <a:t>Compromise remote services on adversary infrastructure for deeper reach</a:t>
            </a:r>
          </a:p>
        </p:txBody>
      </p:sp>
      <p:pic>
        <p:nvPicPr>
          <p:cNvPr id="5" name="Picture 4" descr="2a38af3bfd11a262307365355b3f0440ebbe0ad48ae0c7213273ee2f8d9ce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T1078 — Valid Accounts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Using discovered or recovered credentials</a:t>
            </a:r>
          </a:p>
          <a:p>
            <a:pPr/>
            <a:r>
              <a:rPr sz="1800"/>
              <a:t>Sources: enum (e.g., enum4linux users), breach corpora analogs, hunt-derived IOCs/creds</a:t>
            </a:r>
          </a:p>
          <a:p>
            <a:pPr/>
            <a:r>
              <a:rPr sz="1800"/>
              <a:t>Techniques: stuffing (reused passwords), spraying (common passwords)</a:t>
            </a:r>
          </a:p>
          <a:p>
            <a:pPr/>
            <a:r>
              <a:rPr sz="1800"/>
              <a:t>Auth to adversary services for lower-noise access when creds work</a:t>
            </a:r>
          </a:p>
        </p:txBody>
      </p:sp>
      <p:pic>
        <p:nvPicPr>
          <p:cNvPr id="5" name="Picture 4" descr="4f79ff1dfbaef7dd6546175fa1cfc96fdba4935d726c286e2086e356e1f847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T1534 — Internal Spearphishing (Concept)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Seed the blue environment for adversary collection</a:t>
            </a:r>
          </a:p>
          <a:p>
            <a:pPr/>
            <a:r>
              <a:rPr sz="1800"/>
              <a:t>Plant lures (docs with payloads, tracking artifacts) where adversary collection is expected</a:t>
            </a:r>
          </a:p>
          <a:p>
            <a:pPr/>
            <a:r>
              <a:rPr sz="1800"/>
              <a:t>Bait mimics high-value material the adversary wants</a:t>
            </a:r>
          </a:p>
          <a:p>
            <a:pPr/>
            <a:r>
              <a:rPr sz="1800"/>
              <a:t>Flips collection behavior into a counter-access opportunity</a:t>
            </a:r>
          </a:p>
        </p:txBody>
      </p:sp>
      <p:pic>
        <p:nvPicPr>
          <p:cNvPr id="5" name="Picture 4" descr="5ea8b02c20be97384eed21562ddedad42de26325c7a14fb3a3d9b36849bb4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T1534 — Trigger Path and Value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When adversary opens/collects the lure, trigger callback or follow-on exploit path</a:t>
            </a:r>
          </a:p>
          <a:p>
            <a:pPr/>
            <a:r>
              <a:rPr sz="1800"/>
              <a:t>Aim: access into adversary infrastructure via their own collection cycle</a:t>
            </a:r>
          </a:p>
          <a:p>
            <a:pPr/>
            <a:r>
              <a:rPr sz="1800"/>
              <a:t>Expands options against C2/analysis nodes</a:t>
            </a:r>
          </a:p>
          <a:p>
            <a:pPr/>
            <a:r>
              <a:rPr sz="1800"/>
              <a:t>Requires monitoring for collection triggers and safe callback handling</a:t>
            </a:r>
          </a:p>
        </p:txBody>
      </p:sp>
      <p:pic>
        <p:nvPicPr>
          <p:cNvPr id="5" name="Picture 4" descr="126db601824b2f6f88f6a7e5fa897bf351debd514f7b27bc097e1768e8ef97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When to Use Each Technique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T1190:</a:t>
            </a:r>
            <a:r>
              <a:rPr sz="1800"/>
              <a:t> public web/app exposure; strong recon yield</a:t>
            </a:r>
          </a:p>
          <a:p>
            <a:pPr/>
            <a:r>
              <a:rPr b="1" sz="1800"/>
              <a:t>T1133:</a:t>
            </a:r>
            <a:r>
              <a:rPr sz="1800"/>
              <a:t> remote services with vulns or weak exposure</a:t>
            </a:r>
          </a:p>
          <a:p>
            <a:pPr/>
            <a:r>
              <a:rPr b="1" sz="1800"/>
              <a:t>T1078:</a:t>
            </a:r>
            <a:r>
              <a:rPr sz="1800"/>
              <a:t> creds available; lower exploit risk preferred</a:t>
            </a:r>
          </a:p>
          <a:p>
            <a:pPr/>
            <a:r>
              <a:rPr b="1" sz="1800"/>
              <a:t>T1534:</a:t>
            </a:r>
            <a:r>
              <a:rPr sz="1800"/>
              <a:t> adversary expected to collect from blue space</a:t>
            </a:r>
          </a:p>
          <a:p>
            <a:pPr/>
            <a:r>
              <a:rPr sz="1800"/>
              <a:t>Base selection on open-source findings plus target environment</a:t>
            </a:r>
          </a:p>
        </p:txBody>
      </p:sp>
      <p:pic>
        <p:nvPicPr>
          <p:cNvPr id="5" name="Picture 4" descr="78baf594c7b2dde0acec1db318def03e9a79ea3c6dd8d423caf9ac47845446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Operational Considerations for T1190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Prefer modified PoCs when signature evasion matters</a:t>
            </a:r>
          </a:p>
          <a:p>
            <a:pPr/>
            <a:r>
              <a:rPr sz="1800"/>
              <a:t>Favor RCE paths when follow-on effects need a session</a:t>
            </a:r>
          </a:p>
          <a:p>
            <a:pPr/>
            <a:r>
              <a:rPr sz="1800"/>
              <a:t>Prepare callbacks and success criteria before launch</a:t>
            </a:r>
          </a:p>
          <a:p>
            <a:pPr/>
            <a:r>
              <a:rPr sz="1800"/>
              <a:t>Route and timing choices still affect detectability</a:t>
            </a:r>
          </a:p>
        </p:txBody>
      </p:sp>
      <p:pic>
        <p:nvPicPr>
          <p:cNvPr id="5" name="Picture 4" descr="2be15f1caa2ea119385cb6a5458325e8c1c45bcda37c21439ae9a5b6756281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Operational Considerations for Other Techniques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T1133:</a:t>
            </a:r>
            <a:r>
              <a:rPr sz="1800"/>
              <a:t> pivot to the remote service; watch logs and lockouts</a:t>
            </a:r>
          </a:p>
          <a:p>
            <a:pPr/>
            <a:r>
              <a:rPr b="1" sz="1800"/>
              <a:t>T1078:</a:t>
            </a:r>
            <a:r>
              <a:rPr sz="1800"/>
              <a:t> validate creds offline/safely first; build lists from hunt IOCs</a:t>
            </a:r>
          </a:p>
          <a:p>
            <a:pPr/>
            <a:r>
              <a:rPr b="1" sz="1800"/>
              <a:t>T1534:</a:t>
            </a:r>
            <a:r>
              <a:rPr sz="1800"/>
              <a:t> seed lures where collection is likely; monitor for triggers</a:t>
            </a:r>
          </a:p>
          <a:p>
            <a:pPr/>
            <a:r>
              <a:rPr sz="1800"/>
              <a:t>Overall: use controlled ops-station execution and known adversary patterns</a:t>
            </a:r>
          </a:p>
        </p:txBody>
      </p:sp>
      <p:pic>
        <p:nvPicPr>
          <p:cNvPr id="5" name="Picture 4" descr="0f82d220fc0f6a3005eace5d86b79530cc254c1bdd570ffe7de0ef7a734e2e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Blue-Space Advantage — Expected Traffic Blend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Operations from engaged blue space can blend with traffic the adversary already expects</a:t>
            </a:r>
          </a:p>
          <a:p>
            <a:pPr/>
            <a:r>
              <a:rPr sz="1800"/>
              <a:t>Improves reach to assets that ignore unfamiliar sources</a:t>
            </a:r>
          </a:p>
          <a:p>
            <a:pPr/>
            <a:r>
              <a:rPr sz="1800"/>
              <a:t>Supports OPSEC relative to launches from unrelated infrastructure</a:t>
            </a:r>
          </a:p>
          <a:p>
            <a:pPr/>
            <a:r>
              <a:rPr sz="1800"/>
              <a:t>Still requires disciplined volume and timing</a:t>
            </a:r>
          </a:p>
        </p:txBody>
      </p:sp>
      <p:pic>
        <p:nvPicPr>
          <p:cNvPr id="5" name="Picture 4" descr="5c9b4cc07e1a6d3cb7c37a7284943bf7aa7b01ebc0a4fd95a93ec0555220d3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Blue-Space Advantage — Control and Adaptation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Direct control from blue space supports strong OPSEC practices</a:t>
            </a:r>
          </a:p>
          <a:p>
            <a:pPr/>
            <a:r>
              <a:rPr sz="1800"/>
              <a:t>Enables real-time adaptation from ongoing recon</a:t>
            </a:r>
          </a:p>
          <a:p>
            <a:pPr/>
            <a:r>
              <a:rPr sz="1800"/>
              <a:t>Avoids fragile dependence on external intermediaries</a:t>
            </a:r>
          </a:p>
          <a:p>
            <a:pPr/>
            <a:r>
              <a:rPr sz="1800"/>
              <a:t>Supports precise, reportable effects as part of the campaign</a:t>
            </a:r>
          </a:p>
        </p:txBody>
      </p:sp>
      <p:pic>
        <p:nvPicPr>
          <p:cNvPr id="5" name="Picture 4" descr="ffe12cd20f159779c1421cf2269c84424a5a1a178d6a0cf28f2ff20b498992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Operational Suitability Assessment</a:t>
            </a:r>
          </a:p>
        </p:txBody>
      </p:sp>
      <p:pic>
        <p:nvPicPr>
          <p:cNvPr id="5" name="Picture 4" descr="a95c50033cb0ae314e6acfd5ca3135e32fae5258fb24ea179dc4a56b0a2529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Likelihood of Success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Match exploit/technique to recon (version, config, exposure)</a:t>
            </a:r>
          </a:p>
          <a:p>
            <a:pPr/>
            <a:r>
              <a:rPr sz="1800"/>
              <a:t>Lab-simulate the target to verify functionality</a:t>
            </a:r>
          </a:p>
          <a:p>
            <a:pPr/>
            <a:r>
              <a:rPr sz="1800"/>
              <a:t>Prefer high-likelihood paths for reliable disruption or access</a:t>
            </a:r>
          </a:p>
          <a:p>
            <a:pPr/>
            <a:r>
              <a:rPr sz="1800"/>
              <a:t>Low likelihood belongs in contingency COAs, not the primary plan</a:t>
            </a:r>
          </a:p>
        </p:txBody>
      </p:sp>
      <p:pic>
        <p:nvPicPr>
          <p:cNvPr id="5" name="Picture 4" descr="55e5e90c07646e15e3f0c79161f0c13251a2f401fecf16d2f798acaaf0764e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Stealth Assessment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Detectability factors: logs, traffic patterns, app alerts</a:t>
            </a:r>
          </a:p>
          <a:p>
            <a:pPr/>
            <a:r>
              <a:rPr sz="1800"/>
              <a:t>Mitigations: mimic expected patterns; reduce retries; adapt signatures when feasible</a:t>
            </a:r>
          </a:p>
          <a:p>
            <a:pPr/>
            <a:r>
              <a:rPr sz="1800"/>
              <a:t>Balance stealth (persistence/follow-on) vs aggressive speed for time-sensitive effects</a:t>
            </a:r>
          </a:p>
          <a:p>
            <a:pPr/>
            <a:r>
              <a:rPr sz="1800"/>
              <a:t>Record the stealth tradeoff in the COA rationale</a:t>
            </a:r>
          </a:p>
        </p:txBody>
      </p:sp>
      <p:pic>
        <p:nvPicPr>
          <p:cNvPr id="5" name="Picture 4" descr="d7493e5188979838b7e7f2c498eab55205efaa6710439a165403de0959bcd8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Reliability for Consistent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Repeatable outcomes across attempts in similar environments</a:t>
            </a:r>
          </a:p>
          <a:p>
            <a:pPr/>
            <a:r>
              <a:rPr sz="1800"/>
              <a:t>Review community feedback (ExploitDB/GitHub) for failure conditions</a:t>
            </a:r>
          </a:p>
          <a:p>
            <a:pPr/>
            <a:r>
              <a:rPr sz="1800"/>
              <a:t>Prefer techniques with strong demonstrated success in comparable configs</a:t>
            </a:r>
          </a:p>
          <a:p>
            <a:pPr/>
            <a:r>
              <a:rPr sz="1800"/>
              <a:t>Treat "worked once" as insufficient for primary COA</a:t>
            </a:r>
          </a:p>
        </p:txBody>
      </p:sp>
      <p:pic>
        <p:nvPicPr>
          <p:cNvPr id="5" name="Picture 4" descr="ce7425269a66745a3f5fc336dd695527411537e6afab060286f1072b7fb805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Risk Evaluation — Technical Side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Unintended crash, data loss, or defensive triggers</a:t>
            </a:r>
          </a:p>
          <a:p>
            <a:pPr/>
            <a:r>
              <a:rPr sz="1800"/>
              <a:t>Side effects can burn access paths or alert defenders</a:t>
            </a:r>
          </a:p>
          <a:p>
            <a:pPr/>
            <a:r>
              <a:rPr sz="1800"/>
              <a:t>Quantify via code review and lab testing</a:t>
            </a:r>
          </a:p>
          <a:p>
            <a:pPr/>
            <a:r>
              <a:rPr sz="1800"/>
              <a:t>Decide whether residual risk is acceptable for the tasked effect</a:t>
            </a:r>
          </a:p>
        </p:txBody>
      </p:sp>
      <p:pic>
        <p:nvPicPr>
          <p:cNvPr id="5" name="Picture 4" descr="519c828c4e95368369db5072d11e50d032c6310b7311b0a36b3974a7c99851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Risk Evaluation — Adversary Response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Anticipate adversary reactions: increased monitoring, path changes, retaliation attempts</a:t>
            </a:r>
          </a:p>
          <a:p>
            <a:pPr/>
            <a:r>
              <a:rPr sz="1800"/>
              <a:t>Assess whether those reactions complicate blue operations</a:t>
            </a:r>
          </a:p>
          <a:p>
            <a:pPr/>
            <a:r>
              <a:rPr sz="1800"/>
              <a:t>Mitigate with staging, timing, and reversible actions when possible</a:t>
            </a:r>
          </a:p>
          <a:p>
            <a:pPr/>
            <a:r>
              <a:rPr sz="1800"/>
              <a:t>Document expected response beside expected effect</a:t>
            </a:r>
          </a:p>
        </p:txBody>
      </p:sp>
      <p:pic>
        <p:nvPicPr>
          <p:cNvPr id="5" name="Picture 4" descr="d65dc1a65305f220371561c706331cf4b2fc7d68842279439daa94064e572b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Mission Alignment and Decision Trail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Verify the chosen exploit/technique supports the tasked effect</a:t>
            </a:r>
          </a:p>
          <a:p>
            <a:pPr/>
            <a:r>
              <a:rPr sz="1800"/>
              <a:t>Keep selections within assigned targets and mission scope</a:t>
            </a:r>
          </a:p>
          <a:p>
            <a:pPr/>
            <a:r>
              <a:rPr sz="1800"/>
              <a:t>Record approvals/decisions needed by your team process</a:t>
            </a:r>
          </a:p>
          <a:p>
            <a:pPr/>
            <a:r>
              <a:rPr sz="1800"/>
              <a:t>Maintain a selection trail: why this CVE, why this code, why this technique</a:t>
            </a:r>
          </a:p>
        </p:txBody>
      </p:sp>
      <p:pic>
        <p:nvPicPr>
          <p:cNvPr id="5" name="Picture 4" descr="e6d008b766bbe0131a4bd1fe51f1c7ca33df1fdad353f8d45b22158051a358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Time Considerations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Estimate prep, execution, and cleanup time</a:t>
            </a:r>
          </a:p>
          <a:p>
            <a:pPr/>
            <a:r>
              <a:rPr sz="1800"/>
              <a:t>Example contrast: ~1 hour adapting a PoC vs ~10 minutes running a ready MSF module</a:t>
            </a:r>
          </a:p>
          <a:p>
            <a:pPr/>
            <a:r>
              <a:rPr sz="1800"/>
              <a:t>Account for recon-to-exploit cycle under a changing target</a:t>
            </a:r>
          </a:p>
          <a:p>
            <a:pPr/>
            <a:r>
              <a:rPr sz="1800"/>
              <a:t>Use parallel lab research to compress timelines</a:t>
            </a:r>
          </a:p>
        </p:txBody>
      </p:sp>
      <p:pic>
        <p:nvPicPr>
          <p:cNvPr id="5" name="Picture 4" descr="a8f19ef3623a08111f9201046646206cd72257681210fac889b2b187c68f6e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Balancing Factors — Decision Matrix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Build a simple weighted matrix for the decision</a:t>
            </a:r>
          </a:p>
          <a:p>
            <a:pPr/>
            <a:r>
              <a:rPr sz="1800"/>
              <a:t>Example weights: likelihood 40%, stealth 20%, reliability 15%—adjust to mission</a:t>
            </a:r>
          </a:p>
          <a:p>
            <a:pPr/>
            <a:r>
              <a:rPr sz="1800"/>
              <a:t>Score candidate COAs against the same criteria</a:t>
            </a:r>
          </a:p>
          <a:p>
            <a:pPr/>
            <a:r>
              <a:rPr sz="1800"/>
              <a:t>Select with transparent math, not vibes</a:t>
            </a:r>
          </a:p>
        </p:txBody>
      </p:sp>
      <p:pic>
        <p:nvPicPr>
          <p:cNvPr id="5" name="Picture 4" descr="247eed4467275f3424896019dce8428066a8b9059128920bd9c1111fc360fb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Balancing Factors — COA Comparison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Example: noisy high-success exploit for urgent C2 disruption when speed matters</a:t>
            </a:r>
          </a:p>
          <a:p>
            <a:pPr/>
            <a:r>
              <a:rPr sz="1800"/>
              <a:t>Compare against quieter alternatives when persistence matters</a:t>
            </a:r>
          </a:p>
          <a:p>
            <a:pPr/>
            <a:r>
              <a:rPr sz="1800"/>
              <a:t>Use blue-space testing and real-time recon to refine the choice</a:t>
            </a:r>
          </a:p>
          <a:p>
            <a:pPr/>
            <a:r>
              <a:rPr sz="1800"/>
              <a:t>Tie final pick to mission objective and expected adversary response</a:t>
            </a:r>
          </a:p>
        </p:txBody>
      </p:sp>
      <p:pic>
        <p:nvPicPr>
          <p:cNvPr id="5" name="Picture 4" descr="ff8ef69032c2ea2ae3626dfc3043da600e5681ceeb894f797a72740b4a3f94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Documenting Technique Selection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Record why this exploit/technique won</a:t>
            </a:r>
          </a:p>
          <a:p>
            <a:pPr/>
            <a:r>
              <a:rPr sz="1800"/>
              <a:t>Include evidence: CVE match, reliability notes, lab results</a:t>
            </a:r>
          </a:p>
          <a:p>
            <a:pPr/>
            <a:r>
              <a:rPr sz="1800"/>
              <a:t>Supports debriefs, handoffs, and lessons learned</a:t>
            </a:r>
          </a:p>
          <a:p>
            <a:pPr/>
            <a:r>
              <a:rPr sz="1800"/>
              <a:t>Keep note-taking in the same workflow as recon → effect</a:t>
            </a:r>
          </a:p>
        </p:txBody>
      </p:sp>
      <p:pic>
        <p:nvPicPr>
          <p:cNvPr id="5" name="Picture 4" descr="6ef3cb8ed3acda379ef786c55c8791077127650b4075aeaf672e200ea40e66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Key Takeaways — Research Pipeline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Pipeline: enumerate services/versions → CVE/NVD search → exploit evaluation → ATT&amp;CK technique selection</a:t>
            </a:r>
          </a:p>
          <a:p>
            <a:pPr/>
            <a:r>
              <a:rPr sz="1800"/>
              <a:t>Sources: NVD for vuln detail, ExploitDB for code, GitHub for PoCs</a:t>
            </a:r>
          </a:p>
          <a:p>
            <a:pPr/>
            <a:r>
              <a:rPr sz="1800"/>
              <a:t>Build a repeatable research habit, not one-off searches</a:t>
            </a:r>
          </a:p>
        </p:txBody>
      </p:sp>
      <p:pic>
        <p:nvPicPr>
          <p:cNvPr id="5" name="Picture 4" descr="1784eaf1a8e87fdbc87ba3cf9557f8647ba1fdcf12facd310c67d0225055e0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Key Takeaways — ATT&amp;CK and Positioning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Research enables </a:t>
            </a:r>
            <a:r>
              <a:rPr b="1" sz="1800"/>
              <a:t>TA0001 Initial Access</a:t>
            </a:r>
            <a:r>
              <a:rPr sz="1800"/>
              <a:t> techniques</a:t>
            </a:r>
          </a:p>
          <a:p>
            <a:pPr/>
            <a:r>
              <a:rPr sz="1800"/>
              <a:t>Turns recon into access capability</a:t>
            </a:r>
          </a:p>
          <a:p>
            <a:pPr/>
            <a:r>
              <a:rPr sz="1800"/>
              <a:t>Blue-space positioning improves validation and adaptation</a:t>
            </a:r>
          </a:p>
          <a:p>
            <a:pPr/>
            <a:r>
              <a:rPr sz="1800"/>
              <a:t>Controlled testing beats untested live attempts</a:t>
            </a:r>
          </a:p>
        </p:txBody>
      </p:sp>
      <p:pic>
        <p:nvPicPr>
          <p:cNvPr id="5" name="Picture 4" descr="546dceedbce0447f41dfa5e6c1762cbc0dd3a2e5cf511e647ad564ecf75e76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Up Next — Practical Application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Next: controlled labs applying Searchsploit and Metasploit</a:t>
            </a:r>
          </a:p>
          <a:p>
            <a:pPr/>
            <a:r>
              <a:rPr sz="1800"/>
              <a:t>Build on lecture concepts against simulated targets</a:t>
            </a:r>
          </a:p>
          <a:p>
            <a:pPr/>
            <a:r>
              <a:rPr sz="1800"/>
              <a:t>Primary practical hooks: Searchsploit and exploit judgment; Metasploit fluency; later access paths across common services</a:t>
            </a:r>
          </a:p>
          <a:p>
            <a:pPr/>
            <a:r>
              <a:rPr sz="1800"/>
              <a:t>Bring recon notes and a blank suitability checklist</a:t>
            </a:r>
          </a:p>
        </p:txBody>
      </p:sp>
      <p:pic>
        <p:nvPicPr>
          <p:cNvPr id="5" name="Picture 4" descr="c15027d08aa2a9a26593a1d432ace0e8d10c18a50a4976d4f605d5b27306f5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Open floor</a:t>
            </a:r>
          </a:p>
        </p:txBody>
      </p:sp>
      <p:pic>
        <p:nvPicPr>
          <p:cNvPr id="5" name="Picture 4" descr="c90a376921fc960b9dd7e2882814e9efe481c800eae004ab300c2a5d6859dc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Questions?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berTemplateL_Green Unclas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420</Words>
  <Application>Microsoft Office PowerPoint</Application>
  <PresentationFormat>Widescreen</PresentationFormat>
  <Paragraphs>45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Noto Sans Symbols</vt:lpstr>
      <vt:lpstr>Google Sans</vt:lpstr>
      <vt:lpstr>CyberTemplateL_Green Unclass</vt:lpstr>
      <vt:lpstr>Lesson title</vt:lpstr>
      <vt:lpstr>Intro Video</vt:lpstr>
      <vt:lpstr>Lesson Objectives</vt:lpstr>
      <vt:lpstr>What is a Learning Management System?</vt:lpstr>
      <vt:lpstr>Lets log in to Moodle</vt:lpstr>
      <vt:lpstr>Lesson 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Houston, Joshua T</dc:creator>
  <cp:lastModifiedBy>Cross, Clay</cp:lastModifiedBy>
  <cp:revision>1</cp:revision>
  <dcterms:modified xsi:type="dcterms:W3CDTF">2026-10-12T17:41:16Z</dcterms:modified>
</cp:coreProperties>
</file>