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8"/>
    <p:sldId id="257" r:id="rId14"/>
    <p:sldId id="258" r:id="rId15"/>
    <p:sldId id="259" r:id="rId7"/>
    <p:sldId id="260" r:id="rId6"/>
    <p:sldId id="261" r:id="rId5"/>
    <p:sldId id="262" r:id="rId4"/>
    <p:sldId id="263" r:id="rId3"/>
    <p:sldId id="264" r:id="rId2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  <p:sldId id="300" r:id="rId57"/>
    <p:sldId id="301" r:id="rId58"/>
    <p:sldId id="302" r:id="rId59"/>
    <p:sldId id="303" r:id="rId60"/>
    <p:sldId id="304" r:id="rId61"/>
    <p:sldId id="305" r:id="rId62"/>
    <p:sldId id="306" r:id="rId63"/>
    <p:sldId id="307" r:id="rId64"/>
    <p:sldId id="308" r:id="rId65"/>
    <p:sldId id="309" r:id="rId66"/>
    <p:sldId id="310" r:id="rId67"/>
    <p:sldId id="311" r:id="rId68"/>
    <p:sldId id="312" r:id="rId69"/>
    <p:sldId id="313" r:id="rId70"/>
    <p:sldId id="314" r:id="rId71"/>
    <p:sldId id="315" r:id="rId72"/>
    <p:sldId id="316" r:id="rId73"/>
    <p:sldId id="317" r:id="rId74"/>
    <p:sldId id="318" r:id="rId75"/>
    <p:sldId id="319" r:id="rId76"/>
    <p:sldId id="320" r:id="rId77"/>
    <p:sldId id="321" r:id="rId78"/>
    <p:sldId id="322" r:id="rId79"/>
    <p:sldId id="323" r:id="rId80"/>
    <p:sldId id="324" r:id="rId81"/>
    <p:sldId id="325" r:id="rId82"/>
    <p:sldId id="326" r:id="rId83"/>
  </p:sldIdLst>
  <p:sldSz cx="12192000" cy="6858000"/>
  <p:notesSz cx="6858000" cy="9144000"/>
  <p:embeddedFontLst>
    <p:embeddedFont>
      <p:font typeface="Google Sans" panose="020B0604020202020204" charset="0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6" roundtripDataSignature="AMtx7mj7TtVeiHhDOAAACQUvrCI66Sw72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5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customschemas.google.com/relationships/presentationmetadata" Target="meta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Relationship Id="rId70" Type="http://schemas.openxmlformats.org/officeDocument/2006/relationships/slide" Target="slides/slide58.xml"/><Relationship Id="rId71" Type="http://schemas.openxmlformats.org/officeDocument/2006/relationships/slide" Target="slides/slide59.xml"/><Relationship Id="rId72" Type="http://schemas.openxmlformats.org/officeDocument/2006/relationships/slide" Target="slides/slide60.xml"/><Relationship Id="rId73" Type="http://schemas.openxmlformats.org/officeDocument/2006/relationships/slide" Target="slides/slide61.xml"/><Relationship Id="rId74" Type="http://schemas.openxmlformats.org/officeDocument/2006/relationships/slide" Target="slides/slide62.xml"/><Relationship Id="rId75" Type="http://schemas.openxmlformats.org/officeDocument/2006/relationships/slide" Target="slides/slide63.xml"/><Relationship Id="rId76" Type="http://schemas.openxmlformats.org/officeDocument/2006/relationships/slide" Target="slides/slide64.xml"/><Relationship Id="rId77" Type="http://schemas.openxmlformats.org/officeDocument/2006/relationships/slide" Target="slides/slide65.xml"/><Relationship Id="rId78" Type="http://schemas.openxmlformats.org/officeDocument/2006/relationships/slide" Target="slides/slide66.xml"/><Relationship Id="rId79" Type="http://schemas.openxmlformats.org/officeDocument/2006/relationships/slide" Target="slides/slide67.xml"/><Relationship Id="rId80" Type="http://schemas.openxmlformats.org/officeDocument/2006/relationships/slide" Target="slides/slide68.xml"/><Relationship Id="rId81" Type="http://schemas.openxmlformats.org/officeDocument/2006/relationships/slide" Target="slides/slide69.xml"/><Relationship Id="rId82" Type="http://schemas.openxmlformats.org/officeDocument/2006/relationships/slide" Target="slides/slide70.xml"/><Relationship Id="rId83" Type="http://schemas.openxmlformats.org/officeDocument/2006/relationships/slide" Target="slides/slide7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ross, Clay" userId="f346be3b-e1cb-4aec-811e-8a3f5d1dd33f" providerId="ADAL" clId="{5AB2DC96-CDCC-45B4-B053-2F2446580AF9}"/>
    <pc:docChg chg="modSld modMainMaster">
      <pc:chgData name="Cross, Clay" userId="f346be3b-e1cb-4aec-811e-8a3f5d1dd33f" providerId="ADAL" clId="{5AB2DC96-CDCC-45B4-B053-2F2446580AF9}" dt="2026-10-12T17:41:14.911" v="31" actId="20577"/>
      <pc:docMkLst>
        <pc:docMk/>
      </pc:docMkLst>
      <pc:sldChg chg="addSp modSp mod">
        <pc:chgData name="Cross, Clay" userId="f346be3b-e1cb-4aec-811e-8a3f5d1dd33f" providerId="ADAL" clId="{5AB2DC96-CDCC-45B4-B053-2F2446580AF9}" dt="2026-10-12T17:41:14.911" v="31" actId="20577"/>
        <pc:sldMkLst>
          <pc:docMk/>
          <pc:sldMk cId="0" sldId="256"/>
        </pc:sldMkLst>
        <pc:spChg chg="add mod">
          <ac:chgData name="Cross, Clay" userId="f346be3b-e1cb-4aec-811e-8a3f5d1dd33f" providerId="ADAL" clId="{5AB2DC96-CDCC-45B4-B053-2F2446580AF9}" dt="2026-09-16T14:10:03.197" v="14"/>
          <ac:spMkLst>
            <pc:docMk/>
            <pc:sldMk cId="0" sldId="256"/>
            <ac:spMk id="2" creationId="{AF066B48-BBCB-D243-DA16-4C1CF9825479}"/>
          </ac:spMkLst>
        </pc:spChg>
        <pc:spChg chg="mod">
          <ac:chgData name="Cross, Clay" userId="f346be3b-e1cb-4aec-811e-8a3f5d1dd33f" providerId="ADAL" clId="{5AB2DC96-CDCC-45B4-B053-2F2446580AF9}" dt="2026-10-12T17:41:14.911" v="31" actId="20577"/>
          <ac:spMkLst>
            <pc:docMk/>
            <pc:sldMk cId="0" sldId="256"/>
            <ac:spMk id="93" creationId="{00000000-0000-0000-0000-000000000000}"/>
          </ac:spMkLst>
        </pc:spChg>
      </pc:sldChg>
      <pc:sldChg chg="addSp modSp">
        <pc:chgData name="Cross, Clay" userId="f346be3b-e1cb-4aec-811e-8a3f5d1dd33f" providerId="ADAL" clId="{5AB2DC96-CDCC-45B4-B053-2F2446580AF9}" dt="2026-09-16T14:10:05.967" v="15"/>
        <pc:sldMkLst>
          <pc:docMk/>
          <pc:sldMk cId="0" sldId="257"/>
        </pc:sldMkLst>
        <pc:spChg chg="add mod">
          <ac:chgData name="Cross, Clay" userId="f346be3b-e1cb-4aec-811e-8a3f5d1dd33f" providerId="ADAL" clId="{5AB2DC96-CDCC-45B4-B053-2F2446580AF9}" dt="2026-09-16T14:10:05.967" v="15"/>
          <ac:spMkLst>
            <pc:docMk/>
            <pc:sldMk cId="0" sldId="257"/>
            <ac:spMk id="2" creationId="{C59CE0A4-E66C-0842-A9F5-B432CCCBB70C}"/>
          </ac:spMkLst>
        </pc:spChg>
      </pc:sldChg>
      <pc:sldChg chg="addSp modSp">
        <pc:chgData name="Cross, Clay" userId="f346be3b-e1cb-4aec-811e-8a3f5d1dd33f" providerId="ADAL" clId="{5AB2DC96-CDCC-45B4-B053-2F2446580AF9}" dt="2026-09-16T14:10:07.294" v="16"/>
        <pc:sldMkLst>
          <pc:docMk/>
          <pc:sldMk cId="0" sldId="258"/>
        </pc:sldMkLst>
        <pc:spChg chg="add mod">
          <ac:chgData name="Cross, Clay" userId="f346be3b-e1cb-4aec-811e-8a3f5d1dd33f" providerId="ADAL" clId="{5AB2DC96-CDCC-45B4-B053-2F2446580AF9}" dt="2026-09-16T14:10:07.294" v="16"/>
          <ac:spMkLst>
            <pc:docMk/>
            <pc:sldMk cId="0" sldId="258"/>
            <ac:spMk id="2" creationId="{9367D3A5-428A-79F2-AC81-ADCB1A0F11C1}"/>
          </ac:spMkLst>
        </pc:spChg>
      </pc:sldChg>
      <pc:sldChg chg="addSp modSp">
        <pc:chgData name="Cross, Clay" userId="f346be3b-e1cb-4aec-811e-8a3f5d1dd33f" providerId="ADAL" clId="{5AB2DC96-CDCC-45B4-B053-2F2446580AF9}" dt="2026-09-16T14:10:08.375" v="17"/>
        <pc:sldMkLst>
          <pc:docMk/>
          <pc:sldMk cId="0" sldId="259"/>
        </pc:sldMkLst>
        <pc:spChg chg="add mod">
          <ac:chgData name="Cross, Clay" userId="f346be3b-e1cb-4aec-811e-8a3f5d1dd33f" providerId="ADAL" clId="{5AB2DC96-CDCC-45B4-B053-2F2446580AF9}" dt="2026-09-16T14:10:08.375" v="17"/>
          <ac:spMkLst>
            <pc:docMk/>
            <pc:sldMk cId="0" sldId="259"/>
            <ac:spMk id="2" creationId="{07E1C860-F9EC-56A5-3678-9C818C512B47}"/>
          </ac:spMkLst>
        </pc:spChg>
      </pc:sldChg>
      <pc:sldChg chg="addSp modSp">
        <pc:chgData name="Cross, Clay" userId="f346be3b-e1cb-4aec-811e-8a3f5d1dd33f" providerId="ADAL" clId="{5AB2DC96-CDCC-45B4-B053-2F2446580AF9}" dt="2026-09-16T14:10:11.392" v="18"/>
        <pc:sldMkLst>
          <pc:docMk/>
          <pc:sldMk cId="0" sldId="260"/>
        </pc:sldMkLst>
        <pc:spChg chg="add mod">
          <ac:chgData name="Cross, Clay" userId="f346be3b-e1cb-4aec-811e-8a3f5d1dd33f" providerId="ADAL" clId="{5AB2DC96-CDCC-45B4-B053-2F2446580AF9}" dt="2026-09-16T14:10:11.392" v="18"/>
          <ac:spMkLst>
            <pc:docMk/>
            <pc:sldMk cId="0" sldId="260"/>
            <ac:spMk id="2" creationId="{1588E63D-8331-98F8-2393-DF79A145BF58}"/>
          </ac:spMkLst>
        </pc:spChg>
      </pc:sldChg>
      <pc:sldChg chg="addSp modSp">
        <pc:chgData name="Cross, Clay" userId="f346be3b-e1cb-4aec-811e-8a3f5d1dd33f" providerId="ADAL" clId="{5AB2DC96-CDCC-45B4-B053-2F2446580AF9}" dt="2026-09-16T14:10:12.517" v="19"/>
        <pc:sldMkLst>
          <pc:docMk/>
          <pc:sldMk cId="0" sldId="261"/>
        </pc:sldMkLst>
        <pc:spChg chg="add mod">
          <ac:chgData name="Cross, Clay" userId="f346be3b-e1cb-4aec-811e-8a3f5d1dd33f" providerId="ADAL" clId="{5AB2DC96-CDCC-45B4-B053-2F2446580AF9}" dt="2026-09-16T14:10:12.517" v="19"/>
          <ac:spMkLst>
            <pc:docMk/>
            <pc:sldMk cId="0" sldId="261"/>
            <ac:spMk id="2" creationId="{93535A3B-BAB2-61CE-5223-82D4BF2B0E2D}"/>
          </ac:spMkLst>
        </pc:spChg>
      </pc:sldChg>
      <pc:sldChg chg="addSp delSp modSp mod">
        <pc:chgData name="Cross, Clay" userId="f346be3b-e1cb-4aec-811e-8a3f5d1dd33f" providerId="ADAL" clId="{5AB2DC96-CDCC-45B4-B053-2F2446580AF9}" dt="2026-09-16T14:10:13.935" v="20"/>
        <pc:sldMkLst>
          <pc:docMk/>
          <pc:sldMk cId="0" sldId="262"/>
        </pc:sldMkLst>
        <pc:spChg chg="add mod">
          <ac:chgData name="Cross, Clay" userId="f346be3b-e1cb-4aec-811e-8a3f5d1dd33f" providerId="ADAL" clId="{5AB2DC96-CDCC-45B4-B053-2F2446580AF9}" dt="2026-09-16T14:10:13.935" v="20"/>
          <ac:spMkLst>
            <pc:docMk/>
            <pc:sldMk cId="0" sldId="262"/>
            <ac:spMk id="2" creationId="{D7EC3C54-652C-9EC2-FAB0-E19765D5B90B}"/>
          </ac:spMkLst>
        </pc:spChg>
      </pc:sldChg>
      <pc:sldMasterChg chg="modSp mod modSldLayout">
        <pc:chgData name="Cross, Clay" userId="f346be3b-e1cb-4aec-811e-8a3f5d1dd33f" providerId="ADAL" clId="{5AB2DC96-CDCC-45B4-B053-2F2446580AF9}" dt="2026-10-12T16:58:37.748" v="29" actId="14100"/>
        <pc:sldMasterMkLst>
          <pc:docMk/>
          <pc:sldMasterMk cId="0" sldId="2147483648"/>
        </pc:sldMasterMkLst>
        <pc:sldLayoutChg chg="modSp mod">
          <pc:chgData name="Cross, Clay" userId="f346be3b-e1cb-4aec-811e-8a3f5d1dd33f" providerId="ADAL" clId="{5AB2DC96-CDCC-45B4-B053-2F2446580AF9}" dt="2026-10-12T16:58:06.482" v="24" actId="14100"/>
          <pc:sldLayoutMkLst>
            <pc:docMk/>
            <pc:sldMasterMk cId="0" sldId="2147483648"/>
            <pc:sldLayoutMk cId="0" sldId="2147483652"/>
          </pc:sldLayoutMkLst>
          <pc:spChg chg="mod">
            <ac:chgData name="Cross, Clay" userId="f346be3b-e1cb-4aec-811e-8a3f5d1dd33f" providerId="ADAL" clId="{5AB2DC96-CDCC-45B4-B053-2F2446580AF9}" dt="2026-10-12T16:57:55.345" v="22" actId="14100"/>
            <ac:spMkLst>
              <pc:docMk/>
              <pc:sldMasterMk cId="0" sldId="2147483648"/>
              <pc:sldLayoutMk cId="0" sldId="2147483652"/>
              <ac:spMk id="56" creationId="{00000000-0000-0000-0000-000000000000}"/>
            </ac:spMkLst>
          </pc:spChg>
          <pc:spChg chg="mod">
            <ac:chgData name="Cross, Clay" userId="f346be3b-e1cb-4aec-811e-8a3f5d1dd33f" providerId="ADAL" clId="{5AB2DC96-CDCC-45B4-B053-2F2446580AF9}" dt="2026-10-12T16:58:00.151" v="23" actId="14100"/>
            <ac:spMkLst>
              <pc:docMk/>
              <pc:sldMasterMk cId="0" sldId="2147483648"/>
              <pc:sldLayoutMk cId="0" sldId="2147483652"/>
              <ac:spMk id="57" creationId="{00000000-0000-0000-0000-000000000000}"/>
            </ac:spMkLst>
          </pc:spChg>
          <pc:spChg chg="mod">
            <ac:chgData name="Cross, Clay" userId="f346be3b-e1cb-4aec-811e-8a3f5d1dd33f" providerId="ADAL" clId="{5AB2DC96-CDCC-45B4-B053-2F2446580AF9}" dt="2026-10-12T16:58:06.482" v="24" actId="14100"/>
            <ac:spMkLst>
              <pc:docMk/>
              <pc:sldMasterMk cId="0" sldId="2147483648"/>
              <pc:sldLayoutMk cId="0" sldId="2147483652"/>
              <ac:spMk id="58" creationId="{00000000-0000-0000-0000-000000000000}"/>
            </ac:spMkLst>
          </pc:spChg>
        </pc:sldLayoutChg>
        <pc:sldLayoutChg chg="modSp mod">
          <pc:chgData name="Cross, Clay" userId="f346be3b-e1cb-4aec-811e-8a3f5d1dd33f" providerId="ADAL" clId="{5AB2DC96-CDCC-45B4-B053-2F2446580AF9}" dt="2026-10-12T16:58:37.748" v="29" actId="14100"/>
          <pc:sldLayoutMkLst>
            <pc:docMk/>
            <pc:sldMasterMk cId="0" sldId="2147483648"/>
            <pc:sldLayoutMk cId="0" sldId="2147483656"/>
          </pc:sldLayoutMkLst>
          <pc:spChg chg="mod">
            <ac:chgData name="Cross, Clay" userId="f346be3b-e1cb-4aec-811e-8a3f5d1dd33f" providerId="ADAL" clId="{5AB2DC96-CDCC-45B4-B053-2F2446580AF9}" dt="2026-10-12T16:58:32.543" v="27" actId="14100"/>
            <ac:spMkLst>
              <pc:docMk/>
              <pc:sldMasterMk cId="0" sldId="2147483648"/>
              <pc:sldLayoutMk cId="0" sldId="2147483656"/>
              <ac:spMk id="76" creationId="{00000000-0000-0000-0000-000000000000}"/>
            </ac:spMkLst>
          </pc:spChg>
          <pc:spChg chg="mod">
            <ac:chgData name="Cross, Clay" userId="f346be3b-e1cb-4aec-811e-8a3f5d1dd33f" providerId="ADAL" clId="{5AB2DC96-CDCC-45B4-B053-2F2446580AF9}" dt="2026-10-12T16:58:34.943" v="28" actId="14100"/>
            <ac:spMkLst>
              <pc:docMk/>
              <pc:sldMasterMk cId="0" sldId="2147483648"/>
              <pc:sldLayoutMk cId="0" sldId="2147483656"/>
              <ac:spMk id="77" creationId="{00000000-0000-0000-0000-000000000000}"/>
            </ac:spMkLst>
          </pc:spChg>
          <pc:spChg chg="mod">
            <ac:chgData name="Cross, Clay" userId="f346be3b-e1cb-4aec-811e-8a3f5d1dd33f" providerId="ADAL" clId="{5AB2DC96-CDCC-45B4-B053-2F2446580AF9}" dt="2026-10-12T16:58:37.748" v="29" actId="14100"/>
            <ac:spMkLst>
              <pc:docMk/>
              <pc:sldMasterMk cId="0" sldId="2147483648"/>
              <pc:sldLayoutMk cId="0" sldId="2147483656"/>
              <ac:spMk id="7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"B03 starts on-objective."</a:t>
            </a:r>
          </a:p>
          <a:p>
            <a:r>
              <a:t>"You already have access from B02. This Block is: where am I, who am I, what can I do, and how do I learn that without lighting myself up."</a:t>
            </a:r>
          </a:p>
          <a:p>
            <a:r>
              <a:t>"Objectives are next; that slide is the contract for the hour."</a:t>
            </a:r>
          </a:p>
          <a:p/>
          <a:p>
            <a:r>
              <a:t>Show:</a:t>
            </a:r>
          </a:p>
          <a:p>
            <a:r>
              <a:t>Hold the title long enough to orient, then advance.</a:t>
            </a:r>
          </a:p>
          <a:p/>
          <a:p>
            <a:r>
              <a:t>Do:</a:t>
            </a:r>
          </a:p>
          <a:p>
            <a:r>
              <a:t>Ask: "In one sentence, what is the first thing you do after a shell?" Capture two answers; return to them on the first-minute checklist.</a:t>
            </a:r>
          </a:p>
          <a:p/>
          <a:p>
            <a:r>
              <a:t>Image Prompt:</a:t>
            </a:r>
          </a:p>
          <a:p>
            <a:r>
              <a:t>Title slide only. Dark operational backdrop; faint host silhouette with a checklist overlay (OS, user, network). Large lesson title; no bullet stack. Optional subtitle: "On-objective discovery after access."</a:t>
            </a:r>
          </a:p>
          <a:p/>
          <a:p>
            <a:r>
              <a:t>Ask (Q):</a:t>
            </a:r>
          </a:p>
          <a:p>
            <a:r>
              <a:t>In one sentence, what is the first thing you do after a shell?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"Read these as written—they are the contract for this block."</a:t>
            </a:r>
          </a:p>
          <a:p>
            <a:r>
              <a:t>"Identify the execution environment before you pick a playbook."</a:t>
            </a:r>
          </a:p>
          <a:p>
            <a:r>
              <a:t>"Read user context and privileges as the bound on what is feasible now."</a:t>
            </a:r>
          </a:p>
          <a:p>
            <a:r>
              <a:t>"Map discovery to MITRE ATT&amp;CK Discovery (TA0007)—same adversary vocabulary as planning, now as *your* on-host collection."</a:t>
            </a:r>
          </a:p>
          <a:p>
            <a:r>
              <a:t>"Treat survey scripts as a speed/OPSEC trade, not a default."</a:t>
            </a:r>
          </a:p>
          <a:p>
            <a:r>
              <a:t>"Hour map: on-objective framing, environments, user context, Discovery techniques, survey automation, OPSEC."</a:t>
            </a:r>
          </a:p>
          <a:p>
            <a:r>
              <a:t>"Labs in this Block reuse this workflow on Linux, Windows, containers, hybrid shells, and degraded hosts."</a:t>
            </a:r>
          </a:p>
          <a:p>
            <a:r>
              <a:t>"If delivery is 60 minutes, keep first-minute checklist, jail vs MAC, the Identify → Prove → Adapt → Document loop, and the lab-path slides. Cut TA0007 technique-card depth first."</a:t>
            </a:r>
          </a:p>
          <a:p/>
          <a:p>
            <a:r>
              <a:t>Show:</a:t>
            </a:r>
          </a:p>
          <a:p>
            <a:r>
              <a:t>Walk the four tiles left to right.</a:t>
            </a:r>
          </a:p>
          <a:p/>
          <a:p>
            <a:r>
              <a:t>Do:</a:t>
            </a:r>
          </a:p>
          <a:p>
            <a:r>
              <a:t>Tell students: "By the end you should produce a short environment + user-context summary from a handful of commands—not a dump of every tool you know."</a:t>
            </a:r>
          </a:p>
          <a:p/>
          <a:p>
            <a:r>
              <a:t>Image Prompt:</a:t>
            </a:r>
          </a:p>
          <a:p>
            <a:r>
              <a:t>Four objective tiles in a row: Environments; User Context; ATT&amp;CK Discovery (TA0007); Survey Scripts.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is the sequence, not a second objectives list."</a:t>
            </a:r>
          </a:p>
          <a:p>
            <a:r>
              <a:t>"We close on OPSEC because discovery is how operators get caught."</a:t>
            </a:r>
          </a:p>
          <a:p/>
          <a:p>
            <a:r>
              <a:t>Show:</a:t>
            </a:r>
          </a:p>
          <a:p>
            <a:r>
              <a:t>Sweep the six tiles once.</a:t>
            </a:r>
          </a:p>
          <a:p/>
          <a:p>
            <a:r>
              <a:t>Do:</a:t>
            </a:r>
          </a:p>
          <a:p>
            <a:r>
              <a:t>Tell them to mark which section they are weakest in; they will revisit that during knowledge check.</a:t>
            </a:r>
          </a:p>
          <a:p/>
          <a:p>
            <a:r>
              <a:t>Image Prompt:</a:t>
            </a:r>
          </a:p>
          <a:p>
            <a:r>
              <a:t>Six numbered tiles on a horizontal flow, matching the six bullets.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"First section: what on-objective means after access, and what 'good' output looks like before you touch a technique list."</a:t>
            </a:r>
          </a:p>
          <a:p/>
          <a:p>
            <a:r>
              <a:t>Show:</a:t>
            </a:r>
          </a:p>
          <a:p>
            <a:r>
              <a:t>Title; advance.</a:t>
            </a:r>
          </a:p>
          <a:p/>
          <a:p>
            <a:r>
              <a:t>Do:</a:t>
            </a:r>
          </a:p>
          <a:p>
            <a:r>
              <a:t>None.</a:t>
            </a:r>
          </a:p>
          <a:p/>
          <a:p>
            <a:r>
              <a:t>Image Prompt:</a:t>
            </a:r>
          </a:p>
          <a:p>
            <a:r>
              <a:t>Section divider. Title only. Icon of an operator at a foothold looking at a host diagram (OS / user / network). No bullets.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"On-objective is not 'run LinPEAS.' It is answering four questions."</a:t>
            </a:r>
          </a:p>
          <a:p>
            <a:r>
              <a:t>"Where: OS, role, network, constraints."</a:t>
            </a:r>
          </a:p>
          <a:p>
            <a:r>
              <a:t>"What you can do: identity, privileges, tools that actually exist."</a:t>
            </a:r>
          </a:p>
          <a:p>
            <a:r>
              <a:t>"Intel: facts that support the next action, not trivia."</a:t>
            </a:r>
          </a:p>
          <a:p>
            <a:r>
              <a:t>"Adversary mission and infrastructure: tie host facts back to CG/CV and EMLCOA—what this box is *for*."</a:t>
            </a:r>
          </a:p>
          <a:p/>
          <a:p>
            <a:r>
              <a:t>Show:</a:t>
            </a:r>
          </a:p>
          <a:p>
            <a:r>
              <a:t>Point at "where" then "what you can do" as the first-minute pair.</a:t>
            </a:r>
          </a:p>
          <a:p/>
          <a:p>
            <a:r>
              <a:t>Do:</a:t>
            </a:r>
          </a:p>
          <a:p>
            <a:r>
              <a:t>Ask: "Which of these four do people skip when they are excited about a shell?"</a:t>
            </a:r>
          </a:p>
          <a:p/>
          <a:p>
            <a:r>
              <a:t>Image Prompt:</a:t>
            </a:r>
          </a:p>
          <a:p>
            <a:r>
              <a:t>Four tiles: Where; What I can do; Intel for follow-on; Adversary mission/infra.</a:t>
            </a:r>
          </a:p>
          <a:p/>
          <a:p>
            <a:r>
              <a:t>Ask (Q):</a:t>
            </a:r>
          </a:p>
          <a:p>
            <a:r>
              <a:t>Which of these four do people skip when they are excited about a shell?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"ATT&amp;CK Discovery is the tactic name for this collection."</a:t>
            </a:r>
          </a:p>
          <a:p>
            <a:r>
              <a:t>"You are doing Discovery against the host you occupy—same matrix, operator side."</a:t>
            </a:r>
          </a:p>
          <a:p>
            <a:r>
              <a:t>"Focused discovery is both quieter and faster than script-spray."</a:t>
            </a:r>
          </a:p>
          <a:p>
            <a:r>
              <a:t>"The output is the art of the possible: what you can do now, and what you must enable first."</a:t>
            </a:r>
          </a:p>
          <a:p/>
          <a:p>
            <a:r>
              <a:t>Show:</a:t>
            </a:r>
          </a:p>
          <a:p>
            <a:r>
              <a:t>Pair TA0007 with the four bullets.</a:t>
            </a:r>
          </a:p>
          <a:p/>
          <a:p>
            <a:r>
              <a:t>Do:</a:t>
            </a:r>
          </a:p>
          <a:p>
            <a:r>
              <a:t>Have students write "TA0007 = on-host SA" in their notes.</a:t>
            </a:r>
          </a:p>
          <a:p/>
          <a:p>
            <a:r>
              <a:t>Image Prompt:</a:t>
            </a:r>
          </a:p>
          <a:p>
            <a:r>
              <a:t>TA0007 banner with four outcomes: SA, OPSEC, performance, next-step feasibility.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"Discovery is the noisiest honest work you will do on-objective."</a:t>
            </a:r>
          </a:p>
          <a:p>
            <a:r>
              <a:t>"Volume, weird process trees, and network probes are what defenders correlate."</a:t>
            </a:r>
          </a:p>
          <a:p>
            <a:r>
              <a:t>"You will spend the last section on OPSEC; this is why that section exists."</a:t>
            </a:r>
          </a:p>
          <a:p/>
          <a:p>
            <a:r>
              <a:t>Show:</a:t>
            </a:r>
          </a:p>
          <a:p>
            <a:r>
              <a:t>Point at process-tree as the one students underestimate.</a:t>
            </a:r>
          </a:p>
          <a:p/>
          <a:p>
            <a:r>
              <a:t>Do:</a:t>
            </a:r>
          </a:p>
          <a:p>
            <a:r>
              <a:t>Ask: "What does a burst of `find /` look like in EDR?" Take one answer.</a:t>
            </a:r>
          </a:p>
          <a:p/>
          <a:p>
            <a:r>
              <a:t>Image Prompt:</a:t>
            </a:r>
          </a:p>
          <a:p>
            <a:r>
              <a:t>Three alert tiles: log spike; odd process tree; network scan correlation.</a:t>
            </a:r>
          </a:p>
          <a:p/>
          <a:p>
            <a:r>
              <a:t>Ask (Q):</a:t>
            </a:r>
          </a:p>
          <a:p>
            <a:r>
              <a:t>What does a burst of `find /` look like in EDR?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is the efficiency principle for the whole Block."</a:t>
            </a:r>
          </a:p>
          <a:p>
            <a:r>
              <a:t>"One high-yield collect, then think on the output."</a:t>
            </a:r>
          </a:p>
          <a:p>
            <a:r>
              <a:t>"`ps` and `ss`/`netstat` are the teaching examples; same idea for `systeminfo` and `tasklist`."</a:t>
            </a:r>
          </a:p>
          <a:p/>
          <a:p>
            <a:r>
              <a:t>Show:</a:t>
            </a:r>
          </a:p>
          <a:p>
            <a:r>
              <a:t>Contrast many queries vs collect-once.</a:t>
            </a:r>
          </a:p>
          <a:p/>
          <a:p>
            <a:r>
              <a:t>Do:</a:t>
            </a:r>
          </a:p>
          <a:p>
            <a:r>
              <a:t>Tell them this is the standard they will be graded on in later labs: evidence quality over command volume.</a:t>
            </a:r>
          </a:p>
          <a:p/>
          <a:p>
            <a:r>
              <a:t>Image Prompt:</a:t>
            </a:r>
          </a:p>
          <a:p>
            <a:r>
              <a:t>Left: many tiny command arrows into the host. Right: two fat arrows (`ps`, `ss`) then a local filter funnel.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"Answer these five before you pick a technique or a script."</a:t>
            </a:r>
          </a:p>
          <a:p>
            <a:r>
              <a:t>"Environment first—container vs full host changes every later assumption."</a:t>
            </a:r>
          </a:p>
          <a:p>
            <a:r>
              <a:t>"User context second—privilege bounds the rest."</a:t>
            </a:r>
          </a:p>
          <a:p>
            <a:r>
              <a:t>"Role is what the box is *for*; scheduled execution is how it keeps doing that job when nobody is at a prompt."</a:t>
            </a:r>
          </a:p>
          <a:p>
            <a:r>
              <a:t>"Linux: crontab and `/etc/cron*` once, then parse locally. Windows: `schtasks /query` once—same collect-once rule as `ps`/`tasklist`."</a:t>
            </a:r>
          </a:p>
          <a:p>
            <a:r>
              <a:t>"Network tells you what this box can reach."</a:t>
            </a:r>
          </a:p>
          <a:p/>
          <a:p>
            <a:r>
              <a:t>Show:</a:t>
            </a:r>
          </a:p>
          <a:p>
            <a:r>
              <a:t>Walk the five questions; linger on schedule so it is not treated as optional trivia.</a:t>
            </a:r>
          </a:p>
          <a:p/>
          <a:p>
            <a:r>
              <a:t>Do:</a:t>
            </a:r>
          </a:p>
          <a:p>
            <a:r>
              <a:t>Have them copy the five questions as a standing header for lab notes.</a:t>
            </a:r>
          </a:p>
          <a:p/>
          <a:p>
            <a:r>
              <a:t>Image Prompt:</a:t>
            </a:r>
          </a:p>
          <a:p>
            <a:r>
              <a:t>Five-box first-minute card: Env; User; Role; Schedule; Network.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"CPT hunters are not cold-starting like a random pentest."</a:t>
            </a:r>
          </a:p>
          <a:p>
            <a:r>
              <a:t>"You should already have IOCs and TTPs from hunt and planning mapping."</a:t>
            </a:r>
          </a:p>
          <a:p>
            <a:r>
              <a:t>"Use that to decide what is worth a command on this host."</a:t>
            </a:r>
          </a:p>
          <a:p>
            <a:r>
              <a:t>"Correlate, do not re-discover everything from zero."</a:t>
            </a:r>
          </a:p>
          <a:p/>
          <a:p>
            <a:r>
              <a:t>Show:</a:t>
            </a:r>
          </a:p>
          <a:p>
            <a:r>
              <a:t>Point from blue intel to on-host priority.</a:t>
            </a:r>
          </a:p>
          <a:p/>
          <a:p>
            <a:r>
              <a:t>Do:</a:t>
            </a:r>
          </a:p>
          <a:p>
            <a:r>
              <a:t>Ask: "Name one hunt artifact you would want in hand before the first `ps`."</a:t>
            </a:r>
          </a:p>
          <a:p/>
          <a:p>
            <a:r>
              <a:t>Image Prompt:</a:t>
            </a:r>
          </a:p>
          <a:p>
            <a:r>
              <a:t>Two panels: blue-space intel packet (IOC/TTP) feeding a prioritized on-host checklist.</a:t>
            </a:r>
          </a:p>
          <a:p/>
          <a:p>
            <a:r>
              <a:t>Ask (Q):</a:t>
            </a:r>
          </a:p>
          <a:p>
            <a:r>
              <a:t>Name one hunt artifact you would want in hand before the first `ps`.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"Good is a handover card, not a terminal scrollback."</a:t>
            </a:r>
          </a:p>
          <a:p>
            <a:r>
              <a:t>"Each line is a claim plus why it matters for follow-on."</a:t>
            </a:r>
          </a:p>
          <a:p>
            <a:r>
              <a:t>"Gaps are required—unknowns drive the next command, they are not failure."</a:t>
            </a:r>
          </a:p>
          <a:p/>
          <a:p>
            <a:r>
              <a:t>Show:</a:t>
            </a:r>
          </a:p>
          <a:p>
            <a:r>
              <a:t>Walk the five output lines.</a:t>
            </a:r>
          </a:p>
          <a:p/>
          <a:p>
            <a:r>
              <a:t>Do:</a:t>
            </a:r>
          </a:p>
          <a:p>
            <a:r>
              <a:t>Tell them Slide 51 is the same template they will fill in labs.</a:t>
            </a:r>
          </a:p>
          <a:p/>
          <a:p>
            <a:r>
              <a:t>Image Prompt:</a:t>
            </a:r>
          </a:p>
          <a:p>
            <a:r>
              <a:t>Handover card with five fields matching the bullets; scheduled jobs sit with services/processes.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"Next: how to *identify* the environment so you do not run a Windows playbook on a container."</a:t>
            </a:r>
          </a:p>
          <a:p/>
          <a:p>
            <a:r>
              <a:t>Show:</a:t>
            </a:r>
          </a:p>
          <a:p>
            <a:r>
              <a:t>Title; advance.</a:t>
            </a:r>
          </a:p>
          <a:p/>
          <a:p>
            <a:r>
              <a:t>Do:</a:t>
            </a:r>
          </a:p>
          <a:p>
            <a:r>
              <a:t>None.</a:t>
            </a:r>
          </a:p>
          <a:p/>
          <a:p>
            <a:r>
              <a:t>Image Prompt:</a:t>
            </a:r>
          </a:p>
          <a:p>
            <a:r>
              <a:t>Section divider. Title only. Four faint platform icons: Linux, Windows, cloud, container.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"Execution environment is where your process actually runs."</a:t>
            </a:r>
          </a:p>
          <a:p>
            <a:r>
              <a:t>"It sets tools, paths, and controls—not your preference."</a:t>
            </a:r>
          </a:p>
          <a:p>
            <a:r>
              <a:t>"Discovery, persistence, and later effects all inherit this bound."</a:t>
            </a:r>
          </a:p>
          <a:p/>
          <a:p>
            <a:r>
              <a:t>Show:</a:t>
            </a:r>
          </a:p>
          <a:p>
            <a:r>
              <a:t>Point at controls as the thing students forget until AppArmor/Defender bites them.</a:t>
            </a:r>
          </a:p>
          <a:p/>
          <a:p>
            <a:r>
              <a:t>Do:</a:t>
            </a:r>
          </a:p>
          <a:p>
            <a:r>
              <a:t>Ask: "Is 'I have a bash prompt' enough to know the environment?" Answer: no.</a:t>
            </a:r>
          </a:p>
          <a:p/>
          <a:p>
            <a:r>
              <a:t>Image Prompt:</a:t>
            </a:r>
          </a:p>
          <a:p>
            <a:r>
              <a:t>Nested boxes: hardware → OS → container/cloud → your shell. Label: "This is where commands run."</a:t>
            </a:r>
          </a:p>
          <a:p/>
          <a:p>
            <a:r>
              <a:t>Ask (Q):</a:t>
            </a:r>
          </a:p>
          <a:p>
            <a:r>
              <a:t>Is 'I have a bash prompt' enough to know the environment?</a:t>
            </a:r>
          </a:p>
          <a:p/>
          <a:p>
            <a:r>
              <a:t>Expected Response (A):</a:t>
            </a:r>
          </a:p>
          <a:p>
            <a:r>
              <a:t>no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"These four tells you Linux flavor and what is pid 1."</a:t>
            </a:r>
          </a:p>
          <a:p>
            <a:r>
              <a:t>"`uname` and `os-release` are cheap and high-yield."</a:t>
            </a:r>
          </a:p>
          <a:p>
            <a:r>
              <a:t>"`ps -ef` once—look at PID 1 (`systemd`, `init`, container entrypoint)."</a:t>
            </a:r>
          </a:p>
          <a:p/>
          <a:p>
            <a:r>
              <a:t>Show:</a:t>
            </a:r>
          </a:p>
          <a:p>
            <a:r>
              <a:t>Highlight PID 1 as the container vs host discriminator they will use in later labs.</a:t>
            </a:r>
          </a:p>
          <a:p/>
          <a:p>
            <a:r>
              <a:t>Do:</a:t>
            </a:r>
          </a:p>
          <a:p>
            <a:r>
              <a:t>Preview Linux labs in this Block: this is the start of the SA baseline.</a:t>
            </a:r>
          </a:p>
          <a:p/>
          <a:p>
            <a:r>
              <a:t>Image Prompt:</a:t>
            </a:r>
          </a:p>
          <a:p>
            <a:r>
              <a:t>Linux ID card: kernel, distro, hostname, PID 1.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"Operator view, not a tour of FHS."</a:t>
            </a:r>
          </a:p>
          <a:p>
            <a:r>
              <a:t>"`/etc` and `/var` tell you how the box is run."</a:t>
            </a:r>
          </a:p>
          <a:p>
            <a:r>
              <a:t>"`/tmp` and `/dev/shm` are where dropped tools get seen."</a:t>
            </a:r>
          </a:p>
          <a:p/>
          <a:p>
            <a:r>
              <a:t>Show:</a:t>
            </a:r>
          </a:p>
          <a:p>
            <a:r>
              <a:t>Point at detection interest on tmp/shm.</a:t>
            </a:r>
          </a:p>
          <a:p/>
          <a:p>
            <a:r>
              <a:t>Do:</a:t>
            </a:r>
          </a:p>
          <a:p>
            <a:r>
              <a:t>"If you write a survey output file, where should it *not* live?" Steer off `/tmp` with a noisy name.</a:t>
            </a:r>
          </a:p>
          <a:p/>
          <a:p>
            <a:r>
              <a:t>Image Prompt:</a:t>
            </a:r>
          </a:p>
          <a:p>
            <a:r>
              <a:t>Simple filesystem tree with the four paths highlighted; `/tmp` and `/dev/shm` marked "detection interest."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"Process, service, listen—enough to guess host role."</a:t>
            </a:r>
          </a:p>
          <a:p>
            <a:r>
              <a:t>"Collect `ps` and `ss` once; do not poll them."</a:t>
            </a:r>
          </a:p>
          <a:p>
            <a:r>
              <a:t>"`systemctl` may be missing in chroot/BusyBox labs—that absence is evidence."</a:t>
            </a:r>
          </a:p>
          <a:p/>
          <a:p>
            <a:r>
              <a:t>Show:</a:t>
            </a:r>
          </a:p>
          <a:p>
            <a:r>
              <a:t>Pair `ss` with "what is this host for."</a:t>
            </a:r>
          </a:p>
          <a:p/>
          <a:p>
            <a:r>
              <a:t>Do:</a:t>
            </a:r>
          </a:p>
          <a:p>
            <a:r>
              <a:t>Remind: later constrained labs may lack `ss`/`systemctl`; adapt, do not freeze. Point forward to the Identify → Prove → Adapt → Document loop (Slide 67).</a:t>
            </a:r>
          </a:p>
          <a:p/>
          <a:p>
            <a:r>
              <a:t>Image Prompt:</a:t>
            </a:r>
          </a:p>
          <a:p>
            <a:r>
              <a:t>Three command chips feeding one "host role" conclusion box.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"Root is not a free pass. These are two different constraint models."</a:t>
            </a:r>
          </a:p>
          <a:p>
            <a:r>
              <a:t>"Jail: the process sees a fake `/`. `whoami` can say root and you still are not on the host."</a:t>
            </a:r>
          </a:p>
          <a:p>
            <a:r>
              <a:t>"MAC: AppArmor/SELinux policy can deny exec from an upload path even as root. Later labs model that on purpose."</a:t>
            </a:r>
          </a:p>
          <a:p>
            <a:r>
              <a:t>"Do not memorize a chroot or `apparmor_status` walkthrough here. Prove the boundary from what the host already shows, then change tradecraft."</a:t>
            </a:r>
          </a:p>
          <a:p>
            <a:r>
              <a:t>"Firewall and EDR still bound outbound and tooling choices."</a:t>
            </a:r>
          </a:p>
          <a:p/>
          <a:p>
            <a:r>
              <a:t>Show:</a:t>
            </a:r>
          </a:p>
          <a:p>
            <a:r>
              <a:t>Point at jail vs MAC as different proofs, not the same problem.</a:t>
            </a:r>
          </a:p>
          <a:p/>
          <a:p>
            <a:r>
              <a:t>Do:</a:t>
            </a:r>
          </a:p>
          <a:p>
            <a:r>
              <a:t>"If `whoami` is root, are you on the host?" No—prove the boundary. "If `./tool` dies with denied, what do you read first?" Policy/logs, not a new exploit.</a:t>
            </a:r>
          </a:p>
          <a:p/>
          <a:p>
            <a:r>
              <a:t>Image Prompt:</a:t>
            </a:r>
          </a:p>
          <a:p>
            <a:r>
              <a:t>Two constraint tiles in front of a root shield: filesystem jail vs MAC policy. Firewall and EDR as smaller side gates.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"`systeminfo` is the collect-once analog to `uname` + `os-release`."</a:t>
            </a:r>
          </a:p>
          <a:p>
            <a:r>
              <a:t>"Domain vs workgroup is an early branch—do not skip it."</a:t>
            </a:r>
          </a:p>
          <a:p>
            <a:r>
              <a:t>"Language mode and EDR tell you what scripts will survive."</a:t>
            </a:r>
          </a:p>
          <a:p/>
          <a:p>
            <a:r>
              <a:t>Show:</a:t>
            </a:r>
          </a:p>
          <a:p>
            <a:r>
              <a:t>Highlight Domain field.</a:t>
            </a:r>
          </a:p>
          <a:p/>
          <a:p>
            <a:r>
              <a:t>Do:</a:t>
            </a:r>
          </a:p>
          <a:p>
            <a:r>
              <a:t>Preview Windows labs in this Block: same first commands.</a:t>
            </a:r>
          </a:p>
          <a:p/>
          <a:p>
            <a:r>
              <a:t>Image Prompt:</a:t>
            </a:r>
          </a:p>
          <a:p>
            <a:r>
              <a:t>Windows ID card: build, domain/workgroup, security posture.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one answer changes the rest of the survey."</a:t>
            </a:r>
          </a:p>
          <a:p>
            <a:r>
              <a:t>"Domain: document DC/trust facts for partner handoff even if you will not execute AD movement today."</a:t>
            </a:r>
          </a:p>
          <a:p>
            <a:r>
              <a:t>"Workgroup: do not assume tickets and GPOs."</a:t>
            </a:r>
          </a:p>
          <a:p/>
          <a:p>
            <a:r>
              <a:t>Show:</a:t>
            </a:r>
          </a:p>
          <a:p>
            <a:r>
              <a:t>The fork.</a:t>
            </a:r>
          </a:p>
          <a:p/>
          <a:p>
            <a:r>
              <a:t>Do:</a:t>
            </a:r>
          </a:p>
          <a:p>
            <a:r>
              <a:t>"If you only run `whoami` with no `/all`, what did you miss?" Domain/group/privilege detail.</a:t>
            </a:r>
          </a:p>
          <a:p/>
          <a:p>
            <a:r>
              <a:t>Image Prompt:</a:t>
            </a:r>
          </a:p>
          <a:p>
            <a:r>
              <a:t>Fork: Domain path (AD discovery + handoff) vs Workgroup path (local trust only).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"Same three questions as Linux: processes, services, listeners/connections."</a:t>
            </a:r>
          </a:p>
          <a:p>
            <a:r>
              <a:t>"Collect `netstat -ano` once; parse PID locally."</a:t>
            </a:r>
          </a:p>
          <a:p/>
          <a:p>
            <a:r>
              <a:t>Show:</a:t>
            </a:r>
          </a:p>
          <a:p>
            <a:r>
              <a:t>Parallel to the Linux trio.</a:t>
            </a:r>
          </a:p>
          <a:p/>
          <a:p>
            <a:r>
              <a:t>Do:</a:t>
            </a:r>
          </a:p>
          <a:p>
            <a:r>
              <a:t>Tell them not to mix `cmd` and PowerShell randomly without noting which they used.</a:t>
            </a:r>
          </a:p>
          <a:p/>
          <a:p>
            <a:r>
              <a:t>Image Prompt:</a:t>
            </a:r>
          </a:p>
          <a:p>
            <a:r>
              <a:t>Four command chips → host-role conclusion (same layout as Linux Slide 16).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"Administrator is not SYSTEM, and neither ignores Defender."</a:t>
            </a:r>
          </a:p>
          <a:p>
            <a:r>
              <a:t>"GPO and AppLocker-class controls show up in later Windows labs."</a:t>
            </a:r>
          </a:p>
          <a:p>
            <a:r>
              <a:t>"Tokens are next section—do not assume the label on the account is the capability."</a:t>
            </a:r>
          </a:p>
          <a:p/>
          <a:p>
            <a:r>
              <a:t>Show:</a:t>
            </a:r>
          </a:p>
          <a:p>
            <a:r>
              <a:t>Point at token boundary.</a:t>
            </a:r>
          </a:p>
          <a:p/>
          <a:p>
            <a:r>
              <a:t>Do:</a:t>
            </a:r>
          </a:p>
          <a:p>
            <a:r>
              <a:t>Flag Windows labs in this Block: Defender stays on; plan for it.</a:t>
            </a:r>
          </a:p>
          <a:p/>
          <a:p>
            <a:r>
              <a:t>Image Prompt:</a:t>
            </a:r>
          </a:p>
          <a:p>
            <a:r>
              <a:t>Three gates: Defender/EDR, GPO, token privileges—in front of an Administrator badge.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"Brief only—recognize cloud, do not deep-dive IMDS exploits here."</a:t>
            </a:r>
          </a:p>
          <a:p>
            <a:r>
              <a:t>"cloud-init, metadata endpoints, and vendor agents are the tells."</a:t>
            </a:r>
          </a:p>
          <a:p>
            <a:r>
              <a:t>"Metadata queries are not free; they can be logged."</a:t>
            </a:r>
          </a:p>
          <a:p/>
          <a:p>
            <a:r>
              <a:t>Show:</a:t>
            </a:r>
          </a:p>
          <a:p>
            <a:r>
              <a:t>The logged stamp on metadata.</a:t>
            </a:r>
          </a:p>
          <a:p/>
          <a:p>
            <a:r>
              <a:t>Do:</a:t>
            </a:r>
          </a:p>
          <a:p>
            <a:r>
              <a:t>"If you see `169.254.169.254` in notes, what environment class is that?" Cloud metadata.</a:t>
            </a:r>
          </a:p>
          <a:p/>
          <a:p>
            <a:r>
              <a:t>Image Prompt:</a:t>
            </a:r>
          </a:p>
          <a:p>
            <a:r>
              <a:t>Cloud instance with a metadata IP callout and a "logged" stamp.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"Later in this Block you will run a container chain (web shell → exec → BusyBox)."</a:t>
            </a:r>
          </a:p>
          <a:p>
            <a:r>
              <a:t>"First job: prove container vs host (`.dockerenv`, cgroup, PID 1, limited `/`)."</a:t>
            </a:r>
          </a:p>
          <a:p>
            <a:r>
              <a:t>"Escape is not today's objective; mis-identifying the environment is the failure."</a:t>
            </a:r>
          </a:p>
          <a:p>
            <a:r>
              <a:t>"Every new command surface is untrusted until you prove identity, user, filesystem, and network again—upload path is not exec path."</a:t>
            </a:r>
          </a:p>
          <a:p>
            <a:r>
              <a:t>"Hybrid later in this Block: a bash prompt can still be a Windows box. Treat the prompt as a claim; prove the host."</a:t>
            </a:r>
          </a:p>
          <a:p/>
          <a:p>
            <a:r>
              <a:t>Show:</a:t>
            </a:r>
          </a:p>
          <a:p>
            <a:r>
              <a:t>Point at "identify before assume host-level access," then at the upload-vs-exec split.</a:t>
            </a:r>
          </a:p>
          <a:p/>
          <a:p>
            <a:r>
              <a:t>Do:</a:t>
            </a:r>
          </a:p>
          <a:p>
            <a:r>
              <a:t>Preview the container labs: webshell does not mean you are on the Docker host. Ask: "If the prompt looks like Linux, what have you actually proven?" Only the shell, not the host.</a:t>
            </a:r>
          </a:p>
          <a:p/>
          <a:p>
            <a:r>
              <a:t>Image Prompt:</a:t>
            </a:r>
          </a:p>
          <a:p>
            <a:r>
              <a:t>Container box inside a host box; a second arrow from "upload" to a different runtime labeled "prove where it ran." Faint WSL/hybrid silhouette: Linux prompt ≠ Windows host.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"Live or narrated: five Linux commands, four Windows commands."</a:t>
            </a:r>
          </a:p>
          <a:p>
            <a:r>
              <a:t>"After each line, say what question it answered from the first-minute checklist."</a:t>
            </a:r>
          </a:p>
          <a:p>
            <a:r>
              <a:t>"Schedule is on the checklist but not in this opener—add cron or `schtasks /query` once after you know the host is stable."</a:t>
            </a:r>
          </a:p>
          <a:p>
            <a:r>
              <a:t>"Do not add extra tools in the demo."</a:t>
            </a:r>
          </a:p>
          <a:p/>
          <a:p>
            <a:r>
              <a:t>Show:</a:t>
            </a:r>
          </a:p>
          <a:p>
            <a:r>
              <a:t>Run or talk through the exact sequence; paste expected shape of output (hostname, OS, user, listeners).</a:t>
            </a:r>
          </a:p>
          <a:p/>
          <a:p>
            <a:r>
              <a:t>Do:</a:t>
            </a:r>
          </a:p>
          <a:p>
            <a:r>
              <a:t>Students copy the sequence into lab notes as the default opener.</a:t>
            </a:r>
          </a:p>
          <a:p/>
          <a:p>
            <a:r>
              <a:t>Image Prompt:</a:t>
            </a:r>
          </a:p>
          <a:p>
            <a:r>
              <a:t>Two short pipelines (Linux / Windows) matching the bullets.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"Who you are bounds every later Discovery technique."</a:t>
            </a:r>
          </a:p>
          <a:p/>
          <a:p>
            <a:r>
              <a:t>Show:</a:t>
            </a:r>
          </a:p>
          <a:p>
            <a:r>
              <a:t>Title; advance.</a:t>
            </a:r>
          </a:p>
          <a:p/>
          <a:p>
            <a:r>
              <a:t>Do:</a:t>
            </a:r>
          </a:p>
          <a:p>
            <a:r>
              <a:t>None.</a:t>
            </a:r>
          </a:p>
          <a:p/>
          <a:p>
            <a:r>
              <a:t>Image Prompt:</a:t>
            </a:r>
          </a:p>
          <a:p>
            <a:r>
              <a:t>Section divider. Title only. Badge/id card icon plus a privilege ladder.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"User context is identity plus effective capability."</a:t>
            </a:r>
          </a:p>
          <a:p>
            <a:r>
              <a:t>"It decides discovery depth, whether you need priv-esc, and what movement is even on the table."</a:t>
            </a:r>
          </a:p>
          <a:p>
            <a:r>
              <a:t>"Elevation changes the audit story—know that before you sudo."</a:t>
            </a:r>
          </a:p>
          <a:p/>
          <a:p>
            <a:r>
              <a:t>Show:</a:t>
            </a:r>
          </a:p>
          <a:p>
            <a:r>
              <a:t>Point at risk/audit.</a:t>
            </a:r>
          </a:p>
          <a:p/>
          <a:p>
            <a:r>
              <a:t>Do:</a:t>
            </a:r>
          </a:p>
          <a:p>
            <a:r>
              <a:t>"Is `whoami` = `root` the end of this section?" No—groups, sudo, tokens still matter.</a:t>
            </a:r>
          </a:p>
          <a:p/>
          <a:p>
            <a:r>
              <a:t>Image Prompt:</a:t>
            </a:r>
          </a:p>
          <a:p>
            <a:r>
              <a:t>Identity card feeding three decisions: how deep to look; whether to escalate; how loud.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"`whoami` is the name; `id` is the capability hint."</a:t>
            </a:r>
          </a:p>
          <a:p>
            <a:r>
              <a:t>"docker/sudo/adm groups change the story immediately."</a:t>
            </a:r>
          </a:p>
          <a:p/>
          <a:p>
            <a:r>
              <a:t>Show:</a:t>
            </a:r>
          </a:p>
          <a:p>
            <a:r>
              <a:t>Highlight group names, not just uid 0 vs not.</a:t>
            </a:r>
          </a:p>
          <a:p/>
          <a:p>
            <a:r>
              <a:t>Do:</a:t>
            </a:r>
          </a:p>
          <a:p>
            <a:r>
              <a:t>Have them add `id` to the first-minute Linux list if it was missing.</a:t>
            </a:r>
          </a:p>
          <a:p/>
          <a:p>
            <a:r>
              <a:t>Image Prompt:</a:t>
            </a:r>
          </a:p>
          <a:p>
            <a:r>
              <a:t>Terminal snippet of `id` with `sudo`/`docker` groups highlighted.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"`sudo -l` once if you can; do not hammer a bad password."</a:t>
            </a:r>
          </a:p>
          <a:p>
            <a:r>
              <a:t>"A narrow sudoers line is often enough for the next action without full root."</a:t>
            </a:r>
          </a:p>
          <a:p/>
          <a:p>
            <a:r>
              <a:t>Show:</a:t>
            </a:r>
          </a:p>
          <a:p>
            <a:r>
              <a:t>Failed-attempt noise.</a:t>
            </a:r>
          </a:p>
          <a:p/>
          <a:p>
            <a:r>
              <a:t>Do:</a:t>
            </a:r>
          </a:p>
          <a:p>
            <a:r>
              <a:t>"If `sudo -l` asks for a password you do not have, what do you do?" Stop; document; do not spray.</a:t>
            </a:r>
          </a:p>
          <a:p/>
          <a:p>
            <a:r>
              <a:t>Image Prompt:</a:t>
            </a:r>
          </a:p>
          <a:p>
            <a:r>
              <a:t>`sudo -l` output box; a red "failed sudo" log spike beside it.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"passwd is account inventory; shadow is hash access—different privilege."</a:t>
            </a:r>
          </a:p>
          <a:p>
            <a:r>
              <a:t>"Look for nologin vs bash to separate service vs interactive."</a:t>
            </a:r>
          </a:p>
          <a:p/>
          <a:p>
            <a:r>
              <a:t>Show:</a:t>
            </a:r>
          </a:p>
          <a:p>
            <a:r>
              <a:t>Interactive shell column.</a:t>
            </a:r>
          </a:p>
          <a:p/>
          <a:p>
            <a:r>
              <a:t>Do:</a:t>
            </a:r>
          </a:p>
          <a:p>
            <a:r>
              <a:t>Tie to later user-flag style evidence: accounts and comments, not just uid 0.</a:t>
            </a:r>
          </a:p>
          <a:p/>
          <a:p>
            <a:r>
              <a:t>Image Prompt:</a:t>
            </a:r>
          </a:p>
          <a:p>
            <a:r>
              <a:t>Two files: passwd (readable) vs shadow (locked). Interactive shells highlighted in passwd.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"`whoami` without switches is incomplete."</a:t>
            </a:r>
          </a:p>
          <a:p>
            <a:r>
              <a:t>"`/all` or `/groups` + `/priv` is the collect-once."</a:t>
            </a:r>
          </a:p>
          <a:p>
            <a:r>
              <a:t>"Local vs DOMAIN\\user is the AD fork from earlier."</a:t>
            </a:r>
          </a:p>
          <a:p/>
          <a:p>
            <a:r>
              <a:t>Show:</a:t>
            </a:r>
          </a:p>
          <a:p>
            <a:r>
              <a:t>Domain prefix.</a:t>
            </a:r>
          </a:p>
          <a:p/>
          <a:p>
            <a:r>
              <a:t>Do:</a:t>
            </a:r>
          </a:p>
          <a:p>
            <a:r>
              <a:t>Require `/all` in the Windows demo notes.</a:t>
            </a:r>
          </a:p>
          <a:p/>
          <a:p>
            <a:r>
              <a:t>Image Prompt:</a:t>
            </a:r>
          </a:p>
          <a:p>
            <a:r>
              <a:t>`whoami /all` with GROUP and PRIVILEGE sections highlighted; DOMAIN\user vs COMPUTER\user.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"Do not inflate local admin into DA in the handover."</a:t>
            </a:r>
          </a:p>
          <a:p>
            <a:r>
              <a:t>"Domain context is an *option space* for later movement, not an order to execute it in this lecture."</a:t>
            </a:r>
          </a:p>
          <a:p/>
          <a:p>
            <a:r>
              <a:t>Show:</a:t>
            </a:r>
          </a:p>
          <a:p>
            <a:r>
              <a:t>The two badges.</a:t>
            </a:r>
          </a:p>
          <a:p/>
          <a:p>
            <a:r>
              <a:t>Do:</a:t>
            </a:r>
          </a:p>
          <a:p>
            <a:r>
              <a:t>"What would you write in a handoff if you are local admin on a domain-joined box?" Local admin, domain user X, not DA.</a:t>
            </a:r>
          </a:p>
          <a:p/>
          <a:p>
            <a:r>
              <a:t>Image Prompt:</a:t>
            </a:r>
          </a:p>
          <a:p>
            <a:r>
              <a:t>Two badges: "Local Admin (this host)" vs "Domain Admin (forest)."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"Privileges are the Windows equivalent of 'sudoers line' granularity."</a:t>
            </a:r>
          </a:p>
          <a:p>
            <a:r>
              <a:t>"SeDebugPrivilege is the teaching example—process/secret access implications."</a:t>
            </a:r>
          </a:p>
          <a:p>
            <a:r>
              <a:t>"Select the next command from what `/priv` showed."</a:t>
            </a:r>
          </a:p>
          <a:p/>
          <a:p>
            <a:r>
              <a:t>Show:</a:t>
            </a:r>
          </a:p>
          <a:p>
            <a:r>
              <a:t>Enabled vs disabled privilege rows.</a:t>
            </a:r>
          </a:p>
          <a:p/>
          <a:p>
            <a:r>
              <a:t>Do:</a:t>
            </a:r>
          </a:p>
          <a:p>
            <a:r>
              <a:t>If time: show `whoami /priv` and pick one enabled privilege to interpret.</a:t>
            </a:r>
          </a:p>
          <a:p/>
          <a:p>
            <a:r>
              <a:t>Image Prompt:</a:t>
            </a:r>
          </a:p>
          <a:p>
            <a:r>
              <a:t>Token ribbon with SeDebugPrivilege lit; others dim.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is the decision slide: now vs later, local vs lateral, loud vs quiet."</a:t>
            </a:r>
          </a:p>
          <a:p>
            <a:r>
              <a:t>"Worth-doing discovery is the subset that changes a decision."</a:t>
            </a:r>
          </a:p>
          <a:p/>
          <a:p>
            <a:r>
              <a:t>Show:</a:t>
            </a:r>
          </a:p>
          <a:p>
            <a:r>
              <a:t>Four arrows.</a:t>
            </a:r>
          </a:p>
          <a:p/>
          <a:p>
            <a:r>
              <a:t>Do:</a:t>
            </a:r>
          </a:p>
          <a:p>
            <a:r>
              <a:t>Tie back to Slide 5 on-objective questions.</a:t>
            </a:r>
          </a:p>
          <a:p/>
          <a:p>
            <a:r>
              <a:t>Image Prompt:</a:t>
            </a:r>
          </a:p>
          <a:p>
            <a:r>
              <a:t>Four decision arrows out of a user-context box.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"Run only this set. End with one sentence: 'We are X, we can Y, we cannot Z.'"</a:t>
            </a:r>
          </a:p>
          <a:p>
            <a:r>
              <a:t>"That sentence is what a partner needs—not the raw `id` dump."</a:t>
            </a:r>
          </a:p>
          <a:p/>
          <a:p>
            <a:r>
              <a:t>Show:</a:t>
            </a:r>
          </a:p>
          <a:p>
            <a:r>
              <a:t>Live or narrated; write the capability sentence on the board.</a:t>
            </a:r>
          </a:p>
          <a:p/>
          <a:p>
            <a:r>
              <a:t>Do:</a:t>
            </a:r>
          </a:p>
          <a:p>
            <a:r>
              <a:t>Cold-call one student to draft the sentence from the demo output.</a:t>
            </a:r>
          </a:p>
          <a:p/>
          <a:p>
            <a:r>
              <a:t>Image Prompt:</a:t>
            </a:r>
          </a:p>
          <a:p>
            <a:r>
              <a:t>Demo checklist ending in a one-sentence "capability statement" box.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"Technique tour: purpose, a few commands, OPSEC. You will not run all of them."</a:t>
            </a:r>
          </a:p>
          <a:p/>
          <a:p>
            <a:r>
              <a:t>Show:</a:t>
            </a:r>
          </a:p>
          <a:p>
            <a:r>
              <a:t>Title; advance.</a:t>
            </a:r>
          </a:p>
          <a:p/>
          <a:p>
            <a:r>
              <a:t>Do:</a:t>
            </a:r>
          </a:p>
          <a:p>
            <a:r>
              <a:t>None.</a:t>
            </a:r>
          </a:p>
          <a:p/>
          <a:p>
            <a:r>
              <a:t>Image Prompt:</a:t>
            </a:r>
          </a:p>
          <a:p>
            <a:r>
              <a:t>Section divider. TA0007 matrix fragment; title only.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"Every following slide is that card."</a:t>
            </a:r>
          </a:p>
          <a:p>
            <a:r>
              <a:t>"Objective-driven selection—Slide 50 makes that explicit."</a:t>
            </a:r>
          </a:p>
          <a:p/>
          <a:p>
            <a:r>
              <a:t>Show:</a:t>
            </a:r>
          </a:p>
          <a:p>
            <a:r>
              <a:t>The template.</a:t>
            </a:r>
          </a:p>
          <a:p/>
          <a:p>
            <a:r>
              <a:t>Do:</a:t>
            </a:r>
          </a:p>
          <a:p>
            <a:r>
              <a:t>"If your objective is 'what is listening,' which tactic/technique family?" Connections/services, not file search.</a:t>
            </a:r>
          </a:p>
          <a:p/>
          <a:p>
            <a:r>
              <a:t>Image Prompt:</a:t>
            </a:r>
          </a:p>
          <a:p>
            <a:r>
              <a:t>Technique card template: Purpose / Commands / Good output / OPSEC.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"T1082 is the ATT&amp;CK name for what you already did with `uname`/`systeminfo`."</a:t>
            </a:r>
          </a:p>
          <a:p>
            <a:r>
              <a:t>"Do not re-run it five times later in the survey."</a:t>
            </a:r>
          </a:p>
          <a:p/>
          <a:p>
            <a:r>
              <a:t>Show:</a:t>
            </a:r>
          </a:p>
          <a:p>
            <a:r>
              <a:t>OPSEC line: collect once.</a:t>
            </a:r>
          </a:p>
          <a:p/>
          <a:p>
            <a:r>
              <a:t>Do:</a:t>
            </a:r>
          </a:p>
          <a:p>
            <a:r>
              <a:t>Map back to first-minute "what OS am I on."</a:t>
            </a:r>
          </a:p>
          <a:p/>
          <a:p>
            <a:r>
              <a:t>Image Prompt:</a:t>
            </a:r>
          </a:p>
          <a:p>
            <a:r>
              <a:t>T1082 card with Linux/Windows command chips.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"Who is on this box besides you—operators get surprised by interactive sessions."</a:t>
            </a:r>
          </a:p>
          <a:p>
            <a:r>
              <a:t>"`w`/`quser` once; `last` if you need history."</a:t>
            </a:r>
          </a:p>
          <a:p/>
          <a:p>
            <a:r>
              <a:t>Show:</a:t>
            </a:r>
          </a:p>
          <a:p>
            <a:r>
              <a:t>OPSEC: do not loop `quser`.</a:t>
            </a:r>
          </a:p>
          <a:p/>
          <a:p>
            <a:r>
              <a:t>Do:</a:t>
            </a:r>
          </a:p>
          <a:p>
            <a:r>
              <a:t>Ask why a second logged-on admin matters for OPSEC.</a:t>
            </a:r>
          </a:p>
          <a:p/>
          <a:p>
            <a:r>
              <a:t>Image Prompt:</a:t>
            </a:r>
          </a:p>
          <a:p>
            <a:r>
              <a:t>T1033 card; `w`/`quser` session table.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"You already collected `ps`/`tasklist`—this is the ATT&amp;CK label and the parse step."</a:t>
            </a:r>
          </a:p>
          <a:p>
            <a:r>
              <a:t>"`top` is interactive and easy to leave running; prefer a snapshot."</a:t>
            </a:r>
          </a:p>
          <a:p/>
          <a:p>
            <a:r>
              <a:t>Show:</a:t>
            </a:r>
          </a:p>
          <a:p>
            <a:r>
              <a:t>Memory inspection as the loud option.</a:t>
            </a:r>
          </a:p>
          <a:p/>
          <a:p>
            <a:r>
              <a:t>Do:</a:t>
            </a:r>
          </a:p>
          <a:p>
            <a:r>
              <a:t>"What would you grep for in `ps` after a webshell foothold?" php/python/nc/unusual cwd.</a:t>
            </a:r>
          </a:p>
          <a:p/>
          <a:p>
            <a:r>
              <a:t>Image Prompt:</a:t>
            </a:r>
          </a:p>
          <a:p>
            <a:r>
              <a:t>T1057 card; process table with one unexpected child highlighted.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"Services explain host role and restart behavior."</a:t>
            </a:r>
          </a:p>
          <a:p>
            <a:r>
              <a:t>"Local query is quieter than remote service enum."</a:t>
            </a:r>
          </a:p>
          <a:p/>
          <a:p>
            <a:r>
              <a:t>Show:</a:t>
            </a:r>
          </a:p>
          <a:p>
            <a:r>
              <a:t>Remote vs local.</a:t>
            </a:r>
          </a:p>
          <a:p/>
          <a:p>
            <a:r>
              <a:t>Do:</a:t>
            </a:r>
          </a:p>
          <a:p>
            <a:r>
              <a:t>If `systemctl` is missing, that is environment evidence (container/BusyBox/chroot).</a:t>
            </a:r>
          </a:p>
          <a:p/>
          <a:p>
            <a:r>
              <a:t>Image Prompt:</a:t>
            </a:r>
          </a:p>
          <a:p>
            <a:r>
              <a:t>T1007 card; service list with a non-default unit highlighted.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is where operators get loud."</a:t>
            </a:r>
          </a:p>
          <a:p>
            <a:r>
              <a:t>"List the directory you already have a reason to care about."</a:t>
            </a:r>
          </a:p>
          <a:p>
            <a:r>
              <a:t>"`find /` is a last resort with a written reason."</a:t>
            </a:r>
          </a:p>
          <a:p/>
          <a:p>
            <a:r>
              <a:t>Show:</a:t>
            </a:r>
          </a:p>
          <a:p>
            <a:r>
              <a:t>Narrow vs recursive.</a:t>
            </a:r>
          </a:p>
          <a:p/>
          <a:p>
            <a:r>
              <a:t>Do:</a:t>
            </a:r>
          </a:p>
          <a:p>
            <a:r>
              <a:t>"Name one directory you would list first on a web foothold." `/var/www`, app config, not `/`.</a:t>
            </a:r>
          </a:p>
          <a:p/>
          <a:p>
            <a:r>
              <a:t>Image Prompt:</a:t>
            </a:r>
          </a:p>
          <a:p>
            <a:r>
              <a:t>T1083 card; narrow folder vs `find /` red-X.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"Local account list first; domain enumeration is a conscious louder step."</a:t>
            </a:r>
          </a:p>
          <a:p>
            <a:r>
              <a:t>"Same files as the user-context section—do not duplicate blindly."</a:t>
            </a:r>
          </a:p>
          <a:p/>
          <a:p>
            <a:r>
              <a:t>Show:</a:t>
            </a:r>
          </a:p>
          <a:p>
            <a:r>
              <a:t>Local-first.</a:t>
            </a:r>
          </a:p>
          <a:p/>
          <a:p>
            <a:r>
              <a:t>Do:</a:t>
            </a:r>
          </a:p>
          <a:p>
            <a:r>
              <a:t>If already read passwd, skip re-cat; parse the saved output.</a:t>
            </a:r>
          </a:p>
          <a:p/>
          <a:p>
            <a:r>
              <a:t>Image Prompt:</a:t>
            </a:r>
          </a:p>
          <a:p>
            <a:r>
              <a:t>T1087 card; local SAM/passwd vs domain query with "visible" tag.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"Groups are the privilege implication of T1087."</a:t>
            </a:r>
          </a:p>
          <a:p>
            <a:r>
              <a:t>"You likely already have this from `id` / `whoami /groups`."</a:t>
            </a:r>
          </a:p>
          <a:p/>
          <a:p>
            <a:r>
              <a:t>Show:</a:t>
            </a:r>
          </a:p>
          <a:p>
            <a:r>
              <a:t>One-query OPSEC.</a:t>
            </a:r>
          </a:p>
          <a:p/>
          <a:p>
            <a:r>
              <a:t>Do:</a:t>
            </a:r>
          </a:p>
          <a:p>
            <a:r>
              <a:t>Do not re-run `net localgroup Administrators` in a loop.</a:t>
            </a:r>
          </a:p>
          <a:p/>
          <a:p>
            <a:r>
              <a:t>Image Prompt:</a:t>
            </a:r>
          </a:p>
          <a:p>
            <a:r>
              <a:t>T1069 card; group list with Administrators/sudo highlighted.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"ARP and existing connections (T1049) before ping sweeps."</a:t>
            </a:r>
          </a:p>
          <a:p>
            <a:r>
              <a:t>"nmap on-objective is a decision, not a reflex—B02 scan tradecraft still applies."</a:t>
            </a:r>
          </a:p>
          <a:p>
            <a:r>
              <a:t>"Handoff may need neighbor/DC names; document, do not flatten the network in lecture."</a:t>
            </a:r>
          </a:p>
          <a:p/>
          <a:p>
            <a:r>
              <a:t>Show:</a:t>
            </a:r>
          </a:p>
          <a:p>
            <a:r>
              <a:t>Quiet vs loud.</a:t>
            </a:r>
          </a:p>
          <a:p/>
          <a:p>
            <a:r>
              <a:t>Do:</a:t>
            </a:r>
          </a:p>
          <a:p>
            <a:r>
              <a:t>"What already-collected command might list remote IPs without a new scan?" `ss`/`netstat`.</a:t>
            </a:r>
          </a:p>
          <a:p/>
          <a:p>
            <a:r>
              <a:t>Image Prompt:</a:t>
            </a:r>
          </a:p>
          <a:p>
            <a:r>
              <a:t>T1018 card; ARP table (quiet) vs nmap (loud).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answers first-minute 'network situation.'"</a:t>
            </a:r>
          </a:p>
          <a:p>
            <a:r>
              <a:t>"Repeat `nslookup` is the quiet-looking thing that still logs."</a:t>
            </a:r>
          </a:p>
          <a:p/>
          <a:p>
            <a:r>
              <a:t>Show:</a:t>
            </a:r>
          </a:p>
          <a:p>
            <a:r>
              <a:t>DNS query caution.</a:t>
            </a:r>
          </a:p>
          <a:p/>
          <a:p>
            <a:r>
              <a:t>Do:</a:t>
            </a:r>
          </a:p>
          <a:p>
            <a:r>
              <a:t>Collect `ipconfig /all` once in the Windows demo; parse DNS from it.</a:t>
            </a:r>
          </a:p>
          <a:p/>
          <a:p>
            <a:r>
              <a:t>Image Prompt:</a:t>
            </a:r>
          </a:p>
          <a:p>
            <a:r>
              <a:t>T1016 card; interface/route/DNS triad.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is the high-yield companion to T1016."</a:t>
            </a:r>
          </a:p>
          <a:p>
            <a:r>
              <a:t>"Parse remotes and PIDs locally—do not re-run `netstat` for each question."</a:t>
            </a:r>
          </a:p>
          <a:p/>
          <a:p>
            <a:r>
              <a:t>Show:</a:t>
            </a:r>
          </a:p>
          <a:p>
            <a:r>
              <a:t>Unexpected remote as the teaching find.</a:t>
            </a:r>
          </a:p>
          <a:p/>
          <a:p>
            <a:r>
              <a:t>Do:</a:t>
            </a:r>
          </a:p>
          <a:p>
            <a:r>
              <a:t>Tie to blue-space IOCs: "Would this remote match a hunt IOC?"</a:t>
            </a:r>
          </a:p>
          <a:p/>
          <a:p>
            <a:r>
              <a:t>Image Prompt:</a:t>
            </a:r>
          </a:p>
          <a:p>
            <a:r>
              <a:t>T1049 card; connection table with one unexpected remote highlighted.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"Local `net share`/`mount` first."</a:t>
            </a:r>
          </a:p>
          <a:p>
            <a:r>
              <a:t>"`net view` of other hosts is a visibility event."</a:t>
            </a:r>
          </a:p>
          <a:p/>
          <a:p>
            <a:r>
              <a:t>Show:</a:t>
            </a:r>
          </a:p>
          <a:p>
            <a:r>
              <a:t>Remote enum warning.</a:t>
            </a:r>
          </a:p>
          <a:p/>
          <a:p>
            <a:r>
              <a:t>Do:</a:t>
            </a:r>
          </a:p>
          <a:p>
            <a:r>
              <a:t>Scope: only the share that the mission needs.</a:t>
            </a:r>
          </a:p>
          <a:p/>
          <a:p>
            <a:r>
              <a:t>Image Prompt:</a:t>
            </a:r>
          </a:p>
          <a:p>
            <a:r>
              <a:t>T1135 card; local shares vs `net view` across the wire.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"Live: pick five—T1082, T1033, T1057, T1016, T1049 is a solid set."</a:t>
            </a:r>
          </a:p>
          <a:p>
            <a:r>
              <a:t>"After each, say learned / assume / verify. Do not skip assume—that is where people lie to themselves."</a:t>
            </a:r>
          </a:p>
          <a:p/>
          <a:p>
            <a:r>
              <a:t>Show:</a:t>
            </a:r>
          </a:p>
          <a:p>
            <a:r>
              <a:t>Write the three-part after-action on the board once.</a:t>
            </a:r>
          </a:p>
          <a:p/>
          <a:p>
            <a:r>
              <a:t>Do:</a:t>
            </a:r>
          </a:p>
          <a:p>
            <a:r>
              <a:t>Students replicate the loop silently on paper during the demo.</a:t>
            </a:r>
          </a:p>
          <a:p/>
          <a:p>
            <a:r>
              <a:t>Image Prompt:</a:t>
            </a:r>
          </a:p>
          <a:p>
            <a:r>
              <a:t>Demo loop: Technique → 1–2 commands → learned/assume/verify.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"These four fail the Block even if you 'find the flag.'"</a:t>
            </a:r>
          </a:p>
          <a:p>
            <a:r>
              <a:t>"Script-first, scan-first, dump-without-read, no handover."</a:t>
            </a:r>
          </a:p>
          <a:p/>
          <a:p>
            <a:r>
              <a:t>Show:</a:t>
            </a:r>
          </a:p>
          <a:p>
            <a:r>
              <a:t>Walk the four.</a:t>
            </a:r>
          </a:p>
          <a:p/>
          <a:p>
            <a:r>
              <a:t>Do:</a:t>
            </a:r>
          </a:p>
          <a:p>
            <a:r>
              <a:t>Tell them later lab grading cares about interpretation, not command count.</a:t>
            </a:r>
          </a:p>
          <a:p/>
          <a:p>
            <a:r>
              <a:t>Image Prompt:</a:t>
            </a:r>
          </a:p>
          <a:p>
            <a:r>
              <a:t>Four failure tiles with X marks.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"Select Discovery from the mission, not from the full TA0007 list."</a:t>
            </a:r>
          </a:p>
          <a:p>
            <a:r>
              <a:t>"Lateral here is *documentation for CMT/partner handoff*, not a license to pivot in lecture."</a:t>
            </a:r>
          </a:p>
          <a:p>
            <a:r>
              <a:t>"Later effects work still needs process/service truth from this survey."</a:t>
            </a:r>
          </a:p>
          <a:p/>
          <a:p>
            <a:r>
              <a:t>Show:</a:t>
            </a:r>
          </a:p>
          <a:p>
            <a:r>
              <a:t>Three columns.</a:t>
            </a:r>
          </a:p>
          <a:p/>
          <a:p>
            <a:r>
              <a:t>Do:</a:t>
            </a:r>
          </a:p>
          <a:p>
            <a:r>
              <a:t>Give one vignette: "You must brief a partner RAT deploy tomorrow—what three techniques?" Steer to T1016/T1049/T1018 plus user context.</a:t>
            </a:r>
          </a:p>
          <a:p/>
          <a:p>
            <a:r>
              <a:t>Image Prompt:</a:t>
            </a:r>
          </a:p>
          <a:p>
            <a:r>
              <a:t>Three objective columns mapping to technique clusters.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is the handover artifact."</a:t>
            </a:r>
          </a:p>
          <a:p>
            <a:r>
              <a:t>"Fill it at the end of every lab foothold in this Block."</a:t>
            </a:r>
          </a:p>
          <a:p/>
          <a:p>
            <a:r>
              <a:t>Show:</a:t>
            </a:r>
          </a:p>
          <a:p>
            <a:r>
              <a:t>Leave the template up while they copy it.</a:t>
            </a:r>
          </a:p>
          <a:p/>
          <a:p>
            <a:r>
              <a:t>Do:</a:t>
            </a:r>
          </a:p>
          <a:p>
            <a:r>
              <a:t>Require this header in later lab notes.</a:t>
            </a:r>
          </a:p>
          <a:p/>
          <a:p>
            <a:r>
              <a:t>Image Prompt:</a:t>
            </a:r>
          </a:p>
          <a:p>
            <a:r>
              <a:t>Blank template card matching the six fields.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"Automation is a choice with an OPSEC bill."</a:t>
            </a:r>
          </a:p>
          <a:p/>
          <a:p>
            <a:r>
              <a:t>Show:</a:t>
            </a:r>
          </a:p>
          <a:p>
            <a:r>
              <a:t>Title; advance.</a:t>
            </a:r>
          </a:p>
          <a:p/>
          <a:p>
            <a:r>
              <a:t>Do:</a:t>
            </a:r>
          </a:p>
          <a:p>
            <a:r>
              <a:t>None.</a:t>
            </a:r>
          </a:p>
          <a:p/>
          <a:p>
            <a:r>
              <a:t>Image Prompt:</a:t>
            </a:r>
          </a:p>
          <a:p>
            <a:r>
              <a:t>Section divider. Script icon with a volume slider (quiet ↔ loud).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"Scripts exist because humans skip steps under stress."</a:t>
            </a:r>
          </a:p>
          <a:p>
            <a:r>
              <a:t>"The payoff is a consistent packet for the next operator."</a:t>
            </a:r>
          </a:p>
          <a:p>
            <a:r>
              <a:t>"That payoff is not free—next slide is the cost."</a:t>
            </a:r>
          </a:p>
          <a:p/>
          <a:p>
            <a:r>
              <a:t>Show:</a:t>
            </a:r>
          </a:p>
          <a:p>
            <a:r>
              <a:t>Three payoffs.</a:t>
            </a:r>
          </a:p>
          <a:p/>
          <a:p>
            <a:r>
              <a:t>Do:</a:t>
            </a:r>
          </a:p>
          <a:p>
            <a:r>
              <a:t>Ask who has run LinPEAS in a lab vs on a monitored range.</a:t>
            </a:r>
          </a:p>
          <a:p/>
          <a:p>
            <a:r>
              <a:t>Image Prompt:</a:t>
            </a:r>
          </a:p>
          <a:p>
            <a:r>
              <a:t>Three payoff tiles: speed; fewer misses; standard handover.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"A script is a log spike by design."</a:t>
            </a:r>
          </a:p>
          <a:p>
            <a:r>
              <a:t>"The `.sh` you dropped and the `out.txt` you left are evidence against you too."</a:t>
            </a:r>
          </a:p>
          <a:p/>
          <a:p>
            <a:r>
              <a:t>Show:</a:t>
            </a:r>
          </a:p>
          <a:p>
            <a:r>
              <a:t>Three cost tiles.</a:t>
            </a:r>
          </a:p>
          <a:p/>
          <a:p>
            <a:r>
              <a:t>Do:</a:t>
            </a:r>
          </a:p>
          <a:p>
            <a:r>
              <a:t>"Where does survey output go in a professional op?" Named, controlled, cleaned or handed off.</a:t>
            </a:r>
          </a:p>
          <a:p/>
          <a:p>
            <a:r>
              <a:t>Image Prompt:</a:t>
            </a:r>
          </a:p>
          <a:p>
            <a:r>
              <a:t>Script burst → SIEM spike; file on disk; output file stamped "sensitive."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"Know the public names so you recognize them; do not treat them as mandatory."</a:t>
            </a:r>
          </a:p>
          <a:p>
            <a:r>
              <a:t>"A curated command list in an editor is often the better OPSEC control—you pace it."</a:t>
            </a:r>
          </a:p>
          <a:p>
            <a:r>
              <a:t>"If you do run a script, watch it; be ready to stop."</a:t>
            </a:r>
          </a:p>
          <a:p/>
          <a:p>
            <a:r>
              <a:t>Show:</a:t>
            </a:r>
          </a:p>
          <a:p>
            <a:r>
              <a:t>Interruptible vs fire-and-forget.</a:t>
            </a:r>
          </a:p>
          <a:p/>
          <a:p>
            <a:r>
              <a:t>Do:</a:t>
            </a:r>
          </a:p>
          <a:p>
            <a:r>
              <a:t>For this course, default to command lists on constrained labs; full PEAS-class tools only when the environment and objective justify the noise.</a:t>
            </a:r>
          </a:p>
          <a:p/>
          <a:p>
            <a:r>
              <a:t>Image Prompt:</a:t>
            </a:r>
          </a:p>
          <a:p>
            <a:r>
              <a:t>Two columns: named public scripts vs a paced command list in an editor.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"If you write a custom script, this is the outline—same as the first-minute checklist plus files and a report."</a:t>
            </a:r>
          </a:p>
          <a:p>
            <a:r>
              <a:t>"Formatting is part of the job; unreadable output is failed handover."</a:t>
            </a:r>
          </a:p>
          <a:p/>
          <a:p>
            <a:r>
              <a:t>Show:</a:t>
            </a:r>
          </a:p>
          <a:p>
            <a:r>
              <a:t>Order: system → user → network → process → files → package.</a:t>
            </a:r>
          </a:p>
          <a:p/>
          <a:p>
            <a:r>
              <a:t>Do:</a:t>
            </a:r>
          </a:p>
          <a:p>
            <a:r>
              <a:t>Map each line to an ATT&amp;CK ID they just saw.</a:t>
            </a:r>
          </a:p>
          <a:p/>
          <a:p>
            <a:r>
              <a:t>Image Prompt:</a:t>
            </a:r>
          </a:p>
          <a:p>
            <a:r>
              <a:t>Ordered pipeline of the six sections into a formatted report.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"Demo a *small* custom script or a trimmed command list—not full LinPEAS unless you have time and a throwaway host."</a:t>
            </a:r>
          </a:p>
          <a:p>
            <a:r>
              <a:t>"Force three findings and an explicit noise discussion."</a:t>
            </a:r>
          </a:p>
          <a:p/>
          <a:p>
            <a:r>
              <a:t>Show:</a:t>
            </a:r>
          </a:p>
          <a:p>
            <a:r>
              <a:t>Three findings + likely log types (process create, file write).</a:t>
            </a:r>
          </a:p>
          <a:p/>
          <a:p>
            <a:r>
              <a:t>Do:</a:t>
            </a:r>
          </a:p>
          <a:p>
            <a:r>
              <a:t>Students shout out one noisy artifact they would not want left behind.</a:t>
            </a:r>
          </a:p>
          <a:p/>
          <a:p>
            <a:r>
              <a:t>Image Prompt:</a:t>
            </a:r>
          </a:p>
          <a:p>
            <a:r>
              <a:t>Split: script output with three stars; SIEM-style event list beside it.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"Custom beats PEAS when the question is narrow."</a:t>
            </a:r>
          </a:p>
          <a:p>
            <a:r>
              <a:t>"Check that the binary exists—B03 constrained hosts will lack tools."</a:t>
            </a:r>
          </a:p>
          <a:p>
            <a:r>
              <a:t>"Minimal scope is an OPSEC control."</a:t>
            </a:r>
          </a:p>
          <a:p/>
          <a:p>
            <a:r>
              <a:t>Show:</a:t>
            </a:r>
          </a:p>
          <a:p>
            <a:r>
              <a:t>Existence check as the professional habit.</a:t>
            </a:r>
          </a:p>
          <a:p/>
          <a:p>
            <a:r>
              <a:t>Do:</a:t>
            </a:r>
          </a:p>
          <a:p>
            <a:r>
              <a:t>"What does your script do if `ss` is missing?" Fall back or record the gap.</a:t>
            </a:r>
          </a:p>
          <a:p/>
          <a:p>
            <a:r>
              <a:t>Image Prompt:</a:t>
            </a:r>
          </a:p>
          <a:p>
            <a:r>
              <a:t>Tiny code sketch: `command -v ss` / `Get-Command` then one collect.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is the rule you take into every B03 lab."</a:t>
            </a:r>
          </a:p>
          <a:p>
            <a:r>
              <a:t>"Unknown environment: hands only until the first-minute checklist is answered."</a:t>
            </a:r>
          </a:p>
          <a:p>
            <a:r>
              <a:t>"Document the choice—handover includes *what you ran*."</a:t>
            </a:r>
          </a:p>
          <a:p/>
          <a:p>
            <a:r>
              <a:t>Show:</a:t>
            </a:r>
          </a:p>
          <a:p>
            <a:r>
              <a:t>Four bullets as a standing SOP.</a:t>
            </a:r>
          </a:p>
          <a:p/>
          <a:p>
            <a:r>
              <a:t>Do:</a:t>
            </a:r>
          </a:p>
          <a:p>
            <a:r>
              <a:t>Post it on the board for the rest of the Block.</a:t>
            </a:r>
          </a:p>
          <a:p/>
          <a:p>
            <a:r>
              <a:t>Image Prompt:</a:t>
            </a:r>
          </a:p>
          <a:p>
            <a:r>
              <a:t>Decision diamond: unknown env → manual; time-critical → script; stealth → targeted.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"Last section: how discovery looks from the other side, and how you hand it off."</a:t>
            </a:r>
          </a:p>
          <a:p/>
          <a:p>
            <a:r>
              <a:t>Show:</a:t>
            </a:r>
          </a:p>
          <a:p>
            <a:r>
              <a:t>Title; advance.</a:t>
            </a:r>
          </a:p>
          <a:p/>
          <a:p>
            <a:r>
              <a:t>Do:</a:t>
            </a:r>
          </a:p>
          <a:p>
            <a:r>
              <a:t>None.</a:t>
            </a:r>
          </a:p>
          <a:p/>
          <a:p>
            <a:r>
              <a:t>Image Prompt:</a:t>
            </a:r>
          </a:p>
          <a:p>
            <a:r>
              <a:t>Section divider. Eye/SIEM icon; title only.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"Even 'native' commands log."</a:t>
            </a:r>
          </a:p>
          <a:p>
            <a:r>
              <a:t>"Volume and tool choice are what correlation needs."</a:t>
            </a:r>
          </a:p>
          <a:p/>
          <a:p>
            <a:r>
              <a:t>Show:</a:t>
            </a:r>
          </a:p>
          <a:p>
            <a:r>
              <a:t>SIEM as the aggregator, not a single event.</a:t>
            </a:r>
          </a:p>
          <a:p/>
          <a:p>
            <a:r>
              <a:t>Do:</a:t>
            </a:r>
          </a:p>
          <a:p>
            <a:r>
              <a:t>Revisit Slide 7; this is the same idea after they have technique names.</a:t>
            </a:r>
          </a:p>
          <a:p/>
          <a:p>
            <a:r>
              <a:t>Image Prompt:</a:t>
            </a:r>
          </a:p>
          <a:p>
            <a:r>
              <a:t>Three pipes from an operator into LOG / ALERT / SIEM.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"There is no universal right setting."</a:t>
            </a:r>
          </a:p>
          <a:p>
            <a:r>
              <a:t>"Mission timing, EDR, and how much you already know set the slider."</a:t>
            </a:r>
          </a:p>
          <a:p/>
          <a:p>
            <a:r>
              <a:t>Show:</a:t>
            </a:r>
          </a:p>
          <a:p>
            <a:r>
              <a:t>Slider.</a:t>
            </a:r>
          </a:p>
          <a:p/>
          <a:p>
            <a:r>
              <a:t>Do:</a:t>
            </a:r>
          </a:p>
          <a:p>
            <a:r>
              <a:t>"Classroom labs vs a live EDR—where does the slider move?"</a:t>
            </a:r>
          </a:p>
          <a:p/>
          <a:p>
            <a:r>
              <a:t>Image Prompt:</a:t>
            </a:r>
          </a:p>
          <a:p>
            <a:r>
              <a:t>Slider: Speed vs Stealth; context knob.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"Native `ps`, `ss`, `systeminfo`, `whoami` blend; random GitHub dump tools do not."</a:t>
            </a:r>
          </a:p>
          <a:p>
            <a:r>
              <a:t>"Timing matters: a burst at 03:00 on a workstation is a tell."</a:t>
            </a:r>
          </a:p>
          <a:p/>
          <a:p>
            <a:r>
              <a:t>Show:</a:t>
            </a:r>
          </a:p>
          <a:p>
            <a:r>
              <a:t>Legitimate tools.</a:t>
            </a:r>
          </a:p>
          <a:p/>
          <a:p>
            <a:r>
              <a:t>Do:</a:t>
            </a:r>
          </a:p>
          <a:p>
            <a:r>
              <a:t>Ask for one "obvious attacker" pattern to avoid (LinPEAS from `/tmp/l.sh`).</a:t>
            </a:r>
          </a:p>
          <a:p/>
          <a:p>
            <a:r>
              <a:t>Image Prompt:</a:t>
            </a:r>
          </a:p>
          <a:p>
            <a:r>
              <a:t>Admin toolbox vs "hacker script" toolbox; pick admin.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"Handover is an OPSEC control too—someone else should not re-spray the host to learn what you already know."</a:t>
            </a:r>
          </a:p>
          <a:p>
            <a:r>
              <a:t>"Gaps are mandatory."</a:t>
            </a:r>
          </a:p>
          <a:p/>
          <a:p>
            <a:r>
              <a:t>Show:</a:t>
            </a:r>
          </a:p>
          <a:p>
            <a:r>
              <a:t>Four lines = Slide 51 compressed.</a:t>
            </a:r>
          </a:p>
          <a:p/>
          <a:p>
            <a:r>
              <a:t>Do:</a:t>
            </a:r>
          </a:p>
          <a:p>
            <a:r>
              <a:t>This is the close-out for every lab in this Block.</a:t>
            </a:r>
          </a:p>
          <a:p/>
          <a:p>
            <a:r>
              <a:t>Image Prompt:</a:t>
            </a:r>
          </a:p>
          <a:p>
            <a:r>
              <a:t>Four-line handover (learned / critical / gaps / next).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"Preview you can photograph."</a:t>
            </a:r>
          </a:p>
          <a:p>
            <a:r>
              <a:t>"Justify the loud things in the notes if you do them."</a:t>
            </a:r>
          </a:p>
          <a:p/>
          <a:p>
            <a:r>
              <a:t>Show:</a:t>
            </a:r>
          </a:p>
          <a:p>
            <a:r>
              <a:t>Five lines.</a:t>
            </a:r>
          </a:p>
          <a:p/>
          <a:p>
            <a:r>
              <a:t>Do:</a:t>
            </a:r>
          </a:p>
          <a:p>
            <a:r>
              <a:t>Students keep this next to the documentation template.</a:t>
            </a:r>
          </a:p>
          <a:p/>
          <a:p>
            <a:r>
              <a:t>Image Prompt:</a:t>
            </a:r>
          </a:p>
          <a:p>
            <a:r>
              <a:t>Five-item checklist card.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"Read a tool before you run it."</a:t>
            </a:r>
          </a:p>
          <a:p>
            <a:r>
              <a:t>"Names like `exploit.sh` in `/tmp` are a gift to defenders."</a:t>
            </a:r>
          </a:p>
          <a:p>
            <a:r>
              <a:t>"Correlation is delayed—quiet now can still alert later."</a:t>
            </a:r>
          </a:p>
          <a:p/>
          <a:p>
            <a:r>
              <a:t>Show:</a:t>
            </a:r>
          </a:p>
          <a:p>
            <a:r>
              <a:t>Three pitfalls.</a:t>
            </a:r>
          </a:p>
          <a:p/>
          <a:p>
            <a:r>
              <a:t>Do:</a:t>
            </a:r>
          </a:p>
          <a:p>
            <a:r>
              <a:t>One horror-story prompt: leftover output file with creds.</a:t>
            </a:r>
          </a:p>
          <a:p/>
          <a:p>
            <a:r>
              <a:t>Image Prompt:</a:t>
            </a:r>
          </a:p>
          <a:p>
            <a:r>
              <a:t>Three pitfall tiles.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is the standing method for the rest of the Block—not a command list."</a:t>
            </a:r>
          </a:p>
          <a:p>
            <a:r>
              <a:t>"Identify the surface. Prove the jail, MAC, container, or hybrid boundary from what the host already shows. Then change collection. Then write the gaps."</a:t>
            </a:r>
          </a:p>
          <a:p>
            <a:r>
              <a:t>"Every new shell, upload, or pivot is a new surface. Re-run the first-minute checklist; do not inherit the last answer."</a:t>
            </a:r>
          </a:p>
          <a:p>
            <a:r>
              <a:t>"If RAM, tools, or time are collapsing: identity, listeners, and a process snapshot before you start walking the filesystem."</a:t>
            </a:r>
          </a:p>
          <a:p>
            <a:r>
              <a:t>"If the hour is short, keep this slide. Cut TA0007 technique-card depth first."</a:t>
            </a:r>
          </a:p>
          <a:p/>
          <a:p>
            <a:r>
              <a:t>Show:</a:t>
            </a:r>
          </a:p>
          <a:p>
            <a:r>
              <a:t>Walk Identify → Prove → Adapt → Document once; then the degraded-host strip.</a:t>
            </a:r>
          </a:p>
          <a:p/>
          <a:p>
            <a:r>
              <a:t>Do:</a:t>
            </a:r>
          </a:p>
          <a:p>
            <a:r>
              <a:t>Have them write the four verbs in lab notes. Cold-call: "Tools are gone and the box is swapping—what do you collect first?" Identity, listeners, process snapshot.</a:t>
            </a:r>
          </a:p>
          <a:p/>
          <a:p>
            <a:r>
              <a:t>Image Prompt:</a:t>
            </a:r>
          </a:p>
          <a:p>
            <a:r>
              <a:t>Four-step loop (Identify → Prove → Adapt → Document) with a side callout: "new surface → restart first-minute checklist." Degraded-host strip: identity / listeners / `ps` snapshot first.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"Cold-call or teams of two; 90 seconds each."</a:t>
            </a:r>
          </a:p>
          <a:p>
            <a:r>
              <a:t>"Q1: AD/domain discovery and handoff documentation; local-admin ≠ DA."</a:t>
            </a:r>
          </a:p>
          <a:p>
            <a:r>
              <a:t>"Q2: something like `uname -a`, `cat /etc/os-release`, `id` (and `ps`/`ss` if you include role/network)."</a:t>
            </a:r>
          </a:p>
          <a:p>
            <a:r>
              <a:t>"Q3: log spike, on-disk script, sensitive output files."</a:t>
            </a:r>
          </a:p>
          <a:p>
            <a:r>
              <a:t>"Q4: prove the boundary—PID 1, filesystem view, cgroup/`.dockerenv`, missing tools, policy/logs. A root prompt is a claim."</a:t>
            </a:r>
          </a:p>
          <a:p/>
          <a:p>
            <a:r>
              <a:t>Show:</a:t>
            </a:r>
          </a:p>
          <a:p>
            <a:r>
              <a:t>Keep answers off the slide until after they try.</a:t>
            </a:r>
          </a:p>
          <a:p/>
          <a:p>
            <a:r>
              <a:t>Do:</a:t>
            </a:r>
          </a:p>
          <a:p>
            <a:r>
              <a:t>Take four answers; correct using earlier slides.</a:t>
            </a:r>
          </a:p>
          <a:p/>
          <a:p>
            <a:r>
              <a:t>Image Prompt:</a:t>
            </a:r>
          </a:p>
          <a:p>
            <a:r>
              <a:t>Four numbered questions; no answers on the slide.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"You now have the on-objective loop: environment, user, selected Discovery, optional automation, OPSEC/handover."</a:t>
            </a:r>
          </a:p>
          <a:p>
            <a:r>
              <a:t>"Constraint adaptation is how that loop survives the rest of the Block: Identify → Prove → Adapt → Document."</a:t>
            </a:r>
          </a:p>
          <a:p>
            <a:r>
              <a:t>"ATT&amp;CK Discovery is the shared language for what you just did."</a:t>
            </a:r>
          </a:p>
          <a:p/>
          <a:p>
            <a:r>
              <a:t>Show:</a:t>
            </a:r>
          </a:p>
          <a:p>
            <a:r>
              <a:t>Six tiles; add the four-verb loop as a footer if space.</a:t>
            </a:r>
          </a:p>
          <a:p/>
          <a:p>
            <a:r>
              <a:t>Do:</a:t>
            </a:r>
          </a:p>
          <a:p>
            <a:r>
              <a:t>Point back to the four objectives from Slide 2.</a:t>
            </a:r>
          </a:p>
          <a:p/>
          <a:p>
            <a:r>
              <a:t>Image Prompt:</a:t>
            </a:r>
          </a:p>
          <a:p>
            <a:r>
              <a:t>Six recap tiles matching Slide 3.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"Questions on environments, user context, Discovery technique choice, scripts, OPSEC, or the constraint loop."</a:t>
            </a:r>
          </a:p>
          <a:p>
            <a:r>
              <a:t>"Lab logistics belong in the issued lab brief."</a:t>
            </a:r>
          </a:p>
          <a:p/>
          <a:p>
            <a:r>
              <a:t>Show:</a:t>
            </a:r>
          </a:p>
          <a:p>
            <a:r>
              <a:t>Leave the collect-once and four-verb lines visible.</a:t>
            </a:r>
          </a:p>
          <a:p/>
          <a:p>
            <a:r>
              <a:t>Do:</a:t>
            </a:r>
          </a:p>
          <a:p>
            <a:r>
              <a:t>If none, cold-call: "First four commands on a new Linux shell?" Then: "The box starts failing—what do you collect first?"</a:t>
            </a:r>
          </a:p>
          <a:p/>
          <a:p>
            <a:r>
              <a:t>Image Prompt:</a:t>
            </a:r>
          </a:p>
          <a:p>
            <a:r>
              <a:t>Simple Q&amp;A; footer with TA0007, "collect once, parse locally," and Identify → Prove → Adapt → Document.</a:t>
            </a:r>
          </a:p>
          <a:p/>
          <a:p>
            <a:r>
              <a:t>Ask (Q):</a:t>
            </a:r>
          </a:p>
          <a:p>
            <a:r>
              <a:t>First four commands on a new Linux shell?</a:t>
            </a:r>
          </a:p>
          <a:p>
            <a:r>
              <a:t>In one sentence, what is the first thing you do after a shell?</a:t>
            </a:r>
          </a:p>
          <a:p/>
          <a:p>
            <a:r>
              <a:t>Expected Response (A):</a:t>
            </a:r>
          </a:p>
          <a:p>
            <a:r>
              <a:t>Facilitation. Drive toward identity, time, process, and listener checks before Discovery noise.</a:t>
            </a:r>
          </a:p>
          <a:p>
            <a:r>
              <a:t>---</a:t>
            </a:r>
          </a:p>
          <a:p>
            <a:r>
              <a:t>## Reverse-build notes</a:t>
            </a:r>
          </a:p>
          <a:p>
            <a:r>
              <a:t>Extracted from the student PPTX via `tools/pptx_to_content_guide.py`, then rewritten to course content-guide form (Say/Show/Do, Image Prompt, ≤7 bullets, divider slides title-only).</a:t>
            </a:r>
          </a:p>
          <a:p>
            <a:r>
              <a:t>Lesson Objectives on Slide 2 kept **verbatim** from the deck.</a:t>
            </a:r>
          </a:p>
          <a:p>
            <a:r>
              <a:t>First-line PPTX headings that duplicated the slide title were folded into the `### Slide N:` title or dropped from the bullet list.</a:t>
            </a:r>
          </a:p>
          <a:p>
            <a:r>
              <a:t>Scheduled execution is a first-minute checklist item (Slide 9) and a handover field (Slides 11, 51).</a:t>
            </a:r>
          </a:p>
          <a:p>
            <a:r>
              <a:t>Jail vs MAC constraint models are student-visible on Slide 17; container/hybrid re-identify on Slide 23.</a:t>
            </a:r>
          </a:p>
          <a:p>
            <a:r>
              <a:t>Standing method Identify → Prove → Adapt → Document is Slide 67 (2 min; protect if the hour is short).</a:t>
            </a:r>
          </a:p>
          <a:p>
            <a:r>
              <a:t>Course tie-in and lab-preview slides were removed. Degraded-ops rules stay on Slide 67.</a:t>
            </a:r>
          </a:p>
          <a:p>
            <a:r>
              <a:t>## Lesson summary</a:t>
            </a:r>
          </a:p>
          <a:p>
            <a:r>
              <a:t>B03.M01-situational-awareness-environments is executed as a generated lesson plan from this file.</a:t>
            </a:r>
          </a:p>
          <a:p>
            <a:r>
              <a:t>Assessment methods live on module.yaml; do not invent extra official ELOs.</a:t>
            </a:r>
          </a:p>
          <a:p>
            <a:r>
              <a:t>## Questions and check on learning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9"/>
          <p:cNvSpPr txBox="1">
            <a:spLocks noGrp="1"/>
          </p:cNvSpPr>
          <p:nvPr>
            <p:ph type="ctrTitle"/>
          </p:nvPr>
        </p:nvSpPr>
        <p:spPr>
          <a:xfrm>
            <a:off x="2062480" y="89884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40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9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316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0"/>
          <p:cNvSpPr txBox="1">
            <a:spLocks noGrp="1"/>
          </p:cNvSpPr>
          <p:nvPr>
            <p:ph type="body" idx="1"/>
          </p:nvPr>
        </p:nvSpPr>
        <p:spPr>
          <a:xfrm>
            <a:off x="1510029" y="1188720"/>
            <a:ext cx="10361372" cy="5131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600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9" name="Google Shape;49;p80"/>
          <p:cNvSpPr txBox="1"/>
          <p:nvPr/>
        </p:nvSpPr>
        <p:spPr>
          <a:xfrm>
            <a:off x="3657600" y="6553201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80"/>
          <p:cNvSpPr txBox="1"/>
          <p:nvPr/>
        </p:nvSpPr>
        <p:spPr>
          <a:xfrm>
            <a:off x="3657600" y="0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80"/>
          <p:cNvSpPr txBox="1">
            <a:spLocks noGrp="1"/>
          </p:cNvSpPr>
          <p:nvPr>
            <p:ph type="title"/>
          </p:nvPr>
        </p:nvSpPr>
        <p:spPr>
          <a:xfrm>
            <a:off x="1510029" y="437317"/>
            <a:ext cx="10681971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0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82"/>
          <p:cNvSpPr txBox="1">
            <a:spLocks noGrp="1"/>
          </p:cNvSpPr>
          <p:nvPr>
            <p:ph type="title"/>
          </p:nvPr>
        </p:nvSpPr>
        <p:spPr>
          <a:xfrm>
            <a:off x="1723854" y="549275"/>
            <a:ext cx="9963493" cy="28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4" name="Google Shape;54;p82"/>
          <p:cNvSpPr txBox="1">
            <a:spLocks noGrp="1"/>
          </p:cNvSpPr>
          <p:nvPr>
            <p:ph type="body" idx="1"/>
          </p:nvPr>
        </p:nvSpPr>
        <p:spPr>
          <a:xfrm>
            <a:off x="1723854" y="3429000"/>
            <a:ext cx="9963493" cy="21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6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100"/>
              <a:buFont typeface="Arial"/>
              <a:buNone/>
              <a:defRPr sz="1333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316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3"/>
          <p:cNvSpPr txBox="1">
            <a:spLocks noGrp="1"/>
          </p:cNvSpPr>
          <p:nvPr>
            <p:ph type="title"/>
          </p:nvPr>
        </p:nvSpPr>
        <p:spPr>
          <a:xfrm>
            <a:off x="1363362" y="952052"/>
            <a:ext cx="10142837" cy="622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2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7" name="Google Shape;57;p83"/>
          <p:cNvSpPr txBox="1">
            <a:spLocks noGrp="1"/>
          </p:cNvSpPr>
          <p:nvPr>
            <p:ph type="body" idx="1"/>
          </p:nvPr>
        </p:nvSpPr>
        <p:spPr>
          <a:xfrm>
            <a:off x="4720611" y="1574799"/>
            <a:ext cx="7091600" cy="4781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6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1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8" name="Google Shape;58;p83"/>
          <p:cNvSpPr txBox="1">
            <a:spLocks noGrp="1"/>
          </p:cNvSpPr>
          <p:nvPr>
            <p:ph type="body" idx="2"/>
          </p:nvPr>
        </p:nvSpPr>
        <p:spPr>
          <a:xfrm>
            <a:off x="1363363" y="1582599"/>
            <a:ext cx="3098248" cy="4781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 pitchFamily="34" charset="0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0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92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1_Section Head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4"/>
          <p:cNvSpPr txBox="1">
            <a:spLocks noGrp="1"/>
          </p:cNvSpPr>
          <p:nvPr>
            <p:ph type="title"/>
          </p:nvPr>
        </p:nvSpPr>
        <p:spPr>
          <a:xfrm>
            <a:off x="1723854" y="549275"/>
            <a:ext cx="9963493" cy="28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3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316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1_Title and Content 2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5"/>
          <p:cNvSpPr txBox="1">
            <a:spLocks noGrp="1"/>
          </p:cNvSpPr>
          <p:nvPr>
            <p:ph type="body" idx="1"/>
          </p:nvPr>
        </p:nvSpPr>
        <p:spPr>
          <a:xfrm>
            <a:off x="1510029" y="1188720"/>
            <a:ext cx="10361372" cy="5131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600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3" name="Google Shape;63;p85"/>
          <p:cNvSpPr txBox="1"/>
          <p:nvPr/>
        </p:nvSpPr>
        <p:spPr>
          <a:xfrm>
            <a:off x="3657600" y="6553201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85"/>
          <p:cNvSpPr txBox="1"/>
          <p:nvPr/>
        </p:nvSpPr>
        <p:spPr>
          <a:xfrm>
            <a:off x="3657600" y="0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85"/>
          <p:cNvSpPr txBox="1">
            <a:spLocks noGrp="1"/>
          </p:cNvSpPr>
          <p:nvPr>
            <p:ph type="title"/>
          </p:nvPr>
        </p:nvSpPr>
        <p:spPr>
          <a:xfrm>
            <a:off x="1510029" y="429225"/>
            <a:ext cx="10666596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4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86"/>
          <p:cNvSpPr txBox="1">
            <a:spLocks noGrp="1"/>
          </p:cNvSpPr>
          <p:nvPr>
            <p:ph type="body" idx="1"/>
          </p:nvPr>
        </p:nvSpPr>
        <p:spPr>
          <a:xfrm>
            <a:off x="1141622" y="1000540"/>
            <a:ext cx="4874101" cy="4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2133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67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333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68" name="Google Shape;68;p86"/>
          <p:cNvSpPr txBox="1">
            <a:spLocks noGrp="1"/>
          </p:cNvSpPr>
          <p:nvPr>
            <p:ph type="body" idx="2"/>
          </p:nvPr>
        </p:nvSpPr>
        <p:spPr>
          <a:xfrm>
            <a:off x="1141621" y="1582321"/>
            <a:ext cx="4854344" cy="48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1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69" name="Google Shape;69;p86"/>
          <p:cNvSpPr txBox="1">
            <a:spLocks noGrp="1"/>
          </p:cNvSpPr>
          <p:nvPr>
            <p:ph type="body" idx="3"/>
          </p:nvPr>
        </p:nvSpPr>
        <p:spPr>
          <a:xfrm>
            <a:off x="6195272" y="1000540"/>
            <a:ext cx="5603200" cy="49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2133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67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333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86"/>
          <p:cNvSpPr txBox="1">
            <a:spLocks noGrp="1"/>
          </p:cNvSpPr>
          <p:nvPr>
            <p:ph type="body" idx="4"/>
          </p:nvPr>
        </p:nvSpPr>
        <p:spPr>
          <a:xfrm>
            <a:off x="6199877" y="1582323"/>
            <a:ext cx="5598400" cy="48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1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cxnSp>
        <p:nvCxnSpPr>
          <p:cNvPr id="71" name="Google Shape;71;p86"/>
          <p:cNvCxnSpPr/>
          <p:nvPr/>
        </p:nvCxnSpPr>
        <p:spPr>
          <a:xfrm>
            <a:off x="1141622" y="974035"/>
            <a:ext cx="10830241" cy="0"/>
          </a:xfrm>
          <a:prstGeom prst="straightConnector1">
            <a:avLst/>
          </a:prstGeom>
          <a:noFill/>
          <a:ln w="9525" cap="flat" cmpd="sng">
            <a:solidFill>
              <a:srgbClr val="BFBFBF"/>
            </a:solidFill>
            <a:prstDash val="solid"/>
            <a:miter lim="0"/>
            <a:headEnd type="none" w="sm" len="sm"/>
            <a:tailEnd type="none" w="sm" len="sm"/>
          </a:ln>
        </p:spPr>
      </p:cxnSp>
      <p:cxnSp>
        <p:nvCxnSpPr>
          <p:cNvPr id="72" name="Google Shape;72;p86"/>
          <p:cNvCxnSpPr/>
          <p:nvPr/>
        </p:nvCxnSpPr>
        <p:spPr>
          <a:xfrm>
            <a:off x="6095137" y="974035"/>
            <a:ext cx="800" cy="5382400"/>
          </a:xfrm>
          <a:prstGeom prst="straightConnector1">
            <a:avLst/>
          </a:prstGeom>
          <a:noFill/>
          <a:ln w="9525" cap="flat" cmpd="sng">
            <a:solidFill>
              <a:srgbClr val="BFBFBF"/>
            </a:solidFill>
            <a:prstDash val="solid"/>
            <a:miter lim="0"/>
            <a:headEnd type="none" w="sm" len="sm"/>
            <a:tailEnd type="none" w="sm" len="sm"/>
          </a:ln>
        </p:spPr>
      </p:cxnSp>
      <p:cxnSp>
        <p:nvCxnSpPr>
          <p:cNvPr id="73" name="Google Shape;73;p86"/>
          <p:cNvCxnSpPr/>
          <p:nvPr/>
        </p:nvCxnSpPr>
        <p:spPr>
          <a:xfrm>
            <a:off x="1141621" y="1504121"/>
            <a:ext cx="10830240" cy="0"/>
          </a:xfrm>
          <a:prstGeom prst="straightConnector1">
            <a:avLst/>
          </a:prstGeom>
          <a:noFill/>
          <a:ln w="9525" cap="flat" cmpd="sng">
            <a:solidFill>
              <a:srgbClr val="BFBFBF"/>
            </a:solidFill>
            <a:prstDash val="solid"/>
            <a:miter lim="0"/>
            <a:headEnd type="none" w="sm" len="sm"/>
            <a:tailEnd type="none" w="sm" len="sm"/>
          </a:ln>
        </p:spPr>
      </p:cxnSp>
      <p:sp>
        <p:nvSpPr>
          <p:cNvPr id="74" name="Google Shape;74;p86"/>
          <p:cNvSpPr txBox="1">
            <a:spLocks noGrp="1"/>
          </p:cNvSpPr>
          <p:nvPr>
            <p:ph type="title"/>
          </p:nvPr>
        </p:nvSpPr>
        <p:spPr>
          <a:xfrm>
            <a:off x="1141621" y="326173"/>
            <a:ext cx="10656656" cy="641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5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87"/>
          <p:cNvSpPr txBox="1">
            <a:spLocks noGrp="1"/>
          </p:cNvSpPr>
          <p:nvPr>
            <p:ph type="title"/>
          </p:nvPr>
        </p:nvSpPr>
        <p:spPr>
          <a:xfrm>
            <a:off x="1301577" y="458775"/>
            <a:ext cx="10467243" cy="684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2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77" name="Google Shape;77;p87"/>
          <p:cNvSpPr>
            <a:spLocks noGrp="1"/>
          </p:cNvSpPr>
          <p:nvPr>
            <p:ph type="pic" idx="2"/>
          </p:nvPr>
        </p:nvSpPr>
        <p:spPr>
          <a:xfrm>
            <a:off x="4666821" y="1142999"/>
            <a:ext cx="7102000" cy="52560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8" name="Google Shape;78;p87"/>
          <p:cNvSpPr txBox="1">
            <a:spLocks noGrp="1"/>
          </p:cNvSpPr>
          <p:nvPr>
            <p:ph type="body" idx="1"/>
          </p:nvPr>
        </p:nvSpPr>
        <p:spPr>
          <a:xfrm>
            <a:off x="1301578" y="1142999"/>
            <a:ext cx="3061420" cy="52562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867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9845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3pPr>
            <a:lvl4pPr marL="1828800" lvl="3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4pPr>
            <a:lvl5pPr marL="2286000" lvl="4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5pPr>
            <a:lvl6pPr marL="2743200" lvl="5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6pPr>
            <a:lvl7pPr marL="3200400" lvl="6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7pPr>
            <a:lvl8pPr marL="3657600" lvl="7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8pPr>
            <a:lvl9pPr marL="4114800" lvl="8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9pPr>
          </a:lstStyle>
          <a:p>
            <a:endParaRPr/>
          </a:p>
        </p:txBody>
      </p:sp>
      <p:sp>
        <p:nvSpPr>
          <p:cNvPr id="96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Title Slide">
  <p:cSld name="11_Title Slide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8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1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ster Use">
  <p:cSld name="Master Use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89"/>
          <p:cNvSpPr txBox="1">
            <a:spLocks noGrp="1"/>
          </p:cNvSpPr>
          <p:nvPr>
            <p:ph type="title"/>
          </p:nvPr>
        </p:nvSpPr>
        <p:spPr>
          <a:xfrm>
            <a:off x="1278542" y="429225"/>
            <a:ext cx="10898083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7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1_Title and Content 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90"/>
          <p:cNvSpPr txBox="1">
            <a:spLocks noGrp="1"/>
          </p:cNvSpPr>
          <p:nvPr>
            <p:ph type="body" idx="1"/>
          </p:nvPr>
        </p:nvSpPr>
        <p:spPr>
          <a:xfrm>
            <a:off x="1510029" y="1188720"/>
            <a:ext cx="10361372" cy="5131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600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6" name="Google Shape;86;p90"/>
          <p:cNvSpPr txBox="1"/>
          <p:nvPr/>
        </p:nvSpPr>
        <p:spPr>
          <a:xfrm>
            <a:off x="3657600" y="6553201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90"/>
          <p:cNvSpPr txBox="1"/>
          <p:nvPr/>
        </p:nvSpPr>
        <p:spPr>
          <a:xfrm>
            <a:off x="3657600" y="0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90"/>
          <p:cNvSpPr txBox="1">
            <a:spLocks noGrp="1"/>
          </p:cNvSpPr>
          <p:nvPr>
            <p:ph type="title"/>
          </p:nvPr>
        </p:nvSpPr>
        <p:spPr>
          <a:xfrm>
            <a:off x="1510029" y="429225"/>
            <a:ext cx="10666596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8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8"/>
          <p:cNvSpPr/>
          <p:nvPr/>
        </p:nvSpPr>
        <p:spPr>
          <a:xfrm>
            <a:off x="-1" y="-20168"/>
            <a:ext cx="12192000" cy="2637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78"/>
          <p:cNvSpPr/>
          <p:nvPr/>
        </p:nvSpPr>
        <p:spPr>
          <a:xfrm>
            <a:off x="1" y="243443"/>
            <a:ext cx="1128108" cy="6614557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78"/>
          <p:cNvSpPr txBox="1">
            <a:spLocks noGrp="1"/>
          </p:cNvSpPr>
          <p:nvPr>
            <p:ph type="title"/>
          </p:nvPr>
        </p:nvSpPr>
        <p:spPr>
          <a:xfrm>
            <a:off x="1189403" y="646322"/>
            <a:ext cx="10682000" cy="579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78"/>
          <p:cNvSpPr txBox="1">
            <a:spLocks noGrp="1"/>
          </p:cNvSpPr>
          <p:nvPr>
            <p:ph type="body" idx="1"/>
          </p:nvPr>
        </p:nvSpPr>
        <p:spPr>
          <a:xfrm>
            <a:off x="1189401" y="1384879"/>
            <a:ext cx="10682000" cy="4858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78"/>
          <p:cNvSpPr txBox="1">
            <a:spLocks noGrp="1"/>
          </p:cNvSpPr>
          <p:nvPr>
            <p:ph type="sldNum" idx="12"/>
          </p:nvPr>
        </p:nvSpPr>
        <p:spPr>
          <a:xfrm>
            <a:off x="10058399" y="6641435"/>
            <a:ext cx="2133600" cy="2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" name="Google Shape;15;p78"/>
          <p:cNvSpPr/>
          <p:nvPr/>
        </p:nvSpPr>
        <p:spPr>
          <a:xfrm>
            <a:off x="-2" y="6594389"/>
            <a:ext cx="12191999" cy="26361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" name="Google Shape;16;p78"/>
          <p:cNvGrpSpPr/>
          <p:nvPr/>
        </p:nvGrpSpPr>
        <p:grpSpPr>
          <a:xfrm>
            <a:off x="254537" y="37012"/>
            <a:ext cx="4123292" cy="140365"/>
            <a:chOff x="5526083" y="4992009"/>
            <a:chExt cx="3092469" cy="105274"/>
          </a:xfrm>
        </p:grpSpPr>
        <p:sp>
          <p:nvSpPr>
            <p:cNvPr id="17" name="Google Shape;17;p78"/>
            <p:cNvSpPr/>
            <p:nvPr/>
          </p:nvSpPr>
          <p:spPr>
            <a:xfrm>
              <a:off x="8339152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78"/>
            <p:cNvSpPr/>
            <p:nvPr/>
          </p:nvSpPr>
          <p:spPr>
            <a:xfrm>
              <a:off x="8059751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78"/>
            <p:cNvSpPr/>
            <p:nvPr/>
          </p:nvSpPr>
          <p:spPr>
            <a:xfrm>
              <a:off x="7773998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p78"/>
            <p:cNvSpPr/>
            <p:nvPr/>
          </p:nvSpPr>
          <p:spPr>
            <a:xfrm>
              <a:off x="7494596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" name="Google Shape;21;p78"/>
            <p:cNvSpPr/>
            <p:nvPr/>
          </p:nvSpPr>
          <p:spPr>
            <a:xfrm>
              <a:off x="7215195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" name="Google Shape;22;p78"/>
            <p:cNvSpPr/>
            <p:nvPr/>
          </p:nvSpPr>
          <p:spPr>
            <a:xfrm>
              <a:off x="6929442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" name="Google Shape;23;p78"/>
            <p:cNvSpPr/>
            <p:nvPr/>
          </p:nvSpPr>
          <p:spPr>
            <a:xfrm>
              <a:off x="6650040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" name="Google Shape;24;p78"/>
            <p:cNvSpPr/>
            <p:nvPr/>
          </p:nvSpPr>
          <p:spPr>
            <a:xfrm>
              <a:off x="6370639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" name="Google Shape;25;p78"/>
            <p:cNvSpPr/>
            <p:nvPr/>
          </p:nvSpPr>
          <p:spPr>
            <a:xfrm>
              <a:off x="6084886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" name="Google Shape;26;p78"/>
            <p:cNvSpPr/>
            <p:nvPr/>
          </p:nvSpPr>
          <p:spPr>
            <a:xfrm>
              <a:off x="5805484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p78"/>
            <p:cNvSpPr/>
            <p:nvPr/>
          </p:nvSpPr>
          <p:spPr>
            <a:xfrm>
              <a:off x="5526083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8" name="Google Shape;28;p78"/>
          <p:cNvSpPr txBox="1"/>
          <p:nvPr/>
        </p:nvSpPr>
        <p:spPr>
          <a:xfrm flipH="1">
            <a:off x="1043632" y="6366806"/>
            <a:ext cx="4211863" cy="221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UNCLASSIFIED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78"/>
          <p:cNvSpPr txBox="1"/>
          <p:nvPr/>
        </p:nvSpPr>
        <p:spPr>
          <a:xfrm>
            <a:off x="5482963" y="207088"/>
            <a:ext cx="6767512" cy="2121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UNCLASSIFIED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" name="Google Shape;30;p78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5400000">
            <a:off x="-2150855" y="3445521"/>
            <a:ext cx="5429815" cy="99117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" name="Google Shape;31;p78"/>
          <p:cNvGrpSpPr/>
          <p:nvPr/>
        </p:nvGrpSpPr>
        <p:grpSpPr>
          <a:xfrm>
            <a:off x="7996753" y="6659805"/>
            <a:ext cx="4123292" cy="140365"/>
            <a:chOff x="5526083" y="4992009"/>
            <a:chExt cx="3092469" cy="105274"/>
          </a:xfrm>
        </p:grpSpPr>
        <p:sp>
          <p:nvSpPr>
            <p:cNvPr id="32" name="Google Shape;32;p78"/>
            <p:cNvSpPr/>
            <p:nvPr/>
          </p:nvSpPr>
          <p:spPr>
            <a:xfrm>
              <a:off x="8339152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p78"/>
            <p:cNvSpPr/>
            <p:nvPr/>
          </p:nvSpPr>
          <p:spPr>
            <a:xfrm>
              <a:off x="8059751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p78"/>
            <p:cNvSpPr/>
            <p:nvPr/>
          </p:nvSpPr>
          <p:spPr>
            <a:xfrm>
              <a:off x="7773998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p78"/>
            <p:cNvSpPr/>
            <p:nvPr/>
          </p:nvSpPr>
          <p:spPr>
            <a:xfrm>
              <a:off x="7494596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p78"/>
            <p:cNvSpPr/>
            <p:nvPr/>
          </p:nvSpPr>
          <p:spPr>
            <a:xfrm>
              <a:off x="7215195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;p78"/>
            <p:cNvSpPr/>
            <p:nvPr/>
          </p:nvSpPr>
          <p:spPr>
            <a:xfrm>
              <a:off x="6929442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" name="Google Shape;38;p78"/>
            <p:cNvSpPr/>
            <p:nvPr/>
          </p:nvSpPr>
          <p:spPr>
            <a:xfrm>
              <a:off x="6650040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" name="Google Shape;39;p78"/>
            <p:cNvSpPr/>
            <p:nvPr/>
          </p:nvSpPr>
          <p:spPr>
            <a:xfrm>
              <a:off x="6370639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" name="Google Shape;40;p78"/>
            <p:cNvSpPr/>
            <p:nvPr/>
          </p:nvSpPr>
          <p:spPr>
            <a:xfrm>
              <a:off x="6084886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" name="Google Shape;41;p78"/>
            <p:cNvSpPr/>
            <p:nvPr/>
          </p:nvSpPr>
          <p:spPr>
            <a:xfrm>
              <a:off x="5805484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42;p78"/>
            <p:cNvSpPr/>
            <p:nvPr/>
          </p:nvSpPr>
          <p:spPr>
            <a:xfrm>
              <a:off x="5526083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3" name="Google Shape;43;p78" title="ACTEC_Logo_v2_Circle.png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-118447" y="193555"/>
            <a:ext cx="1307427" cy="10102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78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70930" y="1270922"/>
            <a:ext cx="928675" cy="92867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4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4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4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5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5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5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5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5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5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5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7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8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9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60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6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6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6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6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6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6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6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6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6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70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7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7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7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300"/>
              <a:t>Situational Awareness, Execution Environments, and User Context</a:t>
            </a:r>
          </a:p>
        </p:txBody>
      </p:sp>
      <p:pic>
        <p:nvPicPr>
          <p:cNvPr id="5" name="Picture 4" descr="e0e7ff64b0b89f8c2fc11a11ea29bb9babbeced6badcadc1a258ae7b6ef301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Lesson Objectives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Understand different execution environments</a:t>
            </a:r>
          </a:p>
          <a:p>
            <a:pPr/>
            <a:r>
              <a:rPr sz="1800"/>
              <a:t>Understand different user contexts</a:t>
            </a:r>
          </a:p>
          <a:p>
            <a:pPr/>
            <a:r>
              <a:rPr sz="1800"/>
              <a:t>Knowledge and understanding of MITRE ATT&amp;CK® discovery techniques</a:t>
            </a:r>
          </a:p>
          <a:p>
            <a:pPr/>
            <a:r>
              <a:rPr sz="1800"/>
              <a:t>Understand development and utilization of survey scripts</a:t>
            </a:r>
          </a:p>
        </p:txBody>
      </p:sp>
      <p:pic>
        <p:nvPicPr>
          <p:cNvPr id="5" name="Picture 4" descr="0e9502ff9be7c0765e264b7b60824eff8d46ff7bb8ee10d3bfdc2ffee39492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Lesson 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Introduction to On-Objective Operations</a:t>
            </a:r>
          </a:p>
          <a:p>
            <a:pPr/>
            <a:r>
              <a:rPr sz="1800"/>
              <a:t>Execution Environments</a:t>
            </a:r>
          </a:p>
          <a:p>
            <a:pPr/>
            <a:r>
              <a:rPr sz="1800"/>
              <a:t>User Context and Privileges</a:t>
            </a:r>
          </a:p>
          <a:p>
            <a:pPr/>
            <a:r>
              <a:rPr sz="1800"/>
              <a:t>MITRE ATT&amp;CK® Discovery Techniques</a:t>
            </a:r>
          </a:p>
          <a:p>
            <a:pPr/>
            <a:r>
              <a:rPr sz="1800"/>
              <a:t>Survey Scripts and Automation</a:t>
            </a:r>
          </a:p>
          <a:p>
            <a:pPr/>
            <a:r>
              <a:rPr sz="1800"/>
              <a:t>OPSEC Considerations for Discovery</a:t>
            </a:r>
          </a:p>
        </p:txBody>
      </p:sp>
      <p:pic>
        <p:nvPicPr>
          <p:cNvPr id="5" name="Picture 4" descr="266e0d06c48f47660e17a995d196af0a517eeb5717eb6d35939f9f578920769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Introduction to On-Objective Operations</a:t>
            </a:r>
          </a:p>
        </p:txBody>
      </p:sp>
      <p:pic>
        <p:nvPicPr>
          <p:cNvPr id="5" name="Picture 4" descr="48478afe4bddca2f24186acaebffb7327223267ccc0311a0cb967ebe4ef323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On-Objective Phase Objectives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Understand where you are (system, network, environment)</a:t>
            </a:r>
          </a:p>
          <a:p>
            <a:pPr/>
            <a:r>
              <a:rPr sz="1800"/>
              <a:t>Understand what you can do (user context, privileges, tooling constraints)</a:t>
            </a:r>
          </a:p>
          <a:p>
            <a:pPr/>
            <a:r>
              <a:rPr sz="1800"/>
              <a:t>Gather intelligence on the target environment to support follow-on actions</a:t>
            </a:r>
          </a:p>
          <a:p>
            <a:pPr/>
            <a:r>
              <a:rPr sz="1800"/>
              <a:t>Identify adversary mission and infrastructure relevant to operational objectives</a:t>
            </a:r>
          </a:p>
        </p:txBody>
      </p:sp>
      <p:pic>
        <p:nvPicPr>
          <p:cNvPr id="5" name="Picture 4" descr="f96f170c283287814fe13ecd30b41dedc71b020d985bbe65715c90bc81c872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MITRE ATT&amp;CK Discovery (TA0007)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600"/>
              <a:t>Core purpose: build situational awareness (where you are, who you are, what’s running, what access can reach)</a:t>
            </a:r>
          </a:p>
          <a:p>
            <a:pPr/>
            <a:r>
              <a:rPr sz="1600"/>
              <a:t>Enables OPSEC: focused discovery reduces noise and detection opportunities</a:t>
            </a:r>
          </a:p>
          <a:p>
            <a:pPr/>
            <a:r>
              <a:rPr sz="1600"/>
              <a:t>Enables performance: fewer wrong playbooks; faster, more accurate next steps</a:t>
            </a:r>
          </a:p>
          <a:p>
            <a:pPr/>
            <a:r>
              <a:rPr sz="1600"/>
              <a:t>Informs next steps: what is feasible now vs what must be enabled first (privilege, tooling, paths)</a:t>
            </a:r>
          </a:p>
        </p:txBody>
      </p:sp>
      <p:pic>
        <p:nvPicPr>
          <p:cNvPr id="5" name="Picture 4" descr="e53f9339d85bd7fd82662e7f4264071d28f1f72e0fd04e3bc7fd1f9870e002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Why Discovery Gets You Caught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High command volume (especially scripts) creates log spikes</a:t>
            </a:r>
          </a:p>
          <a:p>
            <a:pPr/>
            <a:r>
              <a:rPr sz="1800"/>
              <a:t>Unusual parent/child processes stand out (shells, interpreters)</a:t>
            </a:r>
          </a:p>
          <a:p>
            <a:pPr/>
            <a:r>
              <a:rPr sz="1800"/>
              <a:t>Network enumeration can generate alerts and correlation hits</a:t>
            </a:r>
          </a:p>
        </p:txBody>
      </p:sp>
      <p:pic>
        <p:nvPicPr>
          <p:cNvPr id="5" name="Picture 4" descr="d630506c6f9fe9a7c250a11fb0a4a26c0c895c40dfbca46695b5ccefaf9565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Collect Once, Parse Locally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Prefer fewer, higher-yield commands (collect broad data once)</a:t>
            </a:r>
          </a:p>
          <a:p>
            <a:pPr/>
            <a:r>
              <a:rPr sz="1800"/>
              <a:t>Parse and filter locally to answer questions without more on-objective commands</a:t>
            </a:r>
          </a:p>
          <a:p>
            <a:pPr/>
            <a:r>
              <a:rPr sz="1800"/>
              <a:t>Example: </a:t>
            </a:r>
            <a:r>
              <a:rPr sz="1800">
                <a:latin typeface="Courier New"/>
              </a:rPr>
              <a:t>ps -ef</a:t>
            </a:r>
            <a:r>
              <a:rPr sz="1800"/>
              <a:t> once + local filtering beats many small process queries</a:t>
            </a:r>
          </a:p>
          <a:p>
            <a:pPr/>
            <a:r>
              <a:rPr sz="1800"/>
              <a:t>Example: </a:t>
            </a:r>
            <a:r>
              <a:rPr sz="1800">
                <a:latin typeface="Courier New"/>
              </a:rPr>
              <a:t>ss -tunap</a:t>
            </a:r>
            <a:r>
              <a:rPr sz="1800"/>
              <a:t> once + local filtering beats repeated socket checks</a:t>
            </a:r>
          </a:p>
        </p:txBody>
      </p:sp>
      <p:pic>
        <p:nvPicPr>
          <p:cNvPr id="5" name="Picture 4" descr="a8a65c5caa601b576dfe065f65e96c83479acbe13e96f2c04f31a1b3964169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/>
            <a:r>
              <a:rPr sz="2900"/>
              <a:t>The Operator’s First-Minute Checklist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3383135" cy="4505960"/>
          </a:xfrm>
        </p:spPr>
        <p:txBody>
          <a:bodyPr wrap="square" anchor="t">
            <a:normAutofit/>
          </a:bodyPr>
          <a:lstStyle/>
          <a:p>
            <a:pPr/>
            <a:r>
              <a:rPr sz="1400"/>
              <a:t>What OS/environment am I in (Windows, Linux, container, cloud)?</a:t>
            </a:r>
          </a:p>
          <a:p>
            <a:pPr/>
            <a:r>
              <a:rPr sz="1400"/>
              <a:t>What user context do I have (who am I, groups, privileges)?</a:t>
            </a:r>
          </a:p>
          <a:p>
            <a:pPr/>
            <a:r>
              <a:rPr sz="1400"/>
              <a:t>What is the host role (server/workstation, domain-joined, services)?</a:t>
            </a:r>
          </a:p>
          <a:p>
            <a:pPr/>
            <a:r>
              <a:rPr sz="1400"/>
              <a:t>What runs on a timer (cron, scheduled tasks, other periodic jobs)?</a:t>
            </a:r>
          </a:p>
          <a:p>
            <a:pPr/>
            <a:r>
              <a:rPr sz="1400"/>
              <a:t>What is my current network situation (IP, routes, DNS, connectivity)?</a:t>
            </a:r>
          </a:p>
        </p:txBody>
      </p:sp>
      <p:pic>
        <p:nvPicPr>
          <p:cNvPr id="5" name="Picture 4" descr="5cea39b8b394158a45770f85f0fd69fe8c19b9e4149dc50cb50a1b31ceabcf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7938" y="1666240"/>
            <a:ext cx="6758940" cy="4505960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Blue-Space Advantage On-Objective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Arrive with validated intel (IOCs, telemetry, known adversary TTP)</a:t>
            </a:r>
          </a:p>
          <a:p>
            <a:pPr/>
            <a:r>
              <a:rPr sz="1800"/>
              <a:t>Correlate discoveries with defensive data (logs, PCAP, EDR) to reduce guesswork</a:t>
            </a:r>
          </a:p>
          <a:p>
            <a:pPr/>
            <a:r>
              <a:rPr sz="1800"/>
              <a:t>Use blue-space observations to prioritize what to look for on target</a:t>
            </a:r>
          </a:p>
        </p:txBody>
      </p:sp>
      <p:pic>
        <p:nvPicPr>
          <p:cNvPr id="5" name="Picture 4" descr="b65b12763c590aeb2c33e235d8f7a237d7b7aa72f92970022de7e07ad861f8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What Good Looks Like (Outputs)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600"/>
              <a:t>Environment summary (OS/build, domain/workgroup, container/cloud indicators)</a:t>
            </a:r>
          </a:p>
          <a:p>
            <a:pPr/>
            <a:r>
              <a:rPr sz="1600"/>
              <a:t>User context summary (account, groups, privileges, tokens)</a:t>
            </a:r>
          </a:p>
          <a:p>
            <a:pPr/>
            <a:r>
              <a:rPr sz="1600"/>
              <a:t>Key services, processes, and scheduled jobs—and why they matter</a:t>
            </a:r>
          </a:p>
          <a:p>
            <a:pPr/>
            <a:r>
              <a:rPr sz="1600"/>
              <a:t>Network summary (interfaces, routes, name resolution, connections)</a:t>
            </a:r>
          </a:p>
          <a:p>
            <a:pPr/>
            <a:r>
              <a:rPr sz="1600"/>
              <a:t>Gaps/unknowns and next discovery steps</a:t>
            </a:r>
          </a:p>
        </p:txBody>
      </p:sp>
      <p:pic>
        <p:nvPicPr>
          <p:cNvPr id="5" name="Picture 4" descr="6574830563a7b637c2621081372e4a1d9ead182fd3bfb6000471b743990e45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Execution Environments</a:t>
            </a:r>
          </a:p>
        </p:txBody>
      </p:sp>
      <p:pic>
        <p:nvPicPr>
          <p:cNvPr id="5" name="Picture 4" descr="0774c612cd62cad3ba186171a269783b9fd95915a314ba0358a717f1af5d8c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What Is an Execution Environment?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The system/platform where your commands and code execute</a:t>
            </a:r>
          </a:p>
          <a:p>
            <a:pPr/>
            <a:r>
              <a:rPr sz="1800"/>
              <a:t>Determines available tools, filesystem layout, and security controls</a:t>
            </a:r>
          </a:p>
          <a:p>
            <a:pPr/>
            <a:r>
              <a:rPr sz="1800"/>
              <a:t>Affects options for discovery, persistence, and effects</a:t>
            </a:r>
          </a:p>
        </p:txBody>
      </p:sp>
      <p:pic>
        <p:nvPicPr>
          <p:cNvPr id="5" name="Picture 4" descr="4353ce673be87d30d7502454ab0e65ab3af60c0195ece7cc70711674088f1c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Linux — What to Identify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Kernel and architecture: </a:t>
            </a:r>
            <a:r>
              <a:rPr sz="1800">
                <a:latin typeface="Courier New"/>
              </a:rPr>
              <a:t>uname -a</a:t>
            </a:r>
            <a:r>
              <a:rPr sz="1800"/>
              <a:t>, </a:t>
            </a:r>
            <a:r>
              <a:rPr sz="1800">
                <a:latin typeface="Courier New"/>
              </a:rPr>
              <a:t>uname -m</a:t>
            </a:r>
          </a:p>
          <a:p>
            <a:pPr/>
            <a:r>
              <a:rPr sz="1800"/>
              <a:t>Distribution and version: </a:t>
            </a:r>
            <a:r>
              <a:rPr sz="1800">
                <a:latin typeface="Courier New"/>
              </a:rPr>
              <a:t>/etc/os-release</a:t>
            </a:r>
          </a:p>
          <a:p>
            <a:pPr/>
            <a:r>
              <a:rPr sz="1800"/>
              <a:t>Hostname and role clues: </a:t>
            </a:r>
            <a:r>
              <a:rPr sz="1800">
                <a:latin typeface="Courier New"/>
              </a:rPr>
              <a:t>hostname</a:t>
            </a:r>
            <a:r>
              <a:rPr sz="1800"/>
              <a:t>, </a:t>
            </a:r>
            <a:r>
              <a:rPr sz="1800">
                <a:latin typeface="Courier New"/>
              </a:rPr>
              <a:t>hostnamectl</a:t>
            </a:r>
          </a:p>
          <a:p>
            <a:pPr/>
            <a:r>
              <a:rPr sz="1800"/>
              <a:t>Processes and init (high-yield): </a:t>
            </a:r>
            <a:r>
              <a:rPr sz="1800">
                <a:latin typeface="Courier New"/>
              </a:rPr>
              <a:t>ps -ef</a:t>
            </a:r>
            <a:r>
              <a:rPr sz="1800"/>
              <a:t> once; parse locally for PID 1 and parent/child</a:t>
            </a:r>
          </a:p>
        </p:txBody>
      </p:sp>
      <p:pic>
        <p:nvPicPr>
          <p:cNvPr id="5" name="Picture 4" descr="5047e88e078fa0a769aaf4a4665c13e81a15c1508d71769ecf4309bafe1dda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Linux — Key Directories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>
                <a:latin typeface="Courier New"/>
              </a:rPr>
              <a:t>/etc/</a:t>
            </a:r>
            <a:r>
              <a:rPr sz="1800"/>
              <a:t> system configuration (users, services, network)</a:t>
            </a:r>
          </a:p>
          <a:p>
            <a:pPr/>
            <a:r>
              <a:rPr sz="1800">
                <a:latin typeface="Courier New"/>
              </a:rPr>
              <a:t>/var/</a:t>
            </a:r>
            <a:r>
              <a:rPr sz="1800"/>
              <a:t> logs, spool, application state</a:t>
            </a:r>
          </a:p>
          <a:p>
            <a:pPr/>
            <a:r>
              <a:rPr sz="1800">
                <a:latin typeface="Courier New"/>
              </a:rPr>
              <a:t>/home/</a:t>
            </a:r>
            <a:r>
              <a:rPr sz="1800"/>
              <a:t> user activity and artifacts</a:t>
            </a:r>
          </a:p>
          <a:p>
            <a:pPr/>
            <a:r>
              <a:rPr sz="1800">
                <a:latin typeface="Courier New"/>
              </a:rPr>
              <a:t>/tmp/</a:t>
            </a:r>
            <a:r>
              <a:rPr sz="1800"/>
              <a:t> and </a:t>
            </a:r>
            <a:r>
              <a:rPr sz="1800">
                <a:latin typeface="Courier New"/>
              </a:rPr>
              <a:t>/dev/shm/</a:t>
            </a:r>
            <a:r>
              <a:rPr sz="1800"/>
              <a:t> common execution locations (high detection interest)</a:t>
            </a:r>
          </a:p>
        </p:txBody>
      </p:sp>
      <p:pic>
        <p:nvPicPr>
          <p:cNvPr id="5" name="Picture 4" descr="0707958f731528e81323869f39122b7cb9a699d7631d92afa80d599356568e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Linux — Process, Service, Ports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Processes: </a:t>
            </a:r>
            <a:r>
              <a:rPr sz="1800">
                <a:latin typeface="Courier New"/>
              </a:rPr>
              <a:t>ps -ef</a:t>
            </a:r>
            <a:r>
              <a:rPr sz="1800"/>
              <a:t> or </a:t>
            </a:r>
            <a:r>
              <a:rPr sz="1800">
                <a:latin typeface="Courier New"/>
              </a:rPr>
              <a:t>ps aux</a:t>
            </a:r>
            <a:r>
              <a:rPr sz="1800"/>
              <a:t> (collect once, parse locally); </a:t>
            </a:r>
            <a:r>
              <a:rPr sz="1800">
                <a:latin typeface="Courier New"/>
              </a:rPr>
              <a:t>pstree -a</a:t>
            </a:r>
            <a:r>
              <a:rPr sz="1800"/>
              <a:t> if available</a:t>
            </a:r>
          </a:p>
          <a:p>
            <a:pPr/>
            <a:r>
              <a:rPr sz="1800"/>
              <a:t>Services: </a:t>
            </a:r>
            <a:r>
              <a:rPr sz="1800">
                <a:latin typeface="Courier New"/>
              </a:rPr>
              <a:t>systemctl list-units --type=service</a:t>
            </a:r>
          </a:p>
          <a:p>
            <a:pPr/>
            <a:r>
              <a:rPr sz="1800"/>
              <a:t>Listening ports: </a:t>
            </a:r>
            <a:r>
              <a:rPr sz="1800">
                <a:latin typeface="Courier New"/>
              </a:rPr>
              <a:t>ss -lntup</a:t>
            </a:r>
          </a:p>
        </p:txBody>
      </p:sp>
      <p:pic>
        <p:nvPicPr>
          <p:cNvPr id="5" name="Picture 4" descr="3c6ab400113207811598baf0fc96102883afa1827b7ce9bec489bb8fc6fdc4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Linux — Security Controls That Block You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Filesystem jail: a root prompt can still be confined</a:t>
            </a:r>
          </a:p>
          <a:p>
            <a:pPr/>
            <a:r>
              <a:rPr sz="1800"/>
              <a:t>MAC (AppArmor/SELinux): policy can deny exec even as root</a:t>
            </a:r>
          </a:p>
          <a:p>
            <a:pPr/>
            <a:r>
              <a:rPr sz="1800"/>
              <a:t>Prove the boundary from native evidence before you adapt</a:t>
            </a:r>
          </a:p>
          <a:p>
            <a:pPr/>
            <a:r>
              <a:rPr sz="1800"/>
              <a:t>Denied exec → read policy/logs, not a new exploit</a:t>
            </a:r>
          </a:p>
          <a:p>
            <a:pPr/>
            <a:r>
              <a:rPr sz="1800"/>
              <a:t>Host firewall and EDR still change outbound and tooling choices</a:t>
            </a:r>
          </a:p>
        </p:txBody>
      </p:sp>
      <p:pic>
        <p:nvPicPr>
          <p:cNvPr id="5" name="Picture 4" descr="5db152be0e736d051f670af598493bdae15d8b39fe7ed7f9c34341e86aa472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Windows — What to Identify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OS version/build and host info: </a:t>
            </a:r>
            <a:r>
              <a:rPr sz="1800">
                <a:latin typeface="Courier New"/>
              </a:rPr>
              <a:t>systeminfo</a:t>
            </a:r>
          </a:p>
          <a:p>
            <a:pPr/>
            <a:r>
              <a:rPr sz="1800"/>
              <a:t>Domain/workgroup: </a:t>
            </a:r>
            <a:r>
              <a:rPr sz="1800">
                <a:latin typeface="Courier New"/>
              </a:rPr>
              <a:t>systeminfo</a:t>
            </a:r>
            <a:r>
              <a:rPr sz="1800"/>
              <a:t> Domain field; </a:t>
            </a:r>
            <a:r>
              <a:rPr sz="1800">
                <a:latin typeface="Courier New"/>
              </a:rPr>
              <a:t>whoami /all</a:t>
            </a:r>
          </a:p>
          <a:p>
            <a:pPr/>
            <a:r>
              <a:rPr sz="1800"/>
              <a:t>Local security posture: AV/EDR presence, policies, PowerShell language mode (as applicable)</a:t>
            </a:r>
          </a:p>
        </p:txBody>
      </p:sp>
      <p:pic>
        <p:nvPicPr>
          <p:cNvPr id="5" name="Picture 4" descr="b0991946fd9b4ebc392ff1d6d8796ebefae9e219901facaf906d8456e911d8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Windows — AD vs Workgroup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Domain-joined hosts introduce AD discovery requirements and handoff needs</a:t>
            </a:r>
          </a:p>
          <a:p>
            <a:pPr/>
            <a:r>
              <a:rPr sz="1800"/>
              <a:t>Workgroup hosts constrain trust relationships</a:t>
            </a:r>
          </a:p>
          <a:p>
            <a:pPr/>
            <a:r>
              <a:rPr sz="1800"/>
              <a:t>Discovery plan changes based on this early answer</a:t>
            </a:r>
          </a:p>
        </p:txBody>
      </p:sp>
      <p:pic>
        <p:nvPicPr>
          <p:cNvPr id="5" name="Picture 4" descr="d3eb145bc85692d383184addad8e5d5c9002edd525f757263ec9dd918d0361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Windows — Processes, Services, Network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Processes: </a:t>
            </a:r>
            <a:r>
              <a:rPr sz="1800">
                <a:latin typeface="Courier New"/>
              </a:rPr>
              <a:t>tasklist</a:t>
            </a:r>
            <a:r>
              <a:rPr sz="1800"/>
              <a:t> or </a:t>
            </a:r>
            <a:r>
              <a:rPr sz="1800">
                <a:latin typeface="Courier New"/>
              </a:rPr>
              <a:t>Get-Process</a:t>
            </a:r>
          </a:p>
          <a:p>
            <a:pPr/>
            <a:r>
              <a:rPr sz="1800"/>
              <a:t>Services: </a:t>
            </a:r>
            <a:r>
              <a:rPr sz="1800">
                <a:latin typeface="Courier New"/>
              </a:rPr>
              <a:t>sc query</a:t>
            </a:r>
            <a:r>
              <a:rPr sz="1800"/>
              <a:t> or </a:t>
            </a:r>
            <a:r>
              <a:rPr sz="1800">
                <a:latin typeface="Courier New"/>
              </a:rPr>
              <a:t>Get-Service</a:t>
            </a:r>
          </a:p>
          <a:p>
            <a:pPr/>
            <a:r>
              <a:rPr sz="1800"/>
              <a:t>Network config: </a:t>
            </a:r>
            <a:r>
              <a:rPr sz="1800">
                <a:latin typeface="Courier New"/>
              </a:rPr>
              <a:t>ipconfig /all</a:t>
            </a:r>
            <a:r>
              <a:rPr sz="1800"/>
              <a:t>, </a:t>
            </a:r>
            <a:r>
              <a:rPr sz="1800">
                <a:latin typeface="Courier New"/>
              </a:rPr>
              <a:t>route print</a:t>
            </a:r>
          </a:p>
          <a:p>
            <a:pPr/>
            <a:r>
              <a:rPr sz="1800"/>
              <a:t>Connections: </a:t>
            </a:r>
            <a:r>
              <a:rPr sz="1800">
                <a:latin typeface="Courier New"/>
              </a:rPr>
              <a:t>netstat -ano</a:t>
            </a:r>
          </a:p>
        </p:txBody>
      </p:sp>
      <p:pic>
        <p:nvPicPr>
          <p:cNvPr id="5" name="Picture 4" descr="ed337d5166d072e9cb8c5b2a2911aa7086b6a2baea12e72a886210d758c387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Windows — Security Controls That Block You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Defender/EDR can flag common tooling and scripts</a:t>
            </a:r>
          </a:p>
          <a:p>
            <a:pPr/>
            <a:r>
              <a:rPr sz="1800"/>
              <a:t>Group Policy can restrict execution and access</a:t>
            </a:r>
          </a:p>
          <a:p>
            <a:pPr/>
            <a:r>
              <a:rPr sz="1800"/>
              <a:t>Token/privilege boundaries matter even as "Administrator"</a:t>
            </a:r>
          </a:p>
        </p:txBody>
      </p:sp>
      <p:pic>
        <p:nvPicPr>
          <p:cNvPr id="5" name="Picture 4" descr="e78c8ea299056ed7025f026c651e1615050d62c7ee46b2a7f6ea58b39756eb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Cloud Environments (Brief)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Common platforms: AWS, Azure, GCP</a:t>
            </a:r>
          </a:p>
          <a:p>
            <a:pPr/>
            <a:r>
              <a:rPr sz="1800"/>
              <a:t>Indicators: cloud-init artifacts, instance metadata services, cloud agents</a:t>
            </a:r>
          </a:p>
          <a:p>
            <a:pPr/>
            <a:r>
              <a:rPr sz="1800"/>
              <a:t>Operational note: metadata queries can be logged/monitored</a:t>
            </a:r>
          </a:p>
        </p:txBody>
      </p:sp>
      <p:pic>
        <p:nvPicPr>
          <p:cNvPr id="5" name="Picture 4" descr="23966e41879522690cd26e39e9a13fa3f86a5b64054c90d92140b299076c6f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Container Environments (Brief)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700"/>
              <a:t>Indicators: limited filesystem, cgroup markers, container runtime artifacts</a:t>
            </a:r>
          </a:p>
          <a:p>
            <a:pPr/>
            <a:r>
              <a:rPr sz="1700"/>
              <a:t>Priority: identify you are in a container before assuming host-level access</a:t>
            </a:r>
          </a:p>
          <a:p>
            <a:pPr/>
            <a:r>
              <a:rPr sz="1700"/>
              <a:t>Re-run the first-minute checklist on every new shell, upload, or pivot</a:t>
            </a:r>
          </a:p>
          <a:p>
            <a:pPr/>
            <a:r>
              <a:rPr sz="1700"/>
              <a:t>Upload location is not proof of execution location</a:t>
            </a:r>
          </a:p>
          <a:p>
            <a:pPr/>
            <a:r>
              <a:rPr sz="1700"/>
              <a:t>A Linux prompt on a Windows host is a hypothesis, not a conclusion</a:t>
            </a:r>
          </a:p>
        </p:txBody>
      </p:sp>
      <p:pic>
        <p:nvPicPr>
          <p:cNvPr id="5" name="Picture 4" descr="c767a6165d803579052898202318a1288175ae115d55c618b915a9d3015c98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Demonstration — Identifying Execution Environment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Linux: </a:t>
            </a:r>
            <a:r>
              <a:rPr sz="1800">
                <a:latin typeface="Courier New"/>
              </a:rPr>
              <a:t>uname -a</a:t>
            </a:r>
            <a:r>
              <a:rPr sz="1800"/>
              <a:t> → </a:t>
            </a:r>
            <a:r>
              <a:rPr sz="1800">
                <a:latin typeface="Courier New"/>
              </a:rPr>
              <a:t>/etc/os-release</a:t>
            </a:r>
            <a:r>
              <a:rPr sz="1800"/>
              <a:t> → </a:t>
            </a:r>
            <a:r>
              <a:rPr sz="1800">
                <a:latin typeface="Courier New"/>
              </a:rPr>
              <a:t>id</a:t>
            </a:r>
            <a:r>
              <a:rPr sz="1800"/>
              <a:t> → </a:t>
            </a:r>
            <a:r>
              <a:rPr sz="1800">
                <a:latin typeface="Courier New"/>
              </a:rPr>
              <a:t>ps -ef</a:t>
            </a:r>
            <a:r>
              <a:rPr sz="1800"/>
              <a:t> → </a:t>
            </a:r>
            <a:r>
              <a:rPr sz="1800">
                <a:latin typeface="Courier New"/>
              </a:rPr>
              <a:t>ss -lntup</a:t>
            </a:r>
          </a:p>
          <a:p>
            <a:pPr/>
            <a:r>
              <a:rPr sz="1800"/>
              <a:t>Windows: </a:t>
            </a:r>
            <a:r>
              <a:rPr sz="1800">
                <a:latin typeface="Courier New"/>
              </a:rPr>
              <a:t>systeminfo</a:t>
            </a:r>
            <a:r>
              <a:rPr sz="1800"/>
              <a:t> → </a:t>
            </a:r>
            <a:r>
              <a:rPr sz="1800">
                <a:latin typeface="Courier New"/>
              </a:rPr>
              <a:t>whoami /all</a:t>
            </a:r>
            <a:r>
              <a:rPr sz="1800"/>
              <a:t> → </a:t>
            </a:r>
            <a:r>
              <a:rPr sz="1800">
                <a:latin typeface="Courier New"/>
              </a:rPr>
              <a:t>ipconfig /all</a:t>
            </a:r>
            <a:r>
              <a:rPr sz="1800"/>
              <a:t> → </a:t>
            </a:r>
            <a:r>
              <a:rPr sz="1800">
                <a:latin typeface="Courier New"/>
              </a:rPr>
              <a:t>netstat -ano</a:t>
            </a:r>
          </a:p>
        </p:txBody>
      </p:sp>
      <p:pic>
        <p:nvPicPr>
          <p:cNvPr id="5" name="Picture 4" descr="fd4150f7e4cf2610697997c2d02ff2d02082aac3a1d9c6bcf18c09d55933c2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User Context and Privileges</a:t>
            </a:r>
          </a:p>
        </p:txBody>
      </p:sp>
      <p:pic>
        <p:nvPicPr>
          <p:cNvPr id="5" name="Picture 4" descr="7a984878e5330786176284f785ba5556b4e4bd1d9b878cb638f19461ef0612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What Is User Context?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Who you are and what you can do on the target</a:t>
            </a:r>
          </a:p>
          <a:p>
            <a:pPr/>
            <a:r>
              <a:rPr sz="1800"/>
              <a:t>Drives access decisions: discovery depth, privilege escalation need, lateral options</a:t>
            </a:r>
          </a:p>
          <a:p>
            <a:pPr/>
            <a:r>
              <a:rPr sz="1800"/>
              <a:t>Determines risk: some actions need elevation and create different audit artifacts</a:t>
            </a:r>
          </a:p>
        </p:txBody>
      </p:sp>
      <p:pic>
        <p:nvPicPr>
          <p:cNvPr id="5" name="Picture 4" descr="6c2da9da94766b42946aacc8af84eb8aeb0980715c8b570ad784ffc8c5c7fe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Linux — </a:t>
            </a:r>
            <a:r>
              <a:rPr sz="2600">
                <a:latin typeface="Courier New"/>
              </a:rPr>
              <a:t>whoami</a:t>
            </a:r>
            <a:r>
              <a:rPr sz="2600"/>
              <a:t> and </a:t>
            </a:r>
            <a:r>
              <a:rPr sz="2600">
                <a:latin typeface="Courier New"/>
              </a:rPr>
              <a:t>id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>
                <a:latin typeface="Courier New"/>
              </a:rPr>
              <a:t>whoami</a:t>
            </a:r>
            <a:r>
              <a:rPr sz="1800"/>
              <a:t> identifies current user</a:t>
            </a:r>
          </a:p>
          <a:p>
            <a:pPr/>
            <a:r>
              <a:rPr sz="1800">
                <a:latin typeface="Courier New"/>
              </a:rPr>
              <a:t>id</a:t>
            </a:r>
            <a:r>
              <a:rPr sz="1800"/>
              <a:t> shows UID/GID and group memberships</a:t>
            </a:r>
          </a:p>
          <a:p>
            <a:pPr/>
            <a:r>
              <a:rPr sz="1800"/>
              <a:t>Groups can reveal capability (sudo, docker, service accounts)</a:t>
            </a:r>
          </a:p>
        </p:txBody>
      </p:sp>
      <p:pic>
        <p:nvPicPr>
          <p:cNvPr id="5" name="Picture 4" descr="f21dd76db17396b680f34a9246438e2d31a68477f65faa0286e8d171f6f0ad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Linux — </a:t>
            </a:r>
            <a:r>
              <a:rPr sz="2600">
                <a:latin typeface="Courier New"/>
              </a:rPr>
              <a:t>sudo -l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>
                <a:latin typeface="Courier New"/>
              </a:rPr>
              <a:t>sudo -l</a:t>
            </a:r>
            <a:r>
              <a:rPr sz="1800"/>
              <a:t> enumerates allowed privileged commands (if permitted)</a:t>
            </a:r>
          </a:p>
          <a:p>
            <a:pPr/>
            <a:r>
              <a:rPr sz="1800"/>
              <a:t>Root vs non-root changes filesystem, service control, credential access</a:t>
            </a:r>
          </a:p>
          <a:p>
            <a:pPr/>
            <a:r>
              <a:rPr sz="1800"/>
              <a:t>Avoid repeated failed privilege attempts (noise)</a:t>
            </a:r>
          </a:p>
        </p:txBody>
      </p:sp>
      <p:pic>
        <p:nvPicPr>
          <p:cNvPr id="5" name="Picture 4" descr="d194b36b5d0814ff5e3560412ec95daf6fbf39630a5de1431c1963885ae5ce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Linux — </a:t>
            </a:r>
            <a:r>
              <a:rPr sz="2600">
                <a:latin typeface="Courier New"/>
              </a:rPr>
              <a:t>/etc/passwd</a:t>
            </a:r>
            <a:r>
              <a:rPr sz="2600"/>
              <a:t> and </a:t>
            </a:r>
            <a:r>
              <a:rPr sz="2600">
                <a:latin typeface="Courier New"/>
              </a:rPr>
              <a:t>/etc/shadow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>
                <a:latin typeface="Courier New"/>
              </a:rPr>
              <a:t>/etc/passwd</a:t>
            </a:r>
            <a:r>
              <a:rPr sz="1800"/>
              <a:t> lists local accounts and shells</a:t>
            </a:r>
          </a:p>
          <a:p>
            <a:pPr/>
            <a:r>
              <a:rPr sz="1800">
                <a:latin typeface="Courier New"/>
              </a:rPr>
              <a:t>/etc/shadow</a:t>
            </a:r>
            <a:r>
              <a:rPr sz="1800"/>
              <a:t> holds password hashes (often needs root)</a:t>
            </a:r>
          </a:p>
          <a:p>
            <a:pPr/>
            <a:r>
              <a:rPr sz="1800"/>
              <a:t>Focus: service accounts vs interactive users</a:t>
            </a:r>
          </a:p>
        </p:txBody>
      </p:sp>
      <p:pic>
        <p:nvPicPr>
          <p:cNvPr id="5" name="Picture 4" descr="37e99e4f53ed3e9091935d5010c40adf39033c2c0e09bb7ff22ee8fed764a8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Windows — </a:t>
            </a:r>
            <a:r>
              <a:rPr sz="2600">
                <a:latin typeface="Courier New"/>
              </a:rPr>
              <a:t>whoami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>
                <a:latin typeface="Courier New"/>
              </a:rPr>
              <a:t>whoami</a:t>
            </a:r>
            <a:r>
              <a:rPr sz="1800"/>
              <a:t> identifies the current principal</a:t>
            </a:r>
          </a:p>
          <a:p>
            <a:pPr/>
            <a:r>
              <a:rPr sz="1800">
                <a:latin typeface="Courier New"/>
              </a:rPr>
              <a:t>whoami /groups</a:t>
            </a:r>
            <a:r>
              <a:rPr sz="1800"/>
              <a:t> and </a:t>
            </a:r>
            <a:r>
              <a:rPr sz="1800">
                <a:latin typeface="Courier New"/>
              </a:rPr>
              <a:t>whoami /priv</a:t>
            </a:r>
            <a:r>
              <a:rPr sz="1800"/>
              <a:t> show effective groups/privileges</a:t>
            </a:r>
          </a:p>
          <a:p>
            <a:pPr/>
            <a:r>
              <a:rPr sz="1800"/>
              <a:t>Distinguish local vs domain identity early</a:t>
            </a:r>
          </a:p>
        </p:txBody>
      </p:sp>
      <p:pic>
        <p:nvPicPr>
          <p:cNvPr id="5" name="Picture 4" descr="2cbec4878cf4c325f5cf56d8e6130c87a89b22435dca75fad7b027537b51f6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Windows — Local vs Domain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Local admin on one host is not domain admin</a:t>
            </a:r>
          </a:p>
          <a:p>
            <a:pPr/>
            <a:r>
              <a:rPr sz="1800"/>
              <a:t>Domain context enables AD-based discovery and movement</a:t>
            </a:r>
          </a:p>
          <a:p>
            <a:pPr/>
            <a:r>
              <a:rPr sz="1800"/>
              <a:t>Token/privilege differences decide what will succeed</a:t>
            </a:r>
          </a:p>
        </p:txBody>
      </p:sp>
      <p:pic>
        <p:nvPicPr>
          <p:cNvPr id="5" name="Picture 4" descr="941bf6e7d90aa434eec58d30a195a37eaa19190a2ae7e8ac4a89db509e93d0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Token Privileges (SeDebugPrivilege)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Token privileges influence which processes and secrets you can access</a:t>
            </a:r>
          </a:p>
          <a:p>
            <a:pPr/>
            <a:r>
              <a:rPr sz="1800"/>
              <a:t>High-impact privileges change what is feasible</a:t>
            </a:r>
          </a:p>
          <a:p>
            <a:pPr/>
            <a:r>
              <a:rPr sz="1800"/>
              <a:t>Do not "try everything"; choose actions from privileges observed</a:t>
            </a:r>
          </a:p>
        </p:txBody>
      </p:sp>
      <p:pic>
        <p:nvPicPr>
          <p:cNvPr id="5" name="Picture 4" descr="c9335fce6acb13d6114dcd52321f3d1785e4f57ced242e9f4ab36278d5155d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Why User Context Matters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Determines what you can access now</a:t>
            </a:r>
          </a:p>
          <a:p>
            <a:pPr/>
            <a:r>
              <a:rPr sz="1800"/>
              <a:t>Informs privilege escalation requirements</a:t>
            </a:r>
          </a:p>
          <a:p>
            <a:pPr/>
            <a:r>
              <a:rPr sz="1800"/>
              <a:t>Affects lateral movement options and OPSEC risk</a:t>
            </a:r>
          </a:p>
          <a:p>
            <a:pPr/>
            <a:r>
              <a:rPr sz="1800"/>
              <a:t>Shapes what discovery is worth doing immediately</a:t>
            </a:r>
          </a:p>
        </p:txBody>
      </p:sp>
      <p:pic>
        <p:nvPicPr>
          <p:cNvPr id="5" name="Picture 4" descr="a053386a395f3969293d3894c5db7d198dd3f879c353024ae837d947a0eacd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Demonstration — Checking User Context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Linux: </a:t>
            </a:r>
            <a:r>
              <a:rPr sz="1800">
                <a:latin typeface="Courier New"/>
              </a:rPr>
              <a:t>whoami</a:t>
            </a:r>
            <a:r>
              <a:rPr sz="1800"/>
              <a:t>, </a:t>
            </a:r>
            <a:r>
              <a:rPr sz="1800">
                <a:latin typeface="Courier New"/>
              </a:rPr>
              <a:t>id</a:t>
            </a:r>
            <a:r>
              <a:rPr sz="1800"/>
              <a:t>, </a:t>
            </a:r>
            <a:r>
              <a:rPr sz="1800">
                <a:latin typeface="Courier New"/>
              </a:rPr>
              <a:t>sudo -l</a:t>
            </a:r>
            <a:r>
              <a:rPr sz="1800"/>
              <a:t> (if applicable)</a:t>
            </a:r>
          </a:p>
          <a:p>
            <a:pPr/>
            <a:r>
              <a:rPr sz="1800"/>
              <a:t>Windows: </a:t>
            </a:r>
            <a:r>
              <a:rPr sz="1800">
                <a:latin typeface="Courier New"/>
              </a:rPr>
              <a:t>whoami /all</a:t>
            </a:r>
            <a:r>
              <a:rPr sz="1800"/>
              <a:t>, </a:t>
            </a:r>
            <a:r>
              <a:rPr sz="1800">
                <a:latin typeface="Courier New"/>
              </a:rPr>
              <a:t>net user %username%</a:t>
            </a:r>
            <a:r>
              <a:rPr sz="1800"/>
              <a:t> (as applicable)</a:t>
            </a:r>
          </a:p>
          <a:p>
            <a:pPr/>
            <a:r>
              <a:rPr sz="1800"/>
              <a:t>Produce a short capability statement (what can we do now?)</a:t>
            </a:r>
          </a:p>
        </p:txBody>
      </p:sp>
      <p:pic>
        <p:nvPicPr>
          <p:cNvPr id="5" name="Picture 4" descr="b73939d76740969f45b1f210df6524ae171c9608f769df3566a02223f142a7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MITRE ATT&amp;CK Discovery Techniques</a:t>
            </a:r>
          </a:p>
        </p:txBody>
      </p:sp>
      <p:pic>
        <p:nvPicPr>
          <p:cNvPr id="5" name="Picture 4" descr="c3b404a6d5d2312f669ec545e74de02d36a0ab5955039bf3c44eae6fa246a1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How to Use This Section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For each technique: purpose, a small command set (Linux/Windows), what good output looks like, OPSEC</a:t>
            </a:r>
          </a:p>
          <a:p>
            <a:pPr/>
            <a:r>
              <a:rPr sz="1800"/>
              <a:t>Select techniques from objectives and current context—not from a full-matrix checklist</a:t>
            </a:r>
          </a:p>
        </p:txBody>
      </p:sp>
      <p:pic>
        <p:nvPicPr>
          <p:cNvPr id="5" name="Picture 4" descr="6459a05513a15f3d10c00834bdfceb4723da8ac6451222b416709bdf0f15fe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T1082 System Information Discovery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Purpose: OS version, hostname, hardware clues</a:t>
            </a:r>
          </a:p>
          <a:p>
            <a:pPr/>
            <a:r>
              <a:rPr sz="1800"/>
              <a:t>Linux: </a:t>
            </a:r>
            <a:r>
              <a:rPr sz="1800">
                <a:latin typeface="Courier New"/>
              </a:rPr>
              <a:t>uname -a</a:t>
            </a:r>
            <a:r>
              <a:rPr sz="1800"/>
              <a:t>, </a:t>
            </a:r>
            <a:r>
              <a:rPr sz="1800">
                <a:latin typeface="Courier New"/>
              </a:rPr>
              <a:t>hostnamectl</a:t>
            </a:r>
            <a:r>
              <a:rPr sz="1800"/>
              <a:t>, </a:t>
            </a:r>
            <a:r>
              <a:rPr sz="1800">
                <a:latin typeface="Courier New"/>
              </a:rPr>
              <a:t>lscpu</a:t>
            </a:r>
            <a:r>
              <a:rPr sz="1800"/>
              <a:t> (as available)</a:t>
            </a:r>
          </a:p>
          <a:p>
            <a:pPr/>
            <a:r>
              <a:rPr sz="1800"/>
              <a:t>Windows: </a:t>
            </a:r>
            <a:r>
              <a:rPr sz="1800">
                <a:latin typeface="Courier New"/>
              </a:rPr>
              <a:t>systeminfo</a:t>
            </a:r>
            <a:r>
              <a:rPr sz="1800"/>
              <a:t>; </a:t>
            </a:r>
            <a:r>
              <a:rPr sz="1800">
                <a:latin typeface="Courier New"/>
              </a:rPr>
              <a:t>wmic os get Caption,Version,BuildNumber</a:t>
            </a:r>
            <a:r>
              <a:rPr sz="1800"/>
              <a:t> (if available)</a:t>
            </a:r>
          </a:p>
          <a:p>
            <a:pPr/>
            <a:r>
              <a:rPr sz="1800"/>
              <a:t>OPSEC: fewer commands; collect high-yield output once; extract fields locally</a:t>
            </a:r>
          </a:p>
        </p:txBody>
      </p:sp>
      <p:pic>
        <p:nvPicPr>
          <p:cNvPr id="5" name="Picture 4" descr="b916ad13ea9193c8c86900e560e884f197fb550813a15754c2373092e71867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T1033 System Owner/User Discovery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Purpose: current/logged-on users and usage patterns</a:t>
            </a:r>
          </a:p>
          <a:p>
            <a:pPr/>
            <a:r>
              <a:rPr sz="1800"/>
              <a:t>Linux: </a:t>
            </a:r>
            <a:r>
              <a:rPr sz="1800">
                <a:latin typeface="Courier New"/>
              </a:rPr>
              <a:t>whoami</a:t>
            </a:r>
            <a:r>
              <a:rPr sz="1800"/>
              <a:t>, </a:t>
            </a:r>
            <a:r>
              <a:rPr sz="1800">
                <a:latin typeface="Courier New"/>
              </a:rPr>
              <a:t>w</a:t>
            </a:r>
            <a:r>
              <a:rPr sz="1800"/>
              <a:t>, </a:t>
            </a:r>
            <a:r>
              <a:rPr sz="1800">
                <a:latin typeface="Courier New"/>
              </a:rPr>
              <a:t>last</a:t>
            </a:r>
          </a:p>
          <a:p>
            <a:pPr/>
            <a:r>
              <a:rPr sz="1800"/>
              <a:t>Windows: </a:t>
            </a:r>
            <a:r>
              <a:rPr sz="1800">
                <a:latin typeface="Courier New"/>
              </a:rPr>
              <a:t>whoami</a:t>
            </a:r>
            <a:r>
              <a:rPr sz="1800"/>
              <a:t>, </a:t>
            </a:r>
            <a:r>
              <a:rPr sz="1800">
                <a:latin typeface="Courier New"/>
              </a:rPr>
              <a:t>quser</a:t>
            </a:r>
            <a:r>
              <a:rPr sz="1800"/>
              <a:t>, </a:t>
            </a:r>
            <a:r>
              <a:rPr sz="1800">
                <a:latin typeface="Courier New"/>
              </a:rPr>
              <a:t>qwinsta</a:t>
            </a:r>
          </a:p>
          <a:p>
            <a:pPr/>
            <a:r>
              <a:rPr sz="1800"/>
              <a:t>OPSEC: user enumeration can be monitored; avoid excessive querying</a:t>
            </a:r>
          </a:p>
        </p:txBody>
      </p:sp>
      <p:pic>
        <p:nvPicPr>
          <p:cNvPr id="5" name="Picture 4" descr="9484ab1e7865dc6264e9027be32e60d32fecaeec7420013deb640c852ce949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T1057 Process Discovery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Purpose: running processes and unexpected tooling</a:t>
            </a:r>
          </a:p>
          <a:p>
            <a:pPr/>
            <a:r>
              <a:rPr sz="1800"/>
              <a:t>Linux: </a:t>
            </a:r>
            <a:r>
              <a:rPr sz="1800">
                <a:latin typeface="Courier New"/>
              </a:rPr>
              <a:t>ps -ef</a:t>
            </a:r>
            <a:r>
              <a:rPr sz="1800"/>
              <a:t> or </a:t>
            </a:r>
            <a:r>
              <a:rPr sz="1800">
                <a:latin typeface="Courier New"/>
              </a:rPr>
              <a:t>ps aux</a:t>
            </a:r>
            <a:r>
              <a:rPr sz="1800"/>
              <a:t> (once, parse locally); </a:t>
            </a:r>
            <a:r>
              <a:rPr sz="1800">
                <a:latin typeface="Courier New"/>
              </a:rPr>
              <a:t>top</a:t>
            </a:r>
            <a:r>
              <a:rPr sz="1800"/>
              <a:t> (interactive)</a:t>
            </a:r>
          </a:p>
          <a:p>
            <a:pPr/>
            <a:r>
              <a:rPr sz="1800"/>
              <a:t>Windows: </a:t>
            </a:r>
            <a:r>
              <a:rPr sz="1800">
                <a:latin typeface="Courier New"/>
              </a:rPr>
              <a:t>tasklist</a:t>
            </a:r>
            <a:r>
              <a:rPr sz="1800"/>
              <a:t>, </a:t>
            </a:r>
            <a:r>
              <a:rPr sz="1800">
                <a:latin typeface="Courier New"/>
              </a:rPr>
              <a:t>Get-Process</a:t>
            </a:r>
          </a:p>
          <a:p>
            <a:pPr/>
            <a:r>
              <a:rPr sz="1800"/>
              <a:t>OPSEC: avoid heavy memory inspection unless required</a:t>
            </a:r>
          </a:p>
        </p:txBody>
      </p:sp>
      <p:pic>
        <p:nvPicPr>
          <p:cNvPr id="5" name="Picture 4" descr="593cc358defc2b18e0a6a6e429c482e4a6df3daa664d0aaf6649d9b6f56ce4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T1007 System Service Discovery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Purpose: services/daemons and configuration</a:t>
            </a:r>
          </a:p>
          <a:p>
            <a:pPr/>
            <a:r>
              <a:rPr sz="1800"/>
              <a:t>Linux: </a:t>
            </a:r>
            <a:r>
              <a:rPr sz="1800">
                <a:latin typeface="Courier New"/>
              </a:rPr>
              <a:t>systemctl list-units --type=service</a:t>
            </a:r>
            <a:r>
              <a:rPr sz="1800"/>
              <a:t>, </a:t>
            </a:r>
            <a:r>
              <a:rPr sz="1800">
                <a:latin typeface="Courier New"/>
              </a:rPr>
              <a:t>service --status-all</a:t>
            </a:r>
          </a:p>
          <a:p>
            <a:pPr/>
            <a:r>
              <a:rPr sz="1800"/>
              <a:t>Windows: </a:t>
            </a:r>
            <a:r>
              <a:rPr sz="1800">
                <a:latin typeface="Courier New"/>
              </a:rPr>
              <a:t>sc query</a:t>
            </a:r>
            <a:r>
              <a:rPr sz="1800"/>
              <a:t>, </a:t>
            </a:r>
            <a:r>
              <a:rPr sz="1800">
                <a:latin typeface="Courier New"/>
              </a:rPr>
              <a:t>Get-Service</a:t>
            </a:r>
          </a:p>
          <a:p>
            <a:pPr/>
            <a:r>
              <a:rPr sz="1800"/>
              <a:t>OPSEC: generally low-noise locally; avoid repeated remote queries</a:t>
            </a:r>
          </a:p>
        </p:txBody>
      </p:sp>
      <p:pic>
        <p:nvPicPr>
          <p:cNvPr id="5" name="Picture 4" descr="6cf927f4407606ca718135baeab4fafcfb604a521d678c2a89c35db4c71b09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T1083 File and Directory Discovery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Purpose: sensitive files, configs, operational artifacts</a:t>
            </a:r>
          </a:p>
          <a:p>
            <a:pPr/>
            <a:r>
              <a:rPr sz="1800"/>
              <a:t>Linux: one high-yield listing per directory of interest (</a:t>
            </a:r>
            <a:r>
              <a:rPr sz="1800">
                <a:latin typeface="Courier New"/>
              </a:rPr>
              <a:t>ls -la</a:t>
            </a:r>
            <a:r>
              <a:rPr sz="1800"/>
              <a:t>); </a:t>
            </a:r>
            <a:r>
              <a:rPr sz="1800">
                <a:latin typeface="Courier New"/>
              </a:rPr>
              <a:t>find</a:t>
            </a:r>
            <a:r>
              <a:rPr sz="1800"/>
              <a:t> only if tightly scoped</a:t>
            </a:r>
          </a:p>
          <a:p>
            <a:pPr/>
            <a:r>
              <a:rPr sz="1800"/>
              <a:t>Windows: one high-yield listing (</a:t>
            </a:r>
            <a:r>
              <a:rPr sz="1800">
                <a:latin typeface="Courier New"/>
              </a:rPr>
              <a:t>dir /a</a:t>
            </a:r>
            <a:r>
              <a:rPr sz="1800"/>
              <a:t> or scoped </a:t>
            </a:r>
            <a:r>
              <a:rPr sz="1800">
                <a:latin typeface="Courier New"/>
              </a:rPr>
              <a:t>Get-ChildItem</a:t>
            </a:r>
            <a:r>
              <a:rPr sz="1800"/>
              <a:t>); parse locally</a:t>
            </a:r>
          </a:p>
          <a:p>
            <a:pPr/>
            <a:r>
              <a:rPr sz="1800"/>
              <a:t>OPSEC: broad recursive search is noisy; start narrow; justify expansion</a:t>
            </a:r>
          </a:p>
        </p:txBody>
      </p:sp>
      <p:pic>
        <p:nvPicPr>
          <p:cNvPr id="5" name="Picture 4" descr="7c603629dc67945b72f57dbbe5cf907f4fb97b3981cb8a9b128f8306fb8726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T1087 Account Discovery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Purpose: local/domain accounts on the system</a:t>
            </a:r>
          </a:p>
          <a:p>
            <a:pPr/>
            <a:r>
              <a:rPr sz="1800"/>
              <a:t>Linux: </a:t>
            </a:r>
            <a:r>
              <a:rPr sz="1800">
                <a:latin typeface="Courier New"/>
              </a:rPr>
              <a:t>cat /etc/passwd</a:t>
            </a:r>
            <a:r>
              <a:rPr sz="1800"/>
              <a:t>, </a:t>
            </a:r>
            <a:r>
              <a:rPr sz="1800">
                <a:latin typeface="Courier New"/>
              </a:rPr>
              <a:t>getent passwd</a:t>
            </a:r>
          </a:p>
          <a:p>
            <a:pPr/>
            <a:r>
              <a:rPr sz="1800"/>
              <a:t>Windows: </a:t>
            </a:r>
            <a:r>
              <a:rPr sz="1800">
                <a:latin typeface="Courier New"/>
              </a:rPr>
              <a:t>net user</a:t>
            </a:r>
            <a:r>
              <a:rPr sz="1800"/>
              <a:t>, </a:t>
            </a:r>
            <a:r>
              <a:rPr sz="1800">
                <a:latin typeface="Courier New"/>
              </a:rPr>
              <a:t>net localgroup</a:t>
            </a:r>
            <a:r>
              <a:rPr sz="1800"/>
              <a:t> (domain as applicable)</a:t>
            </a:r>
          </a:p>
          <a:p>
            <a:pPr/>
            <a:r>
              <a:rPr sz="1800"/>
              <a:t>OPSEC: domain-wide queries are more visible; prefer local context first</a:t>
            </a:r>
          </a:p>
        </p:txBody>
      </p:sp>
      <p:pic>
        <p:nvPicPr>
          <p:cNvPr id="5" name="Picture 4" descr="e8249865c67fd00b761537bf174ebc47be85a878ccdbad74181b10eef4600c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T1069 Permission Groups Discovery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Purpose: group memberships and implied privilege</a:t>
            </a:r>
          </a:p>
          <a:p>
            <a:pPr/>
            <a:r>
              <a:rPr sz="1800"/>
              <a:t>Linux: </a:t>
            </a:r>
            <a:r>
              <a:rPr sz="1800">
                <a:latin typeface="Courier New"/>
              </a:rPr>
              <a:t>id</a:t>
            </a:r>
            <a:r>
              <a:rPr sz="1800"/>
              <a:t>, </a:t>
            </a:r>
            <a:r>
              <a:rPr sz="1800">
                <a:latin typeface="Courier New"/>
              </a:rPr>
              <a:t>groups</a:t>
            </a:r>
          </a:p>
          <a:p>
            <a:pPr/>
            <a:r>
              <a:rPr sz="1800"/>
              <a:t>Windows: </a:t>
            </a:r>
            <a:r>
              <a:rPr sz="1800">
                <a:latin typeface="Courier New"/>
              </a:rPr>
              <a:t>whoami /groups</a:t>
            </a:r>
            <a:r>
              <a:rPr sz="1800"/>
              <a:t>, </a:t>
            </a:r>
            <a:r>
              <a:rPr sz="1800">
                <a:latin typeface="Courier New"/>
              </a:rPr>
              <a:t>net localgroup</a:t>
            </a:r>
          </a:p>
          <a:p>
            <a:pPr/>
            <a:r>
              <a:rPr sz="1800"/>
              <a:t>OPSEC: high value; one query is often enough</a:t>
            </a:r>
          </a:p>
        </p:txBody>
      </p:sp>
      <p:pic>
        <p:nvPicPr>
          <p:cNvPr id="5" name="Picture 4" descr="4b9c0cc6e962c0b29f0d7c0e342257bc7a134959b39a1ff1b1ca403e1d16d4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T1018 Remote System Discovery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Purpose: other reachable hosts and potential pivots</a:t>
            </a:r>
          </a:p>
          <a:p>
            <a:pPr/>
            <a:r>
              <a:rPr sz="1800"/>
              <a:t>Linux: </a:t>
            </a:r>
            <a:r>
              <a:rPr sz="1800">
                <a:latin typeface="Courier New"/>
              </a:rPr>
              <a:t>arp -a</a:t>
            </a:r>
            <a:r>
              <a:rPr sz="1800"/>
              <a:t>, limited ping, carefully scoped nmap only if required</a:t>
            </a:r>
          </a:p>
          <a:p>
            <a:pPr/>
            <a:r>
              <a:rPr sz="1800"/>
              <a:t>Windows: </a:t>
            </a:r>
            <a:r>
              <a:rPr sz="1800">
                <a:latin typeface="Courier New"/>
              </a:rPr>
              <a:t>arp -a</a:t>
            </a:r>
            <a:r>
              <a:rPr sz="1800"/>
              <a:t>, ping, </a:t>
            </a:r>
            <a:r>
              <a:rPr sz="1800">
                <a:latin typeface="Courier New"/>
              </a:rPr>
              <a:t>nltest /dclist:&lt;domain&gt;</a:t>
            </a:r>
            <a:r>
              <a:rPr sz="1800"/>
              <a:t> (domain context)</a:t>
            </a:r>
          </a:p>
          <a:p>
            <a:pPr/>
            <a:r>
              <a:rPr sz="1800"/>
              <a:t>OPSEC: scanning is high risk; prefer passive/low-rate discovery</a:t>
            </a:r>
          </a:p>
        </p:txBody>
      </p:sp>
      <p:pic>
        <p:nvPicPr>
          <p:cNvPr id="5" name="Picture 4" descr="df6fc3e0407149e71848324c3d3c23604057159d38129922737d2ac2d8529b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T1016 System Network Configuration Discovery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Purpose: interfaces, routing, DNS</a:t>
            </a:r>
          </a:p>
          <a:p>
            <a:pPr/>
            <a:r>
              <a:rPr sz="1800"/>
              <a:t>Linux: </a:t>
            </a:r>
            <a:r>
              <a:rPr sz="1800">
                <a:latin typeface="Courier New"/>
              </a:rPr>
              <a:t>ip addr</a:t>
            </a:r>
            <a:r>
              <a:rPr sz="1800"/>
              <a:t>, </a:t>
            </a:r>
            <a:r>
              <a:rPr sz="1800">
                <a:latin typeface="Courier New"/>
              </a:rPr>
              <a:t>ip route</a:t>
            </a:r>
            <a:r>
              <a:rPr sz="1800"/>
              <a:t>, </a:t>
            </a:r>
            <a:r>
              <a:rPr sz="1800">
                <a:latin typeface="Courier New"/>
              </a:rPr>
              <a:t>cat /etc/resolv.conf</a:t>
            </a:r>
          </a:p>
          <a:p>
            <a:pPr/>
            <a:r>
              <a:rPr sz="1800"/>
              <a:t>Windows: </a:t>
            </a:r>
            <a:r>
              <a:rPr sz="1800">
                <a:latin typeface="Courier New"/>
              </a:rPr>
              <a:t>ipconfig /all</a:t>
            </a:r>
            <a:r>
              <a:rPr sz="1800"/>
              <a:t>, </a:t>
            </a:r>
            <a:r>
              <a:rPr sz="1800">
                <a:latin typeface="Courier New"/>
              </a:rPr>
              <a:t>route print</a:t>
            </a:r>
            <a:r>
              <a:rPr sz="1800"/>
              <a:t>, </a:t>
            </a:r>
            <a:r>
              <a:rPr sz="1800">
                <a:latin typeface="Courier New"/>
              </a:rPr>
              <a:t>nslookup</a:t>
            </a:r>
          </a:p>
          <a:p>
            <a:pPr/>
            <a:r>
              <a:rPr sz="1800"/>
              <a:t>OPSEC: mostly local; avoid repeated DNS queries if monitored</a:t>
            </a:r>
          </a:p>
        </p:txBody>
      </p:sp>
      <p:pic>
        <p:nvPicPr>
          <p:cNvPr id="5" name="Picture 4" descr="a5bd46ebeb826a4c11c1a43817d121e252a32a85148026981c6ba4a4a8eb11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T1049 System Network Connections Discovery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Purpose: active connections; possible C2 or management sessions</a:t>
            </a:r>
          </a:p>
          <a:p>
            <a:pPr/>
            <a:r>
              <a:rPr sz="1800"/>
              <a:t>Linux: </a:t>
            </a:r>
            <a:r>
              <a:rPr sz="1800">
                <a:latin typeface="Courier New"/>
              </a:rPr>
              <a:t>ss -tunap</a:t>
            </a:r>
            <a:r>
              <a:rPr sz="1800"/>
              <a:t> (once; parse by PID/port/remote IP)</a:t>
            </a:r>
          </a:p>
          <a:p>
            <a:pPr/>
            <a:r>
              <a:rPr sz="1800"/>
              <a:t>Windows: </a:t>
            </a:r>
            <a:r>
              <a:rPr sz="1800">
                <a:latin typeface="Courier New"/>
              </a:rPr>
              <a:t>netstat -ano</a:t>
            </a:r>
            <a:r>
              <a:rPr sz="1800"/>
              <a:t>, </a:t>
            </a:r>
            <a:r>
              <a:rPr sz="1800">
                <a:latin typeface="Courier New"/>
              </a:rPr>
              <a:t>Get-NetTCPConnection</a:t>
            </a:r>
          </a:p>
          <a:p>
            <a:pPr/>
            <a:r>
              <a:rPr sz="1800"/>
              <a:t>OPSEC: local command; collect once and interpret locally</a:t>
            </a:r>
          </a:p>
        </p:txBody>
      </p:sp>
      <p:pic>
        <p:nvPicPr>
          <p:cNvPr id="5" name="Picture 4" descr="047e8890bedf92e49a1cfbf9cb50798fe351993688a7bdcc14ebdb7e521724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T1135 Network Share Discovery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Purpose: shares and mounts for access and data movement</a:t>
            </a:r>
          </a:p>
          <a:p>
            <a:pPr/>
            <a:r>
              <a:rPr sz="1800"/>
              <a:t>Linux: </a:t>
            </a:r>
            <a:r>
              <a:rPr sz="1800">
                <a:latin typeface="Courier New"/>
              </a:rPr>
              <a:t>mount</a:t>
            </a:r>
            <a:r>
              <a:rPr sz="1800"/>
              <a:t>, </a:t>
            </a:r>
            <a:r>
              <a:rPr sz="1800">
                <a:latin typeface="Courier New"/>
              </a:rPr>
              <a:t>showmount</a:t>
            </a:r>
            <a:r>
              <a:rPr sz="1800"/>
              <a:t> / </a:t>
            </a:r>
            <a:r>
              <a:rPr sz="1800">
                <a:latin typeface="Courier New"/>
              </a:rPr>
              <a:t>smbclient -L</a:t>
            </a:r>
            <a:r>
              <a:rPr sz="1800"/>
              <a:t> as applicable</a:t>
            </a:r>
          </a:p>
          <a:p>
            <a:pPr/>
            <a:r>
              <a:rPr sz="1800"/>
              <a:t>Windows: </a:t>
            </a:r>
            <a:r>
              <a:rPr sz="1800">
                <a:latin typeface="Courier New"/>
              </a:rPr>
              <a:t>net share</a:t>
            </a:r>
            <a:r>
              <a:rPr sz="1800"/>
              <a:t>, </a:t>
            </a:r>
            <a:r>
              <a:rPr sz="1800">
                <a:latin typeface="Courier New"/>
              </a:rPr>
              <a:t>net view</a:t>
            </a:r>
          </a:p>
          <a:p>
            <a:pPr/>
            <a:r>
              <a:rPr sz="1800"/>
              <a:t>OPSEC: remote share enumeration can be logged; scope to need</a:t>
            </a:r>
          </a:p>
        </p:txBody>
      </p:sp>
      <p:pic>
        <p:nvPicPr>
          <p:cNvPr id="5" name="Picture 4" descr="d1e969db92c0116acbe3d0d6d13a0640097835ca7b154901046c6dc4b3dcfc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Demonstration — Selected Discovery Techniques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Pick 3–5 techniques and run only 1–2 commands each</a:t>
            </a:r>
          </a:p>
          <a:p>
            <a:pPr/>
            <a:r>
              <a:rPr sz="1800"/>
              <a:t>After each: state what you learned, what you assume, and what you will verify next</a:t>
            </a:r>
          </a:p>
          <a:p>
            <a:pPr/>
            <a:r>
              <a:rPr sz="1800"/>
              <a:t>End with a short written summary (environment + user context + key findings)</a:t>
            </a:r>
          </a:p>
        </p:txBody>
      </p:sp>
      <p:pic>
        <p:nvPicPr>
          <p:cNvPr id="5" name="Picture 4" descr="8aac1bddb2648d50eb34ff81b9378793f5ba8da7bd601aadc9b1ded4c68948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Common Failure Modes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Run large scripts immediately without context</a:t>
            </a:r>
          </a:p>
          <a:p>
            <a:pPr/>
            <a:r>
              <a:rPr sz="1800"/>
              <a:t>Broad file searches or network scans without objectives</a:t>
            </a:r>
          </a:p>
          <a:p>
            <a:pPr/>
            <a:r>
              <a:rPr sz="1800"/>
              <a:t>Collect output without interpreting it</a:t>
            </a:r>
          </a:p>
          <a:p>
            <a:pPr/>
            <a:r>
              <a:rPr sz="1800"/>
              <a:t>Forget to document findings for handover</a:t>
            </a:r>
          </a:p>
        </p:txBody>
      </p:sp>
      <p:pic>
        <p:nvPicPr>
          <p:cNvPr id="5" name="Picture 4" descr="16c1b708aeca062f9413ff04552aaf58704c8e0927e5a8dbb2ad9811cd607e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Technique Selection (Objective-Driven)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Privilege escalation: prioritize user/groups, services, configs</a:t>
            </a:r>
          </a:p>
          <a:p>
            <a:pPr/>
            <a:r>
              <a:rPr sz="1800"/>
              <a:t>Lateral movement (handoff enablement): network config, connections, remote systems—document, do not execute movement in this block</a:t>
            </a:r>
          </a:p>
          <a:p>
            <a:pPr/>
            <a:r>
              <a:rPr sz="1800"/>
              <a:t>Effects on adversary infrastructure: processes/services and mission artifacts</a:t>
            </a:r>
          </a:p>
        </p:txBody>
      </p:sp>
      <p:pic>
        <p:nvPicPr>
          <p:cNvPr id="5" name="Picture 4" descr="4a0d231c503710257d98c49c5ce231df96ede320cd31120da3176553769269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Quick Documentation Template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700"/>
              <a:t>Host: [hostname/IP]</a:t>
            </a:r>
          </a:p>
          <a:p>
            <a:pPr/>
            <a:r>
              <a:rPr sz="1700"/>
              <a:t>Environment: [OS/build, domain/workgroup, container/cloud indicators]</a:t>
            </a:r>
          </a:p>
          <a:p>
            <a:pPr/>
            <a:r>
              <a:rPr sz="1700"/>
              <a:t>User context: [user, groups, key privileges]</a:t>
            </a:r>
          </a:p>
          <a:p>
            <a:pPr/>
            <a:r>
              <a:rPr sz="1700"/>
              <a:t>Key findings: [services/processes/scheduled jobs/network indicators]</a:t>
            </a:r>
          </a:p>
          <a:p>
            <a:pPr/>
            <a:r>
              <a:rPr sz="1700"/>
              <a:t>OPSEC notes: [what might have logged/alerted]</a:t>
            </a:r>
          </a:p>
          <a:p>
            <a:pPr/>
            <a:r>
              <a:rPr sz="1700"/>
              <a:t>Next steps: [what to verify/do next]</a:t>
            </a:r>
          </a:p>
        </p:txBody>
      </p:sp>
      <p:pic>
        <p:nvPicPr>
          <p:cNvPr id="5" name="Picture 4" descr="e3a9000ad3b648c143c4172dac2d2de34cb383b77bef36670bc9070f7be378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Survey Scripts and Automation</a:t>
            </a:r>
          </a:p>
        </p:txBody>
      </p:sp>
      <p:pic>
        <p:nvPicPr>
          <p:cNvPr id="5" name="Picture 4" descr="0ab4f381a22b6054b0f127c73a8ae7a68e0e64b1a049a5c565a86e8db28075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Why Survey Scripts Exist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Speed, completeness, repeatability</a:t>
            </a:r>
          </a:p>
          <a:p>
            <a:pPr/>
            <a:r>
              <a:rPr sz="1800"/>
              <a:t>Reduce operator error under stress</a:t>
            </a:r>
          </a:p>
          <a:p>
            <a:pPr/>
            <a:r>
              <a:rPr sz="1800"/>
              <a:t>Standardized output for teams and handover</a:t>
            </a:r>
          </a:p>
        </p:txBody>
      </p:sp>
      <p:pic>
        <p:nvPicPr>
          <p:cNvPr id="5" name="Picture 4" descr="cf703d3dbfb2873beaa8a6e025f795acdce7397fd856d32c95d5a73b677e46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Survey Script OPSEC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Many commands in a short window trigger detections</a:t>
            </a:r>
          </a:p>
          <a:p>
            <a:pPr/>
            <a:r>
              <a:rPr sz="1800"/>
              <a:t>Script artifacts on disk can be found</a:t>
            </a:r>
          </a:p>
          <a:p>
            <a:pPr/>
            <a:r>
              <a:rPr sz="1800"/>
              <a:t>Output files hold sensitive details; treat and move them carefully</a:t>
            </a:r>
          </a:p>
        </p:txBody>
      </p:sp>
      <p:pic>
        <p:nvPicPr>
          <p:cNvPr id="5" name="Picture 4" descr="6fa626a4978303d6bc32c96eca52e4d7906e19d05f589eb323b459b61a62e05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Types of Survey Scripts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700"/>
              <a:t>Linux: LinPEAS, LinEnum, custom</a:t>
            </a:r>
          </a:p>
          <a:p>
            <a:pPr/>
            <a:r>
              <a:rPr sz="1700"/>
              <a:t>Windows: WinPEAS, PowerUp, custom</a:t>
            </a:r>
          </a:p>
          <a:p>
            <a:pPr/>
            <a:r>
              <a:rPr sz="1700"/>
              <a:t>Custom mission scripts: answer specific questions fast</a:t>
            </a:r>
          </a:p>
          <a:p>
            <a:pPr/>
            <a:r>
              <a:rPr sz="1700"/>
              <a:t>Executable scripts vs operator-driven command lists (often quieter)</a:t>
            </a:r>
          </a:p>
          <a:p>
            <a:pPr/>
            <a:r>
              <a:rPr sz="1700"/>
              <a:t>Prefer observable, interruptible runs (watch output; stop on risk; parse locally)</a:t>
            </a:r>
          </a:p>
        </p:txBody>
      </p:sp>
      <p:pic>
        <p:nvPicPr>
          <p:cNvPr id="5" name="Picture 4" descr="89f686c3021eea44b259b84417e00ca47981b8fd8a30f09dfc4d7bd8fe1341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Example Survey Script Structure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System info</a:t>
            </a:r>
          </a:p>
          <a:p>
            <a:pPr/>
            <a:r>
              <a:rPr sz="1800"/>
              <a:t>User/account enumeration</a:t>
            </a:r>
          </a:p>
          <a:p>
            <a:pPr/>
            <a:r>
              <a:rPr sz="1800"/>
              <a:t>Network discovery</a:t>
            </a:r>
          </a:p>
          <a:p>
            <a:pPr/>
            <a:r>
              <a:rPr sz="1800"/>
              <a:t>Process/service discovery</a:t>
            </a:r>
          </a:p>
          <a:p>
            <a:pPr/>
            <a:r>
              <a:rPr sz="1800"/>
              <a:t>Filesystem reconnaissance</a:t>
            </a:r>
          </a:p>
          <a:p>
            <a:pPr/>
            <a:r>
              <a:rPr sz="1800"/>
              <a:t>Output formatting and collection</a:t>
            </a:r>
          </a:p>
        </p:txBody>
      </p:sp>
      <p:pic>
        <p:nvPicPr>
          <p:cNvPr id="5" name="Picture 4" descr="6d3773d42225d0cdb2dd727d1179ab8d09a923a8b5e217ec8ef1f0982f4550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Demonstration — Run a Survey Script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Run a basic script in a lab environment</a:t>
            </a:r>
          </a:p>
          <a:p>
            <a:pPr/>
            <a:r>
              <a:rPr sz="1800"/>
              <a:t>Review output; identify 3 high-value findings</a:t>
            </a:r>
          </a:p>
          <a:p>
            <a:pPr/>
            <a:r>
              <a:rPr sz="1800"/>
              <a:t>Discuss what noise/logs the script likely created</a:t>
            </a:r>
          </a:p>
        </p:txBody>
      </p:sp>
      <p:pic>
        <p:nvPicPr>
          <p:cNvPr id="5" name="Picture 4" descr="d04cacc254c19c6d032477cf51c9602921f7a7d266bd3a09f67a2d5a4262cc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Developing Custom Scripts (Brief)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Bash: functions, command existence checks, output formatting</a:t>
            </a:r>
          </a:p>
          <a:p>
            <a:pPr/>
            <a:r>
              <a:rPr sz="1800"/>
              <a:t>PowerShell: cmdlets, error handling, structured output</a:t>
            </a:r>
          </a:p>
          <a:p>
            <a:pPr/>
            <a:r>
              <a:rPr sz="1800"/>
              <a:t>Tailor to objectives; keep scope minimal</a:t>
            </a:r>
          </a:p>
        </p:txBody>
      </p:sp>
      <p:pic>
        <p:nvPicPr>
          <p:cNvPr id="5" name="Picture 4" descr="0c8d4a5cedaec5f68f087753ac885c7c830611e1b1a04acf23e40b44eba5ae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Automation Decision Rule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If you don’t know where you are: start manual</a:t>
            </a:r>
          </a:p>
          <a:p>
            <a:pPr/>
            <a:r>
              <a:rPr sz="1800"/>
              <a:t>If you need speed and accept noise: use automation</a:t>
            </a:r>
          </a:p>
          <a:p>
            <a:pPr/>
            <a:r>
              <a:rPr sz="1800"/>
              <a:t>If you need stealth: targeted manual discovery</a:t>
            </a:r>
          </a:p>
          <a:p>
            <a:pPr/>
            <a:r>
              <a:rPr sz="1800"/>
              <a:t>Always document what you ran and why</a:t>
            </a:r>
          </a:p>
        </p:txBody>
      </p:sp>
      <p:pic>
        <p:nvPicPr>
          <p:cNvPr id="5" name="Picture 4" descr="a432493a1887686e03db895480bed1d5d692fcf256c835bd450e002236661e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OPSEC Considerations for Discovery</a:t>
            </a:r>
          </a:p>
        </p:txBody>
      </p:sp>
      <p:pic>
        <p:nvPicPr>
          <p:cNvPr id="5" name="Picture 4" descr="76a5ae72fc76e05076f9ad9107906dc788ee367e8c9169419e759d1e77308a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Discovery Activities Are Noisy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Generate logs (process, auth, file access, command history)</a:t>
            </a:r>
          </a:p>
          <a:p>
            <a:pPr/>
            <a:r>
              <a:rPr sz="1800"/>
              <a:t>Trigger alerts (rapid enumeration, suspicious tools)</a:t>
            </a:r>
          </a:p>
          <a:p>
            <a:pPr/>
            <a:r>
              <a:rPr sz="1800"/>
              <a:t>Feed correlation systems (SIEM)</a:t>
            </a:r>
          </a:p>
        </p:txBody>
      </p:sp>
      <p:pic>
        <p:nvPicPr>
          <p:cNvPr id="5" name="Picture 4" descr="2b1266c36e3f20aa12b847a002721e95bf9974101bca5a6fbde8c94777f199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Balance Speed vs Stealth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Survey scripts are fast but noisy</a:t>
            </a:r>
          </a:p>
          <a:p>
            <a:pPr/>
            <a:r>
              <a:rPr sz="1800"/>
              <a:t>Manual discovery is slower but often quieter</a:t>
            </a:r>
          </a:p>
          <a:p>
            <a:pPr/>
            <a:r>
              <a:rPr sz="1800"/>
              <a:t>Context determines approach</a:t>
            </a:r>
          </a:p>
        </p:txBody>
      </p:sp>
      <p:pic>
        <p:nvPicPr>
          <p:cNvPr id="5" name="Picture 4" descr="3ea8d93596548b032f539c679842ad7b83439f4fb4dcb140c569d9d34a77a9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Blend With Normal Activity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Mimic admin behavior and timing</a:t>
            </a:r>
          </a:p>
          <a:p>
            <a:pPr/>
            <a:r>
              <a:rPr sz="1800"/>
              <a:t>Use legitimate tools where possible</a:t>
            </a:r>
          </a:p>
          <a:p>
            <a:pPr/>
            <a:r>
              <a:rPr sz="1800"/>
              <a:t>Avoid obvious attacker tradecraft patterns</a:t>
            </a:r>
          </a:p>
        </p:txBody>
      </p:sp>
      <p:pic>
        <p:nvPicPr>
          <p:cNvPr id="5" name="Picture 4" descr="d2de3109ad21032a8bf344bb76ef7157ea785609513316d3be3104b2709b6a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Document for Operational Handover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What you learned</a:t>
            </a:r>
          </a:p>
          <a:p>
            <a:pPr/>
            <a:r>
              <a:rPr sz="1800"/>
              <a:t>Critical findings</a:t>
            </a:r>
          </a:p>
          <a:p>
            <a:pPr/>
            <a:r>
              <a:rPr sz="1800"/>
              <a:t>What you did not learn (gaps)</a:t>
            </a:r>
          </a:p>
          <a:p>
            <a:pPr/>
            <a:r>
              <a:rPr sz="1800"/>
              <a:t>What should happen next</a:t>
            </a:r>
          </a:p>
        </p:txBody>
      </p:sp>
      <p:pic>
        <p:nvPicPr>
          <p:cNvPr id="5" name="Picture 4" descr="adf0fcd188ed7c200d6c9d8963626933230bc7e9ddde6a07c84b9c7296b101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OPSEC Checklist (Preview)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Rate-limit and prioritize commands</a:t>
            </a:r>
          </a:p>
          <a:p>
            <a:pPr/>
            <a:r>
              <a:rPr sz="1800"/>
              <a:t>Avoid broad scans and recursive searches unless justified</a:t>
            </a:r>
          </a:p>
          <a:p>
            <a:pPr/>
            <a:r>
              <a:rPr sz="1800"/>
              <a:t>Prefer local discovery over remote where possible</a:t>
            </a:r>
          </a:p>
          <a:p>
            <a:pPr/>
            <a:r>
              <a:rPr sz="1800"/>
              <a:t>Track artifacts you create (files, scripts, outputs)</a:t>
            </a:r>
          </a:p>
          <a:p>
            <a:pPr/>
            <a:r>
              <a:rPr sz="1800"/>
              <a:t>Summarize and hand over</a:t>
            </a:r>
          </a:p>
        </p:txBody>
      </p:sp>
      <p:pic>
        <p:nvPicPr>
          <p:cNvPr id="5" name="Picture 4" descr="1be028337f2257c065ca447bc75e2041d288e10aac2a54e43d50c54115a317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Common OPSEC Pitfalls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Running large third-party tools without review</a:t>
            </a:r>
          </a:p>
          <a:p>
            <a:pPr/>
            <a:r>
              <a:rPr sz="1800"/>
              <a:t>Obvious filenames and leftover artifacts</a:t>
            </a:r>
          </a:p>
          <a:p>
            <a:pPr/>
            <a:r>
              <a:rPr sz="1800"/>
              <a:t>Forgetting discovery can trigger defensive correlation</a:t>
            </a:r>
          </a:p>
        </p:txBody>
      </p:sp>
      <p:pic>
        <p:nvPicPr>
          <p:cNvPr id="5" name="Picture 4" descr="503b3de9b28c3067d6db8a23693a4e80bb4b9245ff82e25faf6236126a642d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Constraint Adaptation — Standing Method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700"/>
              <a:t>Identify the surface you occupy</a:t>
            </a:r>
          </a:p>
          <a:p>
            <a:pPr/>
            <a:r>
              <a:rPr sz="1700"/>
              <a:t>Prove the constraint from native evidence</a:t>
            </a:r>
          </a:p>
          <a:p>
            <a:pPr/>
            <a:r>
              <a:rPr sz="1700"/>
              <a:t>Adapt collection when the standard toolkit is missing</a:t>
            </a:r>
          </a:p>
          <a:p>
            <a:pPr/>
            <a:r>
              <a:rPr sz="1700"/>
              <a:t>Document gaps and what you ran</a:t>
            </a:r>
          </a:p>
          <a:p>
            <a:pPr/>
            <a:r>
              <a:rPr sz="1700"/>
              <a:t>Re-run the first-minute checklist on every new shell, upload, or pivot</a:t>
            </a:r>
          </a:p>
          <a:p>
            <a:pPr/>
            <a:r>
              <a:rPr sz="1700"/>
              <a:t>If the host is dying: identity, listeners, and a process snapshot before deep file search</a:t>
            </a:r>
          </a:p>
        </p:txBody>
      </p:sp>
      <p:pic>
        <p:nvPicPr>
          <p:cNvPr id="5" name="Picture 4" descr="6d6ac67b60ed756bdcaad305cd1c3d1b75cea6a45536a09569ea2ad0fb4a60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Knowledge Check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If Windows is domain-joined, what discovery changes first?</a:t>
            </a:r>
          </a:p>
          <a:p>
            <a:pPr/>
            <a:r>
              <a:rPr sz="1800"/>
              <a:t>What is the minimum command set to identify Linux environment and user context?</a:t>
            </a:r>
          </a:p>
          <a:p>
            <a:pPr/>
            <a:r>
              <a:rPr sz="1800"/>
              <a:t>Name one OPSEC risk of automation</a:t>
            </a:r>
          </a:p>
          <a:p>
            <a:pPr/>
            <a:r>
              <a:rPr sz="1800">
                <a:latin typeface="Courier New"/>
              </a:rPr>
              <a:t>whoami</a:t>
            </a:r>
            <a:r>
              <a:rPr sz="1800"/>
              <a:t> is root—how do you know you are not in a jail or container?</a:t>
            </a:r>
          </a:p>
        </p:txBody>
      </p:sp>
      <p:pic>
        <p:nvPicPr>
          <p:cNvPr id="5" name="Picture 4" descr="44cdc61b8f1652326452ab36c9f401ae7ad9dcb6cfe0a94c3777ae89ca8274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Lesson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On-objective operations</a:t>
            </a:r>
          </a:p>
          <a:p>
            <a:pPr/>
            <a:r>
              <a:rPr sz="1800"/>
              <a:t>Execution environments</a:t>
            </a:r>
          </a:p>
          <a:p>
            <a:pPr/>
            <a:r>
              <a:rPr sz="1800"/>
              <a:t>User context and privileges</a:t>
            </a:r>
          </a:p>
          <a:p>
            <a:pPr/>
            <a:r>
              <a:rPr sz="1800"/>
              <a:t>MITRE ATT&amp;CK Discovery techniques</a:t>
            </a:r>
          </a:p>
          <a:p>
            <a:pPr/>
            <a:r>
              <a:rPr sz="1800"/>
              <a:t>Survey scripts and automation</a:t>
            </a:r>
          </a:p>
          <a:p>
            <a:pPr/>
            <a:r>
              <a:rPr sz="1800"/>
              <a:t>OPSEC considerations for discovery</a:t>
            </a:r>
          </a:p>
        </p:txBody>
      </p:sp>
      <p:pic>
        <p:nvPicPr>
          <p:cNvPr id="5" name="Picture 4" descr="77002c84ddf38d1132adaccb950dcd987433fb2fd35353965bb3c385f705e1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Questions?</a:t>
            </a:r>
          </a:p>
        </p:txBody>
      </p:sp>
      <p:pic>
        <p:nvPicPr>
          <p:cNvPr id="5" name="Picture 4" descr="368ce40602f68d3fb0ec923bd45d353c0bdb28a413e5ad8bcd2e8b5327d898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/>
            <a:r>
              <a:rPr sz="2700"/>
              <a:t>Questions?</a:t>
            </a:r>
          </a:p>
        </p:txBody>
      </p:sp>
      <p:sp>
        <p:nvSpPr>
          <p:cNvPr id="4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yberTemplateL_Green Unclass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420</Words>
  <Application>Microsoft Office PowerPoint</Application>
  <PresentationFormat>Widescreen</PresentationFormat>
  <Paragraphs>45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Calibri</vt:lpstr>
      <vt:lpstr>Arial</vt:lpstr>
      <vt:lpstr>Noto Sans Symbols</vt:lpstr>
      <vt:lpstr>Google Sans</vt:lpstr>
      <vt:lpstr>CyberTemplateL_Green Unclass</vt:lpstr>
      <vt:lpstr>Lesson title</vt:lpstr>
      <vt:lpstr>Intro Video</vt:lpstr>
      <vt:lpstr>Lesson Objectives</vt:lpstr>
      <vt:lpstr>What is a Learning Management System?</vt:lpstr>
      <vt:lpstr>Lets log in to Moodle</vt:lpstr>
      <vt:lpstr>Lesson 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Houston, Joshua T</dc:creator>
  <cp:lastModifiedBy>Cross, Clay</cp:lastModifiedBy>
  <cp:revision>1</cp:revision>
  <dcterms:modified xsi:type="dcterms:W3CDTF">2026-10-12T17:41:16Z</dcterms:modified>
</cp:coreProperties>
</file>