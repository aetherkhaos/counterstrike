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8"/>
    <p:sldId id="257" r:id="rId14"/>
    <p:sldId id="258" r:id="rId15"/>
    <p:sldId id="259" r:id="rId7"/>
    <p:sldId id="260" r:id="rId6"/>
    <p:sldId id="261" r:id="rId5"/>
    <p:sldId id="262" r:id="rId4"/>
    <p:sldId id="263" r:id="rId3"/>
    <p:sldId id="264" r:id="rId2"/>
    <p:sldId id="265" r:id="rId22"/>
    <p:sldId id="266" r:id="rId23"/>
  </p:sldIdLst>
  <p:sldSz cx="12192000" cy="6858000"/>
  <p:notesSz cx="6858000" cy="9144000"/>
  <p:embeddedFontLst>
    <p:embeddedFont>
      <p:font typeface="Google Sans"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7TtVeiHhDOAAACQUvrCI66Sw7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slide" Target="slides/slide2.xml"/><Relationship Id="rId15" Type="http://schemas.openxmlformats.org/officeDocument/2006/relationships/slide" Target="slides/slide3.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slide" Target="slides/slide10.xml"/><Relationship Id="rId23"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modSld modMainMaster">
      <pc:chgData name="Cross, Clay" userId="f346be3b-e1cb-4aec-811e-8a3f5d1dd33f" providerId="ADAL" clId="{5AB2DC96-CDCC-45B4-B053-2F2446580AF9}" dt="2026-10-12T17:41:14.911" v="31" actId="20577"/>
      <pc:docMkLst>
        <pc:docMk/>
      </pc:docMkLst>
      <pc:sldChg chg="addSp modSp mod">
        <pc:chgData name="Cross, Clay" userId="f346be3b-e1cb-4aec-811e-8a3f5d1dd33f" providerId="ADAL" clId="{5AB2DC96-CDCC-45B4-B053-2F2446580AF9}" dt="2026-10-12T17:41:14.911" v="31" actId="20577"/>
        <pc:sldMkLst>
          <pc:docMk/>
          <pc:sldMk cId="0" sldId="256"/>
        </pc:sldMkLst>
        <pc:spChg chg="add mod">
          <ac:chgData name="Cross, Clay" userId="f346be3b-e1cb-4aec-811e-8a3f5d1dd33f" providerId="ADAL" clId="{5AB2DC96-CDCC-45B4-B053-2F2446580AF9}" dt="2026-09-16T14:10:03.197" v="14"/>
          <ac:spMkLst>
            <pc:docMk/>
            <pc:sldMk cId="0" sldId="256"/>
            <ac:spMk id="2" creationId="{AF066B48-BBCB-D243-DA16-4C1CF9825479}"/>
          </ac:spMkLst>
        </pc:spChg>
        <pc:spChg chg="mod">
          <ac:chgData name="Cross, Clay" userId="f346be3b-e1cb-4aec-811e-8a3f5d1dd33f" providerId="ADAL" clId="{5AB2DC96-CDCC-45B4-B053-2F2446580AF9}" dt="2026-10-12T17:41:14.911" v="31" actId="20577"/>
          <ac:spMkLst>
            <pc:docMk/>
            <pc:sldMk cId="0" sldId="256"/>
            <ac:spMk id="93" creationId="{00000000-0000-0000-0000-000000000000}"/>
          </ac:spMkLst>
        </pc:spChg>
      </pc:sldChg>
      <pc:sldChg chg="addSp modSp">
        <pc:chgData name="Cross, Clay" userId="f346be3b-e1cb-4aec-811e-8a3f5d1dd33f" providerId="ADAL" clId="{5AB2DC96-CDCC-45B4-B053-2F2446580AF9}" dt="2026-09-16T14:10:05.967" v="15"/>
        <pc:sldMkLst>
          <pc:docMk/>
          <pc:sldMk cId="0" sldId="257"/>
        </pc:sldMkLst>
        <pc:spChg chg="add mod">
          <ac:chgData name="Cross, Clay" userId="f346be3b-e1cb-4aec-811e-8a3f5d1dd33f" providerId="ADAL" clId="{5AB2DC96-CDCC-45B4-B053-2F2446580AF9}" dt="2026-09-16T14:10:05.967" v="15"/>
          <ac:spMkLst>
            <pc:docMk/>
            <pc:sldMk cId="0" sldId="257"/>
            <ac:spMk id="2" creationId="{C59CE0A4-E66C-0842-A9F5-B432CCCBB70C}"/>
          </ac:spMkLst>
        </pc:spChg>
      </pc:sldChg>
      <pc:sldChg chg="addSp modSp">
        <pc:chgData name="Cross, Clay" userId="f346be3b-e1cb-4aec-811e-8a3f5d1dd33f" providerId="ADAL" clId="{5AB2DC96-CDCC-45B4-B053-2F2446580AF9}" dt="2026-09-16T14:10:07.294" v="16"/>
        <pc:sldMkLst>
          <pc:docMk/>
          <pc:sldMk cId="0" sldId="258"/>
        </pc:sldMkLst>
        <pc:spChg chg="add mod">
          <ac:chgData name="Cross, Clay" userId="f346be3b-e1cb-4aec-811e-8a3f5d1dd33f" providerId="ADAL" clId="{5AB2DC96-CDCC-45B4-B053-2F2446580AF9}" dt="2026-09-16T14:10:07.294" v="16"/>
          <ac:spMkLst>
            <pc:docMk/>
            <pc:sldMk cId="0" sldId="258"/>
            <ac:spMk id="2" creationId="{9367D3A5-428A-79F2-AC81-ADCB1A0F11C1}"/>
          </ac:spMkLst>
        </pc:spChg>
      </pc:sldChg>
      <pc:sldChg chg="addSp modSp">
        <pc:chgData name="Cross, Clay" userId="f346be3b-e1cb-4aec-811e-8a3f5d1dd33f" providerId="ADAL" clId="{5AB2DC96-CDCC-45B4-B053-2F2446580AF9}" dt="2026-09-16T14:10:08.375" v="17"/>
        <pc:sldMkLst>
          <pc:docMk/>
          <pc:sldMk cId="0" sldId="259"/>
        </pc:sldMkLst>
        <pc:spChg chg="add mod">
          <ac:chgData name="Cross, Clay" userId="f346be3b-e1cb-4aec-811e-8a3f5d1dd33f" providerId="ADAL" clId="{5AB2DC96-CDCC-45B4-B053-2F2446580AF9}" dt="2026-09-16T14:10:08.375" v="17"/>
          <ac:spMkLst>
            <pc:docMk/>
            <pc:sldMk cId="0" sldId="259"/>
            <ac:spMk id="2" creationId="{07E1C860-F9EC-56A5-3678-9C818C512B47}"/>
          </ac:spMkLst>
        </pc:spChg>
      </pc:sldChg>
      <pc:sldChg chg="addSp modSp">
        <pc:chgData name="Cross, Clay" userId="f346be3b-e1cb-4aec-811e-8a3f5d1dd33f" providerId="ADAL" clId="{5AB2DC96-CDCC-45B4-B053-2F2446580AF9}" dt="2026-09-16T14:10:11.392" v="18"/>
        <pc:sldMkLst>
          <pc:docMk/>
          <pc:sldMk cId="0" sldId="260"/>
        </pc:sldMkLst>
        <pc:spChg chg="add mod">
          <ac:chgData name="Cross, Clay" userId="f346be3b-e1cb-4aec-811e-8a3f5d1dd33f" providerId="ADAL" clId="{5AB2DC96-CDCC-45B4-B053-2F2446580AF9}" dt="2026-09-16T14:10:11.392" v="18"/>
          <ac:spMkLst>
            <pc:docMk/>
            <pc:sldMk cId="0" sldId="260"/>
            <ac:spMk id="2" creationId="{1588E63D-8331-98F8-2393-DF79A145BF58}"/>
          </ac:spMkLst>
        </pc:spChg>
      </pc:sldChg>
      <pc:sldChg chg="addSp modSp">
        <pc:chgData name="Cross, Clay" userId="f346be3b-e1cb-4aec-811e-8a3f5d1dd33f" providerId="ADAL" clId="{5AB2DC96-CDCC-45B4-B053-2F2446580AF9}" dt="2026-09-16T14:10:12.517" v="19"/>
        <pc:sldMkLst>
          <pc:docMk/>
          <pc:sldMk cId="0" sldId="261"/>
        </pc:sldMkLst>
        <pc:spChg chg="add mod">
          <ac:chgData name="Cross, Clay" userId="f346be3b-e1cb-4aec-811e-8a3f5d1dd33f" providerId="ADAL" clId="{5AB2DC96-CDCC-45B4-B053-2F2446580AF9}" dt="2026-09-16T14:10:12.517" v="19"/>
          <ac:spMkLst>
            <pc:docMk/>
            <pc:sldMk cId="0" sldId="261"/>
            <ac:spMk id="2" creationId="{93535A3B-BAB2-61CE-5223-82D4BF2B0E2D}"/>
          </ac:spMkLst>
        </pc:spChg>
      </pc:sldChg>
      <pc:sldChg chg="addSp delSp modSp mod">
        <pc:chgData name="Cross, Clay" userId="f346be3b-e1cb-4aec-811e-8a3f5d1dd33f" providerId="ADAL" clId="{5AB2DC96-CDCC-45B4-B053-2F2446580AF9}" dt="2026-09-16T14:10:13.935" v="20"/>
        <pc:sldMkLst>
          <pc:docMk/>
          <pc:sldMk cId="0" sldId="262"/>
        </pc:sldMkLst>
        <pc:spChg chg="add mod">
          <ac:chgData name="Cross, Clay" userId="f346be3b-e1cb-4aec-811e-8a3f5d1dd33f" providerId="ADAL" clId="{5AB2DC96-CDCC-45B4-B053-2F2446580AF9}" dt="2026-09-16T14:10:13.935" v="20"/>
          <ac:spMkLst>
            <pc:docMk/>
            <pc:sldMk cId="0" sldId="262"/>
            <ac:spMk id="2" creationId="{D7EC3C54-652C-9EC2-FAB0-E19765D5B90B}"/>
          </ac:spMkLst>
        </pc:spChg>
      </pc:sldChg>
      <pc:sldMasterChg chg="modSp mod modSldLayout">
        <pc:chgData name="Cross, Clay" userId="f346be3b-e1cb-4aec-811e-8a3f5d1dd33f" providerId="ADAL" clId="{5AB2DC96-CDCC-45B4-B053-2F2446580AF9}" dt="2026-10-12T16:58:37.748" v="29" actId="14100"/>
        <pc:sldMasterMkLst>
          <pc:docMk/>
          <pc:sldMasterMk cId="0" sldId="2147483648"/>
        </pc:sldMasterMkLst>
        <pc:sldLayoutChg chg="modSp mod">
          <pc:chgData name="Cross, Clay" userId="f346be3b-e1cb-4aec-811e-8a3f5d1dd33f" providerId="ADAL" clId="{5AB2DC96-CDCC-45B4-B053-2F2446580AF9}" dt="2026-10-12T16:58:06.482" v="24" actId="14100"/>
          <pc:sldLayoutMkLst>
            <pc:docMk/>
            <pc:sldMasterMk cId="0" sldId="2147483648"/>
            <pc:sldLayoutMk cId="0" sldId="2147483652"/>
          </pc:sldLayoutMkLst>
          <pc:spChg chg="mod">
            <ac:chgData name="Cross, Clay" userId="f346be3b-e1cb-4aec-811e-8a3f5d1dd33f" providerId="ADAL" clId="{5AB2DC96-CDCC-45B4-B053-2F2446580AF9}" dt="2026-10-12T16:57:55.345" v="22" actId="14100"/>
            <ac:spMkLst>
              <pc:docMk/>
              <pc:sldMasterMk cId="0" sldId="2147483648"/>
              <pc:sldLayoutMk cId="0" sldId="2147483652"/>
              <ac:spMk id="56" creationId="{00000000-0000-0000-0000-000000000000}"/>
            </ac:spMkLst>
          </pc:spChg>
          <pc:spChg chg="mod">
            <ac:chgData name="Cross, Clay" userId="f346be3b-e1cb-4aec-811e-8a3f5d1dd33f" providerId="ADAL" clId="{5AB2DC96-CDCC-45B4-B053-2F2446580AF9}" dt="2026-10-12T16:58:00.151" v="23" actId="14100"/>
            <ac:spMkLst>
              <pc:docMk/>
              <pc:sldMasterMk cId="0" sldId="2147483648"/>
              <pc:sldLayoutMk cId="0" sldId="2147483652"/>
              <ac:spMk id="57" creationId="{00000000-0000-0000-0000-000000000000}"/>
            </ac:spMkLst>
          </pc:spChg>
          <pc:spChg chg="mod">
            <ac:chgData name="Cross, Clay" userId="f346be3b-e1cb-4aec-811e-8a3f5d1dd33f" providerId="ADAL" clId="{5AB2DC96-CDCC-45B4-B053-2F2446580AF9}" dt="2026-10-12T16:58:06.482" v="24" actId="14100"/>
            <ac:spMkLst>
              <pc:docMk/>
              <pc:sldMasterMk cId="0" sldId="2147483648"/>
              <pc:sldLayoutMk cId="0" sldId="2147483652"/>
              <ac:spMk id="58" creationId="{00000000-0000-0000-0000-000000000000}"/>
            </ac:spMkLst>
          </pc:spChg>
        </pc:sldLayoutChg>
        <pc:sldLayoutChg chg="modSp mod">
          <pc:chgData name="Cross, Clay" userId="f346be3b-e1cb-4aec-811e-8a3f5d1dd33f" providerId="ADAL" clId="{5AB2DC96-CDCC-45B4-B053-2F2446580AF9}" dt="2026-10-12T16:58:37.748" v="29" actId="14100"/>
          <pc:sldLayoutMkLst>
            <pc:docMk/>
            <pc:sldMasterMk cId="0" sldId="2147483648"/>
            <pc:sldLayoutMk cId="0" sldId="2147483656"/>
          </pc:sldLayoutMkLst>
          <pc:spChg chg="mod">
            <ac:chgData name="Cross, Clay" userId="f346be3b-e1cb-4aec-811e-8a3f5d1dd33f" providerId="ADAL" clId="{5AB2DC96-CDCC-45B4-B053-2F2446580AF9}" dt="2026-10-12T16:58:32.543" v="27" actId="14100"/>
            <ac:spMkLst>
              <pc:docMk/>
              <pc:sldMasterMk cId="0" sldId="2147483648"/>
              <pc:sldLayoutMk cId="0" sldId="2147483656"/>
              <ac:spMk id="76" creationId="{00000000-0000-0000-0000-000000000000}"/>
            </ac:spMkLst>
          </pc:spChg>
          <pc:spChg chg="mod">
            <ac:chgData name="Cross, Clay" userId="f346be3b-e1cb-4aec-811e-8a3f5d1dd33f" providerId="ADAL" clId="{5AB2DC96-CDCC-45B4-B053-2F2446580AF9}" dt="2026-10-12T16:58:34.943" v="28" actId="14100"/>
            <ac:spMkLst>
              <pc:docMk/>
              <pc:sldMasterMk cId="0" sldId="2147483648"/>
              <pc:sldLayoutMk cId="0" sldId="2147483656"/>
              <ac:spMk id="77" creationId="{00000000-0000-0000-0000-000000000000}"/>
            </ac:spMkLst>
          </pc:spChg>
          <pc:spChg chg="mod">
            <ac:chgData name="Cross, Clay" userId="f346be3b-e1cb-4aec-811e-8a3f5d1dd33f" providerId="ADAL" clId="{5AB2DC96-CDCC-45B4-B053-2F2446580AF9}" dt="2026-10-12T16:58:37.748" v="29" actId="14100"/>
            <ac:spMkLst>
              <pc:docMk/>
              <pc:sldMasterMk cId="0" sldId="2147483648"/>
              <pc:sldLayoutMk cId="0" sldId="2147483656"/>
              <ac:spMk id="7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Offensive Tool Testing and Team Documentation — Content Guide</a:t>
            </a:r>
          </a:p>
          <a:p/>
          <a:p>
            <a:r>
              <a:t>**Source:** `../../overview.md`, `../../activities/L4.0b_C2_Tool_Evaluation_Peer_Handoff/`, `../../../../environments/effects_lab_env/vsphere/README.md`</a:t>
            </a:r>
          </a:p>
          <a:p>
            <a:r>
              <a:t>**Audience:** CPT operators who already built the exploitation range (Kali ops, one redirector, Windows target).</a:t>
            </a:r>
          </a:p>
          <a:p>
            <a:r>
              <a:t>**Duration:** Instructor-flexible lecture before peer tool-evaluation practice.</a:t>
            </a:r>
          </a:p>
          <a:p>
            <a:r>
              <a:t>**Prerequisites:** Threat-representative OE rehearsal; tactical planning + ATT&amp;CK bilingual fluency.</a:t>
            </a:r>
          </a:p>
          <a:p>
            <a:r>
              <a:t>**References:**</a:t>
            </a:r>
          </a:p>
          <a:p/>
          <a:p>
            <a:r>
              <a:t>- [`../B04.M24-threat-rep-mission-rehearsal/content-guide.md`](../B04.M24-threat-rep-mission-rehearsal/content-guide.md)</a:t>
            </a:r>
          </a:p>
          <a:p>
            <a:r>
              <a:t>- [`../B04.M05-c2-tool-evaluation-peer-handoff/student-brief.md`](../B04.M05-c2-tool-evaluation-peer-handoff/student-brief.md)</a:t>
            </a:r>
          </a:p>
          <a:p>
            <a:r>
              <a:t>- [`../../../../environments/effects_lab_env/vsphere/README.md`](../../../../environments/effects_lab_env/vsphere/README.md)</a:t>
            </a:r>
          </a:p>
          <a:p/>
          <a:p>
            <a:r>
              <a:t>---</a:t>
            </a:r>
          </a:p>
          <a:p/>
          <a:p>
            <a:r>
              <a:t>## Instructor resources and pre-class</a:t>
            </a:r>
          </a:p>
          <a:p/>
          <a:p>
            <a:r>
              <a:t>- Classroom projector and screen; whiteboard for the opening contract</a:t>
            </a:r>
          </a:p>
          <a:p>
            <a:r>
              <a:t>- Parent or sibling briefs listed in this Module folder</a:t>
            </a:r>
          </a:p>
          <a:p>
            <a:r>
              <a:t>- Live tabs and references already named in this file's header</a:t>
            </a:r>
          </a:p>
          <a:p>
            <a:r>
              <a:t>- Do not project flags, tokens, or answer-key values</a:t>
            </a:r>
          </a:p>
          <a:p/>
          <a:p>
            <a:r>
              <a:t>## Student resources</a:t>
            </a:r>
          </a:p>
          <a:p/>
          <a:p>
            <a:r>
              <a:t>- Student brief, student guide, or homework file in this Module folder when present</a:t>
            </a:r>
          </a:p>
          <a:p>
            <a:r>
              <a:t>- Assigned range, workstation, or lab stack named in the student-facing file</a:t>
            </a:r>
          </a:p>
          <a:p>
            <a:r>
              <a:t>- No extra kit beyond what the student-facing file already lists</a:t>
            </a:r>
          </a:p>
          <a:p/>
          <a:p>
            <a:r>
              <a:t>## Dual opening</a:t>
            </a:r>
          </a:p>
          <a:p/>
          <a:p>
            <a:r>
              <a:t>### Option 1 (Interactive / Whiteboard / Kinesthetic)</a:t>
            </a:r>
          </a:p>
          <a:p/>
          <a:p>
            <a:r>
              <a:t>- **Say:** "Today has three deliverables: judge whether a new tool is actually good for the mission, employ it on the exploitation range you already built — Kali ops, the redirector you chose, and the Windows target — and write it up well enough that someone else can run it without you. A peer later proves that last part using only what you wrote. Do not stand up a second harness."</a:t>
            </a:r>
          </a:p>
          <a:p>
            <a:r>
              <a:t>- **Do:** Put the lesson contract on the board. Keep products from the prerequisite Module available.</a:t>
            </a:r>
          </a:p>
          <a:p>
            <a:r>
              <a:t>- **Ask (Q):** Which of these three — evaluate, employ on the range you built, document — do you think your team is weakest at?</a:t>
            </a:r>
          </a:p>
          <a:p>
            <a:r>
              <a:t>- **Expected Response (A):** Facilitation. Use the Say/Do already on this row; do not force a single keyed answer.</a:t>
            </a:r>
          </a:p>
          <a:p/>
          <a:p>
            <a:r>
              <a:t>### Option 2 (Digital Slide / Virtual / Slide Deck)</a:t>
            </a:r>
          </a:p>
          <a:p/>
          <a:p>
            <a:r>
              <a:t>- **Say:** "Today has three deliverables: judge whether a new tool is actually good for the mission, employ it on the exploitation range you already built — Kali ops, the redirector you chose, and the Windows target — and write it up well enough that someone else can run it without you. A peer later proves that last part using only what you wrote. Do not stand up a second harness."</a:t>
            </a:r>
          </a:p>
          <a:p>
            <a:r>
              <a:t>- **Show:** The title slide and lesson objectives.</a:t>
            </a:r>
          </a:p>
          <a:p>
            <a:r>
              <a:t>- **Do:** Confirm stations can open the required tool or file before the first teaching row.</a:t>
            </a:r>
          </a:p>
          <a:p>
            <a:r>
              <a:t>- **Ask (Q):** Which of these three — evaluate, employ on the range you built, document — do you think your team is weakest at?</a:t>
            </a:r>
          </a:p>
          <a:p>
            <a:r>
              <a:t>- **Expected Response (A):** 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"Today has three deliverables: judge whether a new tool is actually good for the mission, employ it on the exploitation range you already built — Kali ops, the redirector you chose, and the Windows target — and write it up well enough that someone else can run it without you. A peer later proves that last part using only what you wrote. Do not stand up a second harness."</a:t>
            </a:r>
          </a:p>
          <a:p/>
          <a:p>
            <a:r>
              <a:t>Show:</a:t>
            </a:r>
          </a:p>
          <a:p>
            <a:r>
              <a:t>Point out that the test bed is the range already built, not a new cell.</a:t>
            </a:r>
          </a:p>
          <a:p/>
          <a:p>
            <a:r>
              <a:t>Do:</a:t>
            </a:r>
          </a:p>
          <a:p>
            <a:r>
              <a:t>Ask: "Which of these three — evaluate, employ on the range you built, document — do you think your team is weakest at?"</a:t>
            </a:r>
          </a:p>
          <a:p/>
          <a:p>
            <a:r>
              <a:t>Image Prompt:</a:t>
            </a:r>
          </a:p>
          <a:p>
            <a:r>
              <a:t>Three panels — Evaluate, Build Test Range, Document — feeding into a fourth panel labeled "Team-Ready Capability."</a:t>
            </a:r>
          </a:p>
          <a:p/>
          <a:p>
            <a:r>
              <a:t>Ask (Q):</a:t>
            </a:r>
          </a:p>
          <a:p>
            <a:r>
              <a:t>Which of these three — evaluate, employ on the range you built, document — do you think your team is weakest at?</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"Two failure modes here. First: if only you can run it, the team doesn't have it — swap, casualty, or shift change exposes every undocumented step. Second: testing once on your machine and writing it up as gospel is a trap. Run it against more than one config before you claim it works, and write down where it didn't. 'Worked on my box' is not evidence, it's a guess with confidence."</a:t>
            </a:r>
          </a:p>
          <a:p/>
          <a:p>
            <a:r>
              <a:t>Show:</a:t>
            </a:r>
          </a:p>
          <a:p>
            <a:r>
              <a:t>Point at the wall graphic, then the multi-OS panel.</a:t>
            </a:r>
          </a:p>
          <a:p/>
          <a:p>
            <a:r>
              <a:t>Do:</a:t>
            </a:r>
          </a:p>
          <a:p>
            <a:r>
              <a:t>Collect one quick story: "When has a tool broken because it only ran on one specific setup?"</a:t>
            </a:r>
          </a:p>
          <a:p/>
          <a:p>
            <a:r>
              <a:t>Image Prompt:</a:t>
            </a:r>
          </a:p>
          <a:p>
            <a:r>
              <a:t>One operator silhouette with a glowing laptop; three teammates blocked by a wall labeled "Undocumented"; a second panel showing the same tool succeeding on one laptop icon and failing on three others labeled with different OS icons.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"This isn't just about commercial C2 frameworks. Anything your team builds — a custom script, a one-off technique, a wrapper around someone else's tool — has zero public documentation by definition. And even for public tools, don't assume you'll have internet access to that vendor wiki mid-operation. If you know you'll need a reference, capture it on an internal system now, while you have access, in your own words."</a:t>
            </a:r>
          </a:p>
          <a:p/>
          <a:p>
            <a:r>
              <a:t>Show:</a:t>
            </a:r>
          </a:p>
          <a:p>
            <a:r>
              <a:t>Emphasize the greyed-out browser tab — that's the moment this slide is solving for.</a:t>
            </a:r>
          </a:p>
          <a:p/>
          <a:p>
            <a:r>
              <a:t>Do:</a:t>
            </a:r>
          </a:p>
          <a:p>
            <a:r>
              <a:t>Ask: "Name one tool or script your team uses today that only exists as 'ask so-and-so.'"</a:t>
            </a:r>
          </a:p>
          <a:p/>
          <a:p>
            <a:r>
              <a:t>Image Prompt:</a:t>
            </a:r>
          </a:p>
          <a:p>
            <a:r>
              <a:t>Split panel — left shows a laptop with a "help page" browser tab greyed out/unreachable; right shows the same information rewritten into an internal team wiki page.</a:t>
            </a:r>
          </a:p>
          <a:p/>
          <a:p>
            <a:r>
              <a:t>Ask (Q):</a:t>
            </a:r>
          </a:p>
          <a:p>
            <a:r>
              <a:t>Name one tool or script your team uses today that only exists as 'ask so-and-so.'</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"Score the tool against the mission, not the marketing page. A tool with great capabilities but a two-hour install and root-only operation may not be worth it. When you name the TTP it supports, pair the doctrinal intent — for example reconnoiter or later degrade — with the ATT&amp;CK technique you expect to exercise. We'll cover OPSEC footprint separately when we get to documentation — that's evidence you gather during testing, not a judgment call you make up front."</a:t>
            </a:r>
          </a:p>
          <a:p/>
          <a:p>
            <a:r>
              <a:t>Show:</a:t>
            </a:r>
          </a:p>
          <a:p>
            <a:r>
              <a:t>Walk one example tool through all four gauges in one sentence each.</a:t>
            </a:r>
          </a:p>
          <a:p/>
          <a:p>
            <a:r>
              <a:t>Do:</a:t>
            </a:r>
          </a:p>
          <a:p>
            <a:r>
              <a:t>Ask which of these four gets skipped most often under time pressure — expect "reliability" or "TTP fit."</a:t>
            </a:r>
          </a:p>
          <a:p/>
          <a:p>
            <a:r>
              <a:t>Image Prompt:</a:t>
            </a:r>
          </a:p>
          <a:p>
            <a:r>
              <a:t>Four labeled gauges — Capabilities, Burden, Reliability, TTP Fit — each with a plain-language caption underneath instead of just the label.</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"This half of the dossier answers 'what is this and can I get the same thing running.' Overview earns the reader's buy-in. Where you got it and the exact version matter because a tool that works on one release can break on the next. Install steps must be reproducible in order. And limitations need to be specific — 'runs on Windows' tells the next operator nothing useful; state the OS family, version, and architecture you actually tested."</a:t>
            </a:r>
          </a:p>
          <a:p/>
          <a:p>
            <a:r>
              <a:t>Show:</a:t>
            </a:r>
          </a:p>
          <a:p>
            <a:r>
              <a:t>Point at the crossed-out "Windows" callout as the example of the mistake to avoid.</a:t>
            </a:r>
          </a:p>
          <a:p/>
          <a:p>
            <a:r>
              <a:t>Do:</a:t>
            </a:r>
          </a:p>
          <a:p>
            <a:r>
              <a:t>Ask: "If your dossier just says 'Linux,' what question is your peer stuck asking you?"</a:t>
            </a:r>
          </a:p>
          <a:p/>
          <a:p>
            <a:r>
              <a:t>Image Prompt:</a:t>
            </a:r>
          </a:p>
          <a:p>
            <a:r>
              <a:t>Dossier page split into five labeled fields: Overview, Source, Version, Install/Deps, Limitations — with a callout on Limitations showing "Windows" crossed out and replaced with "Windows Server 2019, x64."</a:t>
            </a:r>
          </a:p>
          <a:p/>
          <a:p>
            <a:r>
              <a:t>Ask (Q):</a:t>
            </a:r>
          </a:p>
          <a:p>
            <a:r>
              <a:t>If your dossier just says 'Linux,' what question is your peer stuck asking you?</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"This half answers 'can I run it and do I know what it leaves behind.' Usage is the happy-path operator workflow — concrete verbs, not vibes. Footprint and artifacts are the OPSEC read: what would a defender see — files on disk, logs from install or use, network traffic signatures. Validation proves it worked. Teardown returns the environment to a known state — leftover listeners are exactly the mess this whole process exists to prevent."</a:t>
            </a:r>
          </a:p>
          <a:p/>
          <a:p>
            <a:r>
              <a:t>Show:</a:t>
            </a:r>
          </a:p>
          <a:p>
            <a:r>
              <a:t>Tell them the lab rubric grades both halves of this standard, especially whether a peer succeeds from the dossier alone.</a:t>
            </a:r>
          </a:p>
          <a:p/>
          <a:p>
            <a:r>
              <a:t>Do:</a:t>
            </a:r>
          </a:p>
          <a:p>
            <a:r>
              <a:t>Ask which section students are most tempted to shortchange — usually footprint or limitations. Demand honesty.</a:t>
            </a:r>
          </a:p>
          <a:p/>
          <a:p>
            <a:r>
              <a:t>Image Prompt:</a:t>
            </a:r>
          </a:p>
          <a:p>
            <a:r>
              <a:t>Continuation of the dossier page — second half with fields: Usage, Footprint/Artifacts, Validation, Teardown — a small magnifying glass icon over Footprint/Artifacts.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"In the lab you will swap. The reviewer does not get a walkthrough from you. If they cannot install and complete a minimal validation task from your writing, your documentation failed — even if you personally know the tool cold."</a:t>
            </a:r>
          </a:p>
          <a:p/>
          <a:p>
            <a:r>
              <a:t>Show:</a:t>
            </a:r>
          </a:p>
          <a:p>
            <a:r>
              <a:t>Emphasize sealed-dossier constraint.</a:t>
            </a:r>
          </a:p>
          <a:p/>
          <a:p>
            <a:r>
              <a:t>Do:</a:t>
            </a:r>
          </a:p>
          <a:p>
            <a:r>
              <a:t>Set expectation: no coaching during the peer execute window.</a:t>
            </a:r>
          </a:p>
          <a:p/>
          <a:p>
            <a:r>
              <a:t>Image Prompt:</a:t>
            </a:r>
          </a:p>
          <a:p>
            <a:r>
              <a:t>Two desks — Author hands a sealed dossier folder to Reviewer; Reviewer has no author chat bubble, only the folder and an installer path.</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are still on the shared cluster, on the cell you already built. Put the teamserver on the Kali ops host. Put the beacon on the Windows target and make the callback traverse the redirector. Power down unused VMs if you need headroom. Do not scan classmates. Do not stand up a second server-and-target pair. Do not assume internet for installers. Teardown is part of the test — leftover listeners are a self-inflicted failure you'll answer for in the hotwash."</a:t>
            </a:r>
          </a:p>
          <a:p/>
          <a:p>
            <a:r>
              <a:t>Show:</a:t>
            </a:r>
          </a:p>
          <a:p>
            <a:r>
              <a:t>Tie RAM discipline back to OE rehearsal.</a:t>
            </a:r>
          </a:p>
          <a:p/>
          <a:p>
            <a:r>
              <a:t>Do:</a:t>
            </a:r>
          </a:p>
          <a:p>
            <a:r>
              <a:t>Confirm students know which VMs they will power off before tool install.</a:t>
            </a:r>
          </a:p>
          <a:p/>
          <a:p>
            <a:r>
              <a:t>Image Prompt:</a:t>
            </a:r>
          </a:p>
          <a:p>
            <a:r>
              <a:t>Checklist clipboard: Local Media, Scoped Targets, Snapshot, Teardown, RAM Cap — all checked.</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"We are not teaching a particular C2 product in this lecture. In the lab you will pick one approved framework, install it on the exploitation range you already built, document that employment, then prove the docs with a peer who uses their own cell. Stay in your address block and RAM budget."</a:t>
            </a:r>
          </a:p>
          <a:p/>
          <a:p>
            <a:r>
              <a:t>Show:</a:t>
            </a:r>
          </a:p>
          <a:p>
            <a:r>
              <a:t>Hand out the peer-evaluation brief and shortlist / selection rules.</a:t>
            </a:r>
          </a:p>
          <a:p/>
          <a:p>
            <a:r>
              <a:t>Do:</a:t>
            </a:r>
          </a:p>
          <a:p>
            <a:r>
              <a:t>Break, then start peer evaluation.</a:t>
            </a:r>
          </a:p>
          <a:p/>
          <a:p>
            <a:r>
              <a:t>Image Prompt:</a:t>
            </a:r>
          </a:p>
          <a:p>
            <a:r>
              <a:t>Doorway labeled Peer Evaluate with icons for Dossier, Swap, Peer Execute, Hotwash.</a:t>
            </a:r>
          </a:p>
          <a:p/>
          <a:p>
            <a:r>
              <a:t>Ask (Q):</a:t>
            </a:r>
          </a:p>
          <a:p>
            <a:r>
              <a:t>What is the operational takeaway from this row?</a:t>
            </a:r>
          </a:p>
          <a:p>
            <a:r>
              <a:t>Which of these three — evaluate, employ on the range you built, document — do you think your team is weakest at?</a:t>
            </a:r>
          </a:p>
          <a:p>
            <a:r>
              <a:t>What is the operational takeaway from this row?</a:t>
            </a:r>
          </a:p>
          <a:p>
            <a:r>
              <a:t>Name one tool or script your team uses today that only exists as 'ask so-and-so.'</a:t>
            </a:r>
          </a:p>
          <a:p/>
          <a:p>
            <a:r>
              <a:t>Expected Response (A):</a:t>
            </a:r>
          </a:p>
          <a:p>
            <a:r>
              <a:t>Facilitation. Restate the Say/Do in operator terms. Do not invent a new teaching point.</a:t>
            </a:r>
          </a:p>
          <a:p>
            <a:r>
              <a:t>## Lesson summary</a:t>
            </a:r>
          </a:p>
          <a:p>
            <a:r>
              <a:t>B04.M04-offensive-tool-testing is executed as a generated lesson plan from this file.</a:t>
            </a:r>
          </a:p>
          <a:p>
            <a:r>
              <a:t>Assessment methods live on module.yaml; do not invent extra official ELOs.</a:t>
            </a:r>
          </a:p>
          <a:p>
            <a:r>
              <a:t>Later practice in this Block continues from the product this session collects.</a:t>
            </a:r>
          </a:p>
          <a:p>
            <a:r>
              <a:t>## Questions and check on learning</a:t>
            </a:r>
          </a:p>
          <a:p>
            <a:r>
              <a:t>Facilitation. Use the Say/Do already on this row; do not force a single keyed answer.</a:t>
            </a:r>
          </a:p>
          <a:p>
            <a:r>
              <a:t>Facilitation. Restate the Say/Do in operator terms. Do not invent a new teaching point.</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
        <p:cNvGrpSpPr/>
        <p:nvPr/>
      </p:nvGrpSpPr>
      <p:grpSpPr>
        <a:xfrm>
          <a:off x="0" y="0"/>
          <a:ext cx="0" cy="0"/>
          <a:chOff x="0" y="0"/>
          <a:chExt cx="0" cy="0"/>
        </a:xfrm>
      </p:grpSpPr>
      <p:sp>
        <p:nvSpPr>
          <p:cNvPr id="46" name="Google Shape;46;p79"/>
          <p:cNvSpPr txBox="1">
            <a:spLocks noGrp="1"/>
          </p:cNvSpPr>
          <p:nvPr>
            <p:ph type="ctrTitle"/>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89"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9" name="Google Shape;49;p8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0" name="Google Shape;50;p8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1" name="Google Shape;51;p80"/>
          <p:cNvSpPr txBox="1">
            <a:spLocks noGrp="1"/>
          </p:cNvSpPr>
          <p:nvPr>
            <p:ph type="title"/>
          </p:nvPr>
        </p:nvSpPr>
        <p:spPr>
          <a:xfrm>
            <a:off x="1510029" y="437317"/>
            <a:ext cx="10681971"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0"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8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4" name="Google Shape;54;p8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Arial"/>
                <a:ea typeface="Arial"/>
                <a:cs typeface="Arial"/>
                <a:sym typeface="Arial"/>
              </a:defRPr>
            </a:lvl1pPr>
            <a:lvl2pPr marL="914400" marR="0" lvl="1" indent="-228600"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9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83"/>
          <p:cNvSpPr txBox="1">
            <a:spLocks noGrp="1"/>
          </p:cNvSpPr>
          <p:nvPr>
            <p:ph type="title"/>
          </p:nvPr>
        </p:nvSpPr>
        <p:spPr>
          <a:xfrm>
            <a:off x="1363362" y="952052"/>
            <a:ext cx="10142837" cy="622748"/>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7" name="Google Shape;57;p83"/>
          <p:cNvSpPr txBox="1">
            <a:spLocks noGrp="1"/>
          </p:cNvSpPr>
          <p:nvPr>
            <p:ph type="body" idx="1"/>
          </p:nvPr>
        </p:nvSpPr>
        <p:spPr>
          <a:xfrm>
            <a:off x="4720611" y="1574799"/>
            <a:ext cx="7091600" cy="4781253"/>
          </a:xfrm>
          <a:prstGeom prst="rect">
            <a:avLst/>
          </a:prstGeom>
          <a:noFill/>
          <a:ln>
            <a:noFill/>
          </a:ln>
        </p:spPr>
        <p:txBody>
          <a:bodyPr spcFirstLastPara="1" wrap="square" lIns="91425" tIns="91425" rIns="91425" bIns="91425" anchor="t" anchorCtr="0">
            <a:noAutofit/>
          </a:bodyPr>
          <a:lstStyle>
            <a:lvl1pPr marL="457200" marR="0" lvl="0" indent="-342900"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a:ea typeface="Arial"/>
                <a:cs typeface="Arial"/>
                <a:sym typeface="Arial"/>
              </a:defRPr>
            </a:lvl1pPr>
            <a:lvl2pPr marL="914400" marR="0" lvl="1" indent="-330200"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2pPr>
            <a:lvl3pPr marL="1371600" marR="0" lvl="2" indent="-317500"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a:ea typeface="Arial"/>
                <a:cs typeface="Arial"/>
                <a:sym typeface="Arial"/>
              </a:defRPr>
            </a:lvl3pPr>
            <a:lvl4pPr marL="1828800" marR="0" lvl="3"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4pPr>
            <a:lvl5pPr marL="2286000" marR="0" lvl="4"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5pPr>
            <a:lvl6pPr marL="2743200" marR="0" lvl="5"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6pPr>
            <a:lvl7pPr marL="3200400" marR="0" lvl="6"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7pPr>
            <a:lvl8pPr marL="3657600" marR="0" lvl="7"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8pPr>
            <a:lvl9pPr marL="4114800" marR="0" lvl="8"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9pPr>
          </a:lstStyle>
          <a:p>
            <a:endParaRPr dirty="0"/>
          </a:p>
        </p:txBody>
      </p:sp>
      <p:sp>
        <p:nvSpPr>
          <p:cNvPr id="58" name="Google Shape;58;p83"/>
          <p:cNvSpPr txBox="1">
            <a:spLocks noGrp="1"/>
          </p:cNvSpPr>
          <p:nvPr>
            <p:ph type="body" idx="2"/>
          </p:nvPr>
        </p:nvSpPr>
        <p:spPr>
          <a:xfrm>
            <a:off x="1363363" y="1582599"/>
            <a:ext cx="3098248" cy="4781253"/>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800"/>
              </a:spcBef>
              <a:spcAft>
                <a:spcPts val="0"/>
              </a:spcAft>
              <a:buClr>
                <a:schemeClr val="dk1"/>
              </a:buClr>
              <a:buSzPts val="1600"/>
              <a:buFont typeface="Arial" panose="020B0604020202020204" pitchFamily="34" charset="0"/>
              <a:buChar char="•"/>
              <a:defRPr sz="1867" b="0"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endParaRPr dirty="0"/>
          </a:p>
        </p:txBody>
      </p:sp>
      <p:sp>
        <p:nvSpPr>
          <p:cNvPr id="92"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93"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61"/>
        <p:cNvGrpSpPr/>
        <p:nvPr/>
      </p:nvGrpSpPr>
      <p:grpSpPr>
        <a:xfrm>
          <a:off x="0" y="0"/>
          <a:ext cx="0" cy="0"/>
          <a:chOff x="0" y="0"/>
          <a:chExt cx="0" cy="0"/>
        </a:xfrm>
      </p:grpSpPr>
      <p:sp>
        <p:nvSpPr>
          <p:cNvPr id="62" name="Google Shape;62;p85"/>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3" name="Google Shape;63;p85"/>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4" name="Google Shape;64;p85"/>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5" name="Google Shape;65;p85"/>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4"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86"/>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dirty="0"/>
          </a:p>
        </p:txBody>
      </p:sp>
      <p:sp>
        <p:nvSpPr>
          <p:cNvPr id="68" name="Google Shape;68;p86"/>
          <p:cNvSpPr txBox="1">
            <a:spLocks noGrp="1"/>
          </p:cNvSpPr>
          <p:nvPr>
            <p:ph type="body" idx="2"/>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sp>
        <p:nvSpPr>
          <p:cNvPr id="69" name="Google Shape;69;p86"/>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0" name="Google Shape;70;p86"/>
          <p:cNvSpPr txBox="1">
            <a:spLocks noGrp="1"/>
          </p:cNvSpPr>
          <p:nvPr>
            <p:ph type="body" idx="4"/>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cxnSp>
        <p:nvCxnSpPr>
          <p:cNvPr id="71" name="Google Shape;71;p86"/>
          <p:cNvCxnSpPr/>
          <p:nvPr/>
        </p:nvCxnSpPr>
        <p:spPr>
          <a:xfrm>
            <a:off x="1141622" y="974035"/>
            <a:ext cx="10830241" cy="0"/>
          </a:xfrm>
          <a:prstGeom prst="straightConnector1">
            <a:avLst/>
          </a:prstGeom>
          <a:noFill/>
          <a:ln w="9525" cap="flat" cmpd="sng">
            <a:solidFill>
              <a:srgbClr val="BFBFBF"/>
            </a:solidFill>
            <a:prstDash val="solid"/>
            <a:miter lim="0"/>
            <a:headEnd type="none" w="sm" len="sm"/>
            <a:tailEnd type="none" w="sm" len="sm"/>
          </a:ln>
        </p:spPr>
      </p:cxnSp>
      <p:cxnSp>
        <p:nvCxnSpPr>
          <p:cNvPr id="72" name="Google Shape;72;p86"/>
          <p:cNvCxnSpPr/>
          <p:nvPr/>
        </p:nvCxnSpPr>
        <p:spPr>
          <a:xfrm>
            <a:off x="6095137" y="974035"/>
            <a:ext cx="800" cy="5382400"/>
          </a:xfrm>
          <a:prstGeom prst="straightConnector1">
            <a:avLst/>
          </a:prstGeom>
          <a:noFill/>
          <a:ln w="9525" cap="flat" cmpd="sng">
            <a:solidFill>
              <a:srgbClr val="BFBFBF"/>
            </a:solidFill>
            <a:prstDash val="solid"/>
            <a:miter lim="0"/>
            <a:headEnd type="none" w="sm" len="sm"/>
            <a:tailEnd type="none" w="sm" len="sm"/>
          </a:ln>
        </p:spPr>
      </p:cxnSp>
      <p:cxnSp>
        <p:nvCxnSpPr>
          <p:cNvPr id="73" name="Google Shape;73;p86"/>
          <p:cNvCxnSpPr/>
          <p:nvPr/>
        </p:nvCxnSpPr>
        <p:spPr>
          <a:xfrm>
            <a:off x="1141621" y="1504121"/>
            <a:ext cx="10830240" cy="0"/>
          </a:xfrm>
          <a:prstGeom prst="straightConnector1">
            <a:avLst/>
          </a:prstGeom>
          <a:noFill/>
          <a:ln w="9525" cap="flat" cmpd="sng">
            <a:solidFill>
              <a:srgbClr val="BFBFBF"/>
            </a:solidFill>
            <a:prstDash val="solid"/>
            <a:miter lim="0"/>
            <a:headEnd type="none" w="sm" len="sm"/>
            <a:tailEnd type="none" w="sm" len="sm"/>
          </a:ln>
        </p:spPr>
      </p:cxnSp>
      <p:sp>
        <p:nvSpPr>
          <p:cNvPr id="74" name="Google Shape;74;p86"/>
          <p:cNvSpPr txBox="1">
            <a:spLocks noGrp="1"/>
          </p:cNvSpPr>
          <p:nvPr>
            <p:ph type="title"/>
          </p:nvPr>
        </p:nvSpPr>
        <p:spPr>
          <a:xfrm>
            <a:off x="1141621" y="326173"/>
            <a:ext cx="10656656"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5"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87"/>
          <p:cNvSpPr txBox="1">
            <a:spLocks noGrp="1"/>
          </p:cNvSpPr>
          <p:nvPr>
            <p:ph type="title"/>
          </p:nvPr>
        </p:nvSpPr>
        <p:spPr>
          <a:xfrm>
            <a:off x="1301577" y="458775"/>
            <a:ext cx="10467243" cy="684225"/>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77" name="Google Shape;77;p87"/>
          <p:cNvSpPr>
            <a:spLocks noGrp="1"/>
          </p:cNvSpPr>
          <p:nvPr>
            <p:ph type="pic" idx="2"/>
          </p:nvPr>
        </p:nvSpPr>
        <p:spPr>
          <a:xfrm>
            <a:off x="4666821" y="1142999"/>
            <a:ext cx="7102000" cy="5256025"/>
          </a:xfrm>
          <a:prstGeom prst="rect">
            <a:avLst/>
          </a:prstGeom>
          <a:noFill/>
          <a:ln>
            <a:noFill/>
          </a:ln>
        </p:spPr>
        <p:txBody>
          <a:bodyPr/>
          <a:lstStyle/>
          <a:p>
            <a:endParaRPr/>
          </a:p>
        </p:txBody>
      </p:sp>
      <p:sp>
        <p:nvSpPr>
          <p:cNvPr id="78" name="Google Shape;78;p87"/>
          <p:cNvSpPr txBox="1">
            <a:spLocks noGrp="1"/>
          </p:cNvSpPr>
          <p:nvPr>
            <p:ph type="body" idx="1"/>
          </p:nvPr>
        </p:nvSpPr>
        <p:spPr>
          <a:xfrm>
            <a:off x="1301578" y="1142999"/>
            <a:ext cx="3061420" cy="5256226"/>
          </a:xfrm>
          <a:prstGeom prst="rect">
            <a:avLst/>
          </a:prstGeom>
          <a:noFill/>
          <a:ln>
            <a:noFill/>
          </a:ln>
        </p:spPr>
        <p:txBody>
          <a:bodyPr spcFirstLastPara="1" wrap="square" lIns="91425" tIns="91425" rIns="91425" bIns="91425" anchor="t" anchorCtr="0">
            <a:noAutofit/>
          </a:bodyPr>
          <a:lstStyle>
            <a:lvl1pPr marL="457200" lvl="0" indent="-330200" algn="l">
              <a:lnSpc>
                <a:spcPct val="90000"/>
              </a:lnSpc>
              <a:spcBef>
                <a:spcPts val="600"/>
              </a:spcBef>
              <a:spcAft>
                <a:spcPts val="0"/>
              </a:spcAft>
              <a:buSzPts val="1600"/>
              <a:buChar char="•"/>
              <a:defRPr sz="1867">
                <a:solidFill>
                  <a:srgbClr val="00004C"/>
                </a:solidFill>
                <a:latin typeface="Arial"/>
                <a:ea typeface="Arial"/>
                <a:cs typeface="Arial"/>
                <a:sym typeface="Arial"/>
              </a:defRPr>
            </a:lvl1pPr>
            <a:lvl2pPr marL="914400" lvl="1" indent="-317500" algn="l">
              <a:lnSpc>
                <a:spcPct val="90000"/>
              </a:lnSpc>
              <a:spcBef>
                <a:spcPts val="300"/>
              </a:spcBef>
              <a:spcAft>
                <a:spcPts val="0"/>
              </a:spcAft>
              <a:buSzPts val="1400"/>
              <a:buChar char="•"/>
              <a:defRPr/>
            </a:lvl2pPr>
            <a:lvl3pPr marL="1371600" lvl="2" indent="-298450" algn="l">
              <a:lnSpc>
                <a:spcPct val="90000"/>
              </a:lnSpc>
              <a:spcBef>
                <a:spcPts val="300"/>
              </a:spcBef>
              <a:spcAft>
                <a:spcPts val="0"/>
              </a:spcAft>
              <a:buSzPts val="1100"/>
              <a:buChar char="•"/>
              <a:defRPr/>
            </a:lvl3pPr>
            <a:lvl4pPr marL="1828800" lvl="3" indent="-292100" algn="l">
              <a:lnSpc>
                <a:spcPct val="90000"/>
              </a:lnSpc>
              <a:spcBef>
                <a:spcPts val="300"/>
              </a:spcBef>
              <a:spcAft>
                <a:spcPts val="0"/>
              </a:spcAft>
              <a:buSzPts val="1000"/>
              <a:buChar char="•"/>
              <a:defRPr/>
            </a:lvl4pPr>
            <a:lvl5pPr marL="2286000" lvl="4" indent="-292100" algn="l">
              <a:lnSpc>
                <a:spcPct val="90000"/>
              </a:lnSpc>
              <a:spcBef>
                <a:spcPts val="300"/>
              </a:spcBef>
              <a:spcAft>
                <a:spcPts val="0"/>
              </a:spcAft>
              <a:buSzPts val="1000"/>
              <a:buChar char="•"/>
              <a:defRPr/>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96"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79"/>
        <p:cNvGrpSpPr/>
        <p:nvPr/>
      </p:nvGrpSpPr>
      <p:grpSpPr>
        <a:xfrm>
          <a:off x="0" y="0"/>
          <a:ext cx="0" cy="0"/>
          <a:chOff x="0" y="0"/>
          <a:chExt cx="0" cy="0"/>
        </a:xfrm>
      </p:grpSpPr>
      <p:sp>
        <p:nvSpPr>
          <p:cNvPr id="80" name="Google Shape;80;p88"/>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cSld name="Master Use">
    <p:spTree>
      <p:nvGrpSpPr>
        <p:cNvPr id="1" name="Shape 82"/>
        <p:cNvGrpSpPr/>
        <p:nvPr/>
      </p:nvGrpSpPr>
      <p:grpSpPr>
        <a:xfrm>
          <a:off x="0" y="0"/>
          <a:ext cx="0" cy="0"/>
          <a:chOff x="0" y="0"/>
          <a:chExt cx="0" cy="0"/>
        </a:xfrm>
      </p:grpSpPr>
      <p:sp>
        <p:nvSpPr>
          <p:cNvPr id="83" name="Google Shape;83;p89"/>
          <p:cNvSpPr txBox="1">
            <a:spLocks noGrp="1"/>
          </p:cNvSpPr>
          <p:nvPr>
            <p:ph type="title"/>
          </p:nvPr>
        </p:nvSpPr>
        <p:spPr>
          <a:xfrm>
            <a:off x="1278542" y="429225"/>
            <a:ext cx="10898083"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7"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3">
    <p:spTree>
      <p:nvGrpSpPr>
        <p:cNvPr id="1" name="Shape 84"/>
        <p:cNvGrpSpPr/>
        <p:nvPr/>
      </p:nvGrpSpPr>
      <p:grpSpPr>
        <a:xfrm>
          <a:off x="0" y="0"/>
          <a:ext cx="0" cy="0"/>
          <a:chOff x="0" y="0"/>
          <a:chExt cx="0" cy="0"/>
        </a:xfrm>
      </p:grpSpPr>
      <p:sp>
        <p:nvSpPr>
          <p:cNvPr id="85" name="Google Shape;85;p9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6" name="Google Shape;86;p9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7" name="Google Shape;87;p9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8" name="Google Shape;88;p90"/>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8"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p:nvPr/>
        </p:nvSpPr>
        <p:spPr>
          <a:xfrm>
            <a:off x="-1" y="-20168"/>
            <a:ext cx="12192000" cy="263700"/>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11;p78"/>
          <p:cNvSpPr/>
          <p:nvPr/>
        </p:nvSpPr>
        <p:spPr>
          <a:xfrm>
            <a:off x="1" y="243443"/>
            <a:ext cx="1128108" cy="661455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2" name="Google Shape;12;p78"/>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78"/>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8"/>
          <p:cNvSpPr/>
          <p:nvPr/>
        </p:nvSpPr>
        <p:spPr>
          <a:xfrm>
            <a:off x="-2" y="6594389"/>
            <a:ext cx="12191999" cy="263611"/>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grpSp>
        <p:nvGrpSpPr>
          <p:cNvPr id="16" name="Google Shape;16;p78"/>
          <p:cNvGrpSpPr/>
          <p:nvPr/>
        </p:nvGrpSpPr>
        <p:grpSpPr>
          <a:xfrm>
            <a:off x="254537" y="37012"/>
            <a:ext cx="4123292" cy="140365"/>
            <a:chOff x="5526083" y="4992009"/>
            <a:chExt cx="3092469" cy="105274"/>
          </a:xfrm>
        </p:grpSpPr>
        <p:sp>
          <p:nvSpPr>
            <p:cNvPr id="17" name="Google Shape;17;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 name="Google Shape;18;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 name="Google Shape;19;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0" name="Google Shape;20;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 name="Google Shape;23;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 name="Google Shape;24;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 name="Google Shape;27;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8" name="Google Shape;28;p78"/>
          <p:cNvSpPr txBox="1"/>
          <p:nvPr/>
        </p:nvSpPr>
        <p:spPr>
          <a:xfrm flipH="1">
            <a:off x="1043632" y="6366806"/>
            <a:ext cx="4211863" cy="221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sp>
        <p:nvSpPr>
          <p:cNvPr id="29" name="Google Shape;29;p78"/>
          <p:cNvSpPr txBox="1"/>
          <p:nvPr/>
        </p:nvSpPr>
        <p:spPr>
          <a:xfrm>
            <a:off x="5482963" y="207088"/>
            <a:ext cx="6767512" cy="21210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pic>
        <p:nvPicPr>
          <p:cNvPr id="30" name="Google Shape;30;p78"/>
          <p:cNvPicPr preferRelativeResize="0"/>
          <p:nvPr/>
        </p:nvPicPr>
        <p:blipFill rotWithShape="1">
          <a:blip r:embed="rId13">
            <a:alphaModFix/>
          </a:blip>
          <a:srcRect/>
          <a:stretch/>
        </p:blipFill>
        <p:spPr>
          <a:xfrm rot="-5400000">
            <a:off x="-2150855" y="3445521"/>
            <a:ext cx="5429815" cy="991170"/>
          </a:xfrm>
          <a:prstGeom prst="rect">
            <a:avLst/>
          </a:prstGeom>
          <a:noFill/>
          <a:ln>
            <a:noFill/>
          </a:ln>
        </p:spPr>
      </p:pic>
      <p:grpSp>
        <p:nvGrpSpPr>
          <p:cNvPr id="31" name="Google Shape;31;p78"/>
          <p:cNvGrpSpPr/>
          <p:nvPr/>
        </p:nvGrpSpPr>
        <p:grpSpPr>
          <a:xfrm>
            <a:off x="7996753" y="6659805"/>
            <a:ext cx="4123292" cy="140365"/>
            <a:chOff x="5526083" y="4992009"/>
            <a:chExt cx="3092469" cy="105274"/>
          </a:xfrm>
        </p:grpSpPr>
        <p:sp>
          <p:nvSpPr>
            <p:cNvPr id="32" name="Google Shape;32;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3" name="Google Shape;33;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4" name="Google Shape;34;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5" name="Google Shape;35;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6" name="Google Shape;36;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7" name="Google Shape;37;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8" name="Google Shape;38;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9" name="Google Shape;39;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0" name="Google Shape;40;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1" name="Google Shape;41;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2" name="Google Shape;42;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pic>
        <p:nvPicPr>
          <p:cNvPr id="43" name="Google Shape;43;p78" title="ACTEC_Logo_v2_Circle.png"/>
          <p:cNvPicPr preferRelativeResize="0"/>
          <p:nvPr/>
        </p:nvPicPr>
        <p:blipFill>
          <a:blip r:embed="rId14">
            <a:alphaModFix/>
          </a:blip>
          <a:stretch>
            <a:fillRect/>
          </a:stretch>
        </p:blipFill>
        <p:spPr>
          <a:xfrm>
            <a:off x="-118447" y="193555"/>
            <a:ext cx="1307427" cy="1010281"/>
          </a:xfrm>
          <a:prstGeom prst="rect">
            <a:avLst/>
          </a:prstGeom>
          <a:noFill/>
          <a:ln>
            <a:noFill/>
          </a:ln>
        </p:spPr>
      </p:pic>
      <p:pic>
        <p:nvPicPr>
          <p:cNvPr id="44" name="Google Shape;44;p78"/>
          <p:cNvPicPr preferRelativeResize="0"/>
          <p:nvPr/>
        </p:nvPicPr>
        <p:blipFill rotWithShape="1">
          <a:blip r:embed="rId15">
            <a:alphaModFix/>
          </a:blip>
          <a:srcRect/>
          <a:stretch/>
        </p:blipFill>
        <p:spPr>
          <a:xfrm>
            <a:off x="70930" y="1270922"/>
            <a:ext cx="928675" cy="9286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pPr/>
            <a:r>
              <a:rPr sz="4400"/>
              <a:t>Offensive Tool Testing and Team Documentation</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Objectives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Evaluate an unfamiliar offensive tool before it reaches mission use</a:t>
            </a:r>
          </a:p>
          <a:p>
            <a:pPr/>
            <a:r>
              <a:rPr sz="1800"/>
              <a:t>Employ it on the exploitation range you already built (Kali ops, chosen redirector, Windows)</a:t>
            </a:r>
          </a:p>
          <a:p>
            <a:pPr/>
            <a:r>
              <a:rPr sz="1800"/>
              <a:t>Produce documentation detailed enough for another operator to use</a:t>
            </a:r>
          </a:p>
        </p:txBody>
      </p:sp>
      <p:pic>
        <p:nvPicPr>
          <p:cNvPr id="5" name="Picture 4" descr="372eac9a1be58749ef18069b9fdc786ef226df09b998879d7687aee7e129f2aa.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Documentation Pitfalls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One person knowing how to run the tool is not a team capability</a:t>
            </a:r>
          </a:p>
          <a:p>
            <a:pPr/>
            <a:r>
              <a:rPr sz="1800"/>
              <a:t>Testing in only one environment hides real constraints</a:t>
            </a:r>
          </a:p>
          <a:p>
            <a:pPr/>
            <a:r>
              <a:rPr sz="1800"/>
              <a:t>"It worked on my box" is not documentation</a:t>
            </a:r>
          </a:p>
          <a:p>
            <a:pPr/>
            <a:r>
              <a:rPr sz="1800"/>
              <a:t>Mission timing will not allow rediscovery later</a:t>
            </a:r>
          </a:p>
        </p:txBody>
      </p:sp>
      <p:pic>
        <p:nvPicPr>
          <p:cNvPr id="5" name="Picture 4" descr="147d255e12bc1be1ae72f10ba4ebc6ed044e26a02ee8bd42fe34d5326066c5d0.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Self-Made Documentation — Why Do We Need It?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Custom tools, scripts, and one-off methods often have no existing guide</a:t>
            </a:r>
          </a:p>
          <a:p>
            <a:pPr/>
            <a:r>
              <a:rPr sz="1800"/>
              <a:t>You will not always be there when the team needs it next</a:t>
            </a:r>
          </a:p>
          <a:p>
            <a:pPr/>
            <a:r>
              <a:rPr sz="1800"/>
              <a:t>Open-source references you rely on may be unreachable during an operation</a:t>
            </a:r>
          </a:p>
          <a:p>
            <a:pPr/>
            <a:r>
              <a:rPr sz="1800"/>
              <a:t>Replicate the reference material you'll need onto internal/offline systems now</a:t>
            </a:r>
          </a:p>
        </p:txBody>
      </p:sp>
      <p:pic>
        <p:nvPicPr>
          <p:cNvPr id="5" name="Picture 4" descr="651e4b8792fac9aef35ed1c899692d79dd0b27bc17e70ae3dc595024b23f670f.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What to Evaluate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Capabilities — what jobs does it actually do</a:t>
            </a:r>
          </a:p>
          <a:p>
            <a:pPr/>
            <a:r>
              <a:rPr sz="1800"/>
              <a:t>Install / ops burden — time, dependencies, privileges required</a:t>
            </a:r>
          </a:p>
          <a:p>
            <a:pPr/>
            <a:r>
              <a:rPr sz="1800"/>
              <a:t>Reliability — what breaks under normal use</a:t>
            </a:r>
          </a:p>
          <a:p>
            <a:pPr/>
            <a:r>
              <a:rPr sz="1800"/>
              <a:t>Fit to planned TTPs — map to </a:t>
            </a:r>
            <a:r>
              <a:rPr b="1" sz="1800"/>
              <a:t>ATT&amp;CK</a:t>
            </a:r>
            <a:r>
              <a:rPr sz="1800"/>
              <a:t>; pair with doctrine intent</a:t>
            </a:r>
          </a:p>
        </p:txBody>
      </p:sp>
      <p:pic>
        <p:nvPicPr>
          <p:cNvPr id="5" name="Picture 4" descr="13c8b6c736f3d8b67968838d644c029e4e32bd91b0bc2cbb11117675805e819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Documentation Standard — Identity &amp; Setup</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Overview — what it is and why the team would choose it</a:t>
            </a:r>
          </a:p>
          <a:p>
            <a:pPr/>
            <a:r>
              <a:rPr sz="1800"/>
              <a:t>Where to get it — source and staged package path</a:t>
            </a:r>
          </a:p>
          <a:p>
            <a:pPr/>
            <a:r>
              <a:rPr sz="1800"/>
              <a:t>Exact version tested — pin it, don't assume "latest"</a:t>
            </a:r>
          </a:p>
          <a:p>
            <a:pPr/>
            <a:r>
              <a:rPr sz="1800"/>
              <a:t>Install steps and dependencies — in order, reproducible</a:t>
            </a:r>
          </a:p>
          <a:p>
            <a:pPr/>
            <a:r>
              <a:rPr sz="1800"/>
              <a:t>Limitations — be OS/version granular, not just "Windows" or "Linux"</a:t>
            </a:r>
          </a:p>
        </p:txBody>
      </p:sp>
      <p:pic>
        <p:nvPicPr>
          <p:cNvPr id="5" name="Picture 4" descr="76a84f6818adbe288f67c62ef5d0281a9d63b13d18a3b9352c33734dfb23651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Documentation Standard — Usage, Footprint &amp; Teardown</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Usage — how to operate it (e.g., build/deploy a beacon, talk to the teamserver)</a:t>
            </a:r>
          </a:p>
          <a:p>
            <a:pPr/>
            <a:r>
              <a:rPr sz="1800"/>
              <a:t>Footprint / artifacts — files left on disk, logs generated, network traffic</a:t>
            </a:r>
          </a:p>
          <a:p>
            <a:pPr/>
            <a:r>
              <a:rPr sz="1800"/>
              <a:t>Validation checks — how the next operator confirms it's working</a:t>
            </a:r>
          </a:p>
          <a:p>
            <a:pPr/>
            <a:r>
              <a:rPr sz="1800"/>
              <a:t>Teardown steps — return the range to a known-clean state</a:t>
            </a:r>
          </a:p>
        </p:txBody>
      </p:sp>
      <p:pic>
        <p:nvPicPr>
          <p:cNvPr id="5" name="Picture 4" descr="685977ffaf69b573799193ed495bb87449eb788d5903abad38a3eb5af76570d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Peer-Review Mindset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Docs fail if a peer cannot stand the tool up</a:t>
            </a:r>
          </a:p>
          <a:p>
            <a:pPr/>
            <a:r>
              <a:rPr sz="1800"/>
              <a:t>Author is graded on </a:t>
            </a:r>
            <a:r>
              <a:rPr b="1" sz="1800"/>
              <a:t>reproducibility</a:t>
            </a:r>
            <a:r>
              <a:rPr sz="1800"/>
              <a:t>, not charisma</a:t>
            </a:r>
          </a:p>
          <a:p>
            <a:pPr/>
            <a:r>
              <a:rPr sz="1800"/>
              <a:t>Reviewer executes </a:t>
            </a:r>
            <a:r>
              <a:rPr b="1" sz="1800"/>
              <a:t>only</a:t>
            </a:r>
            <a:r>
              <a:rPr sz="1800"/>
              <a:t> from dossier + approved media path</a:t>
            </a:r>
          </a:p>
          <a:p>
            <a:pPr/>
            <a:r>
              <a:rPr sz="1800"/>
              <a:t>Hotwash captures what the docs missed</a:t>
            </a:r>
          </a:p>
        </p:txBody>
      </p:sp>
      <p:pic>
        <p:nvPicPr>
          <p:cNvPr id="5" name="Picture 4" descr="4841929d53cfe9b94c6356ba2fdaa6fe9034950afceeadb820beff53180c1926.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Closed-Environment Testing Discipline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Use </a:t>
            </a:r>
            <a:r>
              <a:rPr b="1" sz="1800"/>
              <a:t>local / staged media</a:t>
            </a:r>
            <a:r>
              <a:rPr sz="1800"/>
              <a:t> only unless instructor opens egress</a:t>
            </a:r>
          </a:p>
          <a:p>
            <a:pPr/>
            <a:r>
              <a:rPr sz="1800"/>
              <a:t>Scope the test to </a:t>
            </a:r>
            <a:r>
              <a:rPr b="1" sz="1800"/>
              <a:t>your</a:t>
            </a:r>
            <a:r>
              <a:rPr sz="1800"/>
              <a:t> exploitation range and IP block: teamserver on Kali, beacon on Windows, callback through the redirector</a:t>
            </a:r>
          </a:p>
          <a:p>
            <a:pPr/>
            <a:r>
              <a:rPr sz="1800"/>
              <a:t>Snapshot before install; plan </a:t>
            </a:r>
            <a:r>
              <a:rPr b="1" sz="1800"/>
              <a:t>teardown</a:t>
            </a:r>
          </a:p>
          <a:p>
            <a:pPr/>
            <a:r>
              <a:rPr sz="1800"/>
              <a:t>Stay under the </a:t>
            </a:r>
            <a:r>
              <a:rPr b="1" sz="1800"/>
              <a:t>~50 GB</a:t>
            </a:r>
            <a:r>
              <a:rPr sz="1800"/>
              <a:t> shared RAM cap</a:t>
            </a:r>
          </a:p>
        </p:txBody>
      </p:sp>
      <p:pic>
        <p:nvPicPr>
          <p:cNvPr id="5" name="Picture 4" descr="324449bfabe184909a27404bcf9bbb4958b77b5e548c9b2d9deb251e1cd91577.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Transition to Peer Evaluation</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600"/>
              <a:t>Lab applies this process to a </a:t>
            </a:r>
            <a:r>
              <a:rPr b="1" sz="1600"/>
              <a:t>chosen C2 framework</a:t>
            </a:r>
          </a:p>
          <a:p>
            <a:pPr/>
            <a:r>
              <a:rPr sz="1600"/>
              <a:t>Deploy on the range you built: teamserver on Kali, beacon on Windows, callback through the redirector</a:t>
            </a:r>
          </a:p>
          <a:p>
            <a:pPr/>
            <a:r>
              <a:rPr sz="1600"/>
              <a:t>Selection source is a lab convenience (instructor shortlist / matrix)</a:t>
            </a:r>
          </a:p>
          <a:p>
            <a:pPr/>
            <a:r>
              <a:rPr sz="1600"/>
              <a:t>Produce dossier → swap → peer execute → hotwash</a:t>
            </a:r>
          </a:p>
          <a:p>
            <a:pPr/>
            <a:r>
              <a:rPr sz="1600"/>
              <a:t>Keep testing inside your </a:t>
            </a:r>
            <a:r>
              <a:rPr b="1" sz="1600"/>
              <a:t>`172.16.45.0/24`</a:t>
            </a:r>
            <a:r>
              <a:rPr sz="1600"/>
              <a:t> block</a:t>
            </a:r>
          </a:p>
        </p:txBody>
      </p:sp>
      <p:pic>
        <p:nvPicPr>
          <p:cNvPr id="5" name="Picture 4" descr="4d498a5fefd16481c28fb27848162866a90d4408fa5f217ddc804cdcb6802d8e.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Questions?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420</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Noto Sans Symbols</vt:lpstr>
      <vt:lpstr>Google Sans</vt:lpstr>
      <vt:lpstr>CyberTemplateL_Green Unclass</vt:lpstr>
      <vt:lpstr>Lesson title</vt:lpstr>
      <vt:lpstr>Intro Video</vt:lpstr>
      <vt:lpstr>Lesson Objectives</vt:lpstr>
      <vt:lpstr>What is a Learning Management System?</vt:lpstr>
      <vt:lpstr>Lets log in to Moodle</vt:lpstr>
      <vt:lpstr>Lesson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Houston, Joshua T</dc:creator>
  <cp:lastModifiedBy>Cross, Clay</cp:lastModifiedBy>
  <cp:revision>1</cp:revision>
  <dcterms:modified xsi:type="dcterms:W3CDTF">2026-10-12T17:41:16Z</dcterms:modified>
</cp:coreProperties>
</file>