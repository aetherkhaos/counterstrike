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9"/>
  </p:notesMasterIdLst>
  <p:sldIdLst>
    <p:sldId id="256" r:id="rId8"/>
    <p:sldId id="257" r:id="rId14"/>
    <p:sldId id="258" r:id="rId15"/>
    <p:sldId id="259" r:id="rId7"/>
    <p:sldId id="260" r:id="rId6"/>
    <p:sldId id="261" r:id="rId5"/>
    <p:sldId id="262" r:id="rId4"/>
    <p:sldId id="263" r:id="rId3"/>
    <p:sldId id="264" r:id="rId2"/>
    <p:sldId id="265" r:id="rId22"/>
    <p:sldId id="266" r:id="rId23"/>
    <p:sldId id="267" r:id="rId24"/>
    <p:sldId id="268" r:id="rId25"/>
    <p:sldId id="269" r:id="rId26"/>
    <p:sldId id="270" r:id="rId27"/>
    <p:sldId id="271" r:id="rId28"/>
  </p:sldIdLst>
  <p:sldSz cx="12192000" cy="6858000"/>
  <p:notesSz cx="6858000" cy="9144000"/>
  <p:embeddedFontLst>
    <p:embeddedFont>
      <p:font typeface="Google Sans" panose="020B0604020202020204" charset="0"/>
      <p:regular r:id="rId10"/>
      <p:bold r:id="rId11"/>
      <p:italic r:id="rId12"/>
      <p:boldItalic r:id="rId1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6" roundtripDataSignature="AMtx7mj7TtVeiHhDOAAACQUvrCI66Sw72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53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1.xml"/><Relationship Id="rId9" Type="http://schemas.openxmlformats.org/officeDocument/2006/relationships/notesMaster" Target="notesMasters/notesMaster1.xml"/><Relationship Id="rId10" Type="http://schemas.openxmlformats.org/officeDocument/2006/relationships/font" Target="fonts/font1.fntdata"/><Relationship Id="rId11" Type="http://schemas.openxmlformats.org/officeDocument/2006/relationships/font" Target="fonts/font2.fntdata"/><Relationship Id="rId12" Type="http://schemas.openxmlformats.org/officeDocument/2006/relationships/font" Target="fonts/font3.fntdata"/><Relationship Id="rId13" Type="http://schemas.openxmlformats.org/officeDocument/2006/relationships/font" Target="fonts/font4.fntdata"/><Relationship Id="rId14" Type="http://schemas.openxmlformats.org/officeDocument/2006/relationships/slide" Target="slides/slide2.xml"/><Relationship Id="rId15" Type="http://schemas.openxmlformats.org/officeDocument/2006/relationships/slide" Target="slides/slide3.xml"/><Relationship Id="rId16" Type="http://customschemas.google.com/relationships/presentationmetadata" Target="meta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ross, Clay" userId="f346be3b-e1cb-4aec-811e-8a3f5d1dd33f" providerId="ADAL" clId="{5AB2DC96-CDCC-45B4-B053-2F2446580AF9}"/>
    <pc:docChg chg="modSld modMainMaster">
      <pc:chgData name="Cross, Clay" userId="f346be3b-e1cb-4aec-811e-8a3f5d1dd33f" providerId="ADAL" clId="{5AB2DC96-CDCC-45B4-B053-2F2446580AF9}" dt="2026-10-12T17:41:14.911" v="31" actId="20577"/>
      <pc:docMkLst>
        <pc:docMk/>
      </pc:docMkLst>
      <pc:sldChg chg="addSp modSp mod">
        <pc:chgData name="Cross, Clay" userId="f346be3b-e1cb-4aec-811e-8a3f5d1dd33f" providerId="ADAL" clId="{5AB2DC96-CDCC-45B4-B053-2F2446580AF9}" dt="2026-10-12T17:41:14.911" v="31" actId="20577"/>
        <pc:sldMkLst>
          <pc:docMk/>
          <pc:sldMk cId="0" sldId="256"/>
        </pc:sldMkLst>
        <pc:spChg chg="add mod">
          <ac:chgData name="Cross, Clay" userId="f346be3b-e1cb-4aec-811e-8a3f5d1dd33f" providerId="ADAL" clId="{5AB2DC96-CDCC-45B4-B053-2F2446580AF9}" dt="2026-09-16T14:10:03.197" v="14"/>
          <ac:spMkLst>
            <pc:docMk/>
            <pc:sldMk cId="0" sldId="256"/>
            <ac:spMk id="2" creationId="{AF066B48-BBCB-D243-DA16-4C1CF9825479}"/>
          </ac:spMkLst>
        </pc:spChg>
        <pc:spChg chg="mod">
          <ac:chgData name="Cross, Clay" userId="f346be3b-e1cb-4aec-811e-8a3f5d1dd33f" providerId="ADAL" clId="{5AB2DC96-CDCC-45B4-B053-2F2446580AF9}" dt="2026-10-12T17:41:14.911" v="31" actId="20577"/>
          <ac:spMkLst>
            <pc:docMk/>
            <pc:sldMk cId="0" sldId="256"/>
            <ac:spMk id="93" creationId="{00000000-0000-0000-0000-000000000000}"/>
          </ac:spMkLst>
        </pc:spChg>
      </pc:sldChg>
      <pc:sldChg chg="addSp modSp">
        <pc:chgData name="Cross, Clay" userId="f346be3b-e1cb-4aec-811e-8a3f5d1dd33f" providerId="ADAL" clId="{5AB2DC96-CDCC-45B4-B053-2F2446580AF9}" dt="2026-09-16T14:10:05.967" v="15"/>
        <pc:sldMkLst>
          <pc:docMk/>
          <pc:sldMk cId="0" sldId="257"/>
        </pc:sldMkLst>
        <pc:spChg chg="add mod">
          <ac:chgData name="Cross, Clay" userId="f346be3b-e1cb-4aec-811e-8a3f5d1dd33f" providerId="ADAL" clId="{5AB2DC96-CDCC-45B4-B053-2F2446580AF9}" dt="2026-09-16T14:10:05.967" v="15"/>
          <ac:spMkLst>
            <pc:docMk/>
            <pc:sldMk cId="0" sldId="257"/>
            <ac:spMk id="2" creationId="{C59CE0A4-E66C-0842-A9F5-B432CCCBB70C}"/>
          </ac:spMkLst>
        </pc:spChg>
      </pc:sldChg>
      <pc:sldChg chg="addSp modSp">
        <pc:chgData name="Cross, Clay" userId="f346be3b-e1cb-4aec-811e-8a3f5d1dd33f" providerId="ADAL" clId="{5AB2DC96-CDCC-45B4-B053-2F2446580AF9}" dt="2026-09-16T14:10:07.294" v="16"/>
        <pc:sldMkLst>
          <pc:docMk/>
          <pc:sldMk cId="0" sldId="258"/>
        </pc:sldMkLst>
        <pc:spChg chg="add mod">
          <ac:chgData name="Cross, Clay" userId="f346be3b-e1cb-4aec-811e-8a3f5d1dd33f" providerId="ADAL" clId="{5AB2DC96-CDCC-45B4-B053-2F2446580AF9}" dt="2026-09-16T14:10:07.294" v="16"/>
          <ac:spMkLst>
            <pc:docMk/>
            <pc:sldMk cId="0" sldId="258"/>
            <ac:spMk id="2" creationId="{9367D3A5-428A-79F2-AC81-ADCB1A0F11C1}"/>
          </ac:spMkLst>
        </pc:spChg>
      </pc:sldChg>
      <pc:sldChg chg="addSp modSp">
        <pc:chgData name="Cross, Clay" userId="f346be3b-e1cb-4aec-811e-8a3f5d1dd33f" providerId="ADAL" clId="{5AB2DC96-CDCC-45B4-B053-2F2446580AF9}" dt="2026-09-16T14:10:08.375" v="17"/>
        <pc:sldMkLst>
          <pc:docMk/>
          <pc:sldMk cId="0" sldId="259"/>
        </pc:sldMkLst>
        <pc:spChg chg="add mod">
          <ac:chgData name="Cross, Clay" userId="f346be3b-e1cb-4aec-811e-8a3f5d1dd33f" providerId="ADAL" clId="{5AB2DC96-CDCC-45B4-B053-2F2446580AF9}" dt="2026-09-16T14:10:08.375" v="17"/>
          <ac:spMkLst>
            <pc:docMk/>
            <pc:sldMk cId="0" sldId="259"/>
            <ac:spMk id="2" creationId="{07E1C860-F9EC-56A5-3678-9C818C512B47}"/>
          </ac:spMkLst>
        </pc:spChg>
      </pc:sldChg>
      <pc:sldChg chg="addSp modSp">
        <pc:chgData name="Cross, Clay" userId="f346be3b-e1cb-4aec-811e-8a3f5d1dd33f" providerId="ADAL" clId="{5AB2DC96-CDCC-45B4-B053-2F2446580AF9}" dt="2026-09-16T14:10:11.392" v="18"/>
        <pc:sldMkLst>
          <pc:docMk/>
          <pc:sldMk cId="0" sldId="260"/>
        </pc:sldMkLst>
        <pc:spChg chg="add mod">
          <ac:chgData name="Cross, Clay" userId="f346be3b-e1cb-4aec-811e-8a3f5d1dd33f" providerId="ADAL" clId="{5AB2DC96-CDCC-45B4-B053-2F2446580AF9}" dt="2026-09-16T14:10:11.392" v="18"/>
          <ac:spMkLst>
            <pc:docMk/>
            <pc:sldMk cId="0" sldId="260"/>
            <ac:spMk id="2" creationId="{1588E63D-8331-98F8-2393-DF79A145BF58}"/>
          </ac:spMkLst>
        </pc:spChg>
      </pc:sldChg>
      <pc:sldChg chg="addSp modSp">
        <pc:chgData name="Cross, Clay" userId="f346be3b-e1cb-4aec-811e-8a3f5d1dd33f" providerId="ADAL" clId="{5AB2DC96-CDCC-45B4-B053-2F2446580AF9}" dt="2026-09-16T14:10:12.517" v="19"/>
        <pc:sldMkLst>
          <pc:docMk/>
          <pc:sldMk cId="0" sldId="261"/>
        </pc:sldMkLst>
        <pc:spChg chg="add mod">
          <ac:chgData name="Cross, Clay" userId="f346be3b-e1cb-4aec-811e-8a3f5d1dd33f" providerId="ADAL" clId="{5AB2DC96-CDCC-45B4-B053-2F2446580AF9}" dt="2026-09-16T14:10:12.517" v="19"/>
          <ac:spMkLst>
            <pc:docMk/>
            <pc:sldMk cId="0" sldId="261"/>
            <ac:spMk id="2" creationId="{93535A3B-BAB2-61CE-5223-82D4BF2B0E2D}"/>
          </ac:spMkLst>
        </pc:spChg>
      </pc:sldChg>
      <pc:sldChg chg="addSp delSp modSp mod">
        <pc:chgData name="Cross, Clay" userId="f346be3b-e1cb-4aec-811e-8a3f5d1dd33f" providerId="ADAL" clId="{5AB2DC96-CDCC-45B4-B053-2F2446580AF9}" dt="2026-09-16T14:10:13.935" v="20"/>
        <pc:sldMkLst>
          <pc:docMk/>
          <pc:sldMk cId="0" sldId="262"/>
        </pc:sldMkLst>
        <pc:spChg chg="add mod">
          <ac:chgData name="Cross, Clay" userId="f346be3b-e1cb-4aec-811e-8a3f5d1dd33f" providerId="ADAL" clId="{5AB2DC96-CDCC-45B4-B053-2F2446580AF9}" dt="2026-09-16T14:10:13.935" v="20"/>
          <ac:spMkLst>
            <pc:docMk/>
            <pc:sldMk cId="0" sldId="262"/>
            <ac:spMk id="2" creationId="{D7EC3C54-652C-9EC2-FAB0-E19765D5B90B}"/>
          </ac:spMkLst>
        </pc:spChg>
      </pc:sldChg>
      <pc:sldMasterChg chg="modSp mod modSldLayout">
        <pc:chgData name="Cross, Clay" userId="f346be3b-e1cb-4aec-811e-8a3f5d1dd33f" providerId="ADAL" clId="{5AB2DC96-CDCC-45B4-B053-2F2446580AF9}" dt="2026-10-12T16:58:37.748" v="29" actId="14100"/>
        <pc:sldMasterMkLst>
          <pc:docMk/>
          <pc:sldMasterMk cId="0" sldId="2147483648"/>
        </pc:sldMasterMkLst>
        <pc:sldLayoutChg chg="modSp mod">
          <pc:chgData name="Cross, Clay" userId="f346be3b-e1cb-4aec-811e-8a3f5d1dd33f" providerId="ADAL" clId="{5AB2DC96-CDCC-45B4-B053-2F2446580AF9}" dt="2026-10-12T16:58:06.482" v="24" actId="14100"/>
          <pc:sldLayoutMkLst>
            <pc:docMk/>
            <pc:sldMasterMk cId="0" sldId="2147483648"/>
            <pc:sldLayoutMk cId="0" sldId="2147483652"/>
          </pc:sldLayoutMkLst>
          <pc:spChg chg="mod">
            <ac:chgData name="Cross, Clay" userId="f346be3b-e1cb-4aec-811e-8a3f5d1dd33f" providerId="ADAL" clId="{5AB2DC96-CDCC-45B4-B053-2F2446580AF9}" dt="2026-10-12T16:57:55.345" v="22" actId="14100"/>
            <ac:spMkLst>
              <pc:docMk/>
              <pc:sldMasterMk cId="0" sldId="2147483648"/>
              <pc:sldLayoutMk cId="0" sldId="2147483652"/>
              <ac:spMk id="56" creationId="{00000000-0000-0000-0000-000000000000}"/>
            </ac:spMkLst>
          </pc:spChg>
          <pc:spChg chg="mod">
            <ac:chgData name="Cross, Clay" userId="f346be3b-e1cb-4aec-811e-8a3f5d1dd33f" providerId="ADAL" clId="{5AB2DC96-CDCC-45B4-B053-2F2446580AF9}" dt="2026-10-12T16:58:00.151" v="23" actId="14100"/>
            <ac:spMkLst>
              <pc:docMk/>
              <pc:sldMasterMk cId="0" sldId="2147483648"/>
              <pc:sldLayoutMk cId="0" sldId="2147483652"/>
              <ac:spMk id="57" creationId="{00000000-0000-0000-0000-000000000000}"/>
            </ac:spMkLst>
          </pc:spChg>
          <pc:spChg chg="mod">
            <ac:chgData name="Cross, Clay" userId="f346be3b-e1cb-4aec-811e-8a3f5d1dd33f" providerId="ADAL" clId="{5AB2DC96-CDCC-45B4-B053-2F2446580AF9}" dt="2026-10-12T16:58:06.482" v="24" actId="14100"/>
            <ac:spMkLst>
              <pc:docMk/>
              <pc:sldMasterMk cId="0" sldId="2147483648"/>
              <pc:sldLayoutMk cId="0" sldId="2147483652"/>
              <ac:spMk id="58" creationId="{00000000-0000-0000-0000-000000000000}"/>
            </ac:spMkLst>
          </pc:spChg>
        </pc:sldLayoutChg>
        <pc:sldLayoutChg chg="modSp mod">
          <pc:chgData name="Cross, Clay" userId="f346be3b-e1cb-4aec-811e-8a3f5d1dd33f" providerId="ADAL" clId="{5AB2DC96-CDCC-45B4-B053-2F2446580AF9}" dt="2026-10-12T16:58:37.748" v="29" actId="14100"/>
          <pc:sldLayoutMkLst>
            <pc:docMk/>
            <pc:sldMasterMk cId="0" sldId="2147483648"/>
            <pc:sldLayoutMk cId="0" sldId="2147483656"/>
          </pc:sldLayoutMkLst>
          <pc:spChg chg="mod">
            <ac:chgData name="Cross, Clay" userId="f346be3b-e1cb-4aec-811e-8a3f5d1dd33f" providerId="ADAL" clId="{5AB2DC96-CDCC-45B4-B053-2F2446580AF9}" dt="2026-10-12T16:58:32.543" v="27" actId="14100"/>
            <ac:spMkLst>
              <pc:docMk/>
              <pc:sldMasterMk cId="0" sldId="2147483648"/>
              <pc:sldLayoutMk cId="0" sldId="2147483656"/>
              <ac:spMk id="76" creationId="{00000000-0000-0000-0000-000000000000}"/>
            </ac:spMkLst>
          </pc:spChg>
          <pc:spChg chg="mod">
            <ac:chgData name="Cross, Clay" userId="f346be3b-e1cb-4aec-811e-8a3f5d1dd33f" providerId="ADAL" clId="{5AB2DC96-CDCC-45B4-B053-2F2446580AF9}" dt="2026-10-12T16:58:34.943" v="28" actId="14100"/>
            <ac:spMkLst>
              <pc:docMk/>
              <pc:sldMasterMk cId="0" sldId="2147483648"/>
              <pc:sldLayoutMk cId="0" sldId="2147483656"/>
              <ac:spMk id="77" creationId="{00000000-0000-0000-0000-000000000000}"/>
            </ac:spMkLst>
          </pc:spChg>
          <pc:spChg chg="mod">
            <ac:chgData name="Cross, Clay" userId="f346be3b-e1cb-4aec-811e-8a3f5d1dd33f" providerId="ADAL" clId="{5AB2DC96-CDCC-45B4-B053-2F2446580AF9}" dt="2026-10-12T16:58:37.748" v="29" actId="14100"/>
            <ac:spMkLst>
              <pc:docMk/>
              <pc:sldMasterMk cId="0" sldId="2147483648"/>
              <pc:sldLayoutMk cId="0" sldId="2147483656"/>
              <ac:spMk id="78"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Agent Tool Use and RAG — Content Guide</a:t>
            </a:r>
          </a:p>
          <a:p/>
          <a:p>
            <a:r>
              <a:t>**Source:** `../../overview.md`, `../../activities/L4.4_Effects_Advisor_Agent/`</a:t>
            </a:r>
          </a:p>
          <a:p>
            <a:r>
              <a:t>**Audience:** CPT operators who completed agentic triage build and reinforcement.</a:t>
            </a:r>
          </a:p>
          <a:p>
            <a:r>
              <a:t>**Duration:** ~75-90 minutes (agent tool-use and RAG lecture)</a:t>
            </a:r>
          </a:p>
          <a:p>
            <a:r>
              <a:t>**Prerequisites:** Agentic triage build, reinforcement practice, effects vocabulary, and handoff discipline.</a:t>
            </a:r>
          </a:p>
          <a:p>
            <a:r>
              <a:t>**References:**</a:t>
            </a:r>
          </a:p>
          <a:p/>
          <a:p>
            <a:r>
              <a:t>- `./4.3 Build an Agentic Workflow Content Guide.md` (shared agent vocabulary and Day 3 workflow baseline)</a:t>
            </a:r>
          </a:p>
          <a:p>
            <a:r>
              <a:t>- `../../activities/L4.4_Effects_Advisor_Agent/L4.4 Student Brief.md`</a:t>
            </a:r>
          </a:p>
          <a:p>
            <a:r>
              <a:t>- `../../activities/L4.4_Effects_Advisor_Agent/L4.4 Instructor Answer Key.md`</a:t>
            </a:r>
          </a:p>
          <a:p>
            <a:r>
              <a:t>- `../Agentic_Operations.md` (production-grade example showing tool use + file-system actions)</a:t>
            </a:r>
          </a:p>
          <a:p>
            <a:r>
              <a:t>- `./4.1 Effects Operations Overview Content Guide.md` and `./4.2 Persistent Effects and Handoff Content Guide.md` (effect vocabulary and handoff package shape)</a:t>
            </a:r>
          </a:p>
          <a:p/>
          <a:p>
            <a:r>
              <a:t>---</a:t>
            </a:r>
          </a:p>
          <a:p/>
          <a:p>
            <a:r>
              <a:t>## Instructor resources and pre-class</a:t>
            </a:r>
          </a:p>
          <a:p/>
          <a:p>
            <a:r>
              <a:t>- Classroom projector and screen; whiteboard for the opening contract</a:t>
            </a:r>
          </a:p>
          <a:p>
            <a:r>
              <a:t>- Parent or sibling briefs listed in this Module folder</a:t>
            </a:r>
          </a:p>
          <a:p>
            <a:r>
              <a:t>- Live tabs and references already named in this file's header</a:t>
            </a:r>
          </a:p>
          <a:p>
            <a:r>
              <a:t>- Do not project flags, tokens, or answer-key values</a:t>
            </a:r>
          </a:p>
          <a:p/>
          <a:p>
            <a:r>
              <a:t>## Student resources</a:t>
            </a:r>
          </a:p>
          <a:p/>
          <a:p>
            <a:r>
              <a:t>- Student brief, student guide, or homework file in this Module folder when present</a:t>
            </a:r>
          </a:p>
          <a:p>
            <a:r>
              <a:t>- Assigned range, workstation, or lab stack named in the student-facing file</a:t>
            </a:r>
          </a:p>
          <a:p>
            <a:r>
              <a:t>- No extra kit beyond what the student-facing file already lists</a:t>
            </a:r>
          </a:p>
          <a:p/>
          <a:p>
            <a:r>
              <a:t>## Dual opening</a:t>
            </a:r>
          </a:p>
          <a:p/>
          <a:p>
            <a:r>
              <a:t>### Option 1 (Interactive / Whiteboard / Kinesthetic)</a:t>
            </a:r>
          </a:p>
          <a:p/>
          <a:p>
            <a:r>
              <a:t>- **Say:** "You already built a workflow that could classify and export evidence. This hour we turn that workflow into an advisor. It reads the STIX-style incident output, retrieves doctrine, calls a controlled enrichment tool, and recommends an effect in the same vocabulary as disable, deceive, reconnoiter, and handoff. It does not execute the effect. It prepares a recommendation a human can review."</a:t>
            </a:r>
          </a:p>
          <a:p>
            <a:r>
              <a:t>- **Do:** Put the lesson contract on the board. Keep products from the prerequisite Module available.</a:t>
            </a:r>
          </a:p>
          <a:p>
            <a:r>
              <a:t>- **Ask (Q):** What would make you trust an automated recommendation enough to brief it?</a:t>
            </a:r>
          </a:p>
          <a:p>
            <a:r>
              <a:t>- **Expected Response (A):** Facilitation. Use the Say/Do already on this row; do not force a single keyed answer.</a:t>
            </a:r>
          </a:p>
          <a:p/>
          <a:p>
            <a:r>
              <a:t>### Option 2 (Digital Slide / Virtual / Slide Deck)</a:t>
            </a:r>
          </a:p>
          <a:p/>
          <a:p>
            <a:r>
              <a:t>- **Say:** "You already built a workflow that could classify and export evidence. This hour we turn that workflow into an advisor. It reads the STIX-style incident output, retrieves doctrine, calls a controlled enrichment tool, and recommends an effect in the same vocabulary as disable, deceive, reconnoiter, and handoff. It does not execute the effect. It prepares a recommendation a human can review."</a:t>
            </a:r>
          </a:p>
          <a:p>
            <a:r>
              <a:t>- **Show:** The title slide and lesson objectives.</a:t>
            </a:r>
          </a:p>
          <a:p>
            <a:r>
              <a:t>- **Do:** Confirm stations can open the required tool or file before the first teaching row.</a:t>
            </a:r>
          </a:p>
          <a:p>
            <a:r>
              <a:t>- **Ask (Q):** What would make you trust an automated recommendation enough to brief it?</a:t>
            </a:r>
          </a:p>
          <a:p>
            <a:r>
              <a:t>- **Expected Response (A):** 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"You already built a workflow that could classify and export evidence. This hour we turn that workflow into an advisor. It reads the STIX-style incident output, retrieves doctrine, calls a controlled enrichment tool, and recommends an effect in the same vocabulary as disable, deceive, reconnoiter, and handoff. It does not execute the effect. It prepares a recommendation a human can review."</a:t>
            </a:r>
          </a:p>
          <a:p/>
          <a:p>
            <a:r>
              <a:t>Show:</a:t>
            </a:r>
          </a:p>
          <a:p>
            <a:r>
              <a:t>The three-stage evolution and point out that triage output is advisor input.</a:t>
            </a:r>
          </a:p>
          <a:p/>
          <a:p>
            <a:r>
              <a:t>Do:</a:t>
            </a:r>
          </a:p>
          <a:p>
            <a:r>
              <a:t>Ask: "What would make you trust an automated recommendation enough to brief it?" Capture answers under evidence, citations, guardrails, and audit trail.</a:t>
            </a:r>
          </a:p>
          <a:p/>
          <a:p>
            <a:r>
              <a:t>Image Prompt:</a:t>
            </a:r>
          </a:p>
          <a:p>
            <a:r>
              <a:t>A three-stage evolution diagram. Stage 1 labeled "Reinforced Triage Agent" shows input logs flowing to JSON output. Stage 2 labeled "+ Doctrine Shelf (RAG)" adds a local knowledge base feeding the agent. Stage 3 labeled "+ Controlled Tools + Handoff Package" adds read-only tool icons, a guardrail gate, and a partner package output.</a:t>
            </a:r>
          </a:p>
          <a:p/>
          <a:p>
            <a:r>
              <a:t>Ask (Q):</a:t>
            </a:r>
          </a:p>
          <a:p>
            <a:r>
              <a:t>What would make you trust an automated recommendation enough to brief it?</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mission is not 'ask the model what to do.' The mission is to compress analyst staff work: read the incident, consult doctrine and partner context, enrich one observable, reason in CG/CV language, and produce a handoff package that a human can accept, modify, or reject."</a:t>
            </a:r>
          </a:p>
          <a:p/>
          <a:p>
            <a:r>
              <a:t>Show:</a:t>
            </a:r>
          </a:p>
          <a:p>
            <a:r>
              <a:t>The six-section output path and the specific `recommended_effect` field.</a:t>
            </a:r>
          </a:p>
          <a:p/>
          <a:p>
            <a:r>
              <a:t>Do:</a:t>
            </a:r>
          </a:p>
          <a:p>
            <a:r>
              <a:t>Have students name which skills supply each part of the mission: effect vocabulary, handoff package, incident schema, and RAG/tools.</a:t>
            </a:r>
          </a:p>
          <a:p/>
          <a:p>
            <a:r>
              <a:t>Image Prompt:</a:t>
            </a:r>
          </a:p>
          <a:p>
            <a:r>
              <a:t>A mission-flow graphic. Left: "STIX-style incident." Center: "Effects Advisor" with RAG, read-only tool, CG/CV reasoning, and guardrail icons. Right: "Partner Handoff Package" with sections target identity, access story, posture, tempo, tasking, rollback.</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"RAG does not teach the model new facts permanently. It gives the model an open book during this run. That is powerful because the book can be local and current. It is also dangerous because a bad book produces confident bad answers."</a:t>
            </a:r>
          </a:p>
          <a:p/>
          <a:p>
            <a:r>
              <a:t>Show:</a:t>
            </a:r>
          </a:p>
          <a:p>
            <a:r>
              <a:t>Contrast static model weights with dynamic retrieved context.</a:t>
            </a:r>
          </a:p>
          <a:p/>
          <a:p>
            <a:r>
              <a:t>Do:</a:t>
            </a:r>
          </a:p>
          <a:p>
            <a:r>
              <a:t>Ask: "If the model cites a source chunk, does that make the answer correct?" Drive toward: citations make it reviewable, not automatically correct.</a:t>
            </a:r>
          </a:p>
          <a:p/>
          <a:p>
            <a:r>
              <a:t>Image Prompt:</a:t>
            </a:r>
          </a:p>
          <a:p>
            <a:r>
              <a:t>Split diagram. Left side: "Model Weights" as a sealed model box labeled static. Right side: "Runtime Context" with incident evidence plus retrieved doctrine chunks feeding into the model. Add a citation tag on the output.</a:t>
            </a:r>
          </a:p>
          <a:p/>
          <a:p>
            <a:r>
              <a:t>Ask (Q):</a:t>
            </a:r>
          </a:p>
          <a:p>
            <a:r>
              <a:t>If the model cites a source chunk, does that make the answer correct?</a:t>
            </a:r>
          </a:p>
          <a:p/>
          <a:p>
            <a:r>
              <a:t>Expected Response (A):</a:t>
            </a:r>
          </a:p>
          <a:p>
            <a:r>
              <a:t>citations make it reviewable, not automatically correct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"This is the build sequence. Corpus, chunk, embed, store, retrieve, inject, cite. If students skip chunking and embed whole files, retrieval quality drops. If they lose source metadata, citations become useless. Every stage has to preserve reviewability."</a:t>
            </a:r>
          </a:p>
          <a:p/>
          <a:p>
            <a:r>
              <a:t>Show:</a:t>
            </a:r>
          </a:p>
          <a:p>
            <a:r>
              <a:t>The pipeline and point at source metadata moving with each chunk.</a:t>
            </a:r>
          </a:p>
          <a:p/>
          <a:p>
            <a:r>
              <a:t>Do:</a:t>
            </a:r>
          </a:p>
          <a:p>
            <a:r>
              <a:t>Ask students why a 500-token paragraph-aware chunk is usually better than one giant file or one sentence at a time.</a:t>
            </a:r>
          </a:p>
          <a:p/>
          <a:p>
            <a:r>
              <a:t>Image Prompt:</a:t>
            </a:r>
          </a:p>
          <a:p>
            <a:r>
              <a:t>A technical RAG pipeline diagram: Moodle `kb/` source folders -&gt; paragraph-aware chunker -&gt; LiteLLM `embed` alias -&gt; Chroma -&gt; retrieval query -&gt; top-4 chunks with source paths -&gt; local primary via LiteLLM -&gt; cited handoff package.</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corpus is not a dumping ground. It is the advisor's reference shelf. If you add irrelevant documents, stale partner contacts, or doctrine with no source labels, you make the model harder to audit."</a:t>
            </a:r>
          </a:p>
          <a:p/>
          <a:p>
            <a:r>
              <a:t>Show:</a:t>
            </a:r>
          </a:p>
          <a:p>
            <a:r>
              <a:t>The five corpus categories and tie each to a required field in the final output.</a:t>
            </a:r>
          </a:p>
          <a:p/>
          <a:p>
            <a:r>
              <a:t>Do:</a:t>
            </a:r>
          </a:p>
          <a:p>
            <a:r>
              <a:t>Ask: "Which corpus source would help the agent avoid recommending an effect against a friendly mirrored system?" Expected answer: partner contacts and local context.</a:t>
            </a:r>
          </a:p>
          <a:p/>
          <a:p>
            <a:r>
              <a:t>Image Prompt:</a:t>
            </a:r>
          </a:p>
          <a:p>
            <a:r>
              <a:t>A shelf graphic with five labeled binders: ENGAGE, D3FEND, Tactical Planning, Authority Ceilings / SOPs, Partner Contacts. Each binder has a source-path tag and feeds into an Effects Advisor workflow.</a:t>
            </a:r>
          </a:p>
          <a:p/>
          <a:p>
            <a:r>
              <a:t>Ask (Q):</a:t>
            </a:r>
          </a:p>
          <a:p>
            <a:r>
              <a:t>Which corpus source would help the agent avoid recommending an effect against a friendly mirrored system?</a:t>
            </a:r>
          </a:p>
          <a:p/>
          <a:p>
            <a:r>
              <a:t>Expected Response (A):</a:t>
            </a:r>
          </a:p>
          <a:p>
            <a:r>
              <a:t>partner contacts and local context</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point of RAG is not to make the prompt longer. The point is to add decision-useful evidence. If the retrieved chunks do not change the recommendation, constrain it, or support it with citations, then the agent is just doing free-text guessing with extra steps."</a:t>
            </a:r>
          </a:p>
          <a:p/>
          <a:p>
            <a:r>
              <a:t>Show:</a:t>
            </a:r>
          </a:p>
          <a:p>
            <a:r>
              <a:t>Poor vs good retrieval examples.</a:t>
            </a:r>
          </a:p>
          <a:p/>
          <a:p>
            <a:r>
              <a:t>Do:</a:t>
            </a:r>
          </a:p>
          <a:p>
            <a:r>
              <a:t>Have students name one field in the final handoff package that should be directly supported by a retrieved citation.</a:t>
            </a:r>
          </a:p>
          <a:p/>
          <a:p>
            <a:r>
              <a:t>Image Prompt:</a:t>
            </a:r>
          </a:p>
          <a:p>
            <a:r>
              <a:t>A comparison graphic. Left: poor retrieval shows a giant vague chunk with no source path and a red warning. Right: good retrieval shows four short chunks with paths, excerpts, and relevance labels feeding into a recommendation.</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model asks; the workflow decides. That distinction matters. If the model asks for a tool that is not approved, the workflow refuses. If the argument is malformed or out of range, the workflow refuses. Tool use is only safe when the orchestration layer is in charge."</a:t>
            </a:r>
          </a:p>
          <a:p/>
          <a:p>
            <a:r>
              <a:t>Show:</a:t>
            </a:r>
          </a:p>
          <a:p>
            <a:r>
              <a:t>The sequence diagram and linger on the guardrail gate.</a:t>
            </a:r>
          </a:p>
          <a:p/>
          <a:p>
            <a:r>
              <a:t>Do:</a:t>
            </a:r>
          </a:p>
          <a:p>
            <a:r>
              <a:t>Ask students why the Day 4 advisor is limited to read-only tools. Tie the answer back to human review and recommendation-only posture.</a:t>
            </a:r>
          </a:p>
          <a:p/>
          <a:p>
            <a:r>
              <a:t>Image Prompt:</a:t>
            </a:r>
          </a:p>
          <a:p>
            <a:r>
              <a:t>A sequence diagram. Incident enters LLM; LLM emits `{"tool":"intel_lookup","args":{"ip":"198.51.100.157"}}`; guardrail gate checks tool name and IP range; HTTP Request node runs class CTI; JSON result returns to the LLM context; audit log records each step.</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"A tool without a contract is an invitation to misuse. The contract tells the model what the tool is for, but more importantly it tells the workflow what to accept and what to reject."</a:t>
            </a:r>
          </a:p>
          <a:p/>
          <a:p>
            <a:r>
              <a:t>Show:</a:t>
            </a:r>
          </a:p>
          <a:p>
            <a:r>
              <a:t>The `intel_lookup` contract and an example of a rejected out-of-range request.</a:t>
            </a:r>
          </a:p>
          <a:p/>
          <a:p>
            <a:r>
              <a:t>Do:</a:t>
            </a:r>
          </a:p>
          <a:p>
            <a:r>
              <a:t>Ask: "What should the workflow do if the agent asks to call `http_fetch` instead of `intel_lookup`?" Expected answer: reject, log, and continue or fail gracefully according to policy.</a:t>
            </a:r>
          </a:p>
          <a:p/>
          <a:p>
            <a:r>
              <a:t>Image Prompt:</a:t>
            </a:r>
          </a:p>
          <a:p>
            <a:r>
              <a:t>A tool contract card for `intel_lookup`: name, description, args, allowed CIDRs, response fields, reject conditions, audit fields. Beside it, show a rejected public-IP request with a red "logged refusal" stamp.</a:t>
            </a:r>
          </a:p>
          <a:p/>
          <a:p>
            <a:r>
              <a:t>Ask (Q):</a:t>
            </a:r>
          </a:p>
          <a:p>
            <a:r>
              <a:t>What should the workflow do if the agent asks to call `http_fetch` instead of `intel_lookup`?</a:t>
            </a:r>
          </a:p>
          <a:p/>
          <a:p>
            <a:r>
              <a:t>Expected Response (A):</a:t>
            </a:r>
          </a:p>
          <a:p>
            <a:r>
              <a:t>reject, log, and continue or fail gracefully according to policy</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"Multi-turn reasoning is where agents become useful and where they become dangerous. A confused agent will keep asking the same question forever unless the workflow stops it. The cap is not a suggestion. It is part of the safety case."</a:t>
            </a:r>
          </a:p>
          <a:p/>
          <a:p>
            <a:r>
              <a:t>Show:</a:t>
            </a:r>
          </a:p>
          <a:p>
            <a:r>
              <a:t>The five-turn loop and explain what an acceptable run looks like.</a:t>
            </a:r>
          </a:p>
          <a:p/>
          <a:p>
            <a:r>
              <a:t>Do:</a:t>
            </a:r>
          </a:p>
          <a:p>
            <a:r>
              <a:t>Ask students what the final output should say if the cap is reached without a recommendation. Drive toward unresolved/human-review fallback, not silent failure.</a:t>
            </a:r>
          </a:p>
          <a:p/>
          <a:p>
            <a:r>
              <a:t>Image Prompt:</a:t>
            </a:r>
          </a:p>
          <a:p>
            <a:r>
              <a:t>A loop diagram with five numbered turn slots. Turn 1 retrieval, Turn 2 tool call, Turn 3 retrieval, Turn 4 final draft, Turn 5 final or fail. A red guardrail counter labeled "hard cap = 5" sits on the loop.</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"These five are the difference between a demo and something you can brief. They are also the bridge to tomorrow. On Day 5, you will look for an adversary agent that failed one or more of these controls."</a:t>
            </a:r>
          </a:p>
          <a:p/>
          <a:p>
            <a:r>
              <a:t>Show:</a:t>
            </a:r>
          </a:p>
          <a:p>
            <a:r>
              <a:t>The five guardrails and explicitly connect each to a possible failure.</a:t>
            </a:r>
          </a:p>
          <a:p/>
          <a:p>
            <a:r>
              <a:t>Do:</a:t>
            </a:r>
          </a:p>
          <a:p>
            <a:r>
              <a:t>Tell students today's grading checks guardrails as strictly as recommendation quality.</a:t>
            </a:r>
          </a:p>
          <a:p/>
          <a:p>
            <a:r>
              <a:t>Image Prompt:</a:t>
            </a:r>
          </a:p>
          <a:p>
            <a:r>
              <a:t>A five-tile checklist titled "Fieldable Agent Guardrails." Each tile has an icon: tool list, argument filter, turn counter, JSON schema, audit log. No footer, no today/tomorrow text, no lab names, no Module IDs.</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final JSON tells you what the agent recommended. The audit log tells you whether you should trust how it got there. A fluent answer with no audit trail is not operationally useful."</a:t>
            </a:r>
          </a:p>
          <a:p/>
          <a:p>
            <a:r>
              <a:t>Show:</a:t>
            </a:r>
          </a:p>
          <a:p>
            <a:r>
              <a:t>Example audit events and tie them to the advisor-lab deliverables.</a:t>
            </a:r>
          </a:p>
          <a:p/>
          <a:p>
            <a:r>
              <a:t>Do:</a:t>
            </a:r>
          </a:p>
          <a:p>
            <a:r>
              <a:t>Ask students which audit event would prove that retrieval changed an effect recommendation.</a:t>
            </a:r>
          </a:p>
          <a:p/>
          <a:p>
            <a:r>
              <a:t>Image Prompt:</a:t>
            </a:r>
          </a:p>
          <a:p>
            <a:r>
              <a:t>An audit-log viewer graphic with timestamped rows: `turn_start`, `llm_prompt_hash`, `retrieve`, `tool_call`, `tool_reject`, `schema_valid`, `final`. A reviewer icon highlights one retrieval row and one rejected tool-call row.</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model is not allowed to invent a tenth effect category. It must reason inside the vocabulary you learned: deny, degrade, disrupt, destroy, deceive, manipulate, reconnoiter, interdict, handoff. That discipline is what makes the output comparable across teams."</a:t>
            </a:r>
          </a:p>
          <a:p/>
          <a:p>
            <a:r>
              <a:t>Show:</a:t>
            </a:r>
          </a:p>
          <a:p>
            <a:r>
              <a:t>The reasoning ladder and point to where citations support CG/CV.</a:t>
            </a:r>
          </a:p>
          <a:p/>
          <a:p>
            <a:r>
              <a:t>Do:</a:t>
            </a:r>
          </a:p>
          <a:p>
            <a:r>
              <a:t>Give a quick example: if evidence is ambiguous and `needs_human_review` is true, ask why `reconnoiter` may be stronger than `deny`.</a:t>
            </a:r>
          </a:p>
          <a:p/>
          <a:p>
            <a:r>
              <a:t>Image Prompt:</a:t>
            </a:r>
          </a:p>
          <a:p>
            <a:r>
              <a:t>A reasoning ladder. Bottom rung: incident evidence. Next: retrieved doctrine and partner context. Next: CG and CV. Next: candidate effects. Top: recommended effect with citations and rollback plan.</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Effects Advisor is valuable only if the output can move. A partner should be able to read the package, understand the target, see the evidence, know the recommended effect, and understand rollback. That is why schema matters."</a:t>
            </a:r>
          </a:p>
          <a:p/>
          <a:p>
            <a:r>
              <a:t>Show:</a:t>
            </a:r>
          </a:p>
          <a:p>
            <a:r>
              <a:t>The six sections and tie them back to the handoff package.</a:t>
            </a:r>
          </a:p>
          <a:p/>
          <a:p>
            <a:r>
              <a:t>Do:</a:t>
            </a:r>
          </a:p>
          <a:p>
            <a:r>
              <a:t>Ask students which section would fail first if the agent had no partner-contact corpus.</a:t>
            </a:r>
          </a:p>
          <a:p/>
          <a:p>
            <a:r>
              <a:t>Image Prompt:</a:t>
            </a:r>
          </a:p>
          <a:p>
            <a:r>
              <a:t>A JSON handoff package rendered as a clean document with six labeled sections. The `partner_tasking` section is highlighted and expands to show `recommended_effect`, `justification`, `cg`, `cv`, and `citations`.</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"Today you build the architecture well. Tomorrow you hunt for where the adversary built it badly. The corpus, tools, loop, schema, and audit log you implement today become your target-analysis checklist tomorrow."</a:t>
            </a:r>
          </a:p>
          <a:p/>
          <a:p>
            <a:r>
              <a:t>Show:</a:t>
            </a:r>
          </a:p>
          <a:p>
            <a:r>
              <a:t>The Day 4-to-Day 5 roadmap.</a:t>
            </a:r>
          </a:p>
          <a:p/>
          <a:p>
            <a:r>
              <a:t>Do:</a:t>
            </a:r>
          </a:p>
          <a:p>
            <a:r>
              <a:t>Release to the Effects Advisor lab and remind students that the guardrail cheatsheet is not paperwork; it is the field guide for later adversary-agent work.</a:t>
            </a:r>
          </a:p>
          <a:p/>
          <a:p>
            <a:r>
              <a:t>Image Prompt:</a:t>
            </a:r>
          </a:p>
          <a:p>
            <a:r>
              <a:t>Dual-use guardrail graphic. Build lane: Index corpus → retrieve → tool call → recommend effect → audit package. Inspection lane: the same five controls (tool list, argument filter, turn cap, schema, audit) as the surface an operator inspects. Caption: "Controls you implement are also the inspection surface." No today/tomorrow, no Day labels, no Module IDs.</a:t>
            </a:r>
          </a:p>
          <a:p/>
          <a:p>
            <a:r>
              <a:t>Ask (Q):</a:t>
            </a:r>
          </a:p>
          <a:p>
            <a:r>
              <a:t>What is the operational takeaway from this row?</a:t>
            </a:r>
          </a:p>
          <a:p>
            <a:r>
              <a:t>What would make you trust an automated recommendation enough to brief it?</a:t>
            </a:r>
          </a:p>
          <a:p>
            <a:r>
              <a:t>What is the operational takeaway from this row?</a:t>
            </a:r>
          </a:p>
          <a:p>
            <a:r>
              <a:t>If the model cites a source chunk, does that make the answer correct?</a:t>
            </a:r>
          </a:p>
          <a:p/>
          <a:p>
            <a:r>
              <a:t>Expected Response (A):</a:t>
            </a:r>
          </a:p>
          <a:p>
            <a:r>
              <a:t>Facilitation. Restate the Say/Do in operator terms. Do not invent a new teaching point.</a:t>
            </a:r>
          </a:p>
          <a:p>
            <a:r>
              <a:t>## Lesson summary</a:t>
            </a:r>
          </a:p>
          <a:p>
            <a:r>
              <a:t>B04.M15-agent-tool-use-rag is executed as a generated lesson plan from this file.</a:t>
            </a:r>
          </a:p>
          <a:p>
            <a:r>
              <a:t>Assessment methods live on module.yaml; do not invent extra official ELOs.</a:t>
            </a:r>
          </a:p>
          <a:p>
            <a:r>
              <a:t>Later practice in this Block continues from the product this session collects.</a:t>
            </a:r>
          </a:p>
          <a:p>
            <a:r>
              <a:t>## Questions and check on learning</a:t>
            </a:r>
          </a:p>
          <a:p>
            <a:r>
              <a:t>Facilitation. Use the Say/Do already on this row; do not force a single keyed answer.</a:t>
            </a:r>
          </a:p>
          <a:p>
            <a:r>
              <a:t>Facilitation. Restate the Say/Do in operator terms. Do not invent a new teaching point.</a:t>
            </a:r>
          </a:p>
          <a:p>
            <a:r>
              <a:t>citations make it reviewable, not automatically correct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45"/>
        <p:cNvGrpSpPr/>
        <p:nvPr/>
      </p:nvGrpSpPr>
      <p:grpSpPr>
        <a:xfrm>
          <a:off x="0" y="0"/>
          <a:ext cx="0" cy="0"/>
          <a:chOff x="0" y="0"/>
          <a:chExt cx="0" cy="0"/>
        </a:xfrm>
      </p:grpSpPr>
      <p:sp>
        <p:nvSpPr>
          <p:cNvPr id="46" name="Google Shape;46;p79"/>
          <p:cNvSpPr txBox="1">
            <a:spLocks noGrp="1"/>
          </p:cNvSpPr>
          <p:nvPr>
            <p:ph type="ctrTitle"/>
          </p:nvPr>
        </p:nvSpPr>
        <p:spPr>
          <a:xfrm>
            <a:off x="2062480" y="898843"/>
            <a:ext cx="9144000" cy="23876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40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a:p>
        </p:txBody>
      </p:sp>
      <p:sp>
        <p:nvSpPr>
          <p:cNvPr id="89"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47"/>
        <p:cNvGrpSpPr/>
        <p:nvPr/>
      </p:nvGrpSpPr>
      <p:grpSpPr>
        <a:xfrm>
          <a:off x="0" y="0"/>
          <a:ext cx="0" cy="0"/>
          <a:chOff x="0" y="0"/>
          <a:chExt cx="0" cy="0"/>
        </a:xfrm>
      </p:grpSpPr>
      <p:sp>
        <p:nvSpPr>
          <p:cNvPr id="48" name="Google Shape;48;p80"/>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49" name="Google Shape;49;p80"/>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50" name="Google Shape;50;p80"/>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51" name="Google Shape;51;p80"/>
          <p:cNvSpPr txBox="1">
            <a:spLocks noGrp="1"/>
          </p:cNvSpPr>
          <p:nvPr>
            <p:ph type="title"/>
          </p:nvPr>
        </p:nvSpPr>
        <p:spPr>
          <a:xfrm>
            <a:off x="1510029" y="437317"/>
            <a:ext cx="10681971"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0"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2"/>
        <p:cNvGrpSpPr/>
        <p:nvPr/>
      </p:nvGrpSpPr>
      <p:grpSpPr>
        <a:xfrm>
          <a:off x="0" y="0"/>
          <a:ext cx="0" cy="0"/>
          <a:chOff x="0" y="0"/>
          <a:chExt cx="0" cy="0"/>
        </a:xfrm>
      </p:grpSpPr>
      <p:sp>
        <p:nvSpPr>
          <p:cNvPr id="53" name="Google Shape;53;p82"/>
          <p:cNvSpPr txBox="1">
            <a:spLocks noGrp="1"/>
          </p:cNvSpPr>
          <p:nvPr>
            <p:ph type="title"/>
          </p:nvPr>
        </p:nvSpPr>
        <p:spPr>
          <a:xfrm>
            <a:off x="1723854" y="549275"/>
            <a:ext cx="9963493" cy="28528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54" name="Google Shape;54;p82"/>
          <p:cNvSpPr txBox="1">
            <a:spLocks noGrp="1"/>
          </p:cNvSpPr>
          <p:nvPr>
            <p:ph type="body" idx="1"/>
          </p:nvPr>
        </p:nvSpPr>
        <p:spPr>
          <a:xfrm>
            <a:off x="1723854" y="3429000"/>
            <a:ext cx="9963493" cy="2128400"/>
          </a:xfrm>
          <a:prstGeom prst="rect">
            <a:avLst/>
          </a:prstGeom>
          <a:noFill/>
          <a:ln>
            <a:noFill/>
          </a:ln>
        </p:spPr>
        <p:txBody>
          <a:bodyPr spcFirstLastPara="1" wrap="square" lIns="91425" tIns="91425" rIns="91425" bIns="91425" anchor="t" anchorCtr="0">
            <a:noAutofit/>
          </a:bodyPr>
          <a:lstStyle>
            <a:lvl1pPr marL="457200" marR="0" lvl="0" indent="-228600" algn="ctr">
              <a:lnSpc>
                <a:spcPct val="90000"/>
              </a:lnSpc>
              <a:spcBef>
                <a:spcPts val="800"/>
              </a:spcBef>
              <a:spcAft>
                <a:spcPts val="0"/>
              </a:spcAft>
              <a:buClr>
                <a:srgbClr val="888888"/>
              </a:buClr>
              <a:buSzPts val="1600"/>
              <a:buFont typeface="Arial"/>
              <a:buNone/>
              <a:defRPr sz="1800" b="0" i="0" u="none" strike="noStrike" cap="none">
                <a:solidFill>
                  <a:srgbClr val="888888"/>
                </a:solidFill>
                <a:latin typeface="Arial"/>
                <a:ea typeface="Arial"/>
                <a:cs typeface="Arial"/>
                <a:sym typeface="Arial"/>
              </a:defRPr>
            </a:lvl1pPr>
            <a:lvl2pPr marL="914400" marR="0" lvl="1" indent="-228600" algn="l">
              <a:lnSpc>
                <a:spcPct val="90000"/>
              </a:lnSpc>
              <a:spcBef>
                <a:spcPts val="400"/>
              </a:spcBef>
              <a:spcAft>
                <a:spcPts val="0"/>
              </a:spcAft>
              <a:buClr>
                <a:srgbClr val="888888"/>
              </a:buClr>
              <a:buSzPts val="1400"/>
              <a:buFont typeface="Arial"/>
              <a:buNone/>
              <a:defRPr sz="1467"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100"/>
              <a:buFont typeface="Arial"/>
              <a:buNone/>
              <a:defRPr sz="1333"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91"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5"/>
        <p:cNvGrpSpPr/>
        <p:nvPr/>
      </p:nvGrpSpPr>
      <p:grpSpPr>
        <a:xfrm>
          <a:off x="0" y="0"/>
          <a:ext cx="0" cy="0"/>
          <a:chOff x="0" y="0"/>
          <a:chExt cx="0" cy="0"/>
        </a:xfrm>
      </p:grpSpPr>
      <p:sp>
        <p:nvSpPr>
          <p:cNvPr id="56" name="Google Shape;56;p83"/>
          <p:cNvSpPr txBox="1">
            <a:spLocks noGrp="1"/>
          </p:cNvSpPr>
          <p:nvPr>
            <p:ph type="title"/>
          </p:nvPr>
        </p:nvSpPr>
        <p:spPr>
          <a:xfrm>
            <a:off x="1363362" y="952052"/>
            <a:ext cx="10142837" cy="622748"/>
          </a:xfrm>
          <a:prstGeom prst="rect">
            <a:avLst/>
          </a:prstGeom>
          <a:noFill/>
          <a:ln>
            <a:noFill/>
          </a:ln>
        </p:spPr>
        <p:txBody>
          <a:bodyPr spcFirstLastPara="1" wrap="square" lIns="91425" tIns="91425" rIns="91425" bIns="91425" anchor="b" anchorCtr="0">
            <a:noAutofit/>
          </a:bodyPr>
          <a:lstStyle>
            <a:lvl1pPr marR="0" lvl="0" algn="l">
              <a:lnSpc>
                <a:spcPct val="90000"/>
              </a:lnSpc>
              <a:spcBef>
                <a:spcPts val="0"/>
              </a:spcBef>
              <a:spcAft>
                <a:spcPts val="0"/>
              </a:spcAft>
              <a:buClr>
                <a:schemeClr val="dk1"/>
              </a:buClr>
              <a:buSzPts val="1100"/>
              <a:buFont typeface="Arial"/>
              <a:buNone/>
              <a:defRPr sz="32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57" name="Google Shape;57;p83"/>
          <p:cNvSpPr txBox="1">
            <a:spLocks noGrp="1"/>
          </p:cNvSpPr>
          <p:nvPr>
            <p:ph type="body" idx="1"/>
          </p:nvPr>
        </p:nvSpPr>
        <p:spPr>
          <a:xfrm>
            <a:off x="4720611" y="1574799"/>
            <a:ext cx="7091600" cy="4781253"/>
          </a:xfrm>
          <a:prstGeom prst="rect">
            <a:avLst/>
          </a:prstGeom>
          <a:noFill/>
          <a:ln>
            <a:noFill/>
          </a:ln>
        </p:spPr>
        <p:txBody>
          <a:bodyPr spcFirstLastPara="1" wrap="square" lIns="91425" tIns="91425" rIns="91425" bIns="91425" anchor="t" anchorCtr="0">
            <a:noAutofit/>
          </a:bodyPr>
          <a:lstStyle>
            <a:lvl1pPr marL="457200" marR="0" lvl="0" indent="-342900" algn="l">
              <a:lnSpc>
                <a:spcPct val="90000"/>
              </a:lnSpc>
              <a:spcBef>
                <a:spcPts val="800"/>
              </a:spcBef>
              <a:spcAft>
                <a:spcPts val="0"/>
              </a:spcAft>
              <a:buClr>
                <a:schemeClr val="dk1"/>
              </a:buClr>
              <a:buSzPts val="1800"/>
              <a:buFont typeface="Arial"/>
              <a:buChar char="•"/>
              <a:defRPr sz="2667" b="0" i="0" u="none" strike="noStrike" cap="none">
                <a:solidFill>
                  <a:srgbClr val="00004C"/>
                </a:solidFill>
                <a:latin typeface="Arial"/>
                <a:ea typeface="Arial"/>
                <a:cs typeface="Arial"/>
                <a:sym typeface="Arial"/>
              </a:defRPr>
            </a:lvl1pPr>
            <a:lvl2pPr marL="914400" marR="0" lvl="1" indent="-330200" algn="l">
              <a:lnSpc>
                <a:spcPct val="90000"/>
              </a:lnSpc>
              <a:spcBef>
                <a:spcPts val="4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2pPr>
            <a:lvl3pPr marL="1371600" marR="0" lvl="2" indent="-317500" algn="l">
              <a:lnSpc>
                <a:spcPct val="90000"/>
              </a:lnSpc>
              <a:spcBef>
                <a:spcPts val="400"/>
              </a:spcBef>
              <a:spcAft>
                <a:spcPts val="0"/>
              </a:spcAft>
              <a:buClr>
                <a:schemeClr val="dk1"/>
              </a:buClr>
              <a:buSzPts val="1400"/>
              <a:buFont typeface="Arial"/>
              <a:buChar char="•"/>
              <a:defRPr sz="2133" b="0" i="0" u="none" strike="noStrike" cap="none">
                <a:solidFill>
                  <a:srgbClr val="00004C"/>
                </a:solidFill>
                <a:latin typeface="Arial"/>
                <a:ea typeface="Arial"/>
                <a:cs typeface="Arial"/>
                <a:sym typeface="Arial"/>
              </a:defRPr>
            </a:lvl3pPr>
            <a:lvl4pPr marL="1828800" marR="0" lvl="3"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4pPr>
            <a:lvl5pPr marL="2286000" marR="0" lvl="4"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5pPr>
            <a:lvl6pPr marL="2743200" marR="0" lvl="5"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6pPr>
            <a:lvl7pPr marL="3200400" marR="0" lvl="6"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7pPr>
            <a:lvl8pPr marL="3657600" marR="0" lvl="7"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8pPr>
            <a:lvl9pPr marL="4114800" marR="0" lvl="8"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9pPr>
          </a:lstStyle>
          <a:p>
            <a:endParaRPr dirty="0"/>
          </a:p>
        </p:txBody>
      </p:sp>
      <p:sp>
        <p:nvSpPr>
          <p:cNvPr id="58" name="Google Shape;58;p83"/>
          <p:cNvSpPr txBox="1">
            <a:spLocks noGrp="1"/>
          </p:cNvSpPr>
          <p:nvPr>
            <p:ph type="body" idx="2"/>
          </p:nvPr>
        </p:nvSpPr>
        <p:spPr>
          <a:xfrm>
            <a:off x="1363363" y="1582599"/>
            <a:ext cx="3098248" cy="4781253"/>
          </a:xfrm>
          <a:prstGeom prst="rect">
            <a:avLst/>
          </a:prstGeom>
          <a:noFill/>
          <a:ln>
            <a:noFill/>
          </a:ln>
        </p:spPr>
        <p:txBody>
          <a:bodyPr spcFirstLastPara="1" wrap="square" lIns="91425" tIns="91425" rIns="91425" bIns="91425" anchor="t" anchorCtr="0">
            <a:noAutofit/>
          </a:bodyPr>
          <a:lstStyle>
            <a:lvl1pPr marL="457200" marR="0" lvl="0" indent="-228600" algn="l">
              <a:lnSpc>
                <a:spcPct val="90000"/>
              </a:lnSpc>
              <a:spcBef>
                <a:spcPts val="800"/>
              </a:spcBef>
              <a:spcAft>
                <a:spcPts val="0"/>
              </a:spcAft>
              <a:buClr>
                <a:schemeClr val="dk1"/>
              </a:buClr>
              <a:buSzPts val="1600"/>
              <a:buFont typeface="Arial" panose="020B0604020202020204" pitchFamily="34" charset="0"/>
              <a:buChar char="•"/>
              <a:defRPr sz="1867" b="0"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067" b="0"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933" b="0"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9pPr>
          </a:lstStyle>
          <a:p>
            <a:endParaRPr dirty="0"/>
          </a:p>
        </p:txBody>
      </p:sp>
      <p:sp>
        <p:nvSpPr>
          <p:cNvPr id="92"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59"/>
        <p:cNvGrpSpPr/>
        <p:nvPr/>
      </p:nvGrpSpPr>
      <p:grpSpPr>
        <a:xfrm>
          <a:off x="0" y="0"/>
          <a:ext cx="0" cy="0"/>
          <a:chOff x="0" y="0"/>
          <a:chExt cx="0" cy="0"/>
        </a:xfrm>
      </p:grpSpPr>
      <p:sp>
        <p:nvSpPr>
          <p:cNvPr id="60" name="Google Shape;60;p84"/>
          <p:cNvSpPr txBox="1">
            <a:spLocks noGrp="1"/>
          </p:cNvSpPr>
          <p:nvPr>
            <p:ph type="title"/>
          </p:nvPr>
        </p:nvSpPr>
        <p:spPr>
          <a:xfrm>
            <a:off x="1723854" y="549275"/>
            <a:ext cx="9963493" cy="28528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a:p>
        </p:txBody>
      </p:sp>
      <p:sp>
        <p:nvSpPr>
          <p:cNvPr id="93"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p:cSld name="1_Title and Content 2">
    <p:spTree>
      <p:nvGrpSpPr>
        <p:cNvPr id="1" name="Shape 61"/>
        <p:cNvGrpSpPr/>
        <p:nvPr/>
      </p:nvGrpSpPr>
      <p:grpSpPr>
        <a:xfrm>
          <a:off x="0" y="0"/>
          <a:ext cx="0" cy="0"/>
          <a:chOff x="0" y="0"/>
          <a:chExt cx="0" cy="0"/>
        </a:xfrm>
      </p:grpSpPr>
      <p:sp>
        <p:nvSpPr>
          <p:cNvPr id="62" name="Google Shape;62;p85"/>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63" name="Google Shape;63;p85"/>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4" name="Google Shape;64;p85"/>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5" name="Google Shape;65;p85"/>
          <p:cNvSpPr txBox="1">
            <a:spLocks noGrp="1"/>
          </p:cNvSpPr>
          <p:nvPr>
            <p:ph type="title"/>
          </p:nvPr>
        </p:nvSpPr>
        <p:spPr>
          <a:xfrm>
            <a:off x="1510029" y="429225"/>
            <a:ext cx="10666596"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4"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86"/>
          <p:cNvSpPr txBox="1">
            <a:spLocks noGrp="1"/>
          </p:cNvSpPr>
          <p:nvPr>
            <p:ph type="body" idx="1"/>
          </p:nvPr>
        </p:nvSpPr>
        <p:spPr>
          <a:xfrm>
            <a:off x="1141622" y="1000540"/>
            <a:ext cx="4874101" cy="476800"/>
          </a:xfrm>
          <a:prstGeom prst="rect">
            <a:avLst/>
          </a:prstGeom>
          <a:noFill/>
          <a:ln>
            <a:noFill/>
          </a:ln>
        </p:spPr>
        <p:txBody>
          <a:bodyPr spcFirstLastPara="1" wrap="square" lIns="91425" tIns="91425" rIns="91425" bIns="91425" anchor="b" anchorCtr="0">
            <a:noAutofit/>
          </a:bodyPr>
          <a:lstStyle>
            <a:lvl1pPr marL="457200" marR="0" lvl="0" indent="-228600" algn="ctr">
              <a:lnSpc>
                <a:spcPct val="90000"/>
              </a:lnSpc>
              <a:spcBef>
                <a:spcPts val="800"/>
              </a:spcBef>
              <a:spcAft>
                <a:spcPts val="0"/>
              </a:spcAft>
              <a:buClr>
                <a:schemeClr val="dk1"/>
              </a:buClr>
              <a:buSzPts val="1600"/>
              <a:buFont typeface="Arial"/>
              <a:buNone/>
              <a:defRPr sz="2133" b="1"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467" b="1"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1333" b="1"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9pPr>
          </a:lstStyle>
          <a:p>
            <a:endParaRPr dirty="0"/>
          </a:p>
        </p:txBody>
      </p:sp>
      <p:sp>
        <p:nvSpPr>
          <p:cNvPr id="68" name="Google Shape;68;p86"/>
          <p:cNvSpPr txBox="1">
            <a:spLocks noGrp="1"/>
          </p:cNvSpPr>
          <p:nvPr>
            <p:ph type="body" idx="2"/>
          </p:nvPr>
        </p:nvSpPr>
        <p:spPr>
          <a:xfrm>
            <a:off x="1141621" y="1582321"/>
            <a:ext cx="4854344" cy="4826000"/>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1867" b="0" i="0" u="none" strike="noStrike" cap="none">
                <a:solidFill>
                  <a:srgbClr val="00004C"/>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6pPr>
            <a:lvl7pPr marL="3200400" marR="0" lvl="6"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Calibri"/>
                <a:ea typeface="Calibri"/>
                <a:cs typeface="Calibri"/>
                <a:sym typeface="Calibri"/>
              </a:defRPr>
            </a:lvl9pPr>
          </a:lstStyle>
          <a:p>
            <a:endParaRPr dirty="0"/>
          </a:p>
        </p:txBody>
      </p:sp>
      <p:sp>
        <p:nvSpPr>
          <p:cNvPr id="69" name="Google Shape;69;p86"/>
          <p:cNvSpPr txBox="1">
            <a:spLocks noGrp="1"/>
          </p:cNvSpPr>
          <p:nvPr>
            <p:ph type="body" idx="3"/>
          </p:nvPr>
        </p:nvSpPr>
        <p:spPr>
          <a:xfrm>
            <a:off x="6195272" y="1000540"/>
            <a:ext cx="5603200" cy="490000"/>
          </a:xfrm>
          <a:prstGeom prst="rect">
            <a:avLst/>
          </a:prstGeom>
          <a:noFill/>
          <a:ln>
            <a:noFill/>
          </a:ln>
        </p:spPr>
        <p:txBody>
          <a:bodyPr spcFirstLastPara="1" wrap="square" lIns="91425" tIns="91425" rIns="91425" bIns="91425" anchor="b" anchorCtr="0">
            <a:noAutofit/>
          </a:bodyPr>
          <a:lstStyle>
            <a:lvl1pPr marL="457200" marR="0" lvl="0" indent="-228600" algn="ctr">
              <a:lnSpc>
                <a:spcPct val="90000"/>
              </a:lnSpc>
              <a:spcBef>
                <a:spcPts val="800"/>
              </a:spcBef>
              <a:spcAft>
                <a:spcPts val="0"/>
              </a:spcAft>
              <a:buClr>
                <a:schemeClr val="dk1"/>
              </a:buClr>
              <a:buSzPts val="1600"/>
              <a:buFont typeface="Arial"/>
              <a:buNone/>
              <a:defRPr sz="2133" b="1"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467" b="1"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1333" b="1"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9pPr>
          </a:lstStyle>
          <a:p>
            <a:endParaRPr/>
          </a:p>
        </p:txBody>
      </p:sp>
      <p:sp>
        <p:nvSpPr>
          <p:cNvPr id="70" name="Google Shape;70;p86"/>
          <p:cNvSpPr txBox="1">
            <a:spLocks noGrp="1"/>
          </p:cNvSpPr>
          <p:nvPr>
            <p:ph type="body" idx="4"/>
          </p:nvPr>
        </p:nvSpPr>
        <p:spPr>
          <a:xfrm>
            <a:off x="6199877" y="1582323"/>
            <a:ext cx="5598400" cy="4826000"/>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1867" b="0" i="0" u="none" strike="noStrike" cap="none">
                <a:solidFill>
                  <a:srgbClr val="00004C"/>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6pPr>
            <a:lvl7pPr marL="3200400" marR="0" lvl="6"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Calibri"/>
                <a:ea typeface="Calibri"/>
                <a:cs typeface="Calibri"/>
                <a:sym typeface="Calibri"/>
              </a:defRPr>
            </a:lvl9pPr>
          </a:lstStyle>
          <a:p>
            <a:endParaRPr dirty="0"/>
          </a:p>
        </p:txBody>
      </p:sp>
      <p:cxnSp>
        <p:nvCxnSpPr>
          <p:cNvPr id="71" name="Google Shape;71;p86"/>
          <p:cNvCxnSpPr/>
          <p:nvPr/>
        </p:nvCxnSpPr>
        <p:spPr>
          <a:xfrm>
            <a:off x="1141622" y="974035"/>
            <a:ext cx="10830241" cy="0"/>
          </a:xfrm>
          <a:prstGeom prst="straightConnector1">
            <a:avLst/>
          </a:prstGeom>
          <a:noFill/>
          <a:ln w="9525" cap="flat" cmpd="sng">
            <a:solidFill>
              <a:srgbClr val="BFBFBF"/>
            </a:solidFill>
            <a:prstDash val="solid"/>
            <a:miter lim="0"/>
            <a:headEnd type="none" w="sm" len="sm"/>
            <a:tailEnd type="none" w="sm" len="sm"/>
          </a:ln>
        </p:spPr>
      </p:cxnSp>
      <p:cxnSp>
        <p:nvCxnSpPr>
          <p:cNvPr id="72" name="Google Shape;72;p86"/>
          <p:cNvCxnSpPr/>
          <p:nvPr/>
        </p:nvCxnSpPr>
        <p:spPr>
          <a:xfrm>
            <a:off x="6095137" y="974035"/>
            <a:ext cx="800" cy="5382400"/>
          </a:xfrm>
          <a:prstGeom prst="straightConnector1">
            <a:avLst/>
          </a:prstGeom>
          <a:noFill/>
          <a:ln w="9525" cap="flat" cmpd="sng">
            <a:solidFill>
              <a:srgbClr val="BFBFBF"/>
            </a:solidFill>
            <a:prstDash val="solid"/>
            <a:miter lim="0"/>
            <a:headEnd type="none" w="sm" len="sm"/>
            <a:tailEnd type="none" w="sm" len="sm"/>
          </a:ln>
        </p:spPr>
      </p:cxnSp>
      <p:cxnSp>
        <p:nvCxnSpPr>
          <p:cNvPr id="73" name="Google Shape;73;p86"/>
          <p:cNvCxnSpPr/>
          <p:nvPr/>
        </p:nvCxnSpPr>
        <p:spPr>
          <a:xfrm>
            <a:off x="1141621" y="1504121"/>
            <a:ext cx="10830240" cy="0"/>
          </a:xfrm>
          <a:prstGeom prst="straightConnector1">
            <a:avLst/>
          </a:prstGeom>
          <a:noFill/>
          <a:ln w="9525" cap="flat" cmpd="sng">
            <a:solidFill>
              <a:srgbClr val="BFBFBF"/>
            </a:solidFill>
            <a:prstDash val="solid"/>
            <a:miter lim="0"/>
            <a:headEnd type="none" w="sm" len="sm"/>
            <a:tailEnd type="none" w="sm" len="sm"/>
          </a:ln>
        </p:spPr>
      </p:cxnSp>
      <p:sp>
        <p:nvSpPr>
          <p:cNvPr id="74" name="Google Shape;74;p86"/>
          <p:cNvSpPr txBox="1">
            <a:spLocks noGrp="1"/>
          </p:cNvSpPr>
          <p:nvPr>
            <p:ph type="title"/>
          </p:nvPr>
        </p:nvSpPr>
        <p:spPr>
          <a:xfrm>
            <a:off x="1141621" y="326173"/>
            <a:ext cx="10656656" cy="641072"/>
          </a:xfrm>
          <a:prstGeom prst="rect">
            <a:avLst/>
          </a:prstGeom>
          <a:noFill/>
          <a:ln>
            <a:noFill/>
          </a:ln>
        </p:spPr>
        <p:txBody>
          <a:bodyPr spcFirstLastPara="1" wrap="square" lIns="91425" tIns="91425" rIns="91425" bIns="91425" anchor="ctr" anchorCtr="0">
            <a:noAutofit/>
          </a:bodyPr>
          <a:lstStyle>
            <a:lvl1pPr marR="0" lvl="0" algn="l">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5"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5"/>
        <p:cNvGrpSpPr/>
        <p:nvPr/>
      </p:nvGrpSpPr>
      <p:grpSpPr>
        <a:xfrm>
          <a:off x="0" y="0"/>
          <a:ext cx="0" cy="0"/>
          <a:chOff x="0" y="0"/>
          <a:chExt cx="0" cy="0"/>
        </a:xfrm>
      </p:grpSpPr>
      <p:sp>
        <p:nvSpPr>
          <p:cNvPr id="76" name="Google Shape;76;p87"/>
          <p:cNvSpPr txBox="1">
            <a:spLocks noGrp="1"/>
          </p:cNvSpPr>
          <p:nvPr>
            <p:ph type="title"/>
          </p:nvPr>
        </p:nvSpPr>
        <p:spPr>
          <a:xfrm>
            <a:off x="1301577" y="458775"/>
            <a:ext cx="10467243" cy="684225"/>
          </a:xfrm>
          <a:prstGeom prst="rect">
            <a:avLst/>
          </a:prstGeom>
          <a:noFill/>
          <a:ln>
            <a:noFill/>
          </a:ln>
        </p:spPr>
        <p:txBody>
          <a:bodyPr spcFirstLastPara="1" wrap="square" lIns="91425" tIns="91425" rIns="91425" bIns="91425" anchor="b" anchorCtr="0">
            <a:noAutofit/>
          </a:bodyPr>
          <a:lstStyle>
            <a:lvl1pPr marR="0" lvl="0" algn="l">
              <a:lnSpc>
                <a:spcPct val="90000"/>
              </a:lnSpc>
              <a:spcBef>
                <a:spcPts val="0"/>
              </a:spcBef>
              <a:spcAft>
                <a:spcPts val="0"/>
              </a:spcAft>
              <a:buClr>
                <a:schemeClr val="dk1"/>
              </a:buClr>
              <a:buSzPts val="1100"/>
              <a:buFont typeface="Arial"/>
              <a:buNone/>
              <a:defRPr sz="32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77" name="Google Shape;77;p87"/>
          <p:cNvSpPr>
            <a:spLocks noGrp="1"/>
          </p:cNvSpPr>
          <p:nvPr>
            <p:ph type="pic" idx="2"/>
          </p:nvPr>
        </p:nvSpPr>
        <p:spPr>
          <a:xfrm>
            <a:off x="4666821" y="1142999"/>
            <a:ext cx="7102000" cy="5256025"/>
          </a:xfrm>
          <a:prstGeom prst="rect">
            <a:avLst/>
          </a:prstGeom>
          <a:noFill/>
          <a:ln>
            <a:noFill/>
          </a:ln>
        </p:spPr>
        <p:txBody>
          <a:bodyPr/>
          <a:lstStyle/>
          <a:p>
            <a:endParaRPr/>
          </a:p>
        </p:txBody>
      </p:sp>
      <p:sp>
        <p:nvSpPr>
          <p:cNvPr id="78" name="Google Shape;78;p87"/>
          <p:cNvSpPr txBox="1">
            <a:spLocks noGrp="1"/>
          </p:cNvSpPr>
          <p:nvPr>
            <p:ph type="body" idx="1"/>
          </p:nvPr>
        </p:nvSpPr>
        <p:spPr>
          <a:xfrm>
            <a:off x="1301578" y="1142999"/>
            <a:ext cx="3061420" cy="5256226"/>
          </a:xfrm>
          <a:prstGeom prst="rect">
            <a:avLst/>
          </a:prstGeom>
          <a:noFill/>
          <a:ln>
            <a:noFill/>
          </a:ln>
        </p:spPr>
        <p:txBody>
          <a:bodyPr spcFirstLastPara="1" wrap="square" lIns="91425" tIns="91425" rIns="91425" bIns="91425" anchor="t" anchorCtr="0">
            <a:noAutofit/>
          </a:bodyPr>
          <a:lstStyle>
            <a:lvl1pPr marL="457200" lvl="0" indent="-330200" algn="l">
              <a:lnSpc>
                <a:spcPct val="90000"/>
              </a:lnSpc>
              <a:spcBef>
                <a:spcPts val="600"/>
              </a:spcBef>
              <a:spcAft>
                <a:spcPts val="0"/>
              </a:spcAft>
              <a:buSzPts val="1600"/>
              <a:buChar char="•"/>
              <a:defRPr sz="1867">
                <a:solidFill>
                  <a:srgbClr val="00004C"/>
                </a:solidFill>
                <a:latin typeface="Arial"/>
                <a:ea typeface="Arial"/>
                <a:cs typeface="Arial"/>
                <a:sym typeface="Arial"/>
              </a:defRPr>
            </a:lvl1pPr>
            <a:lvl2pPr marL="914400" lvl="1" indent="-317500" algn="l">
              <a:lnSpc>
                <a:spcPct val="90000"/>
              </a:lnSpc>
              <a:spcBef>
                <a:spcPts val="300"/>
              </a:spcBef>
              <a:spcAft>
                <a:spcPts val="0"/>
              </a:spcAft>
              <a:buSzPts val="1400"/>
              <a:buChar char="•"/>
              <a:defRPr/>
            </a:lvl2pPr>
            <a:lvl3pPr marL="1371600" lvl="2" indent="-298450" algn="l">
              <a:lnSpc>
                <a:spcPct val="90000"/>
              </a:lnSpc>
              <a:spcBef>
                <a:spcPts val="300"/>
              </a:spcBef>
              <a:spcAft>
                <a:spcPts val="0"/>
              </a:spcAft>
              <a:buSzPts val="1100"/>
              <a:buChar char="•"/>
              <a:defRPr/>
            </a:lvl3pPr>
            <a:lvl4pPr marL="1828800" lvl="3" indent="-292100" algn="l">
              <a:lnSpc>
                <a:spcPct val="90000"/>
              </a:lnSpc>
              <a:spcBef>
                <a:spcPts val="300"/>
              </a:spcBef>
              <a:spcAft>
                <a:spcPts val="0"/>
              </a:spcAft>
              <a:buSzPts val="1000"/>
              <a:buChar char="•"/>
              <a:defRPr/>
            </a:lvl4pPr>
            <a:lvl5pPr marL="2286000" lvl="4" indent="-292100" algn="l">
              <a:lnSpc>
                <a:spcPct val="90000"/>
              </a:lnSpc>
              <a:spcBef>
                <a:spcPts val="300"/>
              </a:spcBef>
              <a:spcAft>
                <a:spcPts val="0"/>
              </a:spcAft>
              <a:buSzPts val="1000"/>
              <a:buChar char="•"/>
              <a:defRPr/>
            </a:lvl5pPr>
            <a:lvl6pPr marL="2743200" lvl="5" indent="-292100" algn="l">
              <a:lnSpc>
                <a:spcPct val="90000"/>
              </a:lnSpc>
              <a:spcBef>
                <a:spcPts val="300"/>
              </a:spcBef>
              <a:spcAft>
                <a:spcPts val="0"/>
              </a:spcAft>
              <a:buSzPts val="1000"/>
              <a:buChar char="•"/>
              <a:defRPr/>
            </a:lvl6pPr>
            <a:lvl7pPr marL="3200400" lvl="6" indent="-292100" algn="l">
              <a:lnSpc>
                <a:spcPct val="90000"/>
              </a:lnSpc>
              <a:spcBef>
                <a:spcPts val="300"/>
              </a:spcBef>
              <a:spcAft>
                <a:spcPts val="0"/>
              </a:spcAft>
              <a:buSzPts val="1000"/>
              <a:buChar char="•"/>
              <a:defRPr/>
            </a:lvl7pPr>
            <a:lvl8pPr marL="3657600" lvl="7" indent="-292100" algn="l">
              <a:lnSpc>
                <a:spcPct val="90000"/>
              </a:lnSpc>
              <a:spcBef>
                <a:spcPts val="300"/>
              </a:spcBef>
              <a:spcAft>
                <a:spcPts val="0"/>
              </a:spcAft>
              <a:buSzPts val="1000"/>
              <a:buChar char="•"/>
              <a:defRPr/>
            </a:lvl8pPr>
            <a:lvl9pPr marL="4114800" lvl="8" indent="-292100" algn="l">
              <a:lnSpc>
                <a:spcPct val="90000"/>
              </a:lnSpc>
              <a:spcBef>
                <a:spcPts val="300"/>
              </a:spcBef>
              <a:spcAft>
                <a:spcPts val="0"/>
              </a:spcAft>
              <a:buSzPts val="1000"/>
              <a:buChar char="•"/>
              <a:defRPr/>
            </a:lvl9pPr>
          </a:lstStyle>
          <a:p>
            <a:endParaRPr/>
          </a:p>
        </p:txBody>
      </p:sp>
      <p:sp>
        <p:nvSpPr>
          <p:cNvPr id="96"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1_Title Slide">
  <p:cSld name="11_Title Slide">
    <p:spTree>
      <p:nvGrpSpPr>
        <p:cNvPr id="1" name="Shape 79"/>
        <p:cNvGrpSpPr/>
        <p:nvPr/>
      </p:nvGrpSpPr>
      <p:grpSpPr>
        <a:xfrm>
          <a:off x="0" y="0"/>
          <a:ext cx="0" cy="0"/>
          <a:chOff x="0" y="0"/>
          <a:chExt cx="0" cy="0"/>
        </a:xfrm>
      </p:grpSpPr>
      <p:sp>
        <p:nvSpPr>
          <p:cNvPr id="80" name="Google Shape;80;p88"/>
          <p:cNvSpPr txBox="1">
            <a:spLocks noGrp="1"/>
          </p:cNvSpPr>
          <p:nvPr>
            <p:ph type="sldNum" idx="12"/>
          </p:nvPr>
        </p:nvSpPr>
        <p:spPr>
          <a:xfrm>
            <a:off x="8737600" y="6356351"/>
            <a:ext cx="2844800" cy="3652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81"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ster Use">
  <p:cSld name="Master Use">
    <p:spTree>
      <p:nvGrpSpPr>
        <p:cNvPr id="1" name="Shape 82"/>
        <p:cNvGrpSpPr/>
        <p:nvPr/>
      </p:nvGrpSpPr>
      <p:grpSpPr>
        <a:xfrm>
          <a:off x="0" y="0"/>
          <a:ext cx="0" cy="0"/>
          <a:chOff x="0" y="0"/>
          <a:chExt cx="0" cy="0"/>
        </a:xfrm>
      </p:grpSpPr>
      <p:sp>
        <p:nvSpPr>
          <p:cNvPr id="83" name="Google Shape;83;p89"/>
          <p:cNvSpPr txBox="1">
            <a:spLocks noGrp="1"/>
          </p:cNvSpPr>
          <p:nvPr>
            <p:ph type="title"/>
          </p:nvPr>
        </p:nvSpPr>
        <p:spPr>
          <a:xfrm>
            <a:off x="1278542" y="429225"/>
            <a:ext cx="10898083"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7"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ontent">
  <p:cSld name="1_Title and Content 3">
    <p:spTree>
      <p:nvGrpSpPr>
        <p:cNvPr id="1" name="Shape 84"/>
        <p:cNvGrpSpPr/>
        <p:nvPr/>
      </p:nvGrpSpPr>
      <p:grpSpPr>
        <a:xfrm>
          <a:off x="0" y="0"/>
          <a:ext cx="0" cy="0"/>
          <a:chOff x="0" y="0"/>
          <a:chExt cx="0" cy="0"/>
        </a:xfrm>
      </p:grpSpPr>
      <p:sp>
        <p:nvSpPr>
          <p:cNvPr id="85" name="Google Shape;85;p90"/>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86" name="Google Shape;86;p90"/>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87" name="Google Shape;87;p90"/>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88" name="Google Shape;88;p90"/>
          <p:cNvSpPr txBox="1">
            <a:spLocks noGrp="1"/>
          </p:cNvSpPr>
          <p:nvPr>
            <p:ph type="title"/>
          </p:nvPr>
        </p:nvSpPr>
        <p:spPr>
          <a:xfrm>
            <a:off x="1510029" y="429225"/>
            <a:ext cx="10666596"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8"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 Id="rId14" Type="http://schemas.openxmlformats.org/officeDocument/2006/relationships/image" Target="../media/image2.png"/><Relationship Id="rId15"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78"/>
          <p:cNvSpPr/>
          <p:nvPr/>
        </p:nvSpPr>
        <p:spPr>
          <a:xfrm>
            <a:off x="-1" y="-20168"/>
            <a:ext cx="12192000" cy="263700"/>
          </a:xfrm>
          <a:prstGeom prst="rect">
            <a:avLst/>
          </a:prstGeom>
          <a:solidFill>
            <a:schemeClr val="dk1"/>
          </a:solidFill>
          <a:ln>
            <a:noFill/>
          </a:ln>
          <a:effectLst>
            <a:outerShdw blurRad="40000" dist="20000" dir="5400000" rotWithShape="0">
              <a:srgbClr val="000000">
                <a:alpha val="3803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11" name="Google Shape;11;p78"/>
          <p:cNvSpPr/>
          <p:nvPr/>
        </p:nvSpPr>
        <p:spPr>
          <a:xfrm>
            <a:off x="1" y="243443"/>
            <a:ext cx="1128108" cy="6614557"/>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12" name="Google Shape;12;p78"/>
          <p:cNvSpPr txBox="1">
            <a:spLocks noGrp="1"/>
          </p:cNvSpPr>
          <p:nvPr>
            <p:ph type="title"/>
          </p:nvPr>
        </p:nvSpPr>
        <p:spPr>
          <a:xfrm>
            <a:off x="1189403" y="646322"/>
            <a:ext cx="10682000" cy="579876"/>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rgbClr val="000000"/>
              </a:buClr>
              <a:buSzPts val="1100"/>
              <a:buFont typeface="Arial"/>
              <a:buNone/>
              <a:defRPr sz="1600" b="1"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13" name="Google Shape;13;p78"/>
          <p:cNvSpPr txBox="1">
            <a:spLocks noGrp="1"/>
          </p:cNvSpPr>
          <p:nvPr>
            <p:ph type="body" idx="1"/>
          </p:nvPr>
        </p:nvSpPr>
        <p:spPr>
          <a:xfrm>
            <a:off x="1189401" y="1384879"/>
            <a:ext cx="10682000" cy="4858013"/>
          </a:xfrm>
          <a:prstGeom prst="rect">
            <a:avLst/>
          </a:prstGeom>
          <a:noFill/>
          <a:ln>
            <a:noFill/>
          </a:ln>
        </p:spPr>
        <p:txBody>
          <a:bodyPr spcFirstLastPara="1" wrap="square" lIns="91425" tIns="91425" rIns="91425" bIns="91425" anchor="t" anchorCtr="0">
            <a:noAutofit/>
          </a:bodyPr>
          <a:lstStyle>
            <a:lvl1pPr marL="457200" marR="0" lvl="0" indent="-330200" algn="l" rtl="0">
              <a:lnSpc>
                <a:spcPct val="90000"/>
              </a:lnSpc>
              <a:spcBef>
                <a:spcPts val="600"/>
              </a:spcBef>
              <a:spcAft>
                <a:spcPts val="0"/>
              </a:spcAft>
              <a:buClr>
                <a:srgbClr val="000000"/>
              </a:buClr>
              <a:buSzPts val="1600"/>
              <a:buFont typeface="Arial"/>
              <a:buChar char="•"/>
              <a:defRPr sz="1600" b="0" i="0" u="none" strike="noStrike" cap="none">
                <a:solidFill>
                  <a:srgbClr val="000000"/>
                </a:solidFill>
                <a:latin typeface="Arial"/>
                <a:ea typeface="Arial"/>
                <a:cs typeface="Arial"/>
                <a:sym typeface="Arial"/>
              </a:defRPr>
            </a:lvl1pPr>
            <a:lvl2pPr marL="914400" marR="0" lvl="1" indent="-317500" algn="l" rtl="0">
              <a:lnSpc>
                <a:spcPct val="90000"/>
              </a:lnSpc>
              <a:spcBef>
                <a:spcPts val="300"/>
              </a:spcBef>
              <a:spcAft>
                <a:spcPts val="0"/>
              </a:spcAft>
              <a:buClr>
                <a:srgbClr val="000000"/>
              </a:buClr>
              <a:buSzPts val="1400"/>
              <a:buFont typeface="Arial"/>
              <a:buChar char="•"/>
              <a:defRPr sz="1400" b="0" i="0" u="none" strike="noStrike" cap="none">
                <a:solidFill>
                  <a:srgbClr val="000000"/>
                </a:solidFill>
                <a:latin typeface="Arial"/>
                <a:ea typeface="Arial"/>
                <a:cs typeface="Arial"/>
                <a:sym typeface="Arial"/>
              </a:defRPr>
            </a:lvl2pPr>
            <a:lvl3pPr marL="1371600" marR="0" lvl="2" indent="-298450" algn="l" rtl="0">
              <a:lnSpc>
                <a:spcPct val="90000"/>
              </a:lnSpc>
              <a:spcBef>
                <a:spcPts val="30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4pPr>
            <a:lvl5pPr marL="2286000" marR="0" lvl="4"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5pPr>
            <a:lvl6pPr marL="2743200" marR="0" lvl="5"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6pPr>
            <a:lvl7pPr marL="3200400" marR="0" lvl="6"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7pPr>
            <a:lvl8pPr marL="3657600" marR="0" lvl="7"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8pPr>
            <a:lvl9pPr marL="4114800" marR="0" lvl="8"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9pPr>
          </a:lstStyle>
          <a:p>
            <a:endParaRPr/>
          </a:p>
        </p:txBody>
      </p:sp>
      <p:sp>
        <p:nvSpPr>
          <p:cNvPr id="14" name="Google Shape;14;p78"/>
          <p:cNvSpPr txBox="1">
            <a:spLocks noGrp="1"/>
          </p:cNvSpPr>
          <p:nvPr>
            <p:ph type="sldNum" idx="12"/>
          </p:nvPr>
        </p:nvSpPr>
        <p:spPr>
          <a:xfrm>
            <a:off x="10058399" y="6641435"/>
            <a:ext cx="2133600" cy="2248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5" name="Google Shape;15;p78"/>
          <p:cNvSpPr/>
          <p:nvPr/>
        </p:nvSpPr>
        <p:spPr>
          <a:xfrm>
            <a:off x="-2" y="6594389"/>
            <a:ext cx="12191999" cy="263611"/>
          </a:xfrm>
          <a:prstGeom prst="rect">
            <a:avLst/>
          </a:prstGeom>
          <a:solidFill>
            <a:schemeClr val="dk1"/>
          </a:solidFill>
          <a:ln>
            <a:noFill/>
          </a:ln>
          <a:effectLst>
            <a:outerShdw blurRad="40000" dist="20000" dir="5400000" rotWithShape="0">
              <a:srgbClr val="000000">
                <a:alpha val="3803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grpSp>
        <p:nvGrpSpPr>
          <p:cNvPr id="16" name="Google Shape;16;p78"/>
          <p:cNvGrpSpPr/>
          <p:nvPr/>
        </p:nvGrpSpPr>
        <p:grpSpPr>
          <a:xfrm>
            <a:off x="254537" y="37012"/>
            <a:ext cx="4123292" cy="140365"/>
            <a:chOff x="5526083" y="4992009"/>
            <a:chExt cx="3092469" cy="105274"/>
          </a:xfrm>
        </p:grpSpPr>
        <p:sp>
          <p:nvSpPr>
            <p:cNvPr id="17" name="Google Shape;17;p78"/>
            <p:cNvSpPr/>
            <p:nvPr/>
          </p:nvSpPr>
          <p:spPr>
            <a:xfrm>
              <a:off x="833915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8" name="Google Shape;18;p78"/>
            <p:cNvSpPr/>
            <p:nvPr/>
          </p:nvSpPr>
          <p:spPr>
            <a:xfrm>
              <a:off x="8059751"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9" name="Google Shape;19;p78"/>
            <p:cNvSpPr/>
            <p:nvPr/>
          </p:nvSpPr>
          <p:spPr>
            <a:xfrm>
              <a:off x="7773998"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0" name="Google Shape;20;p78"/>
            <p:cNvSpPr/>
            <p:nvPr/>
          </p:nvSpPr>
          <p:spPr>
            <a:xfrm>
              <a:off x="749459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1" name="Google Shape;21;p78"/>
            <p:cNvSpPr/>
            <p:nvPr/>
          </p:nvSpPr>
          <p:spPr>
            <a:xfrm>
              <a:off x="7215195"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2" name="Google Shape;22;p78"/>
            <p:cNvSpPr/>
            <p:nvPr/>
          </p:nvSpPr>
          <p:spPr>
            <a:xfrm>
              <a:off x="692944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3" name="Google Shape;23;p78"/>
            <p:cNvSpPr/>
            <p:nvPr/>
          </p:nvSpPr>
          <p:spPr>
            <a:xfrm>
              <a:off x="6650040"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4" name="Google Shape;24;p78"/>
            <p:cNvSpPr/>
            <p:nvPr/>
          </p:nvSpPr>
          <p:spPr>
            <a:xfrm>
              <a:off x="6370639"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5" name="Google Shape;25;p78"/>
            <p:cNvSpPr/>
            <p:nvPr/>
          </p:nvSpPr>
          <p:spPr>
            <a:xfrm>
              <a:off x="608488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6" name="Google Shape;26;p78"/>
            <p:cNvSpPr/>
            <p:nvPr/>
          </p:nvSpPr>
          <p:spPr>
            <a:xfrm>
              <a:off x="5805484"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7" name="Google Shape;27;p78"/>
            <p:cNvSpPr/>
            <p:nvPr/>
          </p:nvSpPr>
          <p:spPr>
            <a:xfrm>
              <a:off x="5526083"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grpSp>
      <p:sp>
        <p:nvSpPr>
          <p:cNvPr id="28" name="Google Shape;28;p78"/>
          <p:cNvSpPr txBox="1"/>
          <p:nvPr/>
        </p:nvSpPr>
        <p:spPr>
          <a:xfrm flipH="1">
            <a:off x="1043632" y="6366806"/>
            <a:ext cx="4211863" cy="22158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1" i="0" u="none" strike="noStrike" cap="none">
                <a:solidFill>
                  <a:srgbClr val="00B050"/>
                </a:solidFill>
                <a:latin typeface="Arial"/>
                <a:ea typeface="Arial"/>
                <a:cs typeface="Arial"/>
                <a:sym typeface="Arial"/>
              </a:rPr>
              <a:t>UNCLASSIFIED</a:t>
            </a:r>
            <a:endParaRPr sz="1400" b="0" i="0" u="none" strike="noStrike" cap="none">
              <a:solidFill>
                <a:srgbClr val="000000"/>
              </a:solidFill>
              <a:latin typeface="Arial"/>
              <a:ea typeface="Arial"/>
              <a:cs typeface="Arial"/>
              <a:sym typeface="Arial"/>
            </a:endParaRPr>
          </a:p>
        </p:txBody>
      </p:sp>
      <p:sp>
        <p:nvSpPr>
          <p:cNvPr id="29" name="Google Shape;29;p78"/>
          <p:cNvSpPr txBox="1"/>
          <p:nvPr/>
        </p:nvSpPr>
        <p:spPr>
          <a:xfrm>
            <a:off x="5482963" y="207088"/>
            <a:ext cx="6767512" cy="212103"/>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000000"/>
              </a:buClr>
              <a:buSzPts val="1200"/>
              <a:buFont typeface="Arial"/>
              <a:buNone/>
            </a:pPr>
            <a:r>
              <a:rPr lang="en-US" sz="1200" b="1" i="0" u="none" strike="noStrike" cap="none">
                <a:solidFill>
                  <a:srgbClr val="00B050"/>
                </a:solidFill>
                <a:latin typeface="Arial"/>
                <a:ea typeface="Arial"/>
                <a:cs typeface="Arial"/>
                <a:sym typeface="Arial"/>
              </a:rPr>
              <a:t>UNCLASSIFIED</a:t>
            </a:r>
            <a:endParaRPr sz="1400" b="0" i="0" u="none" strike="noStrike" cap="none">
              <a:solidFill>
                <a:srgbClr val="000000"/>
              </a:solidFill>
              <a:latin typeface="Arial"/>
              <a:ea typeface="Arial"/>
              <a:cs typeface="Arial"/>
              <a:sym typeface="Arial"/>
            </a:endParaRPr>
          </a:p>
        </p:txBody>
      </p:sp>
      <p:pic>
        <p:nvPicPr>
          <p:cNvPr id="30" name="Google Shape;30;p78"/>
          <p:cNvPicPr preferRelativeResize="0"/>
          <p:nvPr/>
        </p:nvPicPr>
        <p:blipFill rotWithShape="1">
          <a:blip r:embed="rId13">
            <a:alphaModFix/>
          </a:blip>
          <a:srcRect/>
          <a:stretch/>
        </p:blipFill>
        <p:spPr>
          <a:xfrm rot="-5400000">
            <a:off x="-2150855" y="3445521"/>
            <a:ext cx="5429815" cy="991170"/>
          </a:xfrm>
          <a:prstGeom prst="rect">
            <a:avLst/>
          </a:prstGeom>
          <a:noFill/>
          <a:ln>
            <a:noFill/>
          </a:ln>
        </p:spPr>
      </p:pic>
      <p:grpSp>
        <p:nvGrpSpPr>
          <p:cNvPr id="31" name="Google Shape;31;p78"/>
          <p:cNvGrpSpPr/>
          <p:nvPr/>
        </p:nvGrpSpPr>
        <p:grpSpPr>
          <a:xfrm>
            <a:off x="7996753" y="6659805"/>
            <a:ext cx="4123292" cy="140365"/>
            <a:chOff x="5526083" y="4992009"/>
            <a:chExt cx="3092469" cy="105274"/>
          </a:xfrm>
        </p:grpSpPr>
        <p:sp>
          <p:nvSpPr>
            <p:cNvPr id="32" name="Google Shape;32;p78"/>
            <p:cNvSpPr/>
            <p:nvPr/>
          </p:nvSpPr>
          <p:spPr>
            <a:xfrm>
              <a:off x="833915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3" name="Google Shape;33;p78"/>
            <p:cNvSpPr/>
            <p:nvPr/>
          </p:nvSpPr>
          <p:spPr>
            <a:xfrm>
              <a:off x="8059751"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4" name="Google Shape;34;p78"/>
            <p:cNvSpPr/>
            <p:nvPr/>
          </p:nvSpPr>
          <p:spPr>
            <a:xfrm>
              <a:off x="7773998"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5" name="Google Shape;35;p78"/>
            <p:cNvSpPr/>
            <p:nvPr/>
          </p:nvSpPr>
          <p:spPr>
            <a:xfrm>
              <a:off x="749459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6" name="Google Shape;36;p78"/>
            <p:cNvSpPr/>
            <p:nvPr/>
          </p:nvSpPr>
          <p:spPr>
            <a:xfrm>
              <a:off x="7215195"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7" name="Google Shape;37;p78"/>
            <p:cNvSpPr/>
            <p:nvPr/>
          </p:nvSpPr>
          <p:spPr>
            <a:xfrm>
              <a:off x="692944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8" name="Google Shape;38;p78"/>
            <p:cNvSpPr/>
            <p:nvPr/>
          </p:nvSpPr>
          <p:spPr>
            <a:xfrm>
              <a:off x="6650040"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9" name="Google Shape;39;p78"/>
            <p:cNvSpPr/>
            <p:nvPr/>
          </p:nvSpPr>
          <p:spPr>
            <a:xfrm>
              <a:off x="6370639"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0" name="Google Shape;40;p78"/>
            <p:cNvSpPr/>
            <p:nvPr/>
          </p:nvSpPr>
          <p:spPr>
            <a:xfrm>
              <a:off x="608488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1" name="Google Shape;41;p78"/>
            <p:cNvSpPr/>
            <p:nvPr/>
          </p:nvSpPr>
          <p:spPr>
            <a:xfrm>
              <a:off x="5805484"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2" name="Google Shape;42;p78"/>
            <p:cNvSpPr/>
            <p:nvPr/>
          </p:nvSpPr>
          <p:spPr>
            <a:xfrm>
              <a:off x="5526083"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grpSp>
      <p:pic>
        <p:nvPicPr>
          <p:cNvPr id="43" name="Google Shape;43;p78" title="ACTEC_Logo_v2_Circle.png"/>
          <p:cNvPicPr preferRelativeResize="0"/>
          <p:nvPr/>
        </p:nvPicPr>
        <p:blipFill>
          <a:blip r:embed="rId14">
            <a:alphaModFix/>
          </a:blip>
          <a:stretch>
            <a:fillRect/>
          </a:stretch>
        </p:blipFill>
        <p:spPr>
          <a:xfrm>
            <a:off x="-118447" y="193555"/>
            <a:ext cx="1307427" cy="1010281"/>
          </a:xfrm>
          <a:prstGeom prst="rect">
            <a:avLst/>
          </a:prstGeom>
          <a:noFill/>
          <a:ln>
            <a:noFill/>
          </a:ln>
        </p:spPr>
      </p:pic>
      <p:pic>
        <p:nvPicPr>
          <p:cNvPr id="44" name="Google Shape;44;p78"/>
          <p:cNvPicPr preferRelativeResize="0"/>
          <p:nvPr/>
        </p:nvPicPr>
        <p:blipFill rotWithShape="1">
          <a:blip r:embed="rId15">
            <a:alphaModFix/>
          </a:blip>
          <a:srcRect/>
          <a:stretch/>
        </p:blipFill>
        <p:spPr>
          <a:xfrm>
            <a:off x="70930" y="1270922"/>
            <a:ext cx="928675" cy="92867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normAutofit/>
          </a:bodyPr>
          <a:lstStyle/>
          <a:p>
            <a:pPr/>
            <a:r>
              <a:rPr sz="4400"/>
              <a:t>Agent Tool Use and RAG</a:t>
            </a:r>
          </a:p>
        </p:txBody>
      </p:sp>
      <p:sp>
        <p:nvSpPr>
          <p:cNvPr id="3"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From Triage Agent to Effects Advisor</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Triage agent: </a:t>
            </a:r>
            <a:r>
              <a:rPr b="1" sz="1600"/>
              <a:t>ingest, enrich, classify, validate, export</a:t>
            </a:r>
          </a:p>
          <a:p>
            <a:pPr/>
            <a:r>
              <a:rPr sz="1600"/>
              <a:t>Advisor agent: </a:t>
            </a:r>
            <a:r>
              <a:rPr b="1" sz="1600"/>
              <a:t>retrieve doctrine, call controlled tools, reason over CG/CV, recommend an effect, and produce a handoff package</a:t>
            </a:r>
          </a:p>
          <a:p>
            <a:pPr/>
            <a:r>
              <a:rPr sz="1600"/>
              <a:t>The new capabilities are </a:t>
            </a:r>
            <a:r>
              <a:rPr b="1" sz="1600"/>
              <a:t>RAG</a:t>
            </a:r>
            <a:r>
              <a:rPr sz="1600"/>
              <a:t>, </a:t>
            </a:r>
            <a:r>
              <a:rPr b="1" sz="1600"/>
              <a:t>tool use</a:t>
            </a:r>
            <a:r>
              <a:rPr sz="1600"/>
              <a:t>, </a:t>
            </a:r>
            <a:r>
              <a:rPr b="1" sz="1600"/>
              <a:t>multi-turn reasoning</a:t>
            </a:r>
            <a:r>
              <a:rPr sz="1600"/>
              <a:t>, and </a:t>
            </a:r>
            <a:r>
              <a:rPr b="1" sz="1600"/>
              <a:t>auditability</a:t>
            </a:r>
          </a:p>
          <a:p>
            <a:pPr/>
            <a:r>
              <a:rPr sz="1600"/>
              <a:t>The product of today's lab is an </a:t>
            </a:r>
            <a:r>
              <a:rPr b="1" sz="1600"/>
              <a:t>Effects Advisor</a:t>
            </a:r>
            <a:r>
              <a:rPr sz="1600"/>
              <a:t>: a recommender for humans, not an autonomous effects executor</a:t>
            </a:r>
          </a:p>
        </p:txBody>
      </p:sp>
      <p:pic>
        <p:nvPicPr>
          <p:cNvPr id="5" name="Picture 4" descr="e93fa38678755427ff69a70ec22009fcb07d7c97eb8aebd79c83d25339cb7c4f.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The Effects Advisor Mission</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300"/>
              <a:t>Input: an incident record from reinforcement practice, including classification, confidence, enrichment status, and human-review flags</a:t>
            </a:r>
          </a:p>
          <a:p>
            <a:pPr/>
            <a:r>
              <a:rPr sz="1300"/>
              <a:t>Knowledge base: ENGAGE, D3FEND, tactical planning vocabulary, authority ceilings, partner contacts, and local SOP excerpts</a:t>
            </a:r>
          </a:p>
          <a:p>
            <a:pPr/>
            <a:r>
              <a:rPr sz="1300"/>
              <a:t>Tooling: read-only enrichment, with </a:t>
            </a:r>
            <a:r>
              <a:rPr sz="1300">
                <a:latin typeface="Courier New"/>
              </a:rPr>
              <a:t>intel_lookup</a:t>
            </a:r>
            <a:r>
              <a:rPr sz="1300"/>
              <a:t> as the canonical example</a:t>
            </a:r>
          </a:p>
          <a:p>
            <a:pPr/>
            <a:r>
              <a:rPr sz="1300"/>
              <a:t>Output: a six-section partner handoff package with </a:t>
            </a:r>
            <a:r>
              <a:rPr sz="1300">
                <a:latin typeface="Courier New"/>
              </a:rPr>
              <a:t>recommended_effect</a:t>
            </a:r>
            <a:r>
              <a:rPr sz="1300"/>
              <a:t>, CG, CV, justification, citations, and rollback plan</a:t>
            </a:r>
          </a:p>
          <a:p>
            <a:pPr/>
            <a:r>
              <a:rPr sz="1300"/>
              <a:t>Standard: the recommendation must be explainable from retrieved sources and logged workflow evidence</a:t>
            </a:r>
          </a:p>
        </p:txBody>
      </p:sp>
      <p:pic>
        <p:nvPicPr>
          <p:cNvPr id="5" name="Picture 4" descr="b13e35c8575644db38fd59440aba0f5676776360d5a16b40fbd2204b4bdd3795.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RAG Is Runtime Evidence, Not Model Memory</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400"/>
              <a:t>Retrieval-Augmented Generation</a:t>
            </a:r>
            <a:r>
              <a:rPr sz="1400"/>
              <a:t> means source chunks are retrieved and inserted into the prompt before generation</a:t>
            </a:r>
          </a:p>
          <a:p>
            <a:pPr/>
            <a:r>
              <a:rPr sz="1400"/>
              <a:t>The model weights do not change; the context changes</a:t>
            </a:r>
          </a:p>
          <a:p>
            <a:pPr/>
            <a:r>
              <a:rPr sz="1400"/>
              <a:t>RAG is best for current doctrine, unit SOPs, partner contacts, local notes, and citations</a:t>
            </a:r>
          </a:p>
          <a:p>
            <a:pPr/>
            <a:r>
              <a:rPr sz="1400"/>
              <a:t>RAG is not automatically true: stale, irrelevant, or poisoned chunks can still mislead the agent</a:t>
            </a:r>
          </a:p>
          <a:p>
            <a:pPr/>
            <a:r>
              <a:rPr sz="1400"/>
              <a:t>Operational rule: every recommendation that depends on RAG must cite the chunks it used</a:t>
            </a:r>
          </a:p>
        </p:txBody>
      </p:sp>
      <p:pic>
        <p:nvPicPr>
          <p:cNvPr id="5" name="Picture 4" descr="2ea0a05f8561968cc650857685d70068308345b13122fcf255a2b0cc0e38fb6d.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The RAG Pipeline Students Build Today</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300"/>
              <a:t>Corpus:</a:t>
            </a:r>
            <a:r>
              <a:rPr sz="1300"/>
              <a:t> Markdown source directories under </a:t>
            </a:r>
            <a:r>
              <a:rPr sz="1300">
                <a:latin typeface="Courier New"/>
              </a:rPr>
              <a:t>~/stack/vols/n8n/lab_data/kb/</a:t>
            </a:r>
            <a:r>
              <a:rPr sz="1300"/>
              <a:t> (container </a:t>
            </a:r>
            <a:r>
              <a:rPr sz="1300">
                <a:latin typeface="Courier New"/>
              </a:rPr>
              <a:t>/home/node/.n8n/lab_data/kb/</a:t>
            </a:r>
            <a:r>
              <a:rPr sz="1300"/>
              <a:t>)</a:t>
            </a:r>
          </a:p>
          <a:p>
            <a:pPr/>
            <a:r>
              <a:rPr b="1" sz="1300"/>
              <a:t>Chunk:</a:t>
            </a:r>
            <a:r>
              <a:rPr sz="1300"/>
              <a:t> Break files into reviewable passages, preserving source path metadata</a:t>
            </a:r>
          </a:p>
          <a:p>
            <a:pPr/>
            <a:r>
              <a:rPr b="1" sz="1300"/>
              <a:t>Embed:</a:t>
            </a:r>
            <a:r>
              <a:rPr sz="1300"/>
              <a:t> Use the LiteLLM </a:t>
            </a:r>
            <a:r>
              <a:rPr sz="1300">
                <a:latin typeface="Courier New"/>
              </a:rPr>
              <a:t>embed</a:t>
            </a:r>
            <a:r>
              <a:rPr sz="1300"/>
              <a:t> alias (</a:t>
            </a:r>
            <a:r>
              <a:rPr sz="1300">
                <a:latin typeface="Courier New"/>
              </a:rPr>
              <a:t>POST /v1/embeddings</a:t>
            </a:r>
            <a:r>
              <a:rPr sz="1300"/>
              <a:t>) on the team Spark</a:t>
            </a:r>
          </a:p>
          <a:p>
            <a:pPr/>
            <a:r>
              <a:rPr b="1" sz="1300"/>
              <a:t>Store:</a:t>
            </a:r>
            <a:r>
              <a:rPr sz="1300"/>
              <a:t> Save vectors, chunks, and metadata in the student-provisioned Chroma container</a:t>
            </a:r>
          </a:p>
          <a:p>
            <a:pPr/>
            <a:r>
              <a:rPr b="1" sz="1300"/>
              <a:t>Retrieve:</a:t>
            </a:r>
            <a:r>
              <a:rPr sz="1300"/>
              <a:t> For each incident, return the top relevant chunks and source paths</a:t>
            </a:r>
          </a:p>
          <a:p>
            <a:pPr/>
            <a:r>
              <a:rPr b="1" sz="1300"/>
              <a:t>Inject and cite:</a:t>
            </a:r>
            <a:r>
              <a:rPr sz="1300"/>
              <a:t> Put chunks into the prompt and require citations in the final package</a:t>
            </a:r>
          </a:p>
        </p:txBody>
      </p:sp>
      <p:pic>
        <p:nvPicPr>
          <p:cNvPr id="5" name="Picture 4" descr="65ef275bcba65996b046785295f53037559bd07c65bc0652b848553edf4d6f05.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Corpus Design: What Belongs on the Doctrine Shelf</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500"/>
              <a:t>ENGAGE and D3FEND excerpts supply effect and defensive-technique context</a:t>
            </a:r>
          </a:p>
          <a:p>
            <a:pPr/>
            <a:r>
              <a:rPr sz="1500"/>
              <a:t>Tactical planning extracts supply CG/CV and exploitation-plan language</a:t>
            </a:r>
          </a:p>
          <a:p>
            <a:pPr/>
            <a:r>
              <a:rPr sz="1500"/>
              <a:t>Authority-ceiling and unit SOP excerpts bound recommendations to the lab mission</a:t>
            </a:r>
          </a:p>
          <a:p>
            <a:pPr/>
            <a:r>
              <a:rPr sz="1500"/>
              <a:t>Partner contact notes tell the agent who can receive which handoff package</a:t>
            </a:r>
          </a:p>
          <a:p>
            <a:pPr/>
            <a:r>
              <a:rPr sz="1500"/>
              <a:t>Bad corpus design creates bad recommendations even when the agent loop is technically correct</a:t>
            </a:r>
          </a:p>
        </p:txBody>
      </p:sp>
      <p:pic>
        <p:nvPicPr>
          <p:cNvPr id="5" name="Picture 4" descr="5f05ecb86bcea7415a37cfa72a2c6cf7b77682ae82e115a9f5740d50822d2187.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Retrieval Quality and Citation Discipline</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400"/>
              <a:t>Retrieval quality depends on chunk size, source metadata, query wording, and top-N selection</a:t>
            </a:r>
          </a:p>
          <a:p>
            <a:pPr/>
            <a:r>
              <a:rPr sz="1400"/>
              <a:t>A good retrieval result is relevant, reviewable, and specific enough to support a decision</a:t>
            </a:r>
          </a:p>
          <a:p>
            <a:pPr/>
            <a:r>
              <a:rPr sz="1400"/>
              <a:t>Citations must include source path and a useful excerpt, not just "the model said so"</a:t>
            </a:r>
          </a:p>
          <a:p>
            <a:pPr/>
            <a:r>
              <a:rPr sz="1400"/>
              <a:t>Retrieved chunks can change the recommended effect; students must identify at least one case where that happens</a:t>
            </a:r>
          </a:p>
          <a:p>
            <a:pPr/>
            <a:r>
              <a:rPr sz="1400"/>
              <a:t>If retrieval does not change or constrain reasoning, the RAG layer is decorative</a:t>
            </a:r>
          </a:p>
        </p:txBody>
      </p:sp>
      <p:pic>
        <p:nvPicPr>
          <p:cNvPr id="5" name="Picture 4" descr="7f16c7ff2d6d6ec233525fb0512c99b871ebd048e3dce3825e9c3df8cb7aab4a.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Tool Use: The Agent Requests, the Workflow Decides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Tool use lets the agent request external information during the run</a:t>
            </a:r>
          </a:p>
          <a:p>
            <a:pPr/>
            <a:r>
              <a:rPr sz="1600"/>
              <a:t>The LLM emits a structured request; n8n validates and executes the approved node</a:t>
            </a:r>
          </a:p>
          <a:p>
            <a:pPr/>
            <a:r>
              <a:rPr sz="1600"/>
              <a:t>Today's canonical tool is </a:t>
            </a:r>
            <a:r>
              <a:rPr sz="1600">
                <a:latin typeface="Courier New"/>
              </a:rPr>
              <a:t>intel_lookup</a:t>
            </a:r>
            <a:r>
              <a:rPr sz="1600"/>
              <a:t> with argument shape </a:t>
            </a:r>
            <a:r>
              <a:rPr sz="1600">
                <a:latin typeface="Courier New"/>
              </a:rPr>
              <a:t>{"ip": "&lt;ipv4&gt;"}</a:t>
            </a:r>
          </a:p>
          <a:p>
            <a:pPr/>
            <a:r>
              <a:rPr sz="1600"/>
              <a:t>Tools for this lab are </a:t>
            </a:r>
            <a:r>
              <a:rPr b="1" sz="1600"/>
              <a:t>read-only enrichment</a:t>
            </a:r>
            <a:r>
              <a:rPr sz="1600"/>
              <a:t>; the advisor recommends effects but does not execute them</a:t>
            </a:r>
          </a:p>
          <a:p>
            <a:pPr/>
            <a:r>
              <a:rPr sz="1600"/>
              <a:t>Every tool request, rejection, and result must be logged</a:t>
            </a:r>
          </a:p>
        </p:txBody>
      </p:sp>
      <p:pic>
        <p:nvPicPr>
          <p:cNvPr id="5" name="Picture 4" descr="76ca7c62399d8dc8fe8b7a3f3a8081cf1360c0480c039eab85fde4f2a92a8f20.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Tool Contracts and Argument Whitelists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A tool contract names the tool, purpose, allowed arguments, output shape, and failure behavior</a:t>
            </a:r>
          </a:p>
          <a:p>
            <a:pPr/>
            <a:r>
              <a:rPr sz="1600"/>
              <a:t>Tool allow-list: the agent can only request declared tools</a:t>
            </a:r>
          </a:p>
          <a:p>
            <a:pPr/>
            <a:r>
              <a:rPr sz="1600"/>
              <a:t>Argument whitelist: each tool accepts only pre-approved values or ranges</a:t>
            </a:r>
          </a:p>
          <a:p>
            <a:pPr/>
            <a:r>
              <a:rPr sz="1600"/>
              <a:t>For </a:t>
            </a:r>
            <a:r>
              <a:rPr sz="1600">
                <a:latin typeface="Courier New"/>
              </a:rPr>
              <a:t>intel_lookup</a:t>
            </a:r>
            <a:r>
              <a:rPr sz="1600"/>
              <a:t>, allowed targets are well-formed IPv4 addresses in approved private or lab ranges</a:t>
            </a:r>
          </a:p>
          <a:p>
            <a:pPr/>
            <a:r>
              <a:rPr sz="1600"/>
              <a:t>A rejected tool call is a success if it protects the workflow and is logged clearly</a:t>
            </a:r>
          </a:p>
        </p:txBody>
      </p:sp>
      <p:pic>
        <p:nvPicPr>
          <p:cNvPr id="5" name="Picture 4" descr="00030fbe162d661afe03143b47b2fb4f2b83cc1913423a060d0064f3d01853d4.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Multi-Turn Reasoning Under a Turn Cap</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Day 3 mostly produced one-turn answers</a:t>
            </a:r>
          </a:p>
          <a:p>
            <a:pPr/>
            <a:r>
              <a:rPr sz="1600"/>
              <a:t>Day 4 uses a bounded loop: retrieve, reason, call a tool, reason again, finalize</a:t>
            </a:r>
          </a:p>
          <a:p>
            <a:pPr/>
            <a:r>
              <a:rPr sz="1600"/>
              <a:t>ReAct pattern: the agent alternates between reasoning and requesting actions</a:t>
            </a:r>
          </a:p>
          <a:p>
            <a:pPr/>
            <a:r>
              <a:rPr sz="1600"/>
              <a:t>Turn cap is a hard control: today's maximum is 5</a:t>
            </a:r>
          </a:p>
          <a:p>
            <a:pPr/>
            <a:r>
              <a:rPr sz="1600"/>
              <a:t>A mature workflow has deterministic failure behavior when the cap is reached</a:t>
            </a:r>
          </a:p>
        </p:txBody>
      </p:sp>
      <p:pic>
        <p:nvPicPr>
          <p:cNvPr id="5" name="Picture 4" descr="53bab5ee5ebf56f3826f9306f5731a5c0610fcc25e05e08d8cb7392d82548c06.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The Five Guardrails for Fieldable Advisors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500"/>
              <a:t>Tool allow-list:</a:t>
            </a:r>
            <a:r>
              <a:rPr sz="1500"/>
              <a:t> refuse unknown tools</a:t>
            </a:r>
          </a:p>
          <a:p>
            <a:pPr/>
            <a:r>
              <a:rPr b="1" sz="1500"/>
              <a:t>Argument whitelist:</a:t>
            </a:r>
            <a:r>
              <a:rPr sz="1500"/>
              <a:t> refuse malformed or out-of-policy arguments</a:t>
            </a:r>
          </a:p>
          <a:p>
            <a:pPr/>
            <a:r>
              <a:rPr b="1" sz="1500"/>
              <a:t>Max-turns cap:</a:t>
            </a:r>
            <a:r>
              <a:rPr sz="1500"/>
              <a:t> prevent runaway loops and resource exhaustion</a:t>
            </a:r>
          </a:p>
          <a:p>
            <a:pPr/>
            <a:r>
              <a:rPr b="1" sz="1500"/>
              <a:t>Output schema enforcement:</a:t>
            </a:r>
            <a:r>
              <a:rPr sz="1500"/>
              <a:t> validate the handoff package before accepting it</a:t>
            </a:r>
          </a:p>
          <a:p>
            <a:pPr/>
            <a:r>
              <a:rPr b="1" sz="1500"/>
              <a:t>Audit log:</a:t>
            </a:r>
            <a:r>
              <a:rPr sz="1500"/>
              <a:t> record prompts, responses, retrievals, tool calls, refusals, retries, and final result</a:t>
            </a:r>
          </a:p>
          <a:p>
            <a:pPr/>
            <a:r>
              <a:rPr sz="1500"/>
              <a:t>These guardrails are also tomorrow's adversary-agent attack checklist</a:t>
            </a:r>
          </a:p>
        </p:txBody>
      </p:sp>
      <p:pic>
        <p:nvPicPr>
          <p:cNvPr id="5" name="Picture 4" descr="7d6d773eb6f25a4d385213e6ae1c01ba68f6ad0900d32ed73a3f11aefd881544.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Audit Logs Are Operational Evidence</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500"/>
              <a:t>Audit logs show what the agent saw, requested, retrieved, refused, retried, and emitted</a:t>
            </a:r>
          </a:p>
          <a:p>
            <a:pPr/>
            <a:r>
              <a:rPr sz="1500"/>
              <a:t>Logs let instructors grade the reasoning path, not only the final answer</a:t>
            </a:r>
          </a:p>
          <a:p>
            <a:pPr/>
            <a:r>
              <a:rPr sz="1500"/>
              <a:t>Logs let operators explain why a recommendation changed after retrieval or enrichment</a:t>
            </a:r>
          </a:p>
          <a:p>
            <a:pPr/>
            <a:r>
              <a:rPr sz="1500"/>
              <a:t>Error paths must log too; success-only logs hide the most important behavior</a:t>
            </a:r>
          </a:p>
          <a:p>
            <a:pPr/>
            <a:r>
              <a:rPr sz="1500"/>
              <a:t>For this advisor build, each incident run must export an audit log alongside the final handoff package</a:t>
            </a:r>
          </a:p>
        </p:txBody>
      </p:sp>
      <p:pic>
        <p:nvPicPr>
          <p:cNvPr id="5" name="Picture 4" descr="91e214ecf9a430cd5f807ad222a93b33164335bef5af445d31fc45d8e6428fd2.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Reasoning in CG/CV and Effect Vocabulary</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500"/>
              <a:t>The advisor must identify the adversary </a:t>
            </a:r>
            <a:r>
              <a:rPr b="1" sz="1500"/>
              <a:t>center of gravity</a:t>
            </a:r>
            <a:r>
              <a:rPr sz="1500"/>
              <a:t> in the incident context</a:t>
            </a:r>
          </a:p>
          <a:p>
            <a:pPr/>
            <a:r>
              <a:rPr sz="1500"/>
              <a:t>It must name the </a:t>
            </a:r>
            <a:r>
              <a:rPr b="1" sz="1500"/>
              <a:t>critical vulnerability</a:t>
            </a:r>
            <a:r>
              <a:rPr sz="1500"/>
              <a:t> that makes an effect feasible</a:t>
            </a:r>
          </a:p>
          <a:p>
            <a:pPr/>
            <a:r>
              <a:rPr sz="1500"/>
              <a:t>It must choose exactly one effects-vocabulary category where an effect is warranted</a:t>
            </a:r>
          </a:p>
          <a:p>
            <a:pPr/>
            <a:r>
              <a:rPr sz="1500"/>
              <a:t>It must justify why that effect fits the evidence better than near alternatives</a:t>
            </a:r>
          </a:p>
          <a:p>
            <a:pPr/>
            <a:r>
              <a:rPr sz="1500"/>
              <a:t>The recommendation should preserve human decision authority: advisor proposes, operator decides</a:t>
            </a:r>
          </a:p>
        </p:txBody>
      </p:sp>
      <p:pic>
        <p:nvPicPr>
          <p:cNvPr id="5" name="Picture 4" descr="6c9dc1ad85becf2af3e3e3041cfa4382ddc2f03a5b3f825e6f3f0c4cfc7cf6c4.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Final Product: Partner Handoff Package</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500"/>
              <a:t>The output is a structured package, not a chat answer</a:t>
            </a:r>
          </a:p>
          <a:p>
            <a:pPr/>
            <a:r>
              <a:rPr sz="1500"/>
              <a:t>Required sections: target identity, access story, current posture, adversary tempo, partner tasking, rollback plan</a:t>
            </a:r>
          </a:p>
          <a:p>
            <a:pPr/>
            <a:r>
              <a:rPr sz="1500">
                <a:latin typeface="Courier New"/>
              </a:rPr>
              <a:t>partner_tasking</a:t>
            </a:r>
            <a:r>
              <a:rPr sz="1500"/>
              <a:t> carries the recommended effect, CG, CV, justification, and citations</a:t>
            </a:r>
          </a:p>
          <a:p>
            <a:pPr/>
            <a:r>
              <a:rPr sz="1500"/>
              <a:t>Schema validation confirms the package is complete and machine-readable</a:t>
            </a:r>
          </a:p>
          <a:p>
            <a:pPr/>
            <a:r>
              <a:rPr sz="1500"/>
              <a:t>A good package lets a partner act without rediscovering the environment</a:t>
            </a:r>
          </a:p>
        </p:txBody>
      </p:sp>
      <p:pic>
        <p:nvPicPr>
          <p:cNvPr id="5" name="Picture 4" descr="2acde876ddb406db8d0a4ec05a4365bdbc8f5dfa4a6e24781413388bd35ac88c.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Lab Flow and Day 5 Bridge</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400"/>
              <a:t>Build the vector store from Moodle </a:t>
            </a:r>
            <a:r>
              <a:rPr sz="1400">
                <a:latin typeface="Courier New"/>
              </a:rPr>
              <a:t>kb/</a:t>
            </a:r>
            <a:r>
              <a:rPr sz="1400"/>
              <a:t> on the team Spark</a:t>
            </a:r>
          </a:p>
          <a:p>
            <a:pPr/>
            <a:r>
              <a:rPr sz="1400"/>
              <a:t>Build retrieval and </a:t>
            </a:r>
            <a:r>
              <a:rPr sz="1400">
                <a:latin typeface="Courier New"/>
              </a:rPr>
              <a:t>intel_lookup</a:t>
            </a:r>
            <a:r>
              <a:rPr sz="1400"/>
              <a:t> (class CTI) tool paths in n8n</a:t>
            </a:r>
          </a:p>
          <a:p>
            <a:pPr/>
            <a:r>
              <a:rPr sz="1400"/>
              <a:t>Build the bounded ReAct loop with all five guardrails</a:t>
            </a:r>
          </a:p>
          <a:p>
            <a:pPr/>
            <a:r>
              <a:rPr sz="1400"/>
              <a:t>Validate on three reinforced-incident outputs plus one instructor-provided incident</a:t>
            </a:r>
          </a:p>
          <a:p>
            <a:pPr/>
            <a:r>
              <a:rPr sz="1400"/>
              <a:t>Export final packages, audit logs, workflow JSON, embedding script, and guardrail cheatsheet</a:t>
            </a:r>
          </a:p>
          <a:p>
            <a:pPr/>
            <a:r>
              <a:rPr sz="1400"/>
              <a:t>Next lab: map and counter-strike an adversary agent built on the same pattern</a:t>
            </a:r>
          </a:p>
        </p:txBody>
      </p:sp>
      <p:pic>
        <p:nvPicPr>
          <p:cNvPr id="5" name="Picture 4" descr="f7cebc487857b20b87cde8956929665da15357e18af21055d1fef15405b9226f.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normAutofit/>
          </a:bodyPr>
          <a:lstStyle/>
          <a:p>
            <a:pPr/>
            <a:r>
              <a:rPr sz="2700"/>
              <a:t>Questions?</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theme/theme1.xml><?xml version="1.0" encoding="utf-8"?>
<a:theme xmlns:a="http://schemas.openxmlformats.org/drawingml/2006/main" name="CyberTemplateL_Green Unclass">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420</Words>
  <Application>Microsoft Office PowerPoint</Application>
  <PresentationFormat>Widescreen</PresentationFormat>
  <Paragraphs>45</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Calibri</vt:lpstr>
      <vt:lpstr>Arial</vt:lpstr>
      <vt:lpstr>Noto Sans Symbols</vt:lpstr>
      <vt:lpstr>Google Sans</vt:lpstr>
      <vt:lpstr>CyberTemplateL_Green Unclass</vt:lpstr>
      <vt:lpstr>Lesson title</vt:lpstr>
      <vt:lpstr>Intro Video</vt:lpstr>
      <vt:lpstr>Lesson Objectives</vt:lpstr>
      <vt:lpstr>What is a Learning Management System?</vt:lpstr>
      <vt:lpstr>Lets log in to Moodle</vt:lpstr>
      <vt:lpstr>Lesson Summary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Houston, Joshua T</dc:creator>
  <cp:lastModifiedBy>Cross, Clay</cp:lastModifiedBy>
  <cp:revision>1</cp:revision>
  <dcterms:modified xsi:type="dcterms:W3CDTF">2026-10-12T17:41:16Z</dcterms:modified>
</cp:coreProperties>
</file>