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8"/>
    <p:sldId id="257" r:id="rId14"/>
    <p:sldId id="258" r:id="rId15"/>
    <p:sldId id="259" r:id="rId7"/>
    <p:sldId id="260" r:id="rId6"/>
    <p:sldId id="261" r:id="rId5"/>
    <p:sldId id="262" r:id="rId4"/>
    <p:sldId id="263" r:id="rId3"/>
    <p:sldId id="264" r:id="rId2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</p:sldIdLst>
  <p:sldSz cx="12192000" cy="6858000"/>
  <p:notesSz cx="6858000" cy="9144000"/>
  <p:embeddedFontLst>
    <p:embeddedFont>
      <p:font typeface="Google Sans" panose="020B0604020202020204" charset="0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6" roundtripDataSignature="AMtx7mj7TtVeiHhDOAAACQUvrCI66Sw72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5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1.xml"/><Relationship Id="rId9" Type="http://schemas.openxmlformats.org/officeDocument/2006/relationships/notesMaster" Target="notesMasters/notesMaster1.xml"/><Relationship Id="rId10" Type="http://schemas.openxmlformats.org/officeDocument/2006/relationships/font" Target="fonts/font1.fntdata"/><Relationship Id="rId11" Type="http://schemas.openxmlformats.org/officeDocument/2006/relationships/font" Target="fonts/font2.fntdata"/><Relationship Id="rId12" Type="http://schemas.openxmlformats.org/officeDocument/2006/relationships/font" Target="fonts/font3.fntdata"/><Relationship Id="rId13" Type="http://schemas.openxmlformats.org/officeDocument/2006/relationships/font" Target="fonts/font4.fntdata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customschemas.google.com/relationships/presentationmetadata" Target="meta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ross, Clay" userId="f346be3b-e1cb-4aec-811e-8a3f5d1dd33f" providerId="ADAL" clId="{5AB2DC96-CDCC-45B4-B053-2F2446580AF9}"/>
    <pc:docChg chg="modSld modMainMaster">
      <pc:chgData name="Cross, Clay" userId="f346be3b-e1cb-4aec-811e-8a3f5d1dd33f" providerId="ADAL" clId="{5AB2DC96-CDCC-45B4-B053-2F2446580AF9}" dt="2026-10-12T17:41:14.911" v="31" actId="20577"/>
      <pc:docMkLst>
        <pc:docMk/>
      </pc:docMkLst>
      <pc:sldChg chg="addSp modSp mod">
        <pc:chgData name="Cross, Clay" userId="f346be3b-e1cb-4aec-811e-8a3f5d1dd33f" providerId="ADAL" clId="{5AB2DC96-CDCC-45B4-B053-2F2446580AF9}" dt="2026-10-12T17:41:14.911" v="31" actId="20577"/>
        <pc:sldMkLst>
          <pc:docMk/>
          <pc:sldMk cId="0" sldId="256"/>
        </pc:sldMkLst>
        <pc:spChg chg="add mod">
          <ac:chgData name="Cross, Clay" userId="f346be3b-e1cb-4aec-811e-8a3f5d1dd33f" providerId="ADAL" clId="{5AB2DC96-CDCC-45B4-B053-2F2446580AF9}" dt="2026-09-16T14:10:03.197" v="14"/>
          <ac:spMkLst>
            <pc:docMk/>
            <pc:sldMk cId="0" sldId="256"/>
            <ac:spMk id="2" creationId="{AF066B48-BBCB-D243-DA16-4C1CF9825479}"/>
          </ac:spMkLst>
        </pc:spChg>
        <pc:spChg chg="mod">
          <ac:chgData name="Cross, Clay" userId="f346be3b-e1cb-4aec-811e-8a3f5d1dd33f" providerId="ADAL" clId="{5AB2DC96-CDCC-45B4-B053-2F2446580AF9}" dt="2026-10-12T17:41:14.911" v="31" actId="20577"/>
          <ac:spMkLst>
            <pc:docMk/>
            <pc:sldMk cId="0" sldId="256"/>
            <ac:spMk id="93" creationId="{00000000-0000-0000-0000-000000000000}"/>
          </ac:spMkLst>
        </pc:spChg>
      </pc:sldChg>
      <pc:sldChg chg="addSp modSp">
        <pc:chgData name="Cross, Clay" userId="f346be3b-e1cb-4aec-811e-8a3f5d1dd33f" providerId="ADAL" clId="{5AB2DC96-CDCC-45B4-B053-2F2446580AF9}" dt="2026-09-16T14:10:05.967" v="15"/>
        <pc:sldMkLst>
          <pc:docMk/>
          <pc:sldMk cId="0" sldId="257"/>
        </pc:sldMkLst>
        <pc:spChg chg="add mod">
          <ac:chgData name="Cross, Clay" userId="f346be3b-e1cb-4aec-811e-8a3f5d1dd33f" providerId="ADAL" clId="{5AB2DC96-CDCC-45B4-B053-2F2446580AF9}" dt="2026-09-16T14:10:05.967" v="15"/>
          <ac:spMkLst>
            <pc:docMk/>
            <pc:sldMk cId="0" sldId="257"/>
            <ac:spMk id="2" creationId="{C59CE0A4-E66C-0842-A9F5-B432CCCBB70C}"/>
          </ac:spMkLst>
        </pc:spChg>
      </pc:sldChg>
      <pc:sldChg chg="addSp modSp">
        <pc:chgData name="Cross, Clay" userId="f346be3b-e1cb-4aec-811e-8a3f5d1dd33f" providerId="ADAL" clId="{5AB2DC96-CDCC-45B4-B053-2F2446580AF9}" dt="2026-09-16T14:10:07.294" v="16"/>
        <pc:sldMkLst>
          <pc:docMk/>
          <pc:sldMk cId="0" sldId="258"/>
        </pc:sldMkLst>
        <pc:spChg chg="add mod">
          <ac:chgData name="Cross, Clay" userId="f346be3b-e1cb-4aec-811e-8a3f5d1dd33f" providerId="ADAL" clId="{5AB2DC96-CDCC-45B4-B053-2F2446580AF9}" dt="2026-09-16T14:10:07.294" v="16"/>
          <ac:spMkLst>
            <pc:docMk/>
            <pc:sldMk cId="0" sldId="258"/>
            <ac:spMk id="2" creationId="{9367D3A5-428A-79F2-AC81-ADCB1A0F11C1}"/>
          </ac:spMkLst>
        </pc:spChg>
      </pc:sldChg>
      <pc:sldChg chg="addSp modSp">
        <pc:chgData name="Cross, Clay" userId="f346be3b-e1cb-4aec-811e-8a3f5d1dd33f" providerId="ADAL" clId="{5AB2DC96-CDCC-45B4-B053-2F2446580AF9}" dt="2026-09-16T14:10:08.375" v="17"/>
        <pc:sldMkLst>
          <pc:docMk/>
          <pc:sldMk cId="0" sldId="259"/>
        </pc:sldMkLst>
        <pc:spChg chg="add mod">
          <ac:chgData name="Cross, Clay" userId="f346be3b-e1cb-4aec-811e-8a3f5d1dd33f" providerId="ADAL" clId="{5AB2DC96-CDCC-45B4-B053-2F2446580AF9}" dt="2026-09-16T14:10:08.375" v="17"/>
          <ac:spMkLst>
            <pc:docMk/>
            <pc:sldMk cId="0" sldId="259"/>
            <ac:spMk id="2" creationId="{07E1C860-F9EC-56A5-3678-9C818C512B47}"/>
          </ac:spMkLst>
        </pc:spChg>
      </pc:sldChg>
      <pc:sldChg chg="addSp modSp">
        <pc:chgData name="Cross, Clay" userId="f346be3b-e1cb-4aec-811e-8a3f5d1dd33f" providerId="ADAL" clId="{5AB2DC96-CDCC-45B4-B053-2F2446580AF9}" dt="2026-09-16T14:10:11.392" v="18"/>
        <pc:sldMkLst>
          <pc:docMk/>
          <pc:sldMk cId="0" sldId="260"/>
        </pc:sldMkLst>
        <pc:spChg chg="add mod">
          <ac:chgData name="Cross, Clay" userId="f346be3b-e1cb-4aec-811e-8a3f5d1dd33f" providerId="ADAL" clId="{5AB2DC96-CDCC-45B4-B053-2F2446580AF9}" dt="2026-09-16T14:10:11.392" v="18"/>
          <ac:spMkLst>
            <pc:docMk/>
            <pc:sldMk cId="0" sldId="260"/>
            <ac:spMk id="2" creationId="{1588E63D-8331-98F8-2393-DF79A145BF58}"/>
          </ac:spMkLst>
        </pc:spChg>
      </pc:sldChg>
      <pc:sldChg chg="addSp modSp">
        <pc:chgData name="Cross, Clay" userId="f346be3b-e1cb-4aec-811e-8a3f5d1dd33f" providerId="ADAL" clId="{5AB2DC96-CDCC-45B4-B053-2F2446580AF9}" dt="2026-09-16T14:10:12.517" v="19"/>
        <pc:sldMkLst>
          <pc:docMk/>
          <pc:sldMk cId="0" sldId="261"/>
        </pc:sldMkLst>
        <pc:spChg chg="add mod">
          <ac:chgData name="Cross, Clay" userId="f346be3b-e1cb-4aec-811e-8a3f5d1dd33f" providerId="ADAL" clId="{5AB2DC96-CDCC-45B4-B053-2F2446580AF9}" dt="2026-09-16T14:10:12.517" v="19"/>
          <ac:spMkLst>
            <pc:docMk/>
            <pc:sldMk cId="0" sldId="261"/>
            <ac:spMk id="2" creationId="{93535A3B-BAB2-61CE-5223-82D4BF2B0E2D}"/>
          </ac:spMkLst>
        </pc:spChg>
      </pc:sldChg>
      <pc:sldChg chg="addSp delSp modSp mod">
        <pc:chgData name="Cross, Clay" userId="f346be3b-e1cb-4aec-811e-8a3f5d1dd33f" providerId="ADAL" clId="{5AB2DC96-CDCC-45B4-B053-2F2446580AF9}" dt="2026-09-16T14:10:13.935" v="20"/>
        <pc:sldMkLst>
          <pc:docMk/>
          <pc:sldMk cId="0" sldId="262"/>
        </pc:sldMkLst>
        <pc:spChg chg="add mod">
          <ac:chgData name="Cross, Clay" userId="f346be3b-e1cb-4aec-811e-8a3f5d1dd33f" providerId="ADAL" clId="{5AB2DC96-CDCC-45B4-B053-2F2446580AF9}" dt="2026-09-16T14:10:13.935" v="20"/>
          <ac:spMkLst>
            <pc:docMk/>
            <pc:sldMk cId="0" sldId="262"/>
            <ac:spMk id="2" creationId="{D7EC3C54-652C-9EC2-FAB0-E19765D5B90B}"/>
          </ac:spMkLst>
        </pc:spChg>
      </pc:sldChg>
      <pc:sldMasterChg chg="modSp mod modSldLayout">
        <pc:chgData name="Cross, Clay" userId="f346be3b-e1cb-4aec-811e-8a3f5d1dd33f" providerId="ADAL" clId="{5AB2DC96-CDCC-45B4-B053-2F2446580AF9}" dt="2026-10-12T16:58:37.748" v="29" actId="14100"/>
        <pc:sldMasterMkLst>
          <pc:docMk/>
          <pc:sldMasterMk cId="0" sldId="2147483648"/>
        </pc:sldMasterMkLst>
        <pc:sldLayoutChg chg="modSp mod">
          <pc:chgData name="Cross, Clay" userId="f346be3b-e1cb-4aec-811e-8a3f5d1dd33f" providerId="ADAL" clId="{5AB2DC96-CDCC-45B4-B053-2F2446580AF9}" dt="2026-10-12T16:58:06.482" v="24" actId="14100"/>
          <pc:sldLayoutMkLst>
            <pc:docMk/>
            <pc:sldMasterMk cId="0" sldId="2147483648"/>
            <pc:sldLayoutMk cId="0" sldId="2147483652"/>
          </pc:sldLayoutMkLst>
          <pc:spChg chg="mod">
            <ac:chgData name="Cross, Clay" userId="f346be3b-e1cb-4aec-811e-8a3f5d1dd33f" providerId="ADAL" clId="{5AB2DC96-CDCC-45B4-B053-2F2446580AF9}" dt="2026-10-12T16:57:55.345" v="22" actId="14100"/>
            <ac:spMkLst>
              <pc:docMk/>
              <pc:sldMasterMk cId="0" sldId="2147483648"/>
              <pc:sldLayoutMk cId="0" sldId="2147483652"/>
              <ac:spMk id="56" creationId="{00000000-0000-0000-0000-000000000000}"/>
            </ac:spMkLst>
          </pc:spChg>
          <pc:spChg chg="mod">
            <ac:chgData name="Cross, Clay" userId="f346be3b-e1cb-4aec-811e-8a3f5d1dd33f" providerId="ADAL" clId="{5AB2DC96-CDCC-45B4-B053-2F2446580AF9}" dt="2026-10-12T16:58:00.151" v="23" actId="14100"/>
            <ac:spMkLst>
              <pc:docMk/>
              <pc:sldMasterMk cId="0" sldId="2147483648"/>
              <pc:sldLayoutMk cId="0" sldId="2147483652"/>
              <ac:spMk id="57" creationId="{00000000-0000-0000-0000-000000000000}"/>
            </ac:spMkLst>
          </pc:spChg>
          <pc:spChg chg="mod">
            <ac:chgData name="Cross, Clay" userId="f346be3b-e1cb-4aec-811e-8a3f5d1dd33f" providerId="ADAL" clId="{5AB2DC96-CDCC-45B4-B053-2F2446580AF9}" dt="2026-10-12T16:58:06.482" v="24" actId="14100"/>
            <ac:spMkLst>
              <pc:docMk/>
              <pc:sldMasterMk cId="0" sldId="2147483648"/>
              <pc:sldLayoutMk cId="0" sldId="2147483652"/>
              <ac:spMk id="58" creationId="{00000000-0000-0000-0000-000000000000}"/>
            </ac:spMkLst>
          </pc:spChg>
        </pc:sldLayoutChg>
        <pc:sldLayoutChg chg="modSp mod">
          <pc:chgData name="Cross, Clay" userId="f346be3b-e1cb-4aec-811e-8a3f5d1dd33f" providerId="ADAL" clId="{5AB2DC96-CDCC-45B4-B053-2F2446580AF9}" dt="2026-10-12T16:58:37.748" v="29" actId="14100"/>
          <pc:sldLayoutMkLst>
            <pc:docMk/>
            <pc:sldMasterMk cId="0" sldId="2147483648"/>
            <pc:sldLayoutMk cId="0" sldId="2147483656"/>
          </pc:sldLayoutMkLst>
          <pc:spChg chg="mod">
            <ac:chgData name="Cross, Clay" userId="f346be3b-e1cb-4aec-811e-8a3f5d1dd33f" providerId="ADAL" clId="{5AB2DC96-CDCC-45B4-B053-2F2446580AF9}" dt="2026-10-12T16:58:32.543" v="27" actId="14100"/>
            <ac:spMkLst>
              <pc:docMk/>
              <pc:sldMasterMk cId="0" sldId="2147483648"/>
              <pc:sldLayoutMk cId="0" sldId="2147483656"/>
              <ac:spMk id="76" creationId="{00000000-0000-0000-0000-000000000000}"/>
            </ac:spMkLst>
          </pc:spChg>
          <pc:spChg chg="mod">
            <ac:chgData name="Cross, Clay" userId="f346be3b-e1cb-4aec-811e-8a3f5d1dd33f" providerId="ADAL" clId="{5AB2DC96-CDCC-45B4-B053-2F2446580AF9}" dt="2026-10-12T16:58:34.943" v="28" actId="14100"/>
            <ac:spMkLst>
              <pc:docMk/>
              <pc:sldMasterMk cId="0" sldId="2147483648"/>
              <pc:sldLayoutMk cId="0" sldId="2147483656"/>
              <ac:spMk id="77" creationId="{00000000-0000-0000-0000-000000000000}"/>
            </ac:spMkLst>
          </pc:spChg>
          <pc:spChg chg="mod">
            <ac:chgData name="Cross, Clay" userId="f346be3b-e1cb-4aec-811e-8a3f5d1dd33f" providerId="ADAL" clId="{5AB2DC96-CDCC-45B4-B053-2F2446580AF9}" dt="2026-10-12T16:58:37.748" v="29" actId="14100"/>
            <ac:spMkLst>
              <pc:docMk/>
              <pc:sldMasterMk cId="0" sldId="2147483648"/>
              <pc:sldLayoutMk cId="0" sldId="2147483656"/>
              <ac:spMk id="78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# Effects Operations Overview — Content Guide</a:t>
            </a:r>
          </a:p>
          <a:p/>
          <a:p>
            <a:r>
              <a:t>**Source:** `../../overview.md`, harvest collection cell (break, then poison, then handoff)</a:t>
            </a:r>
          </a:p>
          <a:p>
            <a:r>
              <a:t>**Audience:** CPT operators preparing to act on an issued harvest collection cell.</a:t>
            </a:r>
          </a:p>
          <a:p>
            <a:r>
              <a:t>**Duration:** ~75 minutes (opening lecture for effects operations)</a:t>
            </a:r>
          </a:p>
          <a:p>
            <a:r>
              <a:t>**Prerequisites:** Tactical planning (METT-TC, CG/CV, EMLCOA, actions-on-contact), access tradecraft, and on-target enumeration discipline.</a:t>
            </a:r>
          </a:p>
          <a:p>
            <a:r>
              <a:t>**References:**</a:t>
            </a:r>
          </a:p>
          <a:p/>
          <a:p>
            <a:r>
              <a:t>- `../../M01-planning-foundations/lessons/01-military-tactical-planning/content-guide.md` (CG/CV vocabulary)</a:t>
            </a:r>
          </a:p>
          <a:p>
            <a:r>
              <a:t>- `../../M01-planning-foundations/lessons/04-d3fend-engage/content-guide.md` and `../../M01-planning-foundations/lessons/04-d3fend-engage/lecture.md`</a:t>
            </a:r>
          </a:p>
          <a:p>
            <a:r>
              <a:t>- `../../M01-planning-foundations/lessons/05-mitre-d3fend-cad/lecture.md`</a:t>
            </a:r>
          </a:p>
          <a:p>
            <a:r>
              <a:t>- [`../../../../environments/b04_temp_harvest_cell/README.md`](../../../../environments/b04_temp_harvest_cell/README.md) (issued harvest collection cell)</a:t>
            </a:r>
          </a:p>
          <a:p/>
          <a:p>
            <a:r>
              <a:t>---</a:t>
            </a:r>
          </a:p>
          <a:p/>
          <a:p>
            <a:r>
              <a:t>## Instructor resources and pre-class</a:t>
            </a:r>
          </a:p>
          <a:p/>
          <a:p>
            <a:r>
              <a:t>- Classroom projector and screen; whiteboard for the opening contract</a:t>
            </a:r>
          </a:p>
          <a:p>
            <a:r>
              <a:t>- Parent or sibling briefs listed in this Module folder</a:t>
            </a:r>
          </a:p>
          <a:p>
            <a:r>
              <a:t>- Live tabs and references already named in this file's header</a:t>
            </a:r>
          </a:p>
          <a:p>
            <a:r>
              <a:t>- Do not project flags, tokens, or answer-key values</a:t>
            </a:r>
          </a:p>
          <a:p/>
          <a:p>
            <a:r>
              <a:t>## Student resources</a:t>
            </a:r>
          </a:p>
          <a:p/>
          <a:p>
            <a:r>
              <a:t>- Student brief, student guide, or homework file in this Module folder when present</a:t>
            </a:r>
          </a:p>
          <a:p>
            <a:r>
              <a:t>- Assigned range, workstation, or lab stack named in the student-facing file</a:t>
            </a:r>
          </a:p>
          <a:p>
            <a:r>
              <a:t>- No extra kit beyond what the student-facing file already lists</a:t>
            </a:r>
          </a:p>
          <a:p/>
          <a:p>
            <a:r>
              <a:t>## Dual opening</a:t>
            </a:r>
          </a:p>
          <a:p/>
          <a:p>
            <a:r>
              <a:t>### Option 1 (Interactive / Whiteboard / Kinesthetic)</a:t>
            </a:r>
          </a:p>
          <a:p/>
          <a:p>
            <a:r>
              <a:t>- **Say:** "You will be issued a live harvest collection cell. Access is the price of admission. This hour is about the effect you produce once you are there: break collection, then poison it, then hand it off."</a:t>
            </a:r>
          </a:p>
          <a:p>
            <a:r>
              <a:t>- **Do:** Put the lesson contract on the board. Keep products from the prerequisite Module available.</a:t>
            </a:r>
          </a:p>
          <a:p>
            <a:r>
              <a:t>- **Ask (Q):** From planning, what is the center of gravity of the APT we studied?</a:t>
            </a:r>
          </a:p>
          <a:p>
            <a:r>
              <a:t>- **Expected Response (A):** Facilitation. Use the Say/Do already on this row; do not force a single keyed answer.</a:t>
            </a:r>
          </a:p>
          <a:p/>
          <a:p>
            <a:r>
              <a:t>### Option 2 (Digital Slide / Virtual / Slide Deck)</a:t>
            </a:r>
          </a:p>
          <a:p/>
          <a:p>
            <a:r>
              <a:t>- **Say:** "You will be issued a live harvest collection cell. Access is the price of admission. This hour is about the effect you produce once you are there: break collection, then poison it, then hand it off."</a:t>
            </a:r>
          </a:p>
          <a:p>
            <a:r>
              <a:t>- **Show:** The title slide and lesson objectives.</a:t>
            </a:r>
          </a:p>
          <a:p>
            <a:r>
              <a:t>- **Do:** Confirm stations can open the required tool or file before the first teaching row.</a:t>
            </a:r>
          </a:p>
          <a:p>
            <a:r>
              <a:t>- **Ask (Q):** From planning, what is the center of gravity of the APT we studied?</a:t>
            </a:r>
          </a:p>
          <a:p>
            <a:r>
              <a:t>- **Expected Response (A):** 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"You will be issued a live harvest collection cell."</a:t>
            </a:r>
          </a:p>
          <a:p>
            <a:r>
              <a:t>"That access is the price of admission."</a:t>
            </a:r>
          </a:p>
          <a:p>
            <a:r>
              <a:t>"This hour asks the next question: now that you are there, what do you do?"</a:t>
            </a:r>
          </a:p>
          <a:p>
            <a:r>
              <a:t>"Access matters when it produces a deliberate, bounded effect."</a:t>
            </a:r>
          </a:p>
          <a:p>
            <a:r>
              <a:t>"Every effect still has to support the CG/CV logic."</a:t>
            </a:r>
          </a:p>
          <a:p>
            <a:r>
              <a:t>"First two days: deliberate effects."</a:t>
            </a:r>
          </a:p>
          <a:p>
            <a:r>
              <a:t>"Last three days: doing this with SI help, and recognizing adversary SI use."</a:t>
            </a:r>
          </a:p>
          <a:p/>
          <a:p>
            <a:r>
              <a:t>Show:</a:t>
            </a:r>
          </a:p>
          <a:p>
            <a:r>
              <a:t>Point from "Access" to "Effect."</a:t>
            </a:r>
          </a:p>
          <a:p>
            <a:r>
              <a:t>Point at the CG/CV callout.</a:t>
            </a:r>
          </a:p>
          <a:p/>
          <a:p>
            <a:r>
              <a:t>Do:</a:t>
            </a:r>
          </a:p>
          <a:p>
            <a:r>
              <a:t>Ask: "From planning, what is the center of gravity of the APT we studied?"</a:t>
            </a:r>
          </a:p>
          <a:p>
            <a:r>
              <a:t>Take one answer.</a:t>
            </a:r>
          </a:p>
          <a:p>
            <a:r>
              <a:t>Ask: "And what is a critical vulnerability against that CG?"</a:t>
            </a:r>
          </a:p>
          <a:p>
            <a:r>
              <a:t>Capture both on the whiteboard as the running example.</a:t>
            </a:r>
          </a:p>
          <a:p/>
          <a:p>
            <a:r>
              <a:t>Image Prompt:</a:t>
            </a:r>
          </a:p>
          <a:p>
            <a:r>
              <a:t>A split-screen graphic. Left panel: a stylized red-team dashboard labeled "Access" with a glowing foothold icon. Right panel: the same foothold now labeled "Effect" with four outbound arrows labeled Degrade/Disrupt/Deny, Deceive/Manipulate, Reconnoiter, Handoff. A dim CG/CV callout box underneath both panels.</a:t>
            </a:r>
          </a:p>
          <a:p/>
          <a:p>
            <a:r>
              <a:t>Ask (Q):</a:t>
            </a:r>
          </a:p>
          <a:p>
            <a:r>
              <a:t>From planning, what is the center of gravity of the APT we studied?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"Effect versus action keeps you out of trouble."</a:t>
            </a:r>
          </a:p>
          <a:p>
            <a:r>
              <a:t>"Commander says: degrade their collection."</a:t>
            </a:r>
          </a:p>
          <a:p>
            <a:r>
              <a:t>"That is an effect."</a:t>
            </a:r>
          </a:p>
          <a:p>
            <a:r>
              <a:t>"You choose the action: stop a service, poison a database, corrupt logs."</a:t>
            </a:r>
          </a:p>
          <a:p>
            <a:r>
              <a:t>"Choice depends on assessment, risk, access reliability, team skill, and partner need."</a:t>
            </a:r>
          </a:p>
          <a:p>
            <a:r>
              <a:t>"Do not report an effect you did not actually achieve."</a:t>
            </a:r>
          </a:p>
          <a:p/>
          <a:p>
            <a:r>
              <a:t>Show:</a:t>
            </a:r>
          </a:p>
          <a:p>
            <a:r>
              <a:t>Point to the effect column.</a:t>
            </a:r>
          </a:p>
          <a:p>
            <a:r>
              <a:t>Point to the action column.</a:t>
            </a:r>
          </a:p>
          <a:p>
            <a:r>
              <a:t>Linger on the multi-to-multi arrows.</a:t>
            </a:r>
          </a:p>
          <a:p/>
          <a:p>
            <a:r>
              <a:t>Do:</a:t>
            </a:r>
          </a:p>
          <a:p>
            <a:r>
              <a:t>Ask: "Name an action you took on a prior on-target host."</a:t>
            </a:r>
          </a:p>
          <a:p>
            <a:r>
              <a:t>Ask: "What effect, if any, did it produce?"</a:t>
            </a:r>
          </a:p>
          <a:p>
            <a:r>
              <a:t>Take two answers.</a:t>
            </a:r>
          </a:p>
          <a:p>
            <a:r>
              <a:t>Correct effect/action conflation.</a:t>
            </a:r>
          </a:p>
          <a:p/>
          <a:p>
            <a:r>
              <a:t>Image Prompt:</a:t>
            </a:r>
          </a:p>
          <a:p>
            <a:r>
              <a:t>A two-column table graphic. Left column "Effect" (verbs: deny, degrade, disrupt, destroy, deceive, manipulate). Right column "Action" (specific tool/command examples: `systemctl disable`, `INSERT INTO exfil_logs ...`, `plant canary.docx`, `drop partner_rat.exe`). Arrows show that multiple actions can map to the same effect.</a:t>
            </a:r>
          </a:p>
          <a:p/>
          <a:p>
            <a:r>
              <a:t>Ask (Q):</a:t>
            </a:r>
          </a:p>
          <a:p>
            <a:r>
              <a:t>Name an action you took on a prior on-target host.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"This is planning language, not a new dictionary."</a:t>
            </a:r>
          </a:p>
          <a:p>
            <a:r>
              <a:t>"D4M verbs describe what you want done to an adversary capability."</a:t>
            </a:r>
          </a:p>
          <a:p>
            <a:r>
              <a:t>"Related terms cover decision-cycle attack, intelligence collection, pathway denial, and partner transition."</a:t>
            </a:r>
          </a:p>
          <a:p>
            <a:r>
              <a:t>"Classification is not the command you typed."</a:t>
            </a:r>
          </a:p>
          <a:p>
            <a:r>
              <a:t>"Classification is what changed, how long it lasts, and how hard recovery is."</a:t>
            </a:r>
          </a:p>
          <a:p>
            <a:r>
              <a:t>"The next slides stay concrete and example-driven."</a:t>
            </a:r>
          </a:p>
          <a:p/>
          <a:p>
            <a:r>
              <a:t>Show:</a:t>
            </a:r>
          </a:p>
          <a:p>
            <a:r>
              <a:t>Walk the D4M row left to right.</a:t>
            </a:r>
          </a:p>
          <a:p>
            <a:r>
              <a:t>Walk the related-effects row left to right.</a:t>
            </a:r>
          </a:p>
          <a:p>
            <a:r>
              <a:t>Point at the footer classification line.</a:t>
            </a:r>
          </a:p>
          <a:p/>
          <a:p>
            <a:r>
              <a:t>Do:</a:t>
            </a:r>
          </a:p>
          <a:p>
            <a:r>
              <a:t>Tell students: "For every example, ask what the adversary lost, kept, missed, or misunderstood."</a:t>
            </a:r>
          </a:p>
          <a:p>
            <a:r>
              <a:t>Tell students: "Also ask what you must check before touching the keyboard."</a:t>
            </a:r>
          </a:p>
          <a:p/>
          <a:p>
            <a:r>
              <a:t>Image Prompt:</a:t>
            </a:r>
          </a:p>
          <a:p>
            <a:r>
              <a:t>A two-row graphic. Top row labeled "D4M family" with four tiles: Deny, Degrade, Disrupt, Destroy. Bottom row labeled "Related effects" with four tiles: Deceive/Manipulate, Reconnoiter, Interdict, Handoff. Add a footer line: "Classify by outcome, duration, and recovery cost."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"Deny is a hard stop."</a:t>
            </a:r>
          </a:p>
          <a:p>
            <a:r>
              <a:t>"The adversary still wants to run the capability, but cannot."</a:t>
            </a:r>
          </a:p>
          <a:p>
            <a:r>
              <a:t>"Scenario: the collector polls a staging API with one service credential."</a:t>
            </a:r>
          </a:p>
          <a:p>
            <a:r>
              <a:t>"That credential is the dependency that lets collection run."</a:t>
            </a:r>
          </a:p>
          <a:p>
            <a:r>
              <a:t>"Action: disable, revoke, or rotate that credential so the collector cannot log in."</a:t>
            </a:r>
          </a:p>
          <a:p>
            <a:r>
              <a:t>"Do not assume the credential matters; prove the workflow uses it."</a:t>
            </a:r>
          </a:p>
          <a:p>
            <a:r>
              <a:t>"Check for alternate credentials before calling this denial."</a:t>
            </a:r>
          </a:p>
          <a:p>
            <a:r>
              <a:t>"Evidence should show authentication failure and stopped collection."</a:t>
            </a:r>
          </a:p>
          <a:p>
            <a:r>
              <a:t>"If a backup token keeps the workflow alive, you did not deny it."</a:t>
            </a:r>
          </a:p>
          <a:p/>
          <a:p>
            <a:r>
              <a:t>Show:</a:t>
            </a:r>
          </a:p>
          <a:p>
            <a:r>
              <a:t>Point to the revoked credential.</a:t>
            </a:r>
          </a:p>
          <a:p>
            <a:r>
              <a:t>Point to the failed login.</a:t>
            </a:r>
          </a:p>
          <a:p>
            <a:r>
              <a:t>Point to the missing downstream collection.</a:t>
            </a:r>
          </a:p>
          <a:p/>
          <a:p>
            <a:r>
              <a:t>Do:</a:t>
            </a:r>
          </a:p>
          <a:p>
            <a:r>
              <a:t>Ask: "What would prove this credential is the real dependency?"</a:t>
            </a:r>
          </a:p>
          <a:p>
            <a:r>
              <a:t>Ask: "What alternate path would defeat this denial?"</a:t>
            </a:r>
          </a:p>
          <a:p/>
          <a:p>
            <a:r>
              <a:t>Image Prompt:</a:t>
            </a:r>
          </a:p>
          <a:p>
            <a:r>
              <a:t>A denial graphic showing a collector trying to authenticate to a service. The credential path is marked revoked, the collection job fails at login, and the downstream dashboard shows no new collection.</a:t>
            </a:r>
          </a:p>
          <a:p/>
          <a:p>
            <a:r>
              <a:t>Ask (Q):</a:t>
            </a:r>
          </a:p>
          <a:p>
            <a:r>
              <a:t>What would prove this credential is the real dependency?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"This is still deny because the selected path becomes unusable."</a:t>
            </a:r>
          </a:p>
          <a:p>
            <a:r>
              <a:t>"The target is network reachability, not the local tool."</a:t>
            </a:r>
          </a:p>
          <a:p>
            <a:r>
              <a:t>"Scenario: collection bundles leave through a relay path to a known reporting destination."</a:t>
            </a:r>
          </a:p>
          <a:p>
            <a:r>
              <a:t>"That path depends on a DNS, firewall, proxy, or route control point."</a:t>
            </a:r>
          </a:p>
          <a:p>
            <a:r>
              <a:t>"Action: block or sinkhole the selected route so bundles cannot reach the destination."</a:t>
            </a:r>
          </a:p>
          <a:p>
            <a:r>
              <a:t>"Students must identify the actual route before changing controls."</a:t>
            </a:r>
          </a:p>
          <a:p>
            <a:r>
              <a:t>"Check for fallbacks, second relays, or direct cloud paths."</a:t>
            </a:r>
          </a:p>
          <a:p>
            <a:r>
              <a:t>"Rule persistence matters if the mission window spans restarts."</a:t>
            </a:r>
          </a:p>
          <a:p>
            <a:r>
              <a:t>"Evidence should show connection failure and no successful transfer."</a:t>
            </a:r>
          </a:p>
          <a:p>
            <a:r>
              <a:t>"If traffic simply moves to another path, denial failed."</a:t>
            </a:r>
          </a:p>
          <a:p/>
          <a:p>
            <a:r>
              <a:t>Show:</a:t>
            </a:r>
          </a:p>
          <a:p>
            <a:r>
              <a:t>Trace the normal route.</a:t>
            </a:r>
          </a:p>
          <a:p>
            <a:r>
              <a:t>Point to the block point.</a:t>
            </a:r>
          </a:p>
          <a:p>
            <a:r>
              <a:t>Point to alternate-route checks.</a:t>
            </a:r>
          </a:p>
          <a:p/>
          <a:p>
            <a:r>
              <a:t>Do:</a:t>
            </a:r>
          </a:p>
          <a:p>
            <a:r>
              <a:t>Ask: "What makes this route the right control point?"</a:t>
            </a:r>
          </a:p>
          <a:p>
            <a:r>
              <a:t>Ask: "What evidence separates route denial from a local tool crash?"</a:t>
            </a:r>
          </a:p>
          <a:p/>
          <a:p>
            <a:r>
              <a:t>Image Prompt:</a:t>
            </a:r>
          </a:p>
          <a:p>
            <a:r>
              <a:t>A route map showing collected data moving toward an exfil destination. The selected route is blocked at a firewall or DNS control point, with alternate routes shown as question-mark paths that students must check.</a:t>
            </a:r>
          </a:p>
          <a:p/>
          <a:p>
            <a:r>
              <a:t>Ask (Q):</a:t>
            </a:r>
          </a:p>
          <a:p>
            <a:r>
              <a:t>What makes this route the right control point?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"Degrade keeps the capability alive but worse."</a:t>
            </a:r>
          </a:p>
          <a:p>
            <a:r>
              <a:t>"Here, the product is less timely."</a:t>
            </a:r>
          </a:p>
          <a:p>
            <a:r>
              <a:t>"Scenario: a collector polls endpoints on a short interval and forwards results downstream."</a:t>
            </a:r>
          </a:p>
          <a:p>
            <a:r>
              <a:t>"The adversary still gets data because the pipeline remains alive."</a:t>
            </a:r>
          </a:p>
          <a:p>
            <a:r>
              <a:t>"Action: change the polling schedule so collection happens much less often."</a:t>
            </a:r>
          </a:p>
          <a:p>
            <a:r>
              <a:t>"Do not pick an interval at random."</a:t>
            </a:r>
          </a:p>
          <a:p>
            <a:r>
              <a:t>"Tie the delay to the mission window."</a:t>
            </a:r>
          </a:p>
          <a:p>
            <a:r>
              <a:t>"Know whether the config needs reload or restart."</a:t>
            </a:r>
          </a:p>
          <a:p>
            <a:r>
              <a:t>"Preserve the original value for rollback."</a:t>
            </a:r>
          </a:p>
          <a:p>
            <a:r>
              <a:t>"Evidence is a before/after cadence comparison."</a:t>
            </a:r>
          </a:p>
          <a:p/>
          <a:p>
            <a:r>
              <a:t>Show:</a:t>
            </a:r>
          </a:p>
          <a:p>
            <a:r>
              <a:t>Compare normal cadence to delayed cadence.</a:t>
            </a:r>
          </a:p>
          <a:p>
            <a:r>
              <a:t>Point out that collection still occurs.</a:t>
            </a:r>
          </a:p>
          <a:p/>
          <a:p>
            <a:r>
              <a:t>Do:</a:t>
            </a:r>
          </a:p>
          <a:p>
            <a:r>
              <a:t>Ask: "When does slow become operationally useful?"</a:t>
            </a:r>
          </a:p>
          <a:p>
            <a:r>
              <a:t>Ask: "When would this accidentally become deny?"</a:t>
            </a:r>
          </a:p>
          <a:p/>
          <a:p>
            <a:r>
              <a:t>Image Prompt:</a:t>
            </a:r>
          </a:p>
          <a:p>
            <a:r>
              <a:t>A before/after timing graphic. Before: collector polls every five minutes. After: collector still works but polls much less often, with delayed entries arriving downstream.</a:t>
            </a:r>
          </a:p>
          <a:p/>
          <a:p>
            <a:r>
              <a:t>Ask (Q):</a:t>
            </a:r>
          </a:p>
          <a:p>
            <a:r>
              <a:t>When does slow become operationally useful?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"This degradation reduces coverage rather than timing."</a:t>
            </a:r>
          </a:p>
          <a:p>
            <a:r>
              <a:t>"The pipeline still runs."</a:t>
            </a:r>
          </a:p>
          <a:p>
            <a:r>
              <a:t>"The product is less complete."</a:t>
            </a:r>
          </a:p>
          <a:p>
            <a:r>
              <a:t>"Scenario: a redirector receives feeds from multiple implants."</a:t>
            </a:r>
          </a:p>
          <a:p>
            <a:r>
              <a:t>"Those feeds are consolidated, parsed, and forwarded to a backend database."</a:t>
            </a:r>
          </a:p>
          <a:p>
            <a:r>
              <a:t>"Action: remove or disable one feeder source while leaving the rest of the pipeline intact."</a:t>
            </a:r>
          </a:p>
          <a:p>
            <a:r>
              <a:t>"Students must know what the feeder uniquely contributes."</a:t>
            </a:r>
          </a:p>
          <a:p>
            <a:r>
              <a:t>"The goal is partial loss, not total outage."</a:t>
            </a:r>
          </a:p>
          <a:p>
            <a:r>
              <a:t>"Analyst visibility matters; obvious loss may trigger fast repair."</a:t>
            </a:r>
          </a:p>
          <a:p>
            <a:r>
              <a:t>"Evidence is lower volume or a missing coverage slice."</a:t>
            </a:r>
          </a:p>
          <a:p/>
          <a:p>
            <a:r>
              <a:t>Show:</a:t>
            </a:r>
          </a:p>
          <a:p>
            <a:r>
              <a:t>Point to the removed feeder.</a:t>
            </a:r>
          </a:p>
          <a:p>
            <a:r>
              <a:t>Point to the remaining pipeline.</a:t>
            </a:r>
          </a:p>
          <a:p>
            <a:r>
              <a:t>Point to the output gap.</a:t>
            </a:r>
          </a:p>
          <a:p/>
          <a:p>
            <a:r>
              <a:t>Do:</a:t>
            </a:r>
          </a:p>
          <a:p>
            <a:r>
              <a:t>Ask: "What would make this too obvious?"</a:t>
            </a:r>
          </a:p>
          <a:p>
            <a:r>
              <a:t>Ask: "What evidence proves degradation instead of denial?"</a:t>
            </a:r>
          </a:p>
          <a:p/>
          <a:p>
            <a:r>
              <a:t>Image Prompt:</a:t>
            </a:r>
          </a:p>
          <a:p>
            <a:r>
              <a:t>A collection pipeline with three feeder sources entering one processing path. One feeder is removed, and the output still exists but has a visible coverage gap.</a:t>
            </a:r>
          </a:p>
          <a:p/>
          <a:p>
            <a:r>
              <a:t>Ask (Q):</a:t>
            </a:r>
          </a:p>
          <a:p>
            <a:r>
              <a:t>What would make this too obvious?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"Disrupt breaks rhythm."</a:t>
            </a:r>
          </a:p>
          <a:p>
            <a:r>
              <a:t>"The capability may come back."</a:t>
            </a:r>
          </a:p>
          <a:p>
            <a:r>
              <a:t>"The problem is that it comes back too late."</a:t>
            </a:r>
          </a:p>
          <a:p>
            <a:r>
              <a:t>"Scenario: a collection process has one reporting window that matters to the mission."</a:t>
            </a:r>
          </a:p>
          <a:p>
            <a:r>
              <a:t>"If that window is missed, later recovery does not undo the disruption."</a:t>
            </a:r>
          </a:p>
          <a:p>
            <a:r>
              <a:t>"Action: stop the process during the reporting window and allow recovery afterward."</a:t>
            </a:r>
          </a:p>
          <a:p>
            <a:r>
              <a:t>"Timing is the center of this example."</a:t>
            </a:r>
          </a:p>
          <a:p>
            <a:r>
              <a:t>"Students need the real reporting window, not a guess."</a:t>
            </a:r>
          </a:p>
          <a:p>
            <a:r>
              <a:t>"Watchdog or auto-restart behavior changes the effect."</a:t>
            </a:r>
          </a:p>
          <a:p>
            <a:r>
              <a:t>"Evidence is the missed window plus later recovery."</a:t>
            </a:r>
          </a:p>
          <a:p/>
          <a:p>
            <a:r>
              <a:t>Show:</a:t>
            </a:r>
          </a:p>
          <a:p>
            <a:r>
              <a:t>Point to the reporting window.</a:t>
            </a:r>
          </a:p>
          <a:p>
            <a:r>
              <a:t>Point to the outage inside the window.</a:t>
            </a:r>
          </a:p>
          <a:p>
            <a:r>
              <a:t>Point to recovery after the window.</a:t>
            </a:r>
          </a:p>
          <a:p/>
          <a:p>
            <a:r>
              <a:t>Do:</a:t>
            </a:r>
          </a:p>
          <a:p>
            <a:r>
              <a:t>Ask: "If it restarts after ten minutes but the window was five, what effect is that?"</a:t>
            </a:r>
          </a:p>
          <a:p>
            <a:r>
              <a:t>Ask: "What evidence would you capture?"</a:t>
            </a:r>
          </a:p>
          <a:p/>
          <a:p>
            <a:r>
              <a:t>Image Prompt:</a:t>
            </a:r>
          </a:p>
          <a:p>
            <a:r>
              <a:t>A timeline with a normal reporting window on top and a disrupted window below. The process stops during the reporting period, then recovers later after the decisive time has passed.</a:t>
            </a:r>
          </a:p>
          <a:p/>
          <a:p>
            <a:r>
              <a:t>Ask (Q):</a:t>
            </a:r>
          </a:p>
          <a:p>
            <a:r>
              <a:t>If it restarts after ten minutes but the window was five, what effect is that?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"This disrupts coordination, not the whole capability."</a:t>
            </a:r>
          </a:p>
          <a:p>
            <a:r>
              <a:t>"The tasks may all still exist."</a:t>
            </a:r>
          </a:p>
          <a:p>
            <a:r>
              <a:t>"The sequence no longer supports the workflow."</a:t>
            </a:r>
          </a:p>
          <a:p>
            <a:r>
              <a:t>"Scenario: scheduled jobs collect, parse, stage, and forward data in a fixed order."</a:t>
            </a:r>
          </a:p>
          <a:p>
            <a:r>
              <a:t>"Downstream jobs depend on upstream output being ready at the right time."</a:t>
            </a:r>
          </a:p>
          <a:p>
            <a:r>
              <a:t>"Action: change schedule order or trigger timing so jobs run before prerequisites exist."</a:t>
            </a:r>
          </a:p>
          <a:p>
            <a:r>
              <a:t>"Students must map dependencies before changing schedule state."</a:t>
            </a:r>
          </a:p>
          <a:p>
            <a:r>
              <a:t>"Know whether the system self-corrects."</a:t>
            </a:r>
          </a:p>
          <a:p>
            <a:r>
              <a:t>"Manual cleanup means added adversary burden."</a:t>
            </a:r>
          </a:p>
          <a:p>
            <a:r>
              <a:t>"Evidence comes from job logs and delayed downstream action."</a:t>
            </a:r>
          </a:p>
          <a:p/>
          <a:p>
            <a:r>
              <a:t>Show:</a:t>
            </a:r>
          </a:p>
          <a:p>
            <a:r>
              <a:t>Trace the normal order.</a:t>
            </a:r>
          </a:p>
          <a:p>
            <a:r>
              <a:t>Trace the scrambled order.</a:t>
            </a:r>
          </a:p>
          <a:p>
            <a:r>
              <a:t>Point to the broken handoff.</a:t>
            </a:r>
          </a:p>
          <a:p/>
          <a:p>
            <a:r>
              <a:t>Do:</a:t>
            </a:r>
          </a:p>
          <a:p>
            <a:r>
              <a:t>Ask: "Which dependency must students prove first?"</a:t>
            </a:r>
          </a:p>
          <a:p>
            <a:r>
              <a:t>Ask: "When would this drift into denial?"</a:t>
            </a:r>
          </a:p>
          <a:p/>
          <a:p>
            <a:r>
              <a:t>Image Prompt:</a:t>
            </a:r>
          </a:p>
          <a:p>
            <a:r>
              <a:t>A job-chain diagram showing tasks A, B, and C. Normal order is A -&gt; B -&gt; C. The disrupted version runs B before A or misses the handoff trigger, causing downstream delay.</a:t>
            </a:r>
          </a:p>
          <a:p/>
          <a:p>
            <a:r>
              <a:t>Ask (Q):</a:t>
            </a:r>
          </a:p>
          <a:p>
            <a:r>
              <a:t>Which dependency must students prove first?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"Destroy means recovery is hard."</a:t>
            </a:r>
          </a:p>
          <a:p>
            <a:r>
              <a:t>"Here, the destroyed dependency is key material."</a:t>
            </a:r>
          </a:p>
          <a:p>
            <a:r>
              <a:t>"Scenario: the reporting channel depends on one deployed certificate, private key, or token."</a:t>
            </a:r>
          </a:p>
          <a:p>
            <a:r>
              <a:t>"Without that material, the adversary must reissue and redeploy before the channel works."</a:t>
            </a:r>
          </a:p>
          <a:p>
            <a:r>
              <a:t>"Action: remove the required key material and any immediately usable local copy."</a:t>
            </a:r>
          </a:p>
          <a:p>
            <a:r>
              <a:t>"A deleted key only matters if it is unique and required."</a:t>
            </a:r>
          </a:p>
          <a:p>
            <a:r>
              <a:t>"Backups can turn destroy into short disruption."</a:t>
            </a:r>
          </a:p>
          <a:p>
            <a:r>
              <a:t>"This requires explicit mission approval."</a:t>
            </a:r>
          </a:p>
          <a:p>
            <a:r>
              <a:t>"Evidence must show failed channel operation and rebuild burden."</a:t>
            </a:r>
          </a:p>
          <a:p>
            <a:r>
              <a:t>"Do not call it destroy just because a file was deleted."</a:t>
            </a:r>
          </a:p>
          <a:p/>
          <a:p>
            <a:r>
              <a:t>Show:</a:t>
            </a:r>
          </a:p>
          <a:p>
            <a:r>
              <a:t>Point to the key dependency.</a:t>
            </a:r>
          </a:p>
          <a:p>
            <a:r>
              <a:t>Point to backup checks.</a:t>
            </a:r>
          </a:p>
          <a:p>
            <a:r>
              <a:t>Point to rebuild requirement.</a:t>
            </a:r>
          </a:p>
          <a:p/>
          <a:p>
            <a:r>
              <a:t>Do:</a:t>
            </a:r>
          </a:p>
          <a:p>
            <a:r>
              <a:t>Ask: "What makes this destructive instead of disruptive?"</a:t>
            </a:r>
          </a:p>
          <a:p>
            <a:r>
              <a:t>Ask: "What backup evidence would change your classification?"</a:t>
            </a:r>
          </a:p>
          <a:p/>
          <a:p>
            <a:r>
              <a:t>Image Prompt:</a:t>
            </a:r>
          </a:p>
          <a:p>
            <a:r>
              <a:t>A capability stack where certificate/key material is highlighted as the single dependency for an encrypted reporting or exfil channel. Recovery arrow is labeled "reissue / redeploy required."</a:t>
            </a:r>
          </a:p>
          <a:p/>
          <a:p>
            <a:r>
              <a:t>Ask (Q):</a:t>
            </a:r>
          </a:p>
          <a:p>
            <a:r>
              <a:t>What makes this destructive instead of disruptive?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"This destroys by increasing recovery burden."</a:t>
            </a:r>
          </a:p>
          <a:p>
            <a:r>
              <a:t>"The live data alone may not be enough."</a:t>
            </a:r>
          </a:p>
          <a:p>
            <a:r>
              <a:t>"The quick restore copy matters."</a:t>
            </a:r>
          </a:p>
          <a:p>
            <a:r>
              <a:t>"Scenario: staging data feeds the adversary's analytic or reporting backend."</a:t>
            </a:r>
          </a:p>
          <a:p>
            <a:r>
              <a:t>"A nearby export or snapshot lets them restore quickly if only live data is lost."</a:t>
            </a:r>
          </a:p>
          <a:p>
            <a:r>
              <a:t>"Action: remove the staging data and the quick local restore copy in the same operation."</a:t>
            </a:r>
          </a:p>
          <a:p>
            <a:r>
              <a:t>"Students must avoid unrelated data and partner equities."</a:t>
            </a:r>
          </a:p>
          <a:p>
            <a:r>
              <a:t>"Criticality has to be tied to the adversary capability."</a:t>
            </a:r>
          </a:p>
          <a:p>
            <a:r>
              <a:t>"Evidence is missing staging data plus no quick local restore."</a:t>
            </a:r>
          </a:p>
          <a:p>
            <a:r>
              <a:t>"If ordinary admin steps restore it in minutes, it was not destroy."</a:t>
            </a:r>
          </a:p>
          <a:p/>
          <a:p>
            <a:r>
              <a:t>Show:</a:t>
            </a:r>
          </a:p>
          <a:p>
            <a:r>
              <a:t>Point to live staging data.</a:t>
            </a:r>
          </a:p>
          <a:p>
            <a:r>
              <a:t>Point to the quick restore copy.</a:t>
            </a:r>
          </a:p>
          <a:p>
            <a:r>
              <a:t>Point to the slower recovery path.</a:t>
            </a:r>
          </a:p>
          <a:p/>
          <a:p>
            <a:r>
              <a:t>Do:</a:t>
            </a:r>
          </a:p>
          <a:p>
            <a:r>
              <a:t>Ask: "Why does the nearby restore copy matter?"</a:t>
            </a:r>
          </a:p>
          <a:p>
            <a:r>
              <a:t>Ask: "What second-order effects must be checked?"</a:t>
            </a:r>
          </a:p>
          <a:p/>
          <a:p>
            <a:r>
              <a:t>Image Prompt:</a:t>
            </a:r>
          </a:p>
          <a:p>
            <a:r>
              <a:t>A staging database with a nearby quick restore export. Both the live staging data and quick restore copy are removed, while distant backup is shown as slow or unavailable.</a:t>
            </a:r>
          </a:p>
          <a:p/>
          <a:p>
            <a:r>
              <a:t>Ask (Q):</a:t>
            </a:r>
          </a:p>
          <a:p>
            <a:r>
              <a:t>Why does the nearby restore copy matter?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"Deception succeeds when the adversary chooses wrong for a believable reason."</a:t>
            </a:r>
          </a:p>
          <a:p>
            <a:r>
              <a:t>"Scenario: an analyst dashboard ranks targets from a backend priority table."</a:t>
            </a:r>
          </a:p>
          <a:p>
            <a:r>
              <a:t>"Priority fields drive what operators investigate first."</a:t>
            </a:r>
          </a:p>
          <a:p>
            <a:r>
              <a:t>"Action: insert or alter a believable record so the wrong target rises in the queue."</a:t>
            </a:r>
          </a:p>
          <a:p>
            <a:r>
              <a:t>"The goal is mis-prioritization, not outage."</a:t>
            </a:r>
          </a:p>
          <a:p>
            <a:r>
              <a:t>"Check the data model before writing anything."</a:t>
            </a:r>
          </a:p>
          <a:p>
            <a:r>
              <a:t>"Evidence is the poisoned record plus changed analyst focus."</a:t>
            </a:r>
          </a:p>
          <a:p/>
          <a:p>
            <a:r>
              <a:t>Show:</a:t>
            </a:r>
          </a:p>
          <a:p>
            <a:r>
              <a:t>Point to the priority record.</a:t>
            </a:r>
          </a:p>
          <a:p>
            <a:r>
              <a:t>Point to the dashboard queue.</a:t>
            </a:r>
          </a:p>
          <a:p>
            <a:r>
              <a:t>Point to the wrong high-priority target.</a:t>
            </a:r>
          </a:p>
          <a:p/>
          <a:p>
            <a:r>
              <a:t>Do:</a:t>
            </a:r>
          </a:p>
          <a:p>
            <a:r>
              <a:t>Ask: "What makes a false priority believable?"</a:t>
            </a:r>
          </a:p>
          <a:p>
            <a:r>
              <a:t>Steer toward field consistency, timing, and existing patterns.</a:t>
            </a:r>
          </a:p>
          <a:p/>
          <a:p>
            <a:r>
              <a:t>Image Prompt:</a:t>
            </a:r>
          </a:p>
          <a:p>
            <a:r>
              <a:t>A decision-cycle graphic where a target-priority table feeds an analyst dashboard. One inserted or changed priority record moves a low-value target into a high-priority lane, and the analyst queue follows the false priority.</a:t>
            </a:r>
          </a:p>
          <a:p/>
          <a:p>
            <a:r>
              <a:t>Ask (Q):</a:t>
            </a:r>
          </a:p>
          <a:p>
            <a:r>
              <a:t>What makes a false priority believable?</a:t>
            </a:r>
          </a:p>
          <a:p/>
          <a:p>
            <a:r>
              <a:t>Expected Response (A):</a:t>
            </a:r>
          </a:p>
          <a:p>
            <a:r>
              <a:t>field consistency, timing, and existing patterns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"This example manipulates the adversary's sense of sequence."</a:t>
            </a:r>
          </a:p>
          <a:p>
            <a:r>
              <a:t>"Scenario: analysts review documents, screenshots, or logs to reconstruct activity."</a:t>
            </a:r>
          </a:p>
          <a:p>
            <a:r>
              <a:t>"They trust artifacts that match normal naming, timing, and metadata."</a:t>
            </a:r>
          </a:p>
          <a:p>
            <a:r>
              <a:t>"Action: place a false timeline artifact in a location they already use."</a:t>
            </a:r>
          </a:p>
          <a:p>
            <a:r>
              <a:t>"The artifact must fit the environment around it."</a:t>
            </a:r>
          </a:p>
          <a:p>
            <a:r>
              <a:t>"If it looks staged, it fails."</a:t>
            </a:r>
          </a:p>
          <a:p>
            <a:r>
              <a:t>"Evidence is decoy review, mention, or follow-on action."</a:t>
            </a:r>
          </a:p>
          <a:p/>
          <a:p>
            <a:r>
              <a:t>Show:</a:t>
            </a:r>
          </a:p>
          <a:p>
            <a:r>
              <a:t>Point to authentic timeline entries.</a:t>
            </a:r>
          </a:p>
          <a:p>
            <a:r>
              <a:t>Point to the planted artifact.</a:t>
            </a:r>
          </a:p>
          <a:p>
            <a:r>
              <a:t>Point to the wrong conclusion.</a:t>
            </a:r>
          </a:p>
          <a:p/>
          <a:p>
            <a:r>
              <a:t>Do:</a:t>
            </a:r>
          </a:p>
          <a:p>
            <a:r>
              <a:t>Ask: "What would make this artifact stand out as fake?"</a:t>
            </a:r>
          </a:p>
          <a:p>
            <a:r>
              <a:t>Take two answers.</a:t>
            </a:r>
          </a:p>
          <a:p/>
          <a:p>
            <a:r>
              <a:t>Image Prompt:</a:t>
            </a:r>
          </a:p>
          <a:p>
            <a:r>
              <a:t>A timeline view with authentic log entries and one planted artifact that shifts the apparent sequence of activity. Analyst attention follows the false timeline toward the wrong conclusion.</a:t>
            </a:r>
          </a:p>
          <a:p/>
          <a:p>
            <a:r>
              <a:t>Ask (Q):</a:t>
            </a:r>
          </a:p>
          <a:p>
            <a:r>
              <a:t>What would make this artifact stand out as fake?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"Reconnoiter is an effect when it answers a mission gap."</a:t>
            </a:r>
          </a:p>
          <a:p>
            <a:r>
              <a:t>"Scenario: the team has access but does not know how collection actually flows."</a:t>
            </a:r>
          </a:p>
          <a:p>
            <a:r>
              <a:t>"The pipeline may include feeders, parser jobs, staging storage, and reporting relays."</a:t>
            </a:r>
          </a:p>
          <a:p>
            <a:r>
              <a:t>"Action: enumerate services, schedules, configs, data paths, and process state."</a:t>
            </a:r>
          </a:p>
          <a:p>
            <a:r>
              <a:t>"The result should support COA comparison."</a:t>
            </a:r>
          </a:p>
          <a:p>
            <a:r>
              <a:t>"Use read-only, low-noise collection first."</a:t>
            </a:r>
          </a:p>
          <a:p>
            <a:r>
              <a:t>"Evidence is a pipeline map tied to real artifacts."</a:t>
            </a:r>
          </a:p>
          <a:p/>
          <a:p>
            <a:r>
              <a:t>Show:</a:t>
            </a:r>
          </a:p>
          <a:p>
            <a:r>
              <a:t>Build the map layer by layer.</a:t>
            </a:r>
          </a:p>
          <a:p>
            <a:r>
              <a:t>Point to newly discovered dependencies.</a:t>
            </a:r>
          </a:p>
          <a:p>
            <a:r>
              <a:t>Point to the likely choke point.</a:t>
            </a:r>
          </a:p>
          <a:p/>
          <a:p>
            <a:r>
              <a:t>Do:</a:t>
            </a:r>
          </a:p>
          <a:p>
            <a:r>
              <a:t>Ask: "What fact would change your next COA?"</a:t>
            </a:r>
          </a:p>
          <a:p>
            <a:r>
              <a:t>Take one or two answers.</a:t>
            </a:r>
          </a:p>
          <a:p/>
          <a:p>
            <a:r>
              <a:t>Image Prompt:</a:t>
            </a:r>
          </a:p>
          <a:p>
            <a:r>
              <a:t>A layered pipeline map that starts blank, then adds hosts, services, schedules, data paths, and choke points until the collection workflow is clear enough for planning.</a:t>
            </a:r>
          </a:p>
          <a:p/>
          <a:p>
            <a:r>
              <a:t>Ask (Q):</a:t>
            </a:r>
          </a:p>
          <a:p>
            <a:r>
              <a:t>What fact would change your next COA?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"This recon example is about timing."</a:t>
            </a:r>
          </a:p>
          <a:p>
            <a:r>
              <a:t>"Scenario: stronger effects depend on when adversary operators are active or absent."</a:t>
            </a:r>
          </a:p>
          <a:p>
            <a:r>
              <a:t>"Logs may show login patterns, dashboard touches, task edits, or review cycles."</a:t>
            </a:r>
          </a:p>
          <a:p>
            <a:r>
              <a:t>"Action: compare multiple time sources to establish operator cadence."</a:t>
            </a:r>
          </a:p>
          <a:p>
            <a:r>
              <a:t>"Do not trust one timestamp without checking time basis."</a:t>
            </a:r>
          </a:p>
          <a:p>
            <a:r>
              <a:t>"Separate human activity from automation."</a:t>
            </a:r>
          </a:p>
          <a:p>
            <a:r>
              <a:t>"Evidence is a cadence pattern that changes when you act."</a:t>
            </a:r>
          </a:p>
          <a:p/>
          <a:p>
            <a:r>
              <a:t>Show:</a:t>
            </a:r>
          </a:p>
          <a:p>
            <a:r>
              <a:t>Point to active periods.</a:t>
            </a:r>
          </a:p>
          <a:p>
            <a:r>
              <a:t>Point to quiet periods.</a:t>
            </a:r>
          </a:p>
          <a:p>
            <a:r>
              <a:t>Point to the proposed action window.</a:t>
            </a:r>
          </a:p>
          <a:p/>
          <a:p>
            <a:r>
              <a:t>Do:</a:t>
            </a:r>
          </a:p>
          <a:p>
            <a:r>
              <a:t>Ask: "Why is timezone or clock drift a mission issue here?"</a:t>
            </a:r>
          </a:p>
          <a:p>
            <a:r>
              <a:t>Ask: "What source would corroborate operator activity?"</a:t>
            </a:r>
          </a:p>
          <a:p/>
          <a:p>
            <a:r>
              <a:t>Image Prompt:</a:t>
            </a:r>
          </a:p>
          <a:p>
            <a:r>
              <a:t>A time-series graphic showing operator logins, dashboard use, job runs, and quiet periods. A highlighted action window appears where adversary attention is predictably low.</a:t>
            </a:r>
          </a:p>
          <a:p/>
          <a:p>
            <a:r>
              <a:t>Ask (Q):</a:t>
            </a:r>
          </a:p>
          <a:p>
            <a:r>
              <a:t>Why is timezone or clock drift a mission issue here?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"Interdict is pathway language."</a:t>
            </a:r>
          </a:p>
          <a:p>
            <a:r>
              <a:t>"Scenario: collected data reaches analysts through a named reporting destination."</a:t>
            </a:r>
          </a:p>
          <a:p>
            <a:r>
              <a:t>"The destination depends on DNS, proxy, or route resolution."</a:t>
            </a:r>
          </a:p>
          <a:p>
            <a:r>
              <a:t>"Action: sinkhole or redirect that destination so reporting never reaches the analyst node."</a:t>
            </a:r>
          </a:p>
          <a:p>
            <a:r>
              <a:t>"The endpoint tool may still run."</a:t>
            </a:r>
          </a:p>
          <a:p>
            <a:r>
              <a:t>"The path no longer delivers useful movement."</a:t>
            </a:r>
          </a:p>
          <a:p>
            <a:r>
              <a:t>"Evidence is sinkhole traffic or failed delivery before the analyst node."</a:t>
            </a:r>
          </a:p>
          <a:p/>
          <a:p>
            <a:r>
              <a:t>Show:</a:t>
            </a:r>
          </a:p>
          <a:p>
            <a:r>
              <a:t>Trace normal reporting path.</a:t>
            </a:r>
          </a:p>
          <a:p>
            <a:r>
              <a:t>Point to the sinkhole point.</a:t>
            </a:r>
          </a:p>
          <a:p>
            <a:r>
              <a:t>Point to alternate-route checks.</a:t>
            </a:r>
          </a:p>
          <a:p/>
          <a:p>
            <a:r>
              <a:t>Do:</a:t>
            </a:r>
          </a:p>
          <a:p>
            <a:r>
              <a:t>Ask: "Why is this interdict instead of local denial?"</a:t>
            </a:r>
          </a:p>
          <a:p>
            <a:r>
              <a:t>Make students answer in pathway terms.</a:t>
            </a:r>
          </a:p>
          <a:p/>
          <a:p>
            <a:r>
              <a:t>Image Prompt:</a:t>
            </a:r>
          </a:p>
          <a:p>
            <a:r>
              <a:t>A reporting route map where traffic normally moves from collection nodes through a relay to an analyst destination. The route is redirected to a sinkhole, with alternate routes shown as checks.</a:t>
            </a:r>
          </a:p>
          <a:p/>
          <a:p>
            <a:r>
              <a:t>Ask (Q):</a:t>
            </a:r>
          </a:p>
          <a:p>
            <a:r>
              <a:t>Why is this interdict instead of local denial?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"This interdicts the handoff point."</a:t>
            </a:r>
          </a:p>
          <a:p>
            <a:r>
              <a:t>"Scenario: one stage drops data into a queue, share, or API endpoint."</a:t>
            </a:r>
          </a:p>
          <a:p>
            <a:r>
              <a:t>"A downstream stage reads from that handoff point and continues processing."</a:t>
            </a:r>
          </a:p>
          <a:p>
            <a:r>
              <a:t>"Action: remove or narrow access so the downstream stage cannot receive the handoff."</a:t>
            </a:r>
          </a:p>
          <a:p>
            <a:r>
              <a:t>"Upstream collection may still run."</a:t>
            </a:r>
          </a:p>
          <a:p>
            <a:r>
              <a:t>"The pathway between stages is cut."</a:t>
            </a:r>
          </a:p>
          <a:p>
            <a:r>
              <a:t>"Evidence is stalled queue growth and downstream starvation."</a:t>
            </a:r>
          </a:p>
          <a:p/>
          <a:p>
            <a:r>
              <a:t>Show:</a:t>
            </a:r>
          </a:p>
          <a:p>
            <a:r>
              <a:t>Point to upstream collection.</a:t>
            </a:r>
          </a:p>
          <a:p>
            <a:r>
              <a:t>Point to the handoff queue.</a:t>
            </a:r>
          </a:p>
          <a:p>
            <a:r>
              <a:t>Point to isolated downstream stage.</a:t>
            </a:r>
          </a:p>
          <a:p/>
          <a:p>
            <a:r>
              <a:t>Do:</a:t>
            </a:r>
          </a:p>
          <a:p>
            <a:r>
              <a:t>Ask: "What must students prove before changing permissions?"</a:t>
            </a:r>
          </a:p>
          <a:p>
            <a:r>
              <a:t>Ask: "What would show endpoint failure instead of pathway interdiction?"</a:t>
            </a:r>
          </a:p>
          <a:p/>
          <a:p>
            <a:r>
              <a:t>Image Prompt:</a:t>
            </a:r>
          </a:p>
          <a:p>
            <a:r>
              <a:t>A workflow diagram with collection, queue, parser, and analyst stages. Permissions are removed between the queue and parser, so upstream data piles up while downstream processing starves.</a:t>
            </a:r>
          </a:p>
          <a:p/>
          <a:p>
            <a:r>
              <a:t>Ask (Q):</a:t>
            </a:r>
          </a:p>
          <a:p>
            <a:r>
              <a:t>What must students prove before changing permissions?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"Handoff's outcome is partner reach."</a:t>
            </a:r>
          </a:p>
          <a:p>
            <a:r>
              <a:t>"Scenario: your team has tactical access that another team needs to continue the mission."</a:t>
            </a:r>
          </a:p>
          <a:p>
            <a:r>
              <a:t>"The partner cannot afford to rediscover the environment."</a:t>
            </a:r>
          </a:p>
          <a:p>
            <a:r>
              <a:t>"Action: deliver a concise access package with connection method, credential, host context, limits, and risk notes."</a:t>
            </a:r>
          </a:p>
          <a:p>
            <a:r>
              <a:t>"The package must be usable in the first few minutes."</a:t>
            </a:r>
          </a:p>
          <a:p>
            <a:r>
              <a:t>"Include what not to touch."</a:t>
            </a:r>
          </a:p>
          <a:p>
            <a:r>
              <a:t>"Evidence is the partner connecting and orienting from your report."</a:t>
            </a:r>
          </a:p>
          <a:p/>
          <a:p>
            <a:r>
              <a:t>Show:</a:t>
            </a:r>
          </a:p>
          <a:p>
            <a:r>
              <a:t>Walk the package fields.</a:t>
            </a:r>
          </a:p>
          <a:p>
            <a:r>
              <a:t>Point to first-five-minutes usability.</a:t>
            </a:r>
          </a:p>
          <a:p>
            <a:r>
              <a:t>Point to risk notes.</a:t>
            </a:r>
          </a:p>
          <a:p/>
          <a:p>
            <a:r>
              <a:t>Do:</a:t>
            </a:r>
          </a:p>
          <a:p>
            <a:r>
              <a:t>Ask: "What would make this package unusable?"</a:t>
            </a:r>
          </a:p>
          <a:p>
            <a:r>
              <a:t>Build a short list live.</a:t>
            </a:r>
          </a:p>
          <a:p/>
          <a:p>
            <a:r>
              <a:t>Image Prompt:</a:t>
            </a:r>
          </a:p>
          <a:p>
            <a:r>
              <a:t>A handoff package with access path, credential, host context, risk notes, and recommended next objective. The partner team uses the package to connect without rediscovering the environment.</a:t>
            </a:r>
          </a:p>
          <a:p/>
          <a:p>
            <a:r>
              <a:t>Ask (Q):</a:t>
            </a:r>
          </a:p>
          <a:p>
            <a:r>
              <a:t>What would make this package unusable?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"This handoff is more than reporting access."</a:t>
            </a:r>
          </a:p>
          <a:p>
            <a:r>
              <a:t>"Scenario: a partner-approved capability must be placed or validated on the right node."</a:t>
            </a:r>
          </a:p>
          <a:p>
            <a:r>
              <a:t>"The partner needs confidence that it works and will still be there when they take over."</a:t>
            </a:r>
          </a:p>
          <a:p>
            <a:r>
              <a:t>"Action: validate placement, access method, persistence behavior, and operating notes."</a:t>
            </a:r>
          </a:p>
          <a:p>
            <a:r>
              <a:t>"Do not improvise unapproved tools."</a:t>
            </a:r>
          </a:p>
          <a:p>
            <a:r>
              <a:t>"Training and limits are part of the handoff."</a:t>
            </a:r>
          </a:p>
          <a:p>
            <a:r>
              <a:t>"Evidence is the partner operating from your notes without rediscovery."</a:t>
            </a:r>
          </a:p>
          <a:p/>
          <a:p>
            <a:r>
              <a:t>Show:</a:t>
            </a:r>
          </a:p>
          <a:p>
            <a:r>
              <a:t>Point to the placement node.</a:t>
            </a:r>
          </a:p>
          <a:p>
            <a:r>
              <a:t>Point to persistence checks.</a:t>
            </a:r>
          </a:p>
          <a:p>
            <a:r>
              <a:t>Point to partner operating notes.</a:t>
            </a:r>
          </a:p>
          <a:p/>
          <a:p>
            <a:r>
              <a:t>Do:</a:t>
            </a:r>
          </a:p>
          <a:p>
            <a:r>
              <a:t>Ask: "What must be validated before the partner accepts this?"</a:t>
            </a:r>
          </a:p>
          <a:p>
            <a:r>
              <a:t>Ask: "What would burn the handoff?"</a:t>
            </a:r>
          </a:p>
          <a:p/>
          <a:p>
            <a:r>
              <a:t>Image Prompt:</a:t>
            </a:r>
          </a:p>
          <a:p>
            <a:r>
              <a:t>A partner-approved capability staged on the correct node with validation checks for placement, persistence, access method, and receiving-team operation.</a:t>
            </a:r>
          </a:p>
          <a:p/>
          <a:p>
            <a:r>
              <a:t>Ask (Q):</a:t>
            </a:r>
          </a:p>
          <a:p>
            <a:r>
              <a:t>What must be validated before the partner accepts this?</a:t>
            </a:r>
          </a:p>
          <a:p/>
          <a:p>
            <a:r>
              <a:t>Expected Response (A):</a:t>
            </a:r>
          </a:p>
          <a:p>
            <a:r>
              <a:t>Facilitation. Use the Say/Do already on this row; do not force a single keyed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"This is how you justify the effect."</a:t>
            </a:r>
          </a:p>
          <a:p>
            <a:r>
              <a:t>"D4M and interdict often attack CG as capability or pathway."</a:t>
            </a:r>
          </a:p>
          <a:p>
            <a:r>
              <a:t>"Deceive and manipulate attack decision cycle and EMLCOA."</a:t>
            </a:r>
          </a:p>
          <a:p>
            <a:r>
              <a:t>"Reconnoiter closes intelligence gaps and refines the next COA."</a:t>
            </a:r>
          </a:p>
          <a:p>
            <a:r>
              <a:t>"Handoff converts tactical success into operational reach."</a:t>
            </a:r>
          </a:p>
          <a:p>
            <a:r>
              <a:t>"Your answer to the commander should sound like tactical planning."</a:t>
            </a:r>
          </a:p>
          <a:p>
            <a:r>
              <a:t>"Every effect decision is a planning decision."</a:t>
            </a:r>
          </a:p>
          <a:p/>
          <a:p>
            <a:r>
              <a:t>Show:</a:t>
            </a:r>
          </a:p>
          <a:p>
            <a:r>
              <a:t>Walk the four lanes left to right.</a:t>
            </a:r>
          </a:p>
          <a:p>
            <a:r>
              <a:t>Tie each effect family to its planning product.</a:t>
            </a:r>
          </a:p>
          <a:p/>
          <a:p>
            <a:r>
              <a:t>Do:</a:t>
            </a:r>
          </a:p>
          <a:p>
            <a:r>
              <a:t>Return to the APT example from Slide 1.</a:t>
            </a:r>
          </a:p>
          <a:p>
            <a:r>
              <a:t>Assign one effect family to each student pair.</a:t>
            </a:r>
          </a:p>
          <a:p>
            <a:r>
              <a:t>Give two minutes for planning justification.</a:t>
            </a:r>
          </a:p>
          <a:p>
            <a:r>
              <a:t>Take one example back.</a:t>
            </a:r>
          </a:p>
          <a:p/>
          <a:p>
            <a:r>
              <a:t>Image Prompt:</a:t>
            </a:r>
          </a:p>
          <a:p>
            <a:r>
              <a:t>A four-lane mapping graphic. Left lane labeled "Effect language" with the doctrinal verbs from Slide 3. Middle lane labeled "Attacks" (CG / Decision cycle / Intel gap / Reach). Right lane labeled "Planning Product" (SOM counter-CG, counter-EMLCOA, new RFI set, partner tipper).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"This course does not teach random hacking."</a:t>
            </a:r>
          </a:p>
          <a:p>
            <a:r>
              <a:t>"It trains command-directed effects operations."</a:t>
            </a:r>
          </a:p>
          <a:p>
            <a:r>
              <a:t>"Access is only one condition for action."</a:t>
            </a:r>
          </a:p>
          <a:p>
            <a:r>
              <a:t>"Reachability is not permission to start typing."</a:t>
            </a:r>
          </a:p>
          <a:p>
            <a:r>
              <a:t>"First: restate mission, desired effect, candidate actions, adversary response, team coordination, and success evidence."</a:t>
            </a:r>
          </a:p>
          <a:p>
            <a:r>
              <a:t>"Then: execute."</a:t>
            </a:r>
          </a:p>
          <a:p>
            <a:r>
              <a:t>"This is the bridge to the tactical decision-making process."</a:t>
            </a:r>
          </a:p>
          <a:p/>
          <a:p>
            <a:r>
              <a:t>Show:</a:t>
            </a:r>
          </a:p>
          <a:p>
            <a:r>
              <a:t>Point to "Mission Intent."</a:t>
            </a:r>
          </a:p>
          <a:p>
            <a:r>
              <a:t>Point to "COA Thinking."</a:t>
            </a:r>
          </a:p>
          <a:p>
            <a:r>
              <a:t>Point to "Disciplined Execution."</a:t>
            </a:r>
          </a:p>
          <a:p>
            <a:r>
              <a:t>Emphasize thinking before execution.</a:t>
            </a:r>
          </a:p>
          <a:p/>
          <a:p>
            <a:r>
              <a:t>Do:</a:t>
            </a:r>
          </a:p>
          <a:p>
            <a:r>
              <a:t>Ask: "What is the risk of hacking first and planning afterward?"</a:t>
            </a:r>
          </a:p>
          <a:p>
            <a:r>
              <a:t>Take two answers.</a:t>
            </a:r>
          </a:p>
          <a:p>
            <a:r>
              <a:t>Steer toward wrong effect, burned access, poor deconfliction, and unusable reporting.</a:t>
            </a:r>
          </a:p>
          <a:p/>
          <a:p>
            <a:r>
              <a:t>Image Prompt:</a:t>
            </a:r>
          </a:p>
          <a:p>
            <a:r>
              <a:t>A professional operations graphic with four linked blocks: "Mission Intent," "COA Thinking," "Disciplined Execution," and "Assessment / Report." Underneath, a short caption: "Do not outrun the tactical decision-making process."</a:t>
            </a:r>
          </a:p>
          <a:p/>
          <a:p>
            <a:r>
              <a:t>Ask (Q):</a:t>
            </a:r>
          </a:p>
          <a:p>
            <a:r>
              <a:t>What is the risk of hacking first and planning afterward?</a:t>
            </a:r>
          </a:p>
          <a:p/>
          <a:p>
            <a:r>
              <a:t>Expected Response (A):</a:t>
            </a:r>
          </a:p>
          <a:p>
            <a:r>
              <a:t>wrong effect, burned access, poor deconfliction, and unusable reporting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"Apply planning discipline to every keyboard action."</a:t>
            </a:r>
          </a:p>
          <a:p>
            <a:r>
              <a:t>"First: define mission and desired effect."</a:t>
            </a:r>
          </a:p>
          <a:p>
            <a:r>
              <a:t>"Then: build and compare COAs."</a:t>
            </a:r>
          </a:p>
          <a:p>
            <a:r>
              <a:t>"Include likely adversary response."</a:t>
            </a:r>
          </a:p>
          <a:p>
            <a:r>
              <a:t>"Select and coordinate one COA."</a:t>
            </a:r>
          </a:p>
          <a:p>
            <a:r>
              <a:t>"Execute, assess intended versus observed effect, and report in commander language."</a:t>
            </a:r>
          </a:p>
          <a:p>
            <a:r>
              <a:t>"The technical command is the last step, not the first."</a:t>
            </a:r>
          </a:p>
          <a:p/>
          <a:p>
            <a:r>
              <a:t>Show:</a:t>
            </a:r>
          </a:p>
          <a:p>
            <a:r>
              <a:t>Walk the planning loop clockwise.</a:t>
            </a:r>
          </a:p>
          <a:p>
            <a:r>
              <a:t>Tie each node to planning products.</a:t>
            </a:r>
          </a:p>
          <a:p/>
          <a:p>
            <a:r>
              <a:t>Do:</a:t>
            </a:r>
          </a:p>
          <a:p>
            <a:r>
              <a:t>Scenario: "Task: deny adversary collection for one reporting period."</a:t>
            </a:r>
          </a:p>
          <a:p>
            <a:r>
              <a:t>Students verbalize mission analysis, candidate COA, anticipated adversary response, and assessment criterion.</a:t>
            </a:r>
          </a:p>
          <a:p/>
          <a:p>
            <a:r>
              <a:t>Image Prompt:</a:t>
            </a:r>
          </a:p>
          <a:p>
            <a:r>
              <a:t>A planning loop diagram with five nodes: "Mission Analysis," "COA Development," "Wargame/EMLCOA Check," "Decision/Execution," and "Assessment/Report." Add small callouts showing where CG/CV and EMLCOA from planning are used.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"Two effect families on the same collection cell."</a:t>
            </a:r>
          </a:p>
          <a:p>
            <a:r>
              <a:t>"Same operational problem set."</a:t>
            </a:r>
          </a:p>
          <a:p>
            <a:r>
              <a:t>"Different effects."</a:t>
            </a:r>
          </a:p>
          <a:p>
            <a:r>
              <a:t>"Break collection: choose degrade, disrupt, or deny where reversible paths are preferred."</a:t>
            </a:r>
          </a:p>
          <a:p>
            <a:r>
              <a:t>"Poison collection: deceive or manipulate without producing an outage."</a:t>
            </a:r>
          </a:p>
          <a:p>
            <a:r>
              <a:t>"After those effects, the product is a handoff package another team can use."</a:t>
            </a:r>
          </a:p>
          <a:p>
            <a:r>
              <a:t>"Each practice produces a short effect report: effect, action, observed result, risk assessment."</a:t>
            </a:r>
          </a:p>
          <a:p>
            <a:r>
              <a:t>"Platform details live in the student briefs."</a:t>
            </a:r>
          </a:p>
          <a:p/>
          <a:p>
            <a:r>
              <a:t>Show:</a:t>
            </a:r>
          </a:p>
          <a:p>
            <a:r>
              <a:t>Show the generic operation flow.</a:t>
            </a:r>
          </a:p>
          <a:p>
            <a:r>
              <a:t>Keep attention on access, workflow, and reporting.</a:t>
            </a:r>
          </a:p>
          <a:p/>
          <a:p>
            <a:r>
              <a:t>Do:</a:t>
            </a:r>
          </a:p>
          <a:p>
            <a:r>
              <a:t>Hand out the break-collection student brief.</a:t>
            </a:r>
          </a:p>
          <a:p>
            <a:r>
              <a:t>Remind students the brief is the authority document.</a:t>
            </a:r>
          </a:p>
          <a:p>
            <a:r>
              <a:t>Break for 15 minutes, then begin the lab.</a:t>
            </a:r>
          </a:p>
          <a:p/>
          <a:p>
            <a:r>
              <a:t>Image Prompt:</a:t>
            </a:r>
          </a:p>
          <a:p>
            <a:r>
              <a:t>A generic operation flow diagram with three boxes: "Your Access Position," "Adversary Collection Workflow," and "Effect Reporting." Do not include platform or infrastructure implementation details.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Say:</a:t>
            </a:r>
          </a:p>
          <a:p>
            <a:r>
              <a:t>"Five lines."</a:t>
            </a:r>
          </a:p>
          <a:p>
            <a:r>
              <a:t>"Effect, action, predicted response, observed result, risk reassessment."</a:t>
            </a:r>
          </a:p>
          <a:p>
            <a:r>
              <a:t>"That is your report."</a:t>
            </a:r>
          </a:p>
          <a:p>
            <a:r>
              <a:t>"It is short on purpose; commanders read five lines."</a:t>
            </a:r>
          </a:p>
          <a:p>
            <a:r>
              <a:t>"First three lines happen before keyboard action."</a:t>
            </a:r>
          </a:p>
          <a:p>
            <a:r>
              <a:t>"Last two lines prove whether the intended effect occurred and whether risk changed."</a:t>
            </a:r>
          </a:p>
          <a:p>
            <a:r>
              <a:t>"If the action cannot survive five-line reporting, reconsider it."</a:t>
            </a:r>
          </a:p>
          <a:p/>
          <a:p>
            <a:r>
              <a:t>Show:</a:t>
            </a:r>
          </a:p>
          <a:p>
            <a:r>
              <a:t>Show the five-line cadence verbatim.</a:t>
            </a:r>
          </a:p>
          <a:p/>
          <a:p>
            <a:r>
              <a:t>Do:</a:t>
            </a:r>
          </a:p>
          <a:p>
            <a:r>
              <a:t>Students write the blank template in their notebook.</a:t>
            </a:r>
          </a:p>
          <a:p>
            <a:r>
              <a:t>They fill it in twice today and twice tomorrow.</a:t>
            </a:r>
          </a:p>
          <a:p>
            <a:r>
              <a:t>Release to break-collection practice.</a:t>
            </a:r>
          </a:p>
          <a:p/>
          <a:p>
            <a:r>
              <a:t>Image Prompt:</a:t>
            </a:r>
          </a:p>
          <a:p>
            <a:r>
              <a:t>No image required for this slide.</a:t>
            </a:r>
          </a:p>
          <a:p/>
          <a:p>
            <a:r>
              <a:t>Ask (Q):</a:t>
            </a:r>
          </a:p>
          <a:p>
            <a:r>
              <a:t>What is the operational takeaway from this row?</a:t>
            </a:r>
          </a:p>
          <a:p>
            <a:r>
              <a:t>From planning, what is the center of gravity of the APT we studied?</a:t>
            </a:r>
          </a:p>
          <a:p>
            <a:r>
              <a:t>Name an action you took on a prior on-target host.</a:t>
            </a:r>
          </a:p>
          <a:p>
            <a:r>
              <a:t>What is the operational takeaway from this row?</a:t>
            </a:r>
          </a:p>
          <a:p/>
          <a:p>
            <a:r>
              <a:t>Expected Response (A):</a:t>
            </a:r>
          </a:p>
          <a:p>
            <a:r>
              <a:t>Facilitation. Restate the Say/Do in operator terms. Do not invent a new teaching point.</a:t>
            </a:r>
          </a:p>
          <a:p>
            <a:r>
              <a:t>## Lesson summary</a:t>
            </a:r>
          </a:p>
          <a:p>
            <a:r>
              <a:t>B04.M06-effects-operations-overview is executed as a generated lesson plan from this file.</a:t>
            </a:r>
          </a:p>
          <a:p>
            <a:r>
              <a:t>Assessment methods live on module.yaml; do not invent extra official ELOs.</a:t>
            </a:r>
          </a:p>
          <a:p>
            <a:r>
              <a:t>Later practice in this Block continues from the product this session collects.</a:t>
            </a:r>
          </a:p>
          <a:p>
            <a:r>
              <a:t>## Questions and check on learning</a:t>
            </a:r>
          </a:p>
          <a:p>
            <a:r>
              <a:t>Facilitation. Use the Say/Do already on this row; do not force a single keyed answer.</a:t>
            </a:r>
          </a:p>
          <a:p>
            <a:r>
              <a:t>Facilitation. Use the Say/Do already on this row; do not force a single keyed answer.</a:t>
            </a:r>
          </a:p>
          <a:p>
            <a:r>
              <a:t>Facilitation. Restate the Say/Do in operator terms. Do not invent a new teaching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9"/>
          <p:cNvSpPr txBox="1">
            <a:spLocks noGrp="1"/>
          </p:cNvSpPr>
          <p:nvPr>
            <p:ph type="ctrTitle"/>
          </p:nvPr>
        </p:nvSpPr>
        <p:spPr>
          <a:xfrm>
            <a:off x="2062480" y="89884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40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9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316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0"/>
          <p:cNvSpPr txBox="1">
            <a:spLocks noGrp="1"/>
          </p:cNvSpPr>
          <p:nvPr>
            <p:ph type="body" idx="1"/>
          </p:nvPr>
        </p:nvSpPr>
        <p:spPr>
          <a:xfrm>
            <a:off x="1510029" y="1188720"/>
            <a:ext cx="10361372" cy="5131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600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9" name="Google Shape;49;p80"/>
          <p:cNvSpPr txBox="1"/>
          <p:nvPr/>
        </p:nvSpPr>
        <p:spPr>
          <a:xfrm>
            <a:off x="3657600" y="6553201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80"/>
          <p:cNvSpPr txBox="1"/>
          <p:nvPr/>
        </p:nvSpPr>
        <p:spPr>
          <a:xfrm>
            <a:off x="3657600" y="0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80"/>
          <p:cNvSpPr txBox="1">
            <a:spLocks noGrp="1"/>
          </p:cNvSpPr>
          <p:nvPr>
            <p:ph type="title"/>
          </p:nvPr>
        </p:nvSpPr>
        <p:spPr>
          <a:xfrm>
            <a:off x="1510029" y="437317"/>
            <a:ext cx="10681971" cy="5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90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82"/>
          <p:cNvSpPr txBox="1">
            <a:spLocks noGrp="1"/>
          </p:cNvSpPr>
          <p:nvPr>
            <p:ph type="title"/>
          </p:nvPr>
        </p:nvSpPr>
        <p:spPr>
          <a:xfrm>
            <a:off x="1723854" y="549275"/>
            <a:ext cx="9963493" cy="28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54" name="Google Shape;54;p82"/>
          <p:cNvSpPr txBox="1">
            <a:spLocks noGrp="1"/>
          </p:cNvSpPr>
          <p:nvPr>
            <p:ph type="body" idx="1"/>
          </p:nvPr>
        </p:nvSpPr>
        <p:spPr>
          <a:xfrm>
            <a:off x="1723854" y="3429000"/>
            <a:ext cx="9963493" cy="212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6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100"/>
              <a:buFont typeface="Arial"/>
              <a:buNone/>
              <a:defRPr sz="1333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0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1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316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83"/>
          <p:cNvSpPr txBox="1">
            <a:spLocks noGrp="1"/>
          </p:cNvSpPr>
          <p:nvPr>
            <p:ph type="title"/>
          </p:nvPr>
        </p:nvSpPr>
        <p:spPr>
          <a:xfrm>
            <a:off x="1363362" y="952052"/>
            <a:ext cx="10142837" cy="622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2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57" name="Google Shape;57;p83"/>
          <p:cNvSpPr txBox="1">
            <a:spLocks noGrp="1"/>
          </p:cNvSpPr>
          <p:nvPr>
            <p:ph type="body" idx="1"/>
          </p:nvPr>
        </p:nvSpPr>
        <p:spPr>
          <a:xfrm>
            <a:off x="4720611" y="1574799"/>
            <a:ext cx="7091600" cy="47812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6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1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21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58" name="Google Shape;58;p83"/>
          <p:cNvSpPr txBox="1">
            <a:spLocks noGrp="1"/>
          </p:cNvSpPr>
          <p:nvPr>
            <p:ph type="body" idx="2"/>
          </p:nvPr>
        </p:nvSpPr>
        <p:spPr>
          <a:xfrm>
            <a:off x="1363363" y="1582599"/>
            <a:ext cx="3098248" cy="47812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 pitchFamily="34" charset="0"/>
              <a:buChar char="•"/>
              <a:defRPr sz="18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0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9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92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1_Section Head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4"/>
          <p:cNvSpPr txBox="1">
            <a:spLocks noGrp="1"/>
          </p:cNvSpPr>
          <p:nvPr>
            <p:ph type="title"/>
          </p:nvPr>
        </p:nvSpPr>
        <p:spPr>
          <a:xfrm>
            <a:off x="1723854" y="549275"/>
            <a:ext cx="9963493" cy="285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3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316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1_Title and Content 2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5"/>
          <p:cNvSpPr txBox="1">
            <a:spLocks noGrp="1"/>
          </p:cNvSpPr>
          <p:nvPr>
            <p:ph type="body" idx="1"/>
          </p:nvPr>
        </p:nvSpPr>
        <p:spPr>
          <a:xfrm>
            <a:off x="1510029" y="1188720"/>
            <a:ext cx="10361372" cy="5131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600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3" name="Google Shape;63;p85"/>
          <p:cNvSpPr txBox="1"/>
          <p:nvPr/>
        </p:nvSpPr>
        <p:spPr>
          <a:xfrm>
            <a:off x="3657600" y="6553201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85"/>
          <p:cNvSpPr txBox="1"/>
          <p:nvPr/>
        </p:nvSpPr>
        <p:spPr>
          <a:xfrm>
            <a:off x="3657600" y="0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85"/>
          <p:cNvSpPr txBox="1">
            <a:spLocks noGrp="1"/>
          </p:cNvSpPr>
          <p:nvPr>
            <p:ph type="title"/>
          </p:nvPr>
        </p:nvSpPr>
        <p:spPr>
          <a:xfrm>
            <a:off x="1510029" y="429225"/>
            <a:ext cx="10666596" cy="5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94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86"/>
          <p:cNvSpPr txBox="1">
            <a:spLocks noGrp="1"/>
          </p:cNvSpPr>
          <p:nvPr>
            <p:ph type="body" idx="1"/>
          </p:nvPr>
        </p:nvSpPr>
        <p:spPr>
          <a:xfrm>
            <a:off x="1141622" y="1000540"/>
            <a:ext cx="4874101" cy="4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2133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67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333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68" name="Google Shape;68;p86"/>
          <p:cNvSpPr txBox="1">
            <a:spLocks noGrp="1"/>
          </p:cNvSpPr>
          <p:nvPr>
            <p:ph type="body" idx="2"/>
          </p:nvPr>
        </p:nvSpPr>
        <p:spPr>
          <a:xfrm>
            <a:off x="1141621" y="1582321"/>
            <a:ext cx="4854344" cy="48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1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69" name="Google Shape;69;p86"/>
          <p:cNvSpPr txBox="1">
            <a:spLocks noGrp="1"/>
          </p:cNvSpPr>
          <p:nvPr>
            <p:ph type="body" idx="3"/>
          </p:nvPr>
        </p:nvSpPr>
        <p:spPr>
          <a:xfrm>
            <a:off x="6195272" y="1000540"/>
            <a:ext cx="5603200" cy="49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2133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67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333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86"/>
          <p:cNvSpPr txBox="1">
            <a:spLocks noGrp="1"/>
          </p:cNvSpPr>
          <p:nvPr>
            <p:ph type="body" idx="4"/>
          </p:nvPr>
        </p:nvSpPr>
        <p:spPr>
          <a:xfrm>
            <a:off x="6199877" y="1582323"/>
            <a:ext cx="5598400" cy="48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1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8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33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cxnSp>
        <p:nvCxnSpPr>
          <p:cNvPr id="71" name="Google Shape;71;p86"/>
          <p:cNvCxnSpPr/>
          <p:nvPr/>
        </p:nvCxnSpPr>
        <p:spPr>
          <a:xfrm>
            <a:off x="1141622" y="974035"/>
            <a:ext cx="10830241" cy="0"/>
          </a:xfrm>
          <a:prstGeom prst="straightConnector1">
            <a:avLst/>
          </a:prstGeom>
          <a:noFill/>
          <a:ln w="9525" cap="flat" cmpd="sng">
            <a:solidFill>
              <a:srgbClr val="BFBFBF"/>
            </a:solidFill>
            <a:prstDash val="solid"/>
            <a:miter lim="0"/>
            <a:headEnd type="none" w="sm" len="sm"/>
            <a:tailEnd type="none" w="sm" len="sm"/>
          </a:ln>
        </p:spPr>
      </p:cxnSp>
      <p:cxnSp>
        <p:nvCxnSpPr>
          <p:cNvPr id="72" name="Google Shape;72;p86"/>
          <p:cNvCxnSpPr/>
          <p:nvPr/>
        </p:nvCxnSpPr>
        <p:spPr>
          <a:xfrm>
            <a:off x="6095137" y="974035"/>
            <a:ext cx="800" cy="5382400"/>
          </a:xfrm>
          <a:prstGeom prst="straightConnector1">
            <a:avLst/>
          </a:prstGeom>
          <a:noFill/>
          <a:ln w="9525" cap="flat" cmpd="sng">
            <a:solidFill>
              <a:srgbClr val="BFBFBF"/>
            </a:solidFill>
            <a:prstDash val="solid"/>
            <a:miter lim="0"/>
            <a:headEnd type="none" w="sm" len="sm"/>
            <a:tailEnd type="none" w="sm" len="sm"/>
          </a:ln>
        </p:spPr>
      </p:cxnSp>
      <p:cxnSp>
        <p:nvCxnSpPr>
          <p:cNvPr id="73" name="Google Shape;73;p86"/>
          <p:cNvCxnSpPr/>
          <p:nvPr/>
        </p:nvCxnSpPr>
        <p:spPr>
          <a:xfrm>
            <a:off x="1141621" y="1504121"/>
            <a:ext cx="10830240" cy="0"/>
          </a:xfrm>
          <a:prstGeom prst="straightConnector1">
            <a:avLst/>
          </a:prstGeom>
          <a:noFill/>
          <a:ln w="9525" cap="flat" cmpd="sng">
            <a:solidFill>
              <a:srgbClr val="BFBFBF"/>
            </a:solidFill>
            <a:prstDash val="solid"/>
            <a:miter lim="0"/>
            <a:headEnd type="none" w="sm" len="sm"/>
            <a:tailEnd type="none" w="sm" len="sm"/>
          </a:ln>
        </p:spPr>
      </p:cxnSp>
      <p:sp>
        <p:nvSpPr>
          <p:cNvPr id="74" name="Google Shape;74;p86"/>
          <p:cNvSpPr txBox="1">
            <a:spLocks noGrp="1"/>
          </p:cNvSpPr>
          <p:nvPr>
            <p:ph type="title"/>
          </p:nvPr>
        </p:nvSpPr>
        <p:spPr>
          <a:xfrm>
            <a:off x="1141621" y="326173"/>
            <a:ext cx="10656656" cy="641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95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87"/>
          <p:cNvSpPr txBox="1">
            <a:spLocks noGrp="1"/>
          </p:cNvSpPr>
          <p:nvPr>
            <p:ph type="title"/>
          </p:nvPr>
        </p:nvSpPr>
        <p:spPr>
          <a:xfrm>
            <a:off x="1301577" y="458775"/>
            <a:ext cx="10467243" cy="684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2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77" name="Google Shape;77;p87"/>
          <p:cNvSpPr>
            <a:spLocks noGrp="1"/>
          </p:cNvSpPr>
          <p:nvPr>
            <p:ph type="pic" idx="2"/>
          </p:nvPr>
        </p:nvSpPr>
        <p:spPr>
          <a:xfrm>
            <a:off x="4666821" y="1142999"/>
            <a:ext cx="7102000" cy="525602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8" name="Google Shape;78;p87"/>
          <p:cNvSpPr txBox="1">
            <a:spLocks noGrp="1"/>
          </p:cNvSpPr>
          <p:nvPr>
            <p:ph type="body" idx="1"/>
          </p:nvPr>
        </p:nvSpPr>
        <p:spPr>
          <a:xfrm>
            <a:off x="1301578" y="1142999"/>
            <a:ext cx="3061420" cy="52562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sz="1867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9845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3pPr>
            <a:lvl4pPr marL="1828800" lvl="3" indent="-2921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/>
            </a:lvl4pPr>
            <a:lvl5pPr marL="2286000" lvl="4" indent="-2921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/>
            </a:lvl5pPr>
            <a:lvl6pPr marL="2743200" lvl="5" indent="-2921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/>
            </a:lvl6pPr>
            <a:lvl7pPr marL="3200400" lvl="6" indent="-2921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/>
            </a:lvl7pPr>
            <a:lvl8pPr marL="3657600" lvl="7" indent="-2921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/>
            </a:lvl8pPr>
            <a:lvl9pPr marL="4114800" lvl="8" indent="-2921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/>
            </a:lvl9pPr>
          </a:lstStyle>
          <a:p>
            <a:endParaRPr/>
          </a:p>
        </p:txBody>
      </p:sp>
      <p:sp>
        <p:nvSpPr>
          <p:cNvPr id="96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1_Title Slide">
  <p:cSld name="11_Title Slide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88"/>
          <p:cNvSpPr txBox="1">
            <a:spLocks noGrp="1"/>
          </p:cNvSpPr>
          <p:nvPr>
            <p:ph type="sldNum" idx="12"/>
          </p:nvPr>
        </p:nvSpPr>
        <p:spPr>
          <a:xfrm>
            <a:off x="8737600" y="6356351"/>
            <a:ext cx="2844800" cy="36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1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ster Use">
  <p:cSld name="Master Use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89"/>
          <p:cNvSpPr txBox="1">
            <a:spLocks noGrp="1"/>
          </p:cNvSpPr>
          <p:nvPr>
            <p:ph type="title"/>
          </p:nvPr>
        </p:nvSpPr>
        <p:spPr>
          <a:xfrm>
            <a:off x="1278542" y="429225"/>
            <a:ext cx="10898083" cy="5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97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1_Title and Content 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90"/>
          <p:cNvSpPr txBox="1">
            <a:spLocks noGrp="1"/>
          </p:cNvSpPr>
          <p:nvPr>
            <p:ph type="body" idx="1"/>
          </p:nvPr>
        </p:nvSpPr>
        <p:spPr>
          <a:xfrm>
            <a:off x="1510029" y="1188720"/>
            <a:ext cx="10361372" cy="5131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2600" b="0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sz="1867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6" name="Google Shape;86;p90"/>
          <p:cNvSpPr txBox="1"/>
          <p:nvPr/>
        </p:nvSpPr>
        <p:spPr>
          <a:xfrm>
            <a:off x="3657600" y="6553201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90"/>
          <p:cNvSpPr txBox="1"/>
          <p:nvPr/>
        </p:nvSpPr>
        <p:spPr>
          <a:xfrm>
            <a:off x="3657600" y="0"/>
            <a:ext cx="4876800" cy="2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1067" b="0" i="0" u="none" strike="noStrike" cap="none">
              <a:solidFill>
                <a:srgbClr val="ED7D3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90"/>
          <p:cNvSpPr txBox="1">
            <a:spLocks noGrp="1"/>
          </p:cNvSpPr>
          <p:nvPr>
            <p:ph type="title"/>
          </p:nvPr>
        </p:nvSpPr>
        <p:spPr>
          <a:xfrm>
            <a:off x="1510029" y="429225"/>
            <a:ext cx="10666596" cy="5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3400" b="1" i="0" u="none" strike="noStrike" cap="none">
                <a:solidFill>
                  <a:srgbClr val="00004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98" name="Disclaimer"/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Relationship Id="rId14" Type="http://schemas.openxmlformats.org/officeDocument/2006/relationships/image" Target="../media/image2.png"/><Relationship Id="rId15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8"/>
          <p:cNvSpPr/>
          <p:nvPr/>
        </p:nvSpPr>
        <p:spPr>
          <a:xfrm>
            <a:off x="-1" y="-20168"/>
            <a:ext cx="12192000" cy="2637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78"/>
          <p:cNvSpPr/>
          <p:nvPr/>
        </p:nvSpPr>
        <p:spPr>
          <a:xfrm>
            <a:off x="1" y="243443"/>
            <a:ext cx="1128108" cy="6614557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78"/>
          <p:cNvSpPr txBox="1">
            <a:spLocks noGrp="1"/>
          </p:cNvSpPr>
          <p:nvPr>
            <p:ph type="title"/>
          </p:nvPr>
        </p:nvSpPr>
        <p:spPr>
          <a:xfrm>
            <a:off x="1189403" y="646322"/>
            <a:ext cx="10682000" cy="579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78"/>
          <p:cNvSpPr txBox="1">
            <a:spLocks noGrp="1"/>
          </p:cNvSpPr>
          <p:nvPr>
            <p:ph type="body" idx="1"/>
          </p:nvPr>
        </p:nvSpPr>
        <p:spPr>
          <a:xfrm>
            <a:off x="1189401" y="1384879"/>
            <a:ext cx="10682000" cy="4858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2100" algn="l" rtl="0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•"/>
              <a:defRPr sz="10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78"/>
          <p:cNvSpPr txBox="1">
            <a:spLocks noGrp="1"/>
          </p:cNvSpPr>
          <p:nvPr>
            <p:ph type="sldNum" idx="12"/>
          </p:nvPr>
        </p:nvSpPr>
        <p:spPr>
          <a:xfrm>
            <a:off x="10058399" y="6641435"/>
            <a:ext cx="2133600" cy="2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" name="Google Shape;15;p78"/>
          <p:cNvSpPr/>
          <p:nvPr/>
        </p:nvSpPr>
        <p:spPr>
          <a:xfrm>
            <a:off x="-2" y="6594389"/>
            <a:ext cx="12191999" cy="263611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" name="Google Shape;16;p78"/>
          <p:cNvGrpSpPr/>
          <p:nvPr/>
        </p:nvGrpSpPr>
        <p:grpSpPr>
          <a:xfrm>
            <a:off x="254537" y="37012"/>
            <a:ext cx="4123292" cy="140365"/>
            <a:chOff x="5526083" y="4992009"/>
            <a:chExt cx="3092469" cy="105274"/>
          </a:xfrm>
        </p:grpSpPr>
        <p:sp>
          <p:nvSpPr>
            <p:cNvPr id="17" name="Google Shape;17;p78"/>
            <p:cNvSpPr/>
            <p:nvPr/>
          </p:nvSpPr>
          <p:spPr>
            <a:xfrm>
              <a:off x="8339152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p78"/>
            <p:cNvSpPr/>
            <p:nvPr/>
          </p:nvSpPr>
          <p:spPr>
            <a:xfrm>
              <a:off x="8059751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78"/>
            <p:cNvSpPr/>
            <p:nvPr/>
          </p:nvSpPr>
          <p:spPr>
            <a:xfrm>
              <a:off x="7773998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p78"/>
            <p:cNvSpPr/>
            <p:nvPr/>
          </p:nvSpPr>
          <p:spPr>
            <a:xfrm>
              <a:off x="7494596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" name="Google Shape;21;p78"/>
            <p:cNvSpPr/>
            <p:nvPr/>
          </p:nvSpPr>
          <p:spPr>
            <a:xfrm>
              <a:off x="7215195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" name="Google Shape;22;p78"/>
            <p:cNvSpPr/>
            <p:nvPr/>
          </p:nvSpPr>
          <p:spPr>
            <a:xfrm>
              <a:off x="6929442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" name="Google Shape;23;p78"/>
            <p:cNvSpPr/>
            <p:nvPr/>
          </p:nvSpPr>
          <p:spPr>
            <a:xfrm>
              <a:off x="6650040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" name="Google Shape;24;p78"/>
            <p:cNvSpPr/>
            <p:nvPr/>
          </p:nvSpPr>
          <p:spPr>
            <a:xfrm>
              <a:off x="6370639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" name="Google Shape;25;p78"/>
            <p:cNvSpPr/>
            <p:nvPr/>
          </p:nvSpPr>
          <p:spPr>
            <a:xfrm>
              <a:off x="6084886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" name="Google Shape;26;p78"/>
            <p:cNvSpPr/>
            <p:nvPr/>
          </p:nvSpPr>
          <p:spPr>
            <a:xfrm>
              <a:off x="5805484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" name="Google Shape;27;p78"/>
            <p:cNvSpPr/>
            <p:nvPr/>
          </p:nvSpPr>
          <p:spPr>
            <a:xfrm>
              <a:off x="5526083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8" name="Google Shape;28;p78"/>
          <p:cNvSpPr txBox="1"/>
          <p:nvPr/>
        </p:nvSpPr>
        <p:spPr>
          <a:xfrm flipH="1">
            <a:off x="1043632" y="6366806"/>
            <a:ext cx="4211863" cy="221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UNCLASSIFIED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78"/>
          <p:cNvSpPr txBox="1"/>
          <p:nvPr/>
        </p:nvSpPr>
        <p:spPr>
          <a:xfrm>
            <a:off x="5482963" y="207088"/>
            <a:ext cx="6767512" cy="2121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00B050"/>
                </a:solidFill>
                <a:latin typeface="Arial"/>
                <a:ea typeface="Arial"/>
                <a:cs typeface="Arial"/>
                <a:sym typeface="Arial"/>
              </a:rPr>
              <a:t>UNCLASSIFIED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" name="Google Shape;30;p78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 rot="-5400000">
            <a:off x="-2150855" y="3445521"/>
            <a:ext cx="5429815" cy="99117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" name="Google Shape;31;p78"/>
          <p:cNvGrpSpPr/>
          <p:nvPr/>
        </p:nvGrpSpPr>
        <p:grpSpPr>
          <a:xfrm>
            <a:off x="7996753" y="6659805"/>
            <a:ext cx="4123292" cy="140365"/>
            <a:chOff x="5526083" y="4992009"/>
            <a:chExt cx="3092469" cy="105274"/>
          </a:xfrm>
        </p:grpSpPr>
        <p:sp>
          <p:nvSpPr>
            <p:cNvPr id="32" name="Google Shape;32;p78"/>
            <p:cNvSpPr/>
            <p:nvPr/>
          </p:nvSpPr>
          <p:spPr>
            <a:xfrm>
              <a:off x="8339152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p78"/>
            <p:cNvSpPr/>
            <p:nvPr/>
          </p:nvSpPr>
          <p:spPr>
            <a:xfrm>
              <a:off x="8059751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p78"/>
            <p:cNvSpPr/>
            <p:nvPr/>
          </p:nvSpPr>
          <p:spPr>
            <a:xfrm>
              <a:off x="7773998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" name="Google Shape;35;p78"/>
            <p:cNvSpPr/>
            <p:nvPr/>
          </p:nvSpPr>
          <p:spPr>
            <a:xfrm>
              <a:off x="7494596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6;p78"/>
            <p:cNvSpPr/>
            <p:nvPr/>
          </p:nvSpPr>
          <p:spPr>
            <a:xfrm>
              <a:off x="7215195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" name="Google Shape;37;p78"/>
            <p:cNvSpPr/>
            <p:nvPr/>
          </p:nvSpPr>
          <p:spPr>
            <a:xfrm>
              <a:off x="6929442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" name="Google Shape;38;p78"/>
            <p:cNvSpPr/>
            <p:nvPr/>
          </p:nvSpPr>
          <p:spPr>
            <a:xfrm>
              <a:off x="6650040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" name="Google Shape;39;p78"/>
            <p:cNvSpPr/>
            <p:nvPr/>
          </p:nvSpPr>
          <p:spPr>
            <a:xfrm>
              <a:off x="6370639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" name="Google Shape;40;p78"/>
            <p:cNvSpPr/>
            <p:nvPr/>
          </p:nvSpPr>
          <p:spPr>
            <a:xfrm>
              <a:off x="6084886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" name="Google Shape;41;p78"/>
            <p:cNvSpPr/>
            <p:nvPr/>
          </p:nvSpPr>
          <p:spPr>
            <a:xfrm>
              <a:off x="5805484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" name="Google Shape;42;p78"/>
            <p:cNvSpPr/>
            <p:nvPr/>
          </p:nvSpPr>
          <p:spPr>
            <a:xfrm>
              <a:off x="5526083" y="4992009"/>
              <a:ext cx="279400" cy="105274"/>
            </a:xfrm>
            <a:prstGeom prst="chevron">
              <a:avLst>
                <a:gd name="adj" fmla="val 50000"/>
              </a:avLst>
            </a:prstGeom>
            <a:gradFill>
              <a:gsLst>
                <a:gs pos="0">
                  <a:schemeClr val="accent1"/>
                </a:gs>
                <a:gs pos="100000">
                  <a:schemeClr val="accent1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3" name="Google Shape;43;p78" title="ACTEC_Logo_v2_Circle.png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-118447" y="193555"/>
            <a:ext cx="1307427" cy="10102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4" name="Google Shape;44;p78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70930" y="1270922"/>
            <a:ext cx="928675" cy="928675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>
            <a:normAutofit/>
          </a:bodyPr>
          <a:lstStyle/>
          <a:p>
            <a:pPr/>
            <a:r>
              <a:rPr sz="4400"/>
              <a:t>Effects Operations Overview</a:t>
            </a:r>
          </a:p>
        </p:txBody>
      </p:sp>
      <p:sp>
        <p:nvSpPr>
          <p:cNvPr id="3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Effects Operations — Why We Are Here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Issued foothold: a live harvest collection cell</a:t>
            </a:r>
          </a:p>
          <a:p>
            <a:pPr/>
            <a:r>
              <a:rPr sz="1800"/>
              <a:t>Access enables action</a:t>
            </a:r>
          </a:p>
          <a:p>
            <a:pPr/>
            <a:r>
              <a:rPr b="1" sz="1800"/>
              <a:t>Effects</a:t>
            </a:r>
            <a:r>
              <a:rPr sz="1800"/>
              <a:t> create mission value</a:t>
            </a:r>
          </a:p>
          <a:p>
            <a:pPr/>
            <a:r>
              <a:rPr sz="1800"/>
              <a:t>Planning still drives choices: </a:t>
            </a:r>
            <a:r>
              <a:rPr b="1" sz="1800"/>
              <a:t>CG / CV / exploitation plan</a:t>
            </a:r>
          </a:p>
        </p:txBody>
      </p:sp>
      <p:pic>
        <p:nvPicPr>
          <p:cNvPr id="5" name="Picture 4" descr="d774458fabbae6d5180bbbd6f63956f56df9fae53357730c18976087e1c1a0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Effect ≠ Action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800"/>
              <a:t>Effect:</a:t>
            </a:r>
            <a:r>
              <a:rPr sz="1800"/>
              <a:t> intended adversary change</a:t>
            </a:r>
          </a:p>
          <a:p>
            <a:pPr/>
            <a:r>
              <a:rPr b="1" sz="1800"/>
              <a:t>Action:</a:t>
            </a:r>
            <a:r>
              <a:rPr sz="1800"/>
              <a:t> technical method</a:t>
            </a:r>
          </a:p>
          <a:p>
            <a:pPr/>
            <a:r>
              <a:rPr sz="1800"/>
              <a:t>Same effect, many actions</a:t>
            </a:r>
          </a:p>
          <a:p>
            <a:pPr/>
            <a:r>
              <a:rPr sz="1800"/>
              <a:t>Same action, many effects</a:t>
            </a:r>
          </a:p>
          <a:p>
            <a:pPr/>
            <a:r>
              <a:rPr sz="1800"/>
              <a:t>Commanders task effects; operators choose actions</a:t>
            </a:r>
          </a:p>
        </p:txBody>
      </p:sp>
      <p:pic>
        <p:nvPicPr>
          <p:cNvPr id="5" name="Picture 4" descr="d68d4e3162e12a77c7a2dc5181dcad2af51f5d6560f5817ad2d2fa414bb125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Doctrinal Effects Language (D4M Family + Related Terms)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800"/>
              <a:t>D4M:</a:t>
            </a:r>
            <a:r>
              <a:rPr sz="1800"/>
              <a:t> deny / degrade / disrupt / destroy</a:t>
            </a:r>
          </a:p>
          <a:p>
            <a:pPr/>
            <a:r>
              <a:rPr b="1" sz="1800"/>
              <a:t>Related:</a:t>
            </a:r>
            <a:r>
              <a:rPr sz="1800"/>
              <a:t> deceive / manipulate / reconnoiter / interdict / handoff</a:t>
            </a:r>
          </a:p>
          <a:p>
            <a:pPr/>
            <a:r>
              <a:rPr sz="1800"/>
              <a:t>Next: example-driven outcomes</a:t>
            </a:r>
          </a:p>
          <a:p>
            <a:pPr/>
            <a:r>
              <a:rPr sz="1800"/>
              <a:t>Classify by outcome, duration, recovery cost</a:t>
            </a:r>
          </a:p>
        </p:txBody>
      </p:sp>
      <p:pic>
        <p:nvPicPr>
          <p:cNvPr id="5" name="Picture 4" descr="26ba22a34014841c1cf85aff8a0efd1175457610f271584f7166bc7dfe0127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Deny Example — Revoke the Collector Credential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500"/>
              <a:t>Outcome:</a:t>
            </a:r>
            <a:r>
              <a:rPr sz="1500"/>
              <a:t> collector cannot authenticate</a:t>
            </a:r>
          </a:p>
          <a:p>
            <a:pPr/>
            <a:r>
              <a:rPr b="1" sz="1500"/>
              <a:t>Example:</a:t>
            </a:r>
            <a:r>
              <a:rPr sz="1500"/>
              <a:t> revoke the collector credential</a:t>
            </a:r>
          </a:p>
          <a:p>
            <a:pPr/>
            <a:r>
              <a:rPr sz="1500">
                <a:latin typeface="Courier New"/>
              </a:rPr>
              <a:t>Access:</a:t>
            </a:r>
            <a:r>
              <a:rPr sz="1500"/>
              <a:t> can we reach the identity/control plane reliably?</a:t>
            </a:r>
          </a:p>
          <a:p>
            <a:pPr/>
            <a:r>
              <a:rPr sz="1500">
                <a:latin typeface="Courier New"/>
              </a:rPr>
              <a:t>Dependency:</a:t>
            </a:r>
            <a:r>
              <a:rPr sz="1500"/>
              <a:t> is this the credential the workflow actually uses?</a:t>
            </a:r>
          </a:p>
          <a:p>
            <a:pPr/>
            <a:r>
              <a:rPr sz="1500">
                <a:latin typeface="Courier New"/>
              </a:rPr>
              <a:t>Alternates:</a:t>
            </a:r>
            <a:r>
              <a:rPr sz="1500"/>
              <a:t> backup token, service account, cached secret?</a:t>
            </a:r>
          </a:p>
          <a:p>
            <a:pPr/>
            <a:r>
              <a:rPr sz="1500">
                <a:latin typeface="Courier New"/>
              </a:rPr>
              <a:t>Rollback:</a:t>
            </a:r>
            <a:r>
              <a:rPr sz="1500"/>
              <a:t> who restores it, and how fast?</a:t>
            </a:r>
          </a:p>
          <a:p>
            <a:pPr/>
            <a:r>
              <a:rPr sz="1500">
                <a:latin typeface="Courier New"/>
              </a:rPr>
              <a:t>Proof:</a:t>
            </a:r>
            <a:r>
              <a:rPr sz="1500"/>
              <a:t> auth failure plus stopped collection</a:t>
            </a:r>
          </a:p>
        </p:txBody>
      </p:sp>
      <p:pic>
        <p:nvPicPr>
          <p:cNvPr id="5" name="Picture 4" descr="6b50ef14296e1c9b3062a122376a78ef03984cda944f97b6fb49cb7a93c01a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Deny Example — Block the Exfil Route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500"/>
              <a:t>Outcome:</a:t>
            </a:r>
            <a:r>
              <a:rPr sz="1500"/>
              <a:t> data cannot leave by that path</a:t>
            </a:r>
          </a:p>
          <a:p>
            <a:pPr/>
            <a:r>
              <a:rPr b="1" sz="1500"/>
              <a:t>Example:</a:t>
            </a:r>
            <a:r>
              <a:rPr sz="1500"/>
              <a:t> block the exfil route</a:t>
            </a:r>
          </a:p>
          <a:p>
            <a:pPr/>
            <a:r>
              <a:rPr sz="1500">
                <a:latin typeface="Courier New"/>
              </a:rPr>
              <a:t>Access:</a:t>
            </a:r>
            <a:r>
              <a:rPr sz="1500"/>
              <a:t> can we change the right DNS/firewall/route point?</a:t>
            </a:r>
          </a:p>
          <a:p>
            <a:pPr/>
            <a:r>
              <a:rPr sz="1500">
                <a:latin typeface="Courier New"/>
              </a:rPr>
              <a:t>Path:</a:t>
            </a:r>
            <a:r>
              <a:rPr sz="1500"/>
              <a:t> destination, port, protocol, relay sequence?</a:t>
            </a:r>
          </a:p>
          <a:p>
            <a:pPr/>
            <a:r>
              <a:rPr sz="1500">
                <a:latin typeface="Courier New"/>
              </a:rPr>
              <a:t>Alternates:</a:t>
            </a:r>
            <a:r>
              <a:rPr sz="1500"/>
              <a:t> fallback route, second relay, direct cloud path?</a:t>
            </a:r>
          </a:p>
          <a:p>
            <a:pPr/>
            <a:r>
              <a:rPr sz="1500">
                <a:latin typeface="Courier New"/>
              </a:rPr>
              <a:t>Persistence:</a:t>
            </a:r>
            <a:r>
              <a:rPr sz="1500"/>
              <a:t> survives restart and mission window?</a:t>
            </a:r>
          </a:p>
          <a:p>
            <a:pPr/>
            <a:r>
              <a:rPr sz="1500">
                <a:latin typeface="Courier New"/>
              </a:rPr>
              <a:t>Proof:</a:t>
            </a:r>
            <a:r>
              <a:rPr sz="1500"/>
              <a:t> failed connection plus stalled transfer</a:t>
            </a:r>
          </a:p>
        </p:txBody>
      </p:sp>
      <p:pic>
        <p:nvPicPr>
          <p:cNvPr id="5" name="Picture 4" descr="601fae1c2e2d27c477d3f1d824ea5d689c7f8ac6f238109eddbd7fa21806db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Degrade Example — Lengthen Polling Interval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600"/>
              <a:t>Outcome:</a:t>
            </a:r>
            <a:r>
              <a:rPr sz="1600"/>
              <a:t> collection arrives too slowly</a:t>
            </a:r>
          </a:p>
          <a:p>
            <a:pPr/>
            <a:r>
              <a:rPr b="1" sz="1600"/>
              <a:t>Example:</a:t>
            </a:r>
            <a:r>
              <a:rPr sz="1600"/>
              <a:t> lengthen polling interval</a:t>
            </a:r>
          </a:p>
          <a:p>
            <a:pPr/>
            <a:r>
              <a:rPr sz="1600">
                <a:latin typeface="Courier New"/>
              </a:rPr>
              <a:t>Access:</a:t>
            </a:r>
            <a:r>
              <a:rPr sz="1600"/>
              <a:t> can we edit config and reload safely?</a:t>
            </a:r>
          </a:p>
          <a:p>
            <a:pPr/>
            <a:r>
              <a:rPr sz="1600">
                <a:latin typeface="Courier New"/>
              </a:rPr>
              <a:t>Timing:</a:t>
            </a:r>
            <a:r>
              <a:rPr sz="1600"/>
              <a:t> what collection delay supports the mission?</a:t>
            </a:r>
          </a:p>
          <a:p>
            <a:pPr/>
            <a:r>
              <a:rPr sz="1600">
                <a:latin typeface="Courier New"/>
              </a:rPr>
              <a:t>Technique:</a:t>
            </a:r>
            <a:r>
              <a:rPr sz="1600"/>
              <a:t> reload, restart, or scheduled pickup?</a:t>
            </a:r>
          </a:p>
          <a:p>
            <a:pPr/>
            <a:r>
              <a:rPr sz="1600">
                <a:latin typeface="Courier New"/>
              </a:rPr>
              <a:t>Reversibility:</a:t>
            </a:r>
            <a:r>
              <a:rPr sz="1600"/>
              <a:t> known original value and restore path?</a:t>
            </a:r>
          </a:p>
          <a:p>
            <a:pPr/>
            <a:r>
              <a:rPr sz="1600">
                <a:latin typeface="Courier New"/>
              </a:rPr>
              <a:t>Proof:</a:t>
            </a:r>
            <a:r>
              <a:rPr sz="1600"/>
              <a:t> before/after cadence comparison</a:t>
            </a:r>
          </a:p>
        </p:txBody>
      </p:sp>
      <p:pic>
        <p:nvPicPr>
          <p:cNvPr id="5" name="Picture 4" descr="8b1f6d2b0280fc6bbcc7158dcff741437d1a88681cdef42aee939d8bdf6084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Degrade Example — Remove One Feeder Source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500"/>
              <a:t>Outcome:</a:t>
            </a:r>
            <a:r>
              <a:rPr sz="1500"/>
              <a:t> coverage becomes incomplete</a:t>
            </a:r>
          </a:p>
          <a:p>
            <a:pPr/>
            <a:r>
              <a:rPr b="1" sz="1500"/>
              <a:t>Example:</a:t>
            </a:r>
            <a:r>
              <a:rPr sz="1500"/>
              <a:t> remove one feeder source</a:t>
            </a:r>
          </a:p>
          <a:p>
            <a:pPr/>
            <a:r>
              <a:rPr sz="1500">
                <a:latin typeface="Courier New"/>
              </a:rPr>
              <a:t>Access:</a:t>
            </a:r>
            <a:r>
              <a:rPr sz="1500"/>
              <a:t> can we change the source without breaking the pipeline?</a:t>
            </a:r>
          </a:p>
          <a:p>
            <a:pPr/>
            <a:r>
              <a:rPr sz="1500">
                <a:latin typeface="Courier New"/>
              </a:rPr>
              <a:t>Dependency:</a:t>
            </a:r>
            <a:r>
              <a:rPr sz="1500"/>
              <a:t> what does this feeder uniquely provide?</a:t>
            </a:r>
          </a:p>
          <a:p>
            <a:pPr/>
            <a:r>
              <a:rPr sz="1500">
                <a:latin typeface="Courier New"/>
              </a:rPr>
              <a:t>Blast radius:</a:t>
            </a:r>
            <a:r>
              <a:rPr sz="1500"/>
              <a:t> partial loss, not total outage?</a:t>
            </a:r>
          </a:p>
          <a:p>
            <a:pPr/>
            <a:r>
              <a:rPr sz="1500">
                <a:latin typeface="Courier New"/>
              </a:rPr>
              <a:t>Visibility:</a:t>
            </a:r>
            <a:r>
              <a:rPr sz="1500"/>
              <a:t> will analysts notice and compensate?</a:t>
            </a:r>
          </a:p>
          <a:p>
            <a:pPr/>
            <a:r>
              <a:rPr sz="1500">
                <a:latin typeface="Courier New"/>
              </a:rPr>
              <a:t>Proof:</a:t>
            </a:r>
            <a:r>
              <a:rPr sz="1500"/>
              <a:t> lower volume or missing coverage area</a:t>
            </a:r>
          </a:p>
        </p:txBody>
      </p:sp>
      <p:pic>
        <p:nvPicPr>
          <p:cNvPr id="5" name="Picture 4" descr="428f383b81955d55872e4813cf028e19a6c173db5183cc78b17fb81faa87eda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Disrupt Example — Stop Process During Reporting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500"/>
              <a:t>Outcome:</a:t>
            </a:r>
            <a:r>
              <a:rPr sz="1500"/>
              <a:t> decisive reporting window missed</a:t>
            </a:r>
          </a:p>
          <a:p>
            <a:pPr/>
            <a:r>
              <a:rPr b="1" sz="1500"/>
              <a:t>Example:</a:t>
            </a:r>
            <a:r>
              <a:rPr sz="1500"/>
              <a:t> stop process during reporting</a:t>
            </a:r>
          </a:p>
          <a:p>
            <a:pPr/>
            <a:r>
              <a:rPr sz="1500">
                <a:latin typeface="Courier New"/>
              </a:rPr>
              <a:t>Access:</a:t>
            </a:r>
            <a:r>
              <a:rPr sz="1500"/>
              <a:t> reliable at the exact action time?</a:t>
            </a:r>
          </a:p>
          <a:p>
            <a:pPr/>
            <a:r>
              <a:rPr sz="1500">
                <a:latin typeface="Courier New"/>
              </a:rPr>
              <a:t>Window:</a:t>
            </a:r>
            <a:r>
              <a:rPr sz="1500"/>
              <a:t> start, duration, and mission relevance?</a:t>
            </a:r>
          </a:p>
          <a:p>
            <a:pPr/>
            <a:r>
              <a:rPr sz="1500">
                <a:latin typeface="Courier New"/>
              </a:rPr>
              <a:t>Recovery:</a:t>
            </a:r>
            <a:r>
              <a:rPr sz="1500"/>
              <a:t> auto-restart, manual restart, or watchdog?</a:t>
            </a:r>
          </a:p>
          <a:p>
            <a:pPr/>
            <a:r>
              <a:rPr sz="1500">
                <a:latin typeface="Courier New"/>
              </a:rPr>
              <a:t>Coordination:</a:t>
            </a:r>
            <a:r>
              <a:rPr sz="1500"/>
              <a:t> team ready to observe and deconflict?</a:t>
            </a:r>
          </a:p>
          <a:p>
            <a:pPr/>
            <a:r>
              <a:rPr sz="1500">
                <a:latin typeface="Courier New"/>
              </a:rPr>
              <a:t>Proof:</a:t>
            </a:r>
            <a:r>
              <a:rPr sz="1500"/>
              <a:t> missed window plus later recovery</a:t>
            </a:r>
          </a:p>
        </p:txBody>
      </p:sp>
      <p:pic>
        <p:nvPicPr>
          <p:cNvPr id="5" name="Picture 4" descr="e091d07c8e6f0cd0da8f5c1e1b61b0d528de53fd185837d9d7243f39bbf1abf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Disrupt Example — Scramble Scheduler Order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500"/>
              <a:t>Outcome:</a:t>
            </a:r>
            <a:r>
              <a:rPr sz="1500"/>
              <a:t> job chain runs out of sequence</a:t>
            </a:r>
          </a:p>
          <a:p>
            <a:pPr/>
            <a:r>
              <a:rPr b="1" sz="1500"/>
              <a:t>Example:</a:t>
            </a:r>
            <a:r>
              <a:rPr sz="1500"/>
              <a:t> scramble scheduler order</a:t>
            </a:r>
          </a:p>
          <a:p>
            <a:pPr/>
            <a:r>
              <a:rPr sz="1500">
                <a:latin typeface="Courier New"/>
              </a:rPr>
              <a:t>Access:</a:t>
            </a:r>
            <a:r>
              <a:rPr sz="1500"/>
              <a:t> can we edit scheduler state safely?</a:t>
            </a:r>
          </a:p>
          <a:p>
            <a:pPr/>
            <a:r>
              <a:rPr sz="1500">
                <a:latin typeface="Courier New"/>
              </a:rPr>
              <a:t>Chain:</a:t>
            </a:r>
            <a:r>
              <a:rPr sz="1500"/>
              <a:t> upstream and downstream task dependencies?</a:t>
            </a:r>
          </a:p>
          <a:p>
            <a:pPr/>
            <a:r>
              <a:rPr sz="1500">
                <a:latin typeface="Courier New"/>
              </a:rPr>
              <a:t>Timing:</a:t>
            </a:r>
            <a:r>
              <a:rPr sz="1500"/>
              <a:t> wrong order, wrong time, or missed trigger?</a:t>
            </a:r>
          </a:p>
          <a:p>
            <a:pPr/>
            <a:r>
              <a:rPr sz="1500">
                <a:latin typeface="Courier New"/>
              </a:rPr>
              <a:t>Recovery:</a:t>
            </a:r>
            <a:r>
              <a:rPr sz="1500"/>
              <a:t> automatic correction or manual cleanup?</a:t>
            </a:r>
          </a:p>
          <a:p>
            <a:pPr/>
            <a:r>
              <a:rPr sz="1500">
                <a:latin typeface="Courier New"/>
              </a:rPr>
              <a:t>Proof:</a:t>
            </a:r>
            <a:r>
              <a:rPr sz="1500"/>
              <a:t> job logs show broken sequence</a:t>
            </a:r>
          </a:p>
        </p:txBody>
      </p:sp>
      <p:pic>
        <p:nvPicPr>
          <p:cNvPr id="5" name="Picture 4" descr="15f8dd802ebec5ef7e5a9f4fce336f484e7e9fb448d7e69782a66247b8cd11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Destroy Example — Remove Key Material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500"/>
              <a:t>Outcome:</a:t>
            </a:r>
            <a:r>
              <a:rPr sz="1500"/>
              <a:t> secure channel requires rebuild</a:t>
            </a:r>
          </a:p>
          <a:p>
            <a:pPr/>
            <a:r>
              <a:rPr b="1" sz="1500"/>
              <a:t>Example:</a:t>
            </a:r>
            <a:r>
              <a:rPr sz="1500"/>
              <a:t> remove key material</a:t>
            </a:r>
          </a:p>
          <a:p>
            <a:pPr/>
            <a:r>
              <a:rPr sz="1500">
                <a:latin typeface="Courier New"/>
              </a:rPr>
              <a:t>Access:</a:t>
            </a:r>
            <a:r>
              <a:rPr sz="1500"/>
              <a:t> can we reach and verify the key location?</a:t>
            </a:r>
          </a:p>
          <a:p>
            <a:pPr/>
            <a:r>
              <a:rPr sz="1500">
                <a:latin typeface="Courier New"/>
              </a:rPr>
              <a:t>Uniqueness:</a:t>
            </a:r>
            <a:r>
              <a:rPr sz="1500"/>
              <a:t> only working key, cert, or token?</a:t>
            </a:r>
          </a:p>
          <a:p>
            <a:pPr/>
            <a:r>
              <a:rPr sz="1500">
                <a:latin typeface="Courier New"/>
              </a:rPr>
              <a:t>Backups:</a:t>
            </a:r>
            <a:r>
              <a:rPr sz="1500"/>
              <a:t> local copy, vault, snapshot, export?</a:t>
            </a:r>
          </a:p>
          <a:p>
            <a:pPr/>
            <a:r>
              <a:rPr sz="1500">
                <a:latin typeface="Courier New"/>
              </a:rPr>
              <a:t>Authority:</a:t>
            </a:r>
            <a:r>
              <a:rPr sz="1500"/>
              <a:t> mission approval for destructive action?</a:t>
            </a:r>
          </a:p>
          <a:p>
            <a:pPr/>
            <a:r>
              <a:rPr sz="1500">
                <a:latin typeface="Courier New"/>
              </a:rPr>
              <a:t>Proof:</a:t>
            </a:r>
            <a:r>
              <a:rPr sz="1500"/>
              <a:t> failed channel plus rebuild requirement</a:t>
            </a:r>
          </a:p>
        </p:txBody>
      </p:sp>
      <p:pic>
        <p:nvPicPr>
          <p:cNvPr id="5" name="Picture 4" descr="d252836e4a33c1ca2d3914152e6d0a2244db22c9ddaeb445c4e9f646e7a047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400"/>
              <a:t>Destroy Example — Wipe Staging Data and Quick Restore Copy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400"/>
              <a:t>Outcome:</a:t>
            </a:r>
            <a:r>
              <a:rPr sz="1400"/>
              <a:t> staging function needs restoration</a:t>
            </a:r>
          </a:p>
          <a:p>
            <a:pPr/>
            <a:r>
              <a:rPr b="1" sz="1400"/>
              <a:t>Example:</a:t>
            </a:r>
            <a:r>
              <a:rPr sz="1400"/>
              <a:t> wipe staging data plus quick restore copy</a:t>
            </a:r>
          </a:p>
          <a:p>
            <a:pPr/>
            <a:r>
              <a:rPr sz="1400">
                <a:latin typeface="Courier New"/>
              </a:rPr>
              <a:t>Access:</a:t>
            </a:r>
            <a:r>
              <a:rPr sz="1400"/>
              <a:t> can we affect data and local restore copy?</a:t>
            </a:r>
          </a:p>
          <a:p>
            <a:pPr/>
            <a:r>
              <a:rPr sz="1400">
                <a:latin typeface="Courier New"/>
              </a:rPr>
              <a:t>Criticality:</a:t>
            </a:r>
            <a:r>
              <a:rPr sz="1400"/>
              <a:t> does staging data drive the capability?</a:t>
            </a:r>
          </a:p>
          <a:p>
            <a:pPr/>
            <a:r>
              <a:rPr sz="1400">
                <a:latin typeface="Courier New"/>
              </a:rPr>
              <a:t>Containment:</a:t>
            </a:r>
            <a:r>
              <a:rPr sz="1400"/>
              <a:t> avoid unrelated or partner-needed data?</a:t>
            </a:r>
          </a:p>
          <a:p>
            <a:pPr/>
            <a:r>
              <a:rPr sz="1400">
                <a:latin typeface="Courier New"/>
              </a:rPr>
              <a:t>Recovery:</a:t>
            </a:r>
            <a:r>
              <a:rPr sz="1400"/>
              <a:t> distant backup, rebuild, or manual re-entry?</a:t>
            </a:r>
          </a:p>
          <a:p>
            <a:pPr/>
            <a:r>
              <a:rPr sz="1400">
                <a:latin typeface="Courier New"/>
              </a:rPr>
              <a:t>Proof:</a:t>
            </a:r>
            <a:r>
              <a:rPr sz="1400"/>
              <a:t> missing data plus no quick restore path</a:t>
            </a:r>
          </a:p>
        </p:txBody>
      </p:sp>
      <p:pic>
        <p:nvPicPr>
          <p:cNvPr id="5" name="Picture 4" descr="ec4c6e08d603a5da9df72624035c3b93a3cca11461f453706ee8da7af7527f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400"/>
              <a:t>Deceive / Manipulate Example — Poison Target-Priority Records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500"/>
              <a:t>Outcome:</a:t>
            </a:r>
            <a:r>
              <a:rPr sz="1500"/>
              <a:t> adversary mis-prioritizes effort</a:t>
            </a:r>
          </a:p>
          <a:p>
            <a:pPr/>
            <a:r>
              <a:rPr b="1" sz="1500"/>
              <a:t>Example:</a:t>
            </a:r>
            <a:r>
              <a:rPr sz="1500"/>
              <a:t> poison target-priority records</a:t>
            </a:r>
          </a:p>
          <a:p>
            <a:pPr/>
            <a:r>
              <a:rPr sz="1500">
                <a:latin typeface="Courier New"/>
              </a:rPr>
              <a:t>Access:</a:t>
            </a:r>
            <a:r>
              <a:rPr sz="1500"/>
              <a:t> can we safely write to the right table or queue?</a:t>
            </a:r>
          </a:p>
          <a:p>
            <a:pPr/>
            <a:r>
              <a:rPr sz="1500">
                <a:latin typeface="Courier New"/>
              </a:rPr>
              <a:t>Model:</a:t>
            </a:r>
            <a:r>
              <a:rPr sz="1500"/>
              <a:t> fields, valid values, and downstream consumers?</a:t>
            </a:r>
          </a:p>
          <a:p>
            <a:pPr/>
            <a:r>
              <a:rPr sz="1500">
                <a:latin typeface="Courier New"/>
              </a:rPr>
              <a:t>Believability:</a:t>
            </a:r>
            <a:r>
              <a:rPr sz="1500"/>
              <a:t> consistent host, user, timing, and priority logic?</a:t>
            </a:r>
          </a:p>
          <a:p>
            <a:pPr/>
            <a:r>
              <a:rPr sz="1500">
                <a:latin typeface="Courier New"/>
              </a:rPr>
              <a:t>Detection:</a:t>
            </a:r>
            <a:r>
              <a:rPr sz="1500"/>
              <a:t> can we observe changed tasking or analyst focus?</a:t>
            </a:r>
          </a:p>
          <a:p>
            <a:pPr/>
            <a:r>
              <a:rPr sz="1500">
                <a:latin typeface="Courier New"/>
              </a:rPr>
              <a:t>Proof:</a:t>
            </a:r>
            <a:r>
              <a:rPr sz="1500"/>
              <a:t> poisoned record plus mis-prioritized action</a:t>
            </a:r>
          </a:p>
        </p:txBody>
      </p:sp>
      <p:pic>
        <p:nvPicPr>
          <p:cNvPr id="5" name="Picture 4" descr="25bb41907ef8e19bd5dd6bc1121bb1e3079eb3e2e37a5414d97775a6f7881b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400"/>
              <a:t>Deceive / Manipulate Example — Plant a False Timeline Artifact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500"/>
              <a:t>Outcome:</a:t>
            </a:r>
            <a:r>
              <a:rPr sz="1500"/>
              <a:t> adversary trusts the wrong sequence</a:t>
            </a:r>
          </a:p>
          <a:p>
            <a:pPr/>
            <a:r>
              <a:rPr b="1" sz="1500"/>
              <a:t>Example:</a:t>
            </a:r>
            <a:r>
              <a:rPr sz="1500"/>
              <a:t> plant a false timeline artifact</a:t>
            </a:r>
          </a:p>
          <a:p>
            <a:pPr/>
            <a:r>
              <a:rPr sz="1500">
                <a:latin typeface="Courier New"/>
              </a:rPr>
              <a:t>Access:</a:t>
            </a:r>
            <a:r>
              <a:rPr sz="1500"/>
              <a:t> can we place the artifact where analysts already look?</a:t>
            </a:r>
          </a:p>
          <a:p>
            <a:pPr/>
            <a:r>
              <a:rPr sz="1500">
                <a:latin typeface="Courier New"/>
              </a:rPr>
              <a:t>Format:</a:t>
            </a:r>
            <a:r>
              <a:rPr sz="1500"/>
              <a:t> filename, timestamp, metadata, and style match?</a:t>
            </a:r>
          </a:p>
          <a:p>
            <a:pPr/>
            <a:r>
              <a:rPr sz="1500">
                <a:latin typeface="Courier New"/>
              </a:rPr>
              <a:t>Consistency:</a:t>
            </a:r>
            <a:r>
              <a:rPr sz="1500"/>
              <a:t> aligns with other logs and host behavior?</a:t>
            </a:r>
          </a:p>
          <a:p>
            <a:pPr/>
            <a:r>
              <a:rPr sz="1500">
                <a:latin typeface="Courier New"/>
              </a:rPr>
              <a:t>Risk:</a:t>
            </a:r>
            <a:r>
              <a:rPr sz="1500"/>
              <a:t> false artifact does not break normal workflow?</a:t>
            </a:r>
          </a:p>
          <a:p>
            <a:pPr/>
            <a:r>
              <a:rPr sz="1500">
                <a:latin typeface="Courier New"/>
              </a:rPr>
              <a:t>Proof:</a:t>
            </a:r>
            <a:r>
              <a:rPr sz="1500"/>
              <a:t> decoy review, mention, or follow-on action</a:t>
            </a:r>
          </a:p>
        </p:txBody>
      </p:sp>
      <p:pic>
        <p:nvPicPr>
          <p:cNvPr id="5" name="Picture 4" descr="f0df50d5ab60131d9871691815a045ed23271609814ad97a1d479475206672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Reconnoiter Example — Map the Collection Pipeline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500"/>
              <a:t>Outcome:</a:t>
            </a:r>
            <a:r>
              <a:rPr sz="1500"/>
              <a:t> pipeline map changes the next COA</a:t>
            </a:r>
          </a:p>
          <a:p>
            <a:pPr/>
            <a:r>
              <a:rPr b="1" sz="1500"/>
              <a:t>Example:</a:t>
            </a:r>
            <a:r>
              <a:rPr sz="1500"/>
              <a:t> map the collection pipeline</a:t>
            </a:r>
          </a:p>
          <a:p>
            <a:pPr/>
            <a:r>
              <a:rPr sz="1500">
                <a:latin typeface="Courier New"/>
              </a:rPr>
              <a:t>Access:</a:t>
            </a:r>
            <a:r>
              <a:rPr sz="1500"/>
              <a:t> what hosts, services, and data stores are in scope?</a:t>
            </a:r>
          </a:p>
          <a:p>
            <a:pPr/>
            <a:r>
              <a:rPr sz="1500">
                <a:latin typeface="Courier New"/>
              </a:rPr>
              <a:t>Safety:</a:t>
            </a:r>
            <a:r>
              <a:rPr sz="1500"/>
              <a:t> commands are read-only and low-noise?</a:t>
            </a:r>
          </a:p>
          <a:p>
            <a:pPr/>
            <a:r>
              <a:rPr sz="1500">
                <a:latin typeface="Courier New"/>
              </a:rPr>
              <a:t>Unknowns:</a:t>
            </a:r>
            <a:r>
              <a:rPr sz="1500"/>
              <a:t> controller, feeder, parser, database, relay?</a:t>
            </a:r>
          </a:p>
          <a:p>
            <a:pPr/>
            <a:r>
              <a:rPr sz="1500">
                <a:latin typeface="Courier New"/>
              </a:rPr>
              <a:t>Evidence:</a:t>
            </a:r>
            <a:r>
              <a:rPr sz="1500"/>
              <a:t> configs, schedules, process state, and data paths?</a:t>
            </a:r>
          </a:p>
          <a:p>
            <a:pPr/>
            <a:r>
              <a:rPr sz="1500">
                <a:latin typeface="Courier New"/>
              </a:rPr>
              <a:t>Output:</a:t>
            </a:r>
            <a:r>
              <a:rPr sz="1500"/>
              <a:t> diagram-ready facts for COA comparison</a:t>
            </a:r>
          </a:p>
        </p:txBody>
      </p:sp>
      <p:pic>
        <p:nvPicPr>
          <p:cNvPr id="5" name="Picture 4" descr="37a9f78a5eec723dab6a46838d942e277f14c5261bfdf20a569dfb44b06b30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Reconnoiter Example — Confirm Operator Cadence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500"/>
              <a:t>Outcome:</a:t>
            </a:r>
            <a:r>
              <a:rPr sz="1500"/>
              <a:t> timing intelligence changes action window</a:t>
            </a:r>
          </a:p>
          <a:p>
            <a:pPr/>
            <a:r>
              <a:rPr b="1" sz="1500"/>
              <a:t>Example:</a:t>
            </a:r>
            <a:r>
              <a:rPr sz="1500"/>
              <a:t> confirm operator cadence</a:t>
            </a:r>
          </a:p>
          <a:p>
            <a:pPr/>
            <a:r>
              <a:rPr sz="1500">
                <a:latin typeface="Courier New"/>
              </a:rPr>
              <a:t>Access:</a:t>
            </a:r>
            <a:r>
              <a:rPr sz="1500"/>
              <a:t> can we inspect logs without changing state?</a:t>
            </a:r>
          </a:p>
          <a:p>
            <a:pPr/>
            <a:r>
              <a:rPr sz="1500">
                <a:latin typeface="Courier New"/>
              </a:rPr>
              <a:t>Sources:</a:t>
            </a:r>
            <a:r>
              <a:rPr sz="1500"/>
              <a:t> login history, job logs, dashboard events, edits?</a:t>
            </a:r>
          </a:p>
          <a:p>
            <a:pPr/>
            <a:r>
              <a:rPr sz="1500">
                <a:latin typeface="Courier New"/>
              </a:rPr>
              <a:t>Time basis:</a:t>
            </a:r>
            <a:r>
              <a:rPr sz="1500"/>
              <a:t> timezone, clock drift, and log rollover?</a:t>
            </a:r>
          </a:p>
          <a:p>
            <a:pPr/>
            <a:r>
              <a:rPr sz="1500">
                <a:latin typeface="Courier New"/>
              </a:rPr>
              <a:t>Attribution:</a:t>
            </a:r>
            <a:r>
              <a:rPr sz="1500"/>
              <a:t> human operator, service account, or automation?</a:t>
            </a:r>
          </a:p>
          <a:p>
            <a:pPr/>
            <a:r>
              <a:rPr sz="1500">
                <a:latin typeface="Courier New"/>
              </a:rPr>
              <a:t>Proof:</a:t>
            </a:r>
            <a:r>
              <a:rPr sz="1500"/>
              <a:t> cadence pattern tied to next action timing</a:t>
            </a:r>
          </a:p>
        </p:txBody>
      </p:sp>
      <p:pic>
        <p:nvPicPr>
          <p:cNvPr id="5" name="Picture 4" descr="65e2442a2c245b11bd540d6abec755cbeae9fcc23fcfab0797ca5bbc353620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Interdict Example — Sinkhole the Reporting Destination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500"/>
              <a:t>Outcome:</a:t>
            </a:r>
            <a:r>
              <a:rPr sz="1500"/>
              <a:t> reporting path ends at a sink</a:t>
            </a:r>
          </a:p>
          <a:p>
            <a:pPr/>
            <a:r>
              <a:rPr b="1" sz="1500"/>
              <a:t>Example:</a:t>
            </a:r>
            <a:r>
              <a:rPr sz="1500"/>
              <a:t> sinkhole the reporting destination</a:t>
            </a:r>
          </a:p>
          <a:p>
            <a:pPr/>
            <a:r>
              <a:rPr sz="1500">
                <a:latin typeface="Courier New"/>
              </a:rPr>
              <a:t>Access:</a:t>
            </a:r>
            <a:r>
              <a:rPr sz="1500"/>
              <a:t> can we change DNS, proxy, or routing control?</a:t>
            </a:r>
          </a:p>
          <a:p>
            <a:pPr/>
            <a:r>
              <a:rPr sz="1500">
                <a:latin typeface="Courier New"/>
              </a:rPr>
              <a:t>Path:</a:t>
            </a:r>
            <a:r>
              <a:rPr sz="1500"/>
              <a:t> destination name, address, protocol, and relay path?</a:t>
            </a:r>
          </a:p>
          <a:p>
            <a:pPr/>
            <a:r>
              <a:rPr sz="1500">
                <a:latin typeface="Courier New"/>
              </a:rPr>
              <a:t>Scope:</a:t>
            </a:r>
            <a:r>
              <a:rPr sz="1500"/>
              <a:t> affects intended reporting flow only?</a:t>
            </a:r>
          </a:p>
          <a:p>
            <a:pPr/>
            <a:r>
              <a:rPr sz="1500">
                <a:latin typeface="Courier New"/>
              </a:rPr>
              <a:t>Alternates:</a:t>
            </a:r>
            <a:r>
              <a:rPr sz="1500"/>
              <a:t> cached address, backup domain, direct IP path?</a:t>
            </a:r>
          </a:p>
          <a:p>
            <a:pPr/>
            <a:r>
              <a:rPr sz="1500">
                <a:latin typeface="Courier New"/>
              </a:rPr>
              <a:t>Proof:</a:t>
            </a:r>
            <a:r>
              <a:rPr sz="1500"/>
              <a:t> traffic reaches sink or fails before analyst node</a:t>
            </a:r>
          </a:p>
        </p:txBody>
      </p:sp>
      <p:pic>
        <p:nvPicPr>
          <p:cNvPr id="5" name="Picture 4" descr="00710f96a71ae9ed97f2ca0496ae555cacb55b3ba29d255679785229ed30d2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500"/>
              <a:t>Interdict Example — Remove Queue Access Between Stages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500"/>
              <a:t>Outcome:</a:t>
            </a:r>
            <a:r>
              <a:rPr sz="1500"/>
              <a:t> workflow segment is isolated</a:t>
            </a:r>
          </a:p>
          <a:p>
            <a:pPr/>
            <a:r>
              <a:rPr b="1" sz="1500"/>
              <a:t>Example:</a:t>
            </a:r>
            <a:r>
              <a:rPr sz="1500"/>
              <a:t> remove queue access between stages</a:t>
            </a:r>
          </a:p>
          <a:p>
            <a:pPr/>
            <a:r>
              <a:rPr sz="1500">
                <a:latin typeface="Courier New"/>
              </a:rPr>
              <a:t>Access:</a:t>
            </a:r>
            <a:r>
              <a:rPr sz="1500"/>
              <a:t> can we change queue or share permissions?</a:t>
            </a:r>
          </a:p>
          <a:p>
            <a:pPr/>
            <a:r>
              <a:rPr sz="1500">
                <a:latin typeface="Courier New"/>
              </a:rPr>
              <a:t>Handoff:</a:t>
            </a:r>
            <a:r>
              <a:rPr sz="1500"/>
              <a:t> which stage writes and which stage reads?</a:t>
            </a:r>
          </a:p>
          <a:p>
            <a:pPr/>
            <a:r>
              <a:rPr sz="1500">
                <a:latin typeface="Courier New"/>
              </a:rPr>
              <a:t>Impact:</a:t>
            </a:r>
            <a:r>
              <a:rPr sz="1500"/>
              <a:t> upstream collection continues but cannot advance?</a:t>
            </a:r>
          </a:p>
          <a:p>
            <a:pPr/>
            <a:r>
              <a:rPr sz="1500">
                <a:latin typeface="Courier New"/>
              </a:rPr>
              <a:t>Containment:</a:t>
            </a:r>
            <a:r>
              <a:rPr sz="1500"/>
              <a:t> only intended queue, share, or API endpoint?</a:t>
            </a:r>
          </a:p>
          <a:p>
            <a:pPr/>
            <a:r>
              <a:rPr sz="1500">
                <a:latin typeface="Courier New"/>
              </a:rPr>
              <a:t>Proof:</a:t>
            </a:r>
            <a:r>
              <a:rPr sz="1500"/>
              <a:t> stalled queue plus isolated downstream stage</a:t>
            </a:r>
          </a:p>
        </p:txBody>
      </p:sp>
      <p:pic>
        <p:nvPicPr>
          <p:cNvPr id="5" name="Picture 4" descr="981e5488ab4a3edc6af92c031f620757f6a6f578dba1c04aaa8fbb90c01525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Handoff Example — Deliver an Access Package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500"/>
              <a:t>Outcome:</a:t>
            </a:r>
            <a:r>
              <a:rPr sz="1500"/>
              <a:t> partner can use access immediately</a:t>
            </a:r>
          </a:p>
          <a:p>
            <a:pPr/>
            <a:r>
              <a:rPr b="1" sz="1500"/>
              <a:t>Example:</a:t>
            </a:r>
            <a:r>
              <a:rPr sz="1500"/>
              <a:t> deliver an access package</a:t>
            </a:r>
          </a:p>
          <a:p>
            <a:pPr/>
            <a:r>
              <a:rPr sz="1500">
                <a:latin typeface="Courier New"/>
              </a:rPr>
              <a:t>Access:</a:t>
            </a:r>
            <a:r>
              <a:rPr sz="1500"/>
              <a:t> tested path, account, credential, and method?</a:t>
            </a:r>
          </a:p>
          <a:p>
            <a:pPr/>
            <a:r>
              <a:rPr sz="1500">
                <a:latin typeface="Courier New"/>
              </a:rPr>
              <a:t>Context:</a:t>
            </a:r>
            <a:r>
              <a:rPr sz="1500"/>
              <a:t> host role, network position, privileges, limits?</a:t>
            </a:r>
          </a:p>
          <a:p>
            <a:pPr/>
            <a:r>
              <a:rPr sz="1500">
                <a:latin typeface="Courier New"/>
              </a:rPr>
              <a:t>Reliability:</a:t>
            </a:r>
            <a:r>
              <a:rPr sz="1500"/>
              <a:t> session lifetime, resets, MFA, timing windows?</a:t>
            </a:r>
          </a:p>
          <a:p>
            <a:pPr/>
            <a:r>
              <a:rPr sz="1500">
                <a:latin typeface="Courier New"/>
              </a:rPr>
              <a:t>Risk:</a:t>
            </a:r>
            <a:r>
              <a:rPr sz="1500"/>
              <a:t> deconfliction, burn risk, and do-not-touch notes?</a:t>
            </a:r>
          </a:p>
          <a:p>
            <a:pPr/>
            <a:r>
              <a:rPr sz="1500">
                <a:latin typeface="Courier New"/>
              </a:rPr>
              <a:t>Proof:</a:t>
            </a:r>
            <a:r>
              <a:rPr sz="1500"/>
              <a:t> partner can connect and orient in minutes</a:t>
            </a:r>
          </a:p>
        </p:txBody>
      </p:sp>
      <p:pic>
        <p:nvPicPr>
          <p:cNvPr id="5" name="Picture 4" descr="2bb137c6afd0b6eefa9ed5e054cc877d3809f0377258e6b9a8fe2c089fd90e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Handoff Example — Validate a Partner Capability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500"/>
              <a:t>Outcome:</a:t>
            </a:r>
            <a:r>
              <a:rPr sz="1500"/>
              <a:t> partner capability is ready to operate</a:t>
            </a:r>
          </a:p>
          <a:p>
            <a:pPr/>
            <a:r>
              <a:rPr b="1" sz="1500"/>
              <a:t>Example:</a:t>
            </a:r>
            <a:r>
              <a:rPr sz="1500"/>
              <a:t> validate a partner capability</a:t>
            </a:r>
          </a:p>
          <a:p>
            <a:pPr/>
            <a:r>
              <a:rPr sz="1500">
                <a:latin typeface="Courier New"/>
              </a:rPr>
              <a:t>Approval:</a:t>
            </a:r>
            <a:r>
              <a:rPr sz="1500"/>
              <a:t> capability, placement, and timing are authorized?</a:t>
            </a:r>
          </a:p>
          <a:p>
            <a:pPr/>
            <a:r>
              <a:rPr sz="1500">
                <a:latin typeface="Courier New"/>
              </a:rPr>
              <a:t>Node:</a:t>
            </a:r>
            <a:r>
              <a:rPr sz="1500"/>
              <a:t> correct host, privilege level, and network position?</a:t>
            </a:r>
          </a:p>
          <a:p>
            <a:pPr/>
            <a:r>
              <a:rPr sz="1500">
                <a:latin typeface="Courier New"/>
              </a:rPr>
              <a:t>Persistence:</a:t>
            </a:r>
            <a:r>
              <a:rPr sz="1500"/>
              <a:t> survives reboot, task rotation, or session loss?</a:t>
            </a:r>
          </a:p>
          <a:p>
            <a:pPr/>
            <a:r>
              <a:rPr sz="1500">
                <a:latin typeface="Courier New"/>
              </a:rPr>
              <a:t>Training:</a:t>
            </a:r>
            <a:r>
              <a:rPr sz="1500"/>
              <a:t> receiving team knows use, limits, and recovery?</a:t>
            </a:r>
          </a:p>
          <a:p>
            <a:pPr/>
            <a:r>
              <a:rPr sz="1500">
                <a:latin typeface="Courier New"/>
              </a:rPr>
              <a:t>Proof:</a:t>
            </a:r>
            <a:r>
              <a:rPr sz="1500"/>
              <a:t> partner can operate capability from handoff notes</a:t>
            </a:r>
          </a:p>
        </p:txBody>
      </p:sp>
      <p:pic>
        <p:nvPicPr>
          <p:cNvPr id="5" name="Picture 4" descr="f6bc7b6d3669c732a137fd6d9d85ca18cf392dfbf3e4862ed2977bc58d2ab3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Mapping Effects to Planning Vocabulary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800"/>
              <a:t>D4M / interdict:</a:t>
            </a:r>
            <a:r>
              <a:rPr sz="1800"/>
              <a:t> CG as capability or pathway</a:t>
            </a:r>
          </a:p>
          <a:p>
            <a:pPr/>
            <a:r>
              <a:rPr b="1" sz="1800"/>
              <a:t>Deceive / manipulate:</a:t>
            </a:r>
            <a:r>
              <a:rPr sz="1800"/>
              <a:t> decision cycle and EMLCOA</a:t>
            </a:r>
          </a:p>
          <a:p>
            <a:pPr/>
            <a:r>
              <a:rPr b="1" sz="1800"/>
              <a:t>Reconnoiter:</a:t>
            </a:r>
            <a:r>
              <a:rPr sz="1800"/>
              <a:t> RFIs, assumptions, refined CV</a:t>
            </a:r>
          </a:p>
          <a:p>
            <a:pPr/>
            <a:r>
              <a:rPr b="1" sz="1800"/>
              <a:t>Handoff:</a:t>
            </a:r>
            <a:r>
              <a:rPr sz="1800"/>
              <a:t> partner reach and operational options</a:t>
            </a:r>
          </a:p>
          <a:p>
            <a:pPr/>
            <a:r>
              <a:rPr sz="1800"/>
              <a:t>Planning intent still applies: </a:t>
            </a:r>
            <a:r>
              <a:rPr b="1" sz="1800"/>
              <a:t>impose cost; generate options</a:t>
            </a:r>
          </a:p>
        </p:txBody>
      </p:sp>
      <p:pic>
        <p:nvPicPr>
          <p:cNvPr id="5" name="Picture 4" descr="1d71f3d29e94fd9ecbc90b8296fc7ace3ac9e60abcf3f380c0420e2d2919af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Professional Operations Under Command Direction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Command-directed operations</a:t>
            </a:r>
          </a:p>
          <a:p>
            <a:pPr/>
            <a:r>
              <a:rPr sz="1800"/>
              <a:t>Not hacking just to hack</a:t>
            </a:r>
          </a:p>
          <a:p>
            <a:pPr/>
            <a:r>
              <a:rPr sz="1800"/>
              <a:t>Access is only one condition</a:t>
            </a:r>
          </a:p>
          <a:p>
            <a:pPr/>
            <a:r>
              <a:rPr sz="1800"/>
              <a:t>Think through the full tactical process</a:t>
            </a:r>
          </a:p>
          <a:p>
            <a:pPr/>
            <a:r>
              <a:rPr sz="1800"/>
              <a:t>Then execute, assess, and report</a:t>
            </a:r>
          </a:p>
        </p:txBody>
      </p:sp>
      <p:pic>
        <p:nvPicPr>
          <p:cNvPr id="5" name="Picture 4" descr="3e238b84f822b398bedc50d52d3878e99eec5ce99ac99f2de0354d07b35bbf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Counterstrike Planning Cycle (Planning Applied)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sz="1800"/>
              <a:t>Same planning flow</a:t>
            </a:r>
          </a:p>
          <a:p>
            <a:pPr/>
            <a:r>
              <a:rPr b="1" sz="1800"/>
              <a:t>Mission analysis:</a:t>
            </a:r>
            <a:r>
              <a:rPr sz="1800"/>
              <a:t> task / purpose / constraints / desired effect</a:t>
            </a:r>
          </a:p>
          <a:p>
            <a:pPr/>
            <a:r>
              <a:rPr b="1" sz="1800"/>
              <a:t>COA comparison:</a:t>
            </a:r>
            <a:r>
              <a:rPr sz="1800"/>
              <a:t> feasible / acceptable / suitable / adversary response</a:t>
            </a:r>
          </a:p>
          <a:p>
            <a:pPr/>
            <a:r>
              <a:rPr b="1" sz="1800"/>
              <a:t>Execution:</a:t>
            </a:r>
            <a:r>
              <a:rPr sz="1800"/>
              <a:t> select / coordinate / act</a:t>
            </a:r>
          </a:p>
          <a:p>
            <a:pPr/>
            <a:r>
              <a:rPr b="1" sz="1800"/>
              <a:t>Assessment:</a:t>
            </a:r>
            <a:r>
              <a:rPr sz="1800"/>
              <a:t> intended effect vs observed effect</a:t>
            </a:r>
          </a:p>
        </p:txBody>
      </p:sp>
      <p:pic>
        <p:nvPicPr>
          <p:cNvPr id="5" name="Picture 4" descr="a152be7101460e7816eea908a38699dedc1f10f966369c430dabb6bcde18da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3362" y="952052"/>
            <a:ext cx="10142837" cy="567883"/>
          </a:xfrm>
        </p:spPr>
        <p:txBody>
          <a:bodyPr wrap="square" anchor="t">
            <a:normAutofit/>
          </a:bodyPr>
          <a:lstStyle/>
          <a:p>
            <a:pPr/>
            <a:r>
              <a:rPr sz="2600"/>
              <a:t>Two Effect Families on a Live Foothold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1363363" y="1666240"/>
            <a:ext cx="4420981" cy="4505960"/>
          </a:xfrm>
        </p:spPr>
        <p:txBody>
          <a:bodyPr wrap="square" anchor="t">
            <a:normAutofit/>
          </a:bodyPr>
          <a:lstStyle/>
          <a:p>
            <a:pPr/>
            <a:r>
              <a:rPr b="1" sz="1800"/>
              <a:t>Break collection</a:t>
            </a:r>
          </a:p>
          <a:p>
            <a:pPr/>
            <a:r>
              <a:rPr sz="1800"/>
              <a:t>Effects: </a:t>
            </a:r>
            <a:r>
              <a:rPr b="1" sz="1800"/>
              <a:t>degrade / disrupt / deny</a:t>
            </a:r>
          </a:p>
          <a:p>
            <a:pPr/>
            <a:r>
              <a:rPr b="1" sz="1800"/>
              <a:t>Poison collection</a:t>
            </a:r>
          </a:p>
          <a:p>
            <a:pPr/>
            <a:r>
              <a:rPr sz="1800"/>
              <a:t>Effects: </a:t>
            </a:r>
            <a:r>
              <a:rPr b="1" sz="1800"/>
              <a:t>deceive / manipulate</a:t>
            </a:r>
          </a:p>
          <a:p>
            <a:pPr/>
            <a:r>
              <a:rPr sz="1800"/>
              <a:t>Then a </a:t>
            </a:r>
            <a:r>
              <a:rPr b="1" sz="1800"/>
              <a:t>handoff package</a:t>
            </a:r>
          </a:p>
          <a:p>
            <a:pPr/>
            <a:r>
              <a:rPr sz="1800"/>
              <a:t>Deliverable: short effect report</a:t>
            </a:r>
          </a:p>
        </p:txBody>
      </p:sp>
      <p:pic>
        <p:nvPicPr>
          <p:cNvPr id="5" name="Picture 4" descr="21604fb9a5167b24b7a3082dcfbad5e7b0f309829dac3cc7b9967beef891a5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784" y="1574799"/>
            <a:ext cx="4781253" cy="4781253"/>
          </a:xfrm>
          <a:prstGeom prst="rect">
            <a:avLst/>
          </a:prstGeom>
        </p:spPr>
      </p:pic>
      <p:sp>
        <p:nvSpPr>
          <p:cNvPr id="6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/>
            <a:r>
              <a:rPr sz="2400"/>
              <a:t>Before action: </a:t>
            </a:r>
            <a:r>
              <a:rPr b="1" sz="2400"/>
              <a:t>effect / action / predicted response</a:t>
            </a:r>
          </a:p>
          <a:p>
            <a:pPr/>
            <a:r>
              <a:rPr sz="2400"/>
              <a:t>After action: </a:t>
            </a:r>
            <a:r>
              <a:rPr b="1" sz="2400"/>
              <a:t>observed result / risk reassessment</a:t>
            </a:r>
          </a:p>
          <a:p>
            <a:pPr/>
            <a:r>
              <a:rPr sz="2400"/>
              <a:t>Five lines = report format</a:t>
            </a:r>
          </a:p>
          <a:p>
            <a:pPr/>
            <a:r>
              <a:rPr sz="2400"/>
              <a:t>Later: a </a:t>
            </a:r>
            <a:r>
              <a:rPr b="1" sz="2400"/>
              <a:t>handoff package</a:t>
            </a:r>
            <a:r>
              <a:rPr sz="2400"/>
              <a:t> uses the same report format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/>
            <a:r>
              <a:rPr sz="2700"/>
              <a:t>Wrap — Planning Cadence, Then Execute</a:t>
            </a:r>
          </a:p>
        </p:txBody>
      </p:sp>
      <p:sp>
        <p:nvSpPr>
          <p:cNvPr id="4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rmAutofit/>
          </a:bodyPr>
          <a:lstStyle/>
          <a:p>
            <a:pPr/>
            <a:r>
              <a:rPr sz="2700"/>
              <a:t>Questions?</a:t>
            </a:r>
          </a:p>
        </p:txBody>
      </p:sp>
      <p:sp>
        <p:nvSpPr>
          <p:cNvPr id="4" name="Disclaimer">
            <a:extLst>
              <a:ext uri="{FF2B5EF4-FFF2-40B4-BE49-F238E27FC236}">
                <a16:creationId xmlns:a16="http://schemas.microsoft.com/office/drawing/2014/main" id="{AF066B48-BBCB-D243-DA16-4C1CF9825479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0" y="6627376"/>
            <a:ext cx="7873550" cy="230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000" b="0" i="0" u="none" strike="noStrike" cap="none">
                <a:solidFill>
                  <a:srgbClr val="B4B4B4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dirty="0"/>
              <a:t>Not for public release. Course training material. Copyright [schoolhouse TBD]. Do not copy or redistribute outside the assigned course.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yberTemplateL_Green Unclass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420</Words>
  <Application>Microsoft Office PowerPoint</Application>
  <PresentationFormat>Widescreen</PresentationFormat>
  <Paragraphs>45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Calibri</vt:lpstr>
      <vt:lpstr>Arial</vt:lpstr>
      <vt:lpstr>Noto Sans Symbols</vt:lpstr>
      <vt:lpstr>Google Sans</vt:lpstr>
      <vt:lpstr>CyberTemplateL_Green Unclass</vt:lpstr>
      <vt:lpstr>Lesson title</vt:lpstr>
      <vt:lpstr>Intro Video</vt:lpstr>
      <vt:lpstr>Lesson Objectives</vt:lpstr>
      <vt:lpstr>What is a Learning Management System?</vt:lpstr>
      <vt:lpstr>Lets log in to Moodle</vt:lpstr>
      <vt:lpstr>Lesson 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Houston, Joshua T</dc:creator>
  <cp:lastModifiedBy>Cross, Clay</cp:lastModifiedBy>
  <cp:revision>1</cp:revision>
  <dcterms:modified xsi:type="dcterms:W3CDTF">2026-10-12T17:41:16Z</dcterms:modified>
</cp:coreProperties>
</file>