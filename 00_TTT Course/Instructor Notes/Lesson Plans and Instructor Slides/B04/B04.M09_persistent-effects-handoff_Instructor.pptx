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9"/>
  </p:notesMasterIdLst>
  <p:sldIdLst>
    <p:sldId id="256" r:id="rId8"/>
    <p:sldId id="257" r:id="rId14"/>
    <p:sldId id="258" r:id="rId15"/>
    <p:sldId id="259" r:id="rId7"/>
    <p:sldId id="260" r:id="rId6"/>
    <p:sldId id="261" r:id="rId5"/>
    <p:sldId id="262" r:id="rId4"/>
    <p:sldId id="263" r:id="rId3"/>
    <p:sldId id="264" r:id="rId2"/>
    <p:sldId id="265" r:id="rId22"/>
  </p:sldIdLst>
  <p:sldSz cx="12192000" cy="6858000"/>
  <p:notesSz cx="6858000" cy="9144000"/>
  <p:embeddedFontLst>
    <p:embeddedFont>
      <p:font typeface="Google Sans" panose="020B0604020202020204" charset="0"/>
      <p:regular r:id="rId10"/>
      <p:bold r:id="rId11"/>
      <p:italic r:id="rId12"/>
      <p:boldItalic r:id="rId1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6" roundtripDataSignature="AMtx7mj7TtVeiHhDOAAACQUvrCI66Sw72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53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1.xml"/><Relationship Id="rId9" Type="http://schemas.openxmlformats.org/officeDocument/2006/relationships/notesMaster" Target="notesMasters/notesMaster1.xml"/><Relationship Id="rId10" Type="http://schemas.openxmlformats.org/officeDocument/2006/relationships/font" Target="fonts/font1.fntdata"/><Relationship Id="rId11" Type="http://schemas.openxmlformats.org/officeDocument/2006/relationships/font" Target="fonts/font2.fntdata"/><Relationship Id="rId12" Type="http://schemas.openxmlformats.org/officeDocument/2006/relationships/font" Target="fonts/font3.fntdata"/><Relationship Id="rId13" Type="http://schemas.openxmlformats.org/officeDocument/2006/relationships/font" Target="fonts/font4.fntdata"/><Relationship Id="rId14" Type="http://schemas.openxmlformats.org/officeDocument/2006/relationships/slide" Target="slides/slide2.xml"/><Relationship Id="rId15" Type="http://schemas.openxmlformats.org/officeDocument/2006/relationships/slide" Target="slides/slide3.xml"/><Relationship Id="rId16" Type="http://customschemas.google.com/relationships/presentationmetadata" Target="meta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ross, Clay" userId="f346be3b-e1cb-4aec-811e-8a3f5d1dd33f" providerId="ADAL" clId="{5AB2DC96-CDCC-45B4-B053-2F2446580AF9}"/>
    <pc:docChg chg="modSld modMainMaster">
      <pc:chgData name="Cross, Clay" userId="f346be3b-e1cb-4aec-811e-8a3f5d1dd33f" providerId="ADAL" clId="{5AB2DC96-CDCC-45B4-B053-2F2446580AF9}" dt="2026-10-12T17:41:14.911" v="31" actId="20577"/>
      <pc:docMkLst>
        <pc:docMk/>
      </pc:docMkLst>
      <pc:sldChg chg="addSp modSp mod">
        <pc:chgData name="Cross, Clay" userId="f346be3b-e1cb-4aec-811e-8a3f5d1dd33f" providerId="ADAL" clId="{5AB2DC96-CDCC-45B4-B053-2F2446580AF9}" dt="2026-10-12T17:41:14.911" v="31" actId="20577"/>
        <pc:sldMkLst>
          <pc:docMk/>
          <pc:sldMk cId="0" sldId="256"/>
        </pc:sldMkLst>
        <pc:spChg chg="add mod">
          <ac:chgData name="Cross, Clay" userId="f346be3b-e1cb-4aec-811e-8a3f5d1dd33f" providerId="ADAL" clId="{5AB2DC96-CDCC-45B4-B053-2F2446580AF9}" dt="2026-09-16T14:10:03.197" v="14"/>
          <ac:spMkLst>
            <pc:docMk/>
            <pc:sldMk cId="0" sldId="256"/>
            <ac:spMk id="2" creationId="{AF066B48-BBCB-D243-DA16-4C1CF9825479}"/>
          </ac:spMkLst>
        </pc:spChg>
        <pc:spChg chg="mod">
          <ac:chgData name="Cross, Clay" userId="f346be3b-e1cb-4aec-811e-8a3f5d1dd33f" providerId="ADAL" clId="{5AB2DC96-CDCC-45B4-B053-2F2446580AF9}" dt="2026-10-12T17:41:14.911" v="31" actId="20577"/>
          <ac:spMkLst>
            <pc:docMk/>
            <pc:sldMk cId="0" sldId="256"/>
            <ac:spMk id="93" creationId="{00000000-0000-0000-0000-000000000000}"/>
          </ac:spMkLst>
        </pc:spChg>
      </pc:sldChg>
      <pc:sldChg chg="addSp modSp">
        <pc:chgData name="Cross, Clay" userId="f346be3b-e1cb-4aec-811e-8a3f5d1dd33f" providerId="ADAL" clId="{5AB2DC96-CDCC-45B4-B053-2F2446580AF9}" dt="2026-09-16T14:10:05.967" v="15"/>
        <pc:sldMkLst>
          <pc:docMk/>
          <pc:sldMk cId="0" sldId="257"/>
        </pc:sldMkLst>
        <pc:spChg chg="add mod">
          <ac:chgData name="Cross, Clay" userId="f346be3b-e1cb-4aec-811e-8a3f5d1dd33f" providerId="ADAL" clId="{5AB2DC96-CDCC-45B4-B053-2F2446580AF9}" dt="2026-09-16T14:10:05.967" v="15"/>
          <ac:spMkLst>
            <pc:docMk/>
            <pc:sldMk cId="0" sldId="257"/>
            <ac:spMk id="2" creationId="{C59CE0A4-E66C-0842-A9F5-B432CCCBB70C}"/>
          </ac:spMkLst>
        </pc:spChg>
      </pc:sldChg>
      <pc:sldChg chg="addSp modSp">
        <pc:chgData name="Cross, Clay" userId="f346be3b-e1cb-4aec-811e-8a3f5d1dd33f" providerId="ADAL" clId="{5AB2DC96-CDCC-45B4-B053-2F2446580AF9}" dt="2026-09-16T14:10:07.294" v="16"/>
        <pc:sldMkLst>
          <pc:docMk/>
          <pc:sldMk cId="0" sldId="258"/>
        </pc:sldMkLst>
        <pc:spChg chg="add mod">
          <ac:chgData name="Cross, Clay" userId="f346be3b-e1cb-4aec-811e-8a3f5d1dd33f" providerId="ADAL" clId="{5AB2DC96-CDCC-45B4-B053-2F2446580AF9}" dt="2026-09-16T14:10:07.294" v="16"/>
          <ac:spMkLst>
            <pc:docMk/>
            <pc:sldMk cId="0" sldId="258"/>
            <ac:spMk id="2" creationId="{9367D3A5-428A-79F2-AC81-ADCB1A0F11C1}"/>
          </ac:spMkLst>
        </pc:spChg>
      </pc:sldChg>
      <pc:sldChg chg="addSp modSp">
        <pc:chgData name="Cross, Clay" userId="f346be3b-e1cb-4aec-811e-8a3f5d1dd33f" providerId="ADAL" clId="{5AB2DC96-CDCC-45B4-B053-2F2446580AF9}" dt="2026-09-16T14:10:08.375" v="17"/>
        <pc:sldMkLst>
          <pc:docMk/>
          <pc:sldMk cId="0" sldId="259"/>
        </pc:sldMkLst>
        <pc:spChg chg="add mod">
          <ac:chgData name="Cross, Clay" userId="f346be3b-e1cb-4aec-811e-8a3f5d1dd33f" providerId="ADAL" clId="{5AB2DC96-CDCC-45B4-B053-2F2446580AF9}" dt="2026-09-16T14:10:08.375" v="17"/>
          <ac:spMkLst>
            <pc:docMk/>
            <pc:sldMk cId="0" sldId="259"/>
            <ac:spMk id="2" creationId="{07E1C860-F9EC-56A5-3678-9C818C512B47}"/>
          </ac:spMkLst>
        </pc:spChg>
      </pc:sldChg>
      <pc:sldChg chg="addSp modSp">
        <pc:chgData name="Cross, Clay" userId="f346be3b-e1cb-4aec-811e-8a3f5d1dd33f" providerId="ADAL" clId="{5AB2DC96-CDCC-45B4-B053-2F2446580AF9}" dt="2026-09-16T14:10:11.392" v="18"/>
        <pc:sldMkLst>
          <pc:docMk/>
          <pc:sldMk cId="0" sldId="260"/>
        </pc:sldMkLst>
        <pc:spChg chg="add mod">
          <ac:chgData name="Cross, Clay" userId="f346be3b-e1cb-4aec-811e-8a3f5d1dd33f" providerId="ADAL" clId="{5AB2DC96-CDCC-45B4-B053-2F2446580AF9}" dt="2026-09-16T14:10:11.392" v="18"/>
          <ac:spMkLst>
            <pc:docMk/>
            <pc:sldMk cId="0" sldId="260"/>
            <ac:spMk id="2" creationId="{1588E63D-8331-98F8-2393-DF79A145BF58}"/>
          </ac:spMkLst>
        </pc:spChg>
      </pc:sldChg>
      <pc:sldChg chg="addSp modSp">
        <pc:chgData name="Cross, Clay" userId="f346be3b-e1cb-4aec-811e-8a3f5d1dd33f" providerId="ADAL" clId="{5AB2DC96-CDCC-45B4-B053-2F2446580AF9}" dt="2026-09-16T14:10:12.517" v="19"/>
        <pc:sldMkLst>
          <pc:docMk/>
          <pc:sldMk cId="0" sldId="261"/>
        </pc:sldMkLst>
        <pc:spChg chg="add mod">
          <ac:chgData name="Cross, Clay" userId="f346be3b-e1cb-4aec-811e-8a3f5d1dd33f" providerId="ADAL" clId="{5AB2DC96-CDCC-45B4-B053-2F2446580AF9}" dt="2026-09-16T14:10:12.517" v="19"/>
          <ac:spMkLst>
            <pc:docMk/>
            <pc:sldMk cId="0" sldId="261"/>
            <ac:spMk id="2" creationId="{93535A3B-BAB2-61CE-5223-82D4BF2B0E2D}"/>
          </ac:spMkLst>
        </pc:spChg>
      </pc:sldChg>
      <pc:sldChg chg="addSp delSp modSp mod">
        <pc:chgData name="Cross, Clay" userId="f346be3b-e1cb-4aec-811e-8a3f5d1dd33f" providerId="ADAL" clId="{5AB2DC96-CDCC-45B4-B053-2F2446580AF9}" dt="2026-09-16T14:10:13.935" v="20"/>
        <pc:sldMkLst>
          <pc:docMk/>
          <pc:sldMk cId="0" sldId="262"/>
        </pc:sldMkLst>
        <pc:spChg chg="add mod">
          <ac:chgData name="Cross, Clay" userId="f346be3b-e1cb-4aec-811e-8a3f5d1dd33f" providerId="ADAL" clId="{5AB2DC96-CDCC-45B4-B053-2F2446580AF9}" dt="2026-09-16T14:10:13.935" v="20"/>
          <ac:spMkLst>
            <pc:docMk/>
            <pc:sldMk cId="0" sldId="262"/>
            <ac:spMk id="2" creationId="{D7EC3C54-652C-9EC2-FAB0-E19765D5B90B}"/>
          </ac:spMkLst>
        </pc:spChg>
      </pc:sldChg>
      <pc:sldMasterChg chg="modSp mod modSldLayout">
        <pc:chgData name="Cross, Clay" userId="f346be3b-e1cb-4aec-811e-8a3f5d1dd33f" providerId="ADAL" clId="{5AB2DC96-CDCC-45B4-B053-2F2446580AF9}" dt="2026-10-12T16:58:37.748" v="29" actId="14100"/>
        <pc:sldMasterMkLst>
          <pc:docMk/>
          <pc:sldMasterMk cId="0" sldId="2147483648"/>
        </pc:sldMasterMkLst>
        <pc:sldLayoutChg chg="modSp mod">
          <pc:chgData name="Cross, Clay" userId="f346be3b-e1cb-4aec-811e-8a3f5d1dd33f" providerId="ADAL" clId="{5AB2DC96-CDCC-45B4-B053-2F2446580AF9}" dt="2026-10-12T16:58:06.482" v="24" actId="14100"/>
          <pc:sldLayoutMkLst>
            <pc:docMk/>
            <pc:sldMasterMk cId="0" sldId="2147483648"/>
            <pc:sldLayoutMk cId="0" sldId="2147483652"/>
          </pc:sldLayoutMkLst>
          <pc:spChg chg="mod">
            <ac:chgData name="Cross, Clay" userId="f346be3b-e1cb-4aec-811e-8a3f5d1dd33f" providerId="ADAL" clId="{5AB2DC96-CDCC-45B4-B053-2F2446580AF9}" dt="2026-10-12T16:57:55.345" v="22" actId="14100"/>
            <ac:spMkLst>
              <pc:docMk/>
              <pc:sldMasterMk cId="0" sldId="2147483648"/>
              <pc:sldLayoutMk cId="0" sldId="2147483652"/>
              <ac:spMk id="56" creationId="{00000000-0000-0000-0000-000000000000}"/>
            </ac:spMkLst>
          </pc:spChg>
          <pc:spChg chg="mod">
            <ac:chgData name="Cross, Clay" userId="f346be3b-e1cb-4aec-811e-8a3f5d1dd33f" providerId="ADAL" clId="{5AB2DC96-CDCC-45B4-B053-2F2446580AF9}" dt="2026-10-12T16:58:00.151" v="23" actId="14100"/>
            <ac:spMkLst>
              <pc:docMk/>
              <pc:sldMasterMk cId="0" sldId="2147483648"/>
              <pc:sldLayoutMk cId="0" sldId="2147483652"/>
              <ac:spMk id="57" creationId="{00000000-0000-0000-0000-000000000000}"/>
            </ac:spMkLst>
          </pc:spChg>
          <pc:spChg chg="mod">
            <ac:chgData name="Cross, Clay" userId="f346be3b-e1cb-4aec-811e-8a3f5d1dd33f" providerId="ADAL" clId="{5AB2DC96-CDCC-45B4-B053-2F2446580AF9}" dt="2026-10-12T16:58:06.482" v="24" actId="14100"/>
            <ac:spMkLst>
              <pc:docMk/>
              <pc:sldMasterMk cId="0" sldId="2147483648"/>
              <pc:sldLayoutMk cId="0" sldId="2147483652"/>
              <ac:spMk id="58" creationId="{00000000-0000-0000-0000-000000000000}"/>
            </ac:spMkLst>
          </pc:spChg>
        </pc:sldLayoutChg>
        <pc:sldLayoutChg chg="modSp mod">
          <pc:chgData name="Cross, Clay" userId="f346be3b-e1cb-4aec-811e-8a3f5d1dd33f" providerId="ADAL" clId="{5AB2DC96-CDCC-45B4-B053-2F2446580AF9}" dt="2026-10-12T16:58:37.748" v="29" actId="14100"/>
          <pc:sldLayoutMkLst>
            <pc:docMk/>
            <pc:sldMasterMk cId="0" sldId="2147483648"/>
            <pc:sldLayoutMk cId="0" sldId="2147483656"/>
          </pc:sldLayoutMkLst>
          <pc:spChg chg="mod">
            <ac:chgData name="Cross, Clay" userId="f346be3b-e1cb-4aec-811e-8a3f5d1dd33f" providerId="ADAL" clId="{5AB2DC96-CDCC-45B4-B053-2F2446580AF9}" dt="2026-10-12T16:58:32.543" v="27" actId="14100"/>
            <ac:spMkLst>
              <pc:docMk/>
              <pc:sldMasterMk cId="0" sldId="2147483648"/>
              <pc:sldLayoutMk cId="0" sldId="2147483656"/>
              <ac:spMk id="76" creationId="{00000000-0000-0000-0000-000000000000}"/>
            </ac:spMkLst>
          </pc:spChg>
          <pc:spChg chg="mod">
            <ac:chgData name="Cross, Clay" userId="f346be3b-e1cb-4aec-811e-8a3f5d1dd33f" providerId="ADAL" clId="{5AB2DC96-CDCC-45B4-B053-2F2446580AF9}" dt="2026-10-12T16:58:34.943" v="28" actId="14100"/>
            <ac:spMkLst>
              <pc:docMk/>
              <pc:sldMasterMk cId="0" sldId="2147483648"/>
              <pc:sldLayoutMk cId="0" sldId="2147483656"/>
              <ac:spMk id="77" creationId="{00000000-0000-0000-0000-000000000000}"/>
            </ac:spMkLst>
          </pc:spChg>
          <pc:spChg chg="mod">
            <ac:chgData name="Cross, Clay" userId="f346be3b-e1cb-4aec-811e-8a3f5d1dd33f" providerId="ADAL" clId="{5AB2DC96-CDCC-45B4-B053-2F2446580AF9}" dt="2026-10-12T16:58:37.748" v="29" actId="14100"/>
            <ac:spMkLst>
              <pc:docMk/>
              <pc:sldMasterMk cId="0" sldId="2147483648"/>
              <pc:sldLayoutMk cId="0" sldId="2147483656"/>
              <ac:spMk id="78"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Persistent Effects and Handoff — Content Guide</a:t>
            </a:r>
          </a:p>
          <a:p/>
          <a:p>
            <a:r>
              <a:t>**Source:** `../../overview.md`, `../../activities/L4.2a_Adversary_Tracking/`, `../../activities/L4.2b_Handoff_and_Partner_RAT_Deploy/`</a:t>
            </a:r>
          </a:p>
          <a:p>
            <a:r>
              <a:t>**Audience:** CPT operators who completed disable-tooling and false-information practice and have working access to the adversary stack.</a:t>
            </a:r>
          </a:p>
          <a:p>
            <a:r>
              <a:t>**Duration:** ~60 minutes (persistent effects and handoff lecture)</a:t>
            </a:r>
          </a:p>
          <a:p>
            <a:r>
              <a:t>**Prerequisites:** Effects Operations Overview; prior disable-tooling and false-information practice.</a:t>
            </a:r>
          </a:p>
          <a:p>
            <a:r>
              <a:t>**References:**</a:t>
            </a:r>
          </a:p>
          <a:p/>
          <a:p>
            <a:r>
              <a:t>- `./4.1 Effects Operations Overview Content Guide.md`</a:t>
            </a:r>
          </a:p>
          <a:p>
            <a:r>
              <a:t>- `../../M01-planning-foundations/lessons/04-d3fend-engage/content-guide.md`</a:t>
            </a:r>
          </a:p>
          <a:p>
            <a:r>
              <a:t>- `../../M01-planning-foundations/lessons/01-military-tactical-planning/content-guide.md` (for the CG/CV reference)</a:t>
            </a:r>
          </a:p>
          <a:p>
            <a:r>
              <a:t>- `../../../../environments/effects_lab_env/README.md`</a:t>
            </a:r>
          </a:p>
          <a:p/>
          <a:p>
            <a:r>
              <a:t>---</a:t>
            </a:r>
          </a:p>
          <a:p/>
          <a:p>
            <a:r>
              <a:t>## Instructor resources and pre-class</a:t>
            </a:r>
          </a:p>
          <a:p/>
          <a:p>
            <a:r>
              <a:t>- Classroom projector and screen; whiteboard for the opening contract</a:t>
            </a:r>
          </a:p>
          <a:p>
            <a:r>
              <a:t>- Parent or sibling briefs listed in this Module folder</a:t>
            </a:r>
          </a:p>
          <a:p>
            <a:r>
              <a:t>- Live tabs and references already named in this file's header</a:t>
            </a:r>
          </a:p>
          <a:p>
            <a:r>
              <a:t>- Do not project flags, tokens, or answer-key values</a:t>
            </a:r>
          </a:p>
          <a:p/>
          <a:p>
            <a:r>
              <a:t>## Student resources</a:t>
            </a:r>
          </a:p>
          <a:p/>
          <a:p>
            <a:r>
              <a:t>- Student brief, student guide, or homework file in this Module folder when present</a:t>
            </a:r>
          </a:p>
          <a:p>
            <a:r>
              <a:t>- Assigned range, workstation, or lab stack named in the student-facing file</a:t>
            </a:r>
          </a:p>
          <a:p>
            <a:r>
              <a:t>- No extra kit beyond what the student-facing file already lists</a:t>
            </a:r>
          </a:p>
          <a:p/>
          <a:p>
            <a:r>
              <a:t>## Dual opening</a:t>
            </a:r>
          </a:p>
          <a:p/>
          <a:p>
            <a:r>
              <a:t>### Option 1 (Interactive / Whiteboard / Kinesthetic)</a:t>
            </a:r>
          </a:p>
          <a:p/>
          <a:p>
            <a:r>
              <a:t>- **Say:** "Yesterday you produced effects that lived and died inside the adversary stack. Today you reach out past that stack. Survey is how you execute reconnoiter in practice — you collect technical and behavioral facts from the adversary workflow and turn them into pursuit-enabling intelligence. Handoff deploys another team's capability from your foothold when needed — that is a force-multiplier. These are the effects that make a CPT valuable outside its own enclave."</a:t>
            </a:r>
          </a:p>
          <a:p>
            <a:r>
              <a:t>- **Do:** Put the lesson contract on the board. Keep products from the prerequisite Module available.</a:t>
            </a:r>
          </a:p>
          <a:p>
            <a:r>
              <a:t>- **Ask (Q):** At your home unit, where does a partner team usually get stuck first: incomplete technical detail, unclear behavioral context, or both?</a:t>
            </a:r>
          </a:p>
          <a:p>
            <a:r>
              <a:t>- **Expected Response (A):** Facilitation. Use the Say/Do already on this row; do not force a single keyed answer.</a:t>
            </a:r>
          </a:p>
          <a:p/>
          <a:p>
            <a:r>
              <a:t>### Option 2 (Digital Slide / Virtual / Slide Deck)</a:t>
            </a:r>
          </a:p>
          <a:p/>
          <a:p>
            <a:r>
              <a:t>- **Say:** "Yesterday you produced effects that lived and died inside the adversary stack. Today you reach out past that stack. Survey is how you execute reconnoiter in practice — you collect technical and behavioral facts from the adversary workflow and turn them into pursuit-enabling intelligence. Handoff deploys another team's capability from your foothold when needed — that is a force-multiplier. These are the effects that make a CPT valuable outside its own enclave."</a:t>
            </a:r>
          </a:p>
          <a:p>
            <a:r>
              <a:t>- **Show:** The title slide and lesson objectives.</a:t>
            </a:r>
          </a:p>
          <a:p>
            <a:r>
              <a:t>- **Do:** Confirm stations can open the required tool or file before the first teaching row.</a:t>
            </a:r>
          </a:p>
          <a:p>
            <a:r>
              <a:t>- **Ask (Q):** At your home unit, where does a partner team usually get stuck first: incomplete technical detail, unclear behavioral context, or both?</a:t>
            </a:r>
          </a:p>
          <a:p>
            <a:r>
              <a:t>- **Expected Response (A):** 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"Yesterday you produced effects that lived and died inside the adversary stack. Today you reach out past that stack. Survey is how you execute reconnoiter in practice — you collect technical and behavioral facts from the adversary workflow and turn them into pursuit-enabling intelligence. Handoff deploys another team's capability from your foothold when needed — that is a force-multiplier. These are the effects that make a CPT valuable outside its own enclave."</a:t>
            </a:r>
          </a:p>
          <a:p/>
          <a:p>
            <a:r>
              <a:t>Show:</a:t>
            </a:r>
          </a:p>
          <a:p>
            <a:r>
              <a:t>The local-vs-extending graphic.</a:t>
            </a:r>
          </a:p>
          <a:p/>
          <a:p>
            <a:r>
              <a:t>Do:</a:t>
            </a:r>
          </a:p>
          <a:p>
            <a:r>
              <a:t>Ask: "At your home unit, where does a partner team usually get stuck first: incomplete technical detail, unclear behavioral context, or both?" Use answers to frame why today's reporting quality matters.</a:t>
            </a:r>
          </a:p>
          <a:p/>
          <a:p>
            <a:r>
              <a:t>Image Prompt:</a:t>
            </a:r>
          </a:p>
          <a:p>
            <a:r>
              <a:t>A two-row graphic. Top row labeled "Local effects" with small icons for Degrade/Disrupt/Deny and Deceive/Manipulate, constrained inside a dotted box labeled "Adversary Stack." Bottom row labeled "Extending effects" with icons for Reconnoiter (survey) and Handoff, arrows breaking out of the dotted box toward labeled targets "Adversary Analyst," "Partner Team."</a:t>
            </a:r>
          </a:p>
          <a:p/>
          <a:p>
            <a:r>
              <a:t>Ask (Q):</a:t>
            </a:r>
          </a:p>
          <a:p>
            <a:r>
              <a:t>At your home unit, where does a partner team usually get stuck first: incomplete technical detail, unclear behavioral context, or both?</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"Do not treat this as raw log dump. Treat it as your situational awareness package from prior survey work. Four buckets: technical state, behavior, attribution-and-tracking, and expansion leads. This is what partners need first to decide if they can act now, need more evidence, or need you to collect additional detail before handoff."</a:t>
            </a:r>
          </a:p>
          <a:p/>
          <a:p>
            <a:r>
              <a:t>Show:</a:t>
            </a:r>
          </a:p>
          <a:p>
            <a:r>
              <a:t>The four-column package graphic; walk one concrete example in each column and map it to Access Guide fields.</a:t>
            </a:r>
          </a:p>
          <a:p/>
          <a:p>
            <a:r>
              <a:t>Do:</a:t>
            </a:r>
          </a:p>
          <a:p>
            <a:r>
              <a:t>Ask: "Which of these four buckets is usually weakest in your team handoffs, and what mission risk does that create?"</a:t>
            </a:r>
          </a:p>
          <a:p/>
          <a:p>
            <a:r>
              <a:t>Image Prompt:</a:t>
            </a:r>
          </a:p>
          <a:p>
            <a:r>
              <a:t>A handoff prep board with four labeled columns: Technical State, Behavioral Indicators, Attribution and Tracking, Expansion Leads. Each column contains 2-3 short example artifacts feeding an "Access Guide Baseline" box.</a:t>
            </a:r>
          </a:p>
          <a:p/>
          <a:p>
            <a:r>
              <a:t>Ask (Q):</a:t>
            </a:r>
          </a:p>
          <a:p>
            <a:r>
              <a:t>Which of these four buckets is usually weakest in your team handoffs, and what mission risk does that create?</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"Slide 2 gave the baseline. This slide is the gap-closure step. Ask what the partner still cannot decide or execute. If the gap is technical validation, scan with purpose. If the gap is workflow confidence or persistent positioning, consider a pipeline plant. In both cases, tie every action to a partner decision and capture it in the guide."</a:t>
            </a:r>
          </a:p>
          <a:p/>
          <a:p>
            <a:r>
              <a:t>Show:</a:t>
            </a:r>
          </a:p>
          <a:p>
            <a:r>
              <a:t>The decision flow and one example gap routed down each branch.</a:t>
            </a:r>
          </a:p>
          <a:p/>
          <a:p>
            <a:r>
              <a:t>Do:</a:t>
            </a:r>
          </a:p>
          <a:p>
            <a:r>
              <a:t>Ask: "Name one handoff decision your partner cannot make yet, then pick scan or plant and defend your choice in one sentence."</a:t>
            </a:r>
          </a:p>
          <a:p/>
          <a:p>
            <a:r>
              <a:t>Image Prompt:</a:t>
            </a:r>
          </a:p>
          <a:p>
            <a:r>
              <a:t>A decision flow: "Access Guide Baseline Ready?" -&gt; "What partner gap remains?" -&gt; branch A "Need technical validation" -&gt; "Targeted Scan/Enumeration"; branch B "Need workflow/handling confidence" -&gt; "Optional Pipeline Plant." Both branches feed "Handoff Decision + Access Guide Update."</a:t>
            </a:r>
          </a:p>
          <a:p/>
          <a:p>
            <a:r>
              <a:t>Ask (Q):</a:t>
            </a:r>
          </a:p>
          <a:p>
            <a:r>
              <a:t>Name one handoff decision your partner cannot make yet, then pick scan or plant and defend your choice in one sentence.</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"Handoff has two shapes. Access Guide handoff is you writing technical and behavioral context so clearly that another team can execute immediately. Capability handoff is you taking that team's tool and planting it in the position you already hold. Always produce the Access Guide first; only add capability handoff when partner mission need requires it."</a:t>
            </a:r>
          </a:p>
          <a:p/>
          <a:p>
            <a:r>
              <a:t>Show:</a:t>
            </a:r>
          </a:p>
          <a:p>
            <a:r>
              <a:t>The two-lane diagram; linger on "Access Guide first, capability second."</a:t>
            </a:r>
          </a:p>
          <a:p/>
          <a:p>
            <a:r>
              <a:t>Do:</a:t>
            </a:r>
          </a:p>
          <a:p>
            <a:r>
              <a:t>Ask: "If a partner receives only tool access but no Access Guide, what planning errors are most likely in the first 10 minutes?" Use answers to reinforce why guide quality comes first.</a:t>
            </a:r>
          </a:p>
          <a:p/>
          <a:p>
            <a:r>
              <a:t>Image Prompt:</a:t>
            </a:r>
          </a:p>
          <a:p>
            <a:r>
              <a:t>A two-lane diagram. Top lane labeled "Access Guide Handoff" shows a completed guide flowing from a CPT operator to a partner team icon. Bottom lane labeled "Capability Handoff" shows the partner team's implant icon flowing back into the adversary stack via the CPT foothold.</a:t>
            </a:r>
          </a:p>
          <a:p/>
          <a:p>
            <a:r>
              <a:t>Ask (Q):</a:t>
            </a:r>
          </a:p>
          <a:p>
            <a:r>
              <a:t>If a partner receives only tool access but no Access Guide, what planning errors are most likely in the first 10 minutes?</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"Write this template down. You will fill it in when you produce a partner Access Guide. This is not paperwork for its own sake — these seven sections are the questions a partner team will ask you in a five-minute sync call. If you cannot answer them crisply, they will not take the handoff, or worse, they will take it and do something you did not expect. The rollback plan is the section people skip and regret."</a:t>
            </a:r>
          </a:p>
          <a:p/>
          <a:p>
            <a:r>
              <a:t>Show:</a:t>
            </a:r>
          </a:p>
          <a:p>
            <a:r>
              <a:t>The seven-section template.</a:t>
            </a:r>
          </a:p>
          <a:p/>
          <a:p>
            <a:r>
              <a:t>Do:</a:t>
            </a:r>
          </a:p>
          <a:p>
            <a:r>
              <a:t>On the whiteboard, start a blank handoff template using the current foothold as the example target. Have the room call out what goes in each section. Tell them later Access Guide work will grade them against this template.</a:t>
            </a:r>
          </a:p>
          <a:p/>
          <a:p>
            <a:r>
              <a:t>Image Prompt:</a:t>
            </a:r>
          </a:p>
          <a:p>
            <a:r>
              <a:t>A seven-section form/template graphic titled "Access Guide." Each section labeled with one of the seven bullets plus a one-line "what goes here" prompt.</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"Today I am grading your characterization quality. A partner team acts on what you documented, not on what you meant. If technical artifacts are incomplete, behavioral observations are vague, or your expansion method is unexplained, you force rediscovery and lose tempo. Five-item check: technical evidence, behavioral evidence, method justification, validated destination, and next-action estimate. If any one is missing, stop and complete the record first."</a:t>
            </a:r>
          </a:p>
          <a:p/>
          <a:p>
            <a:r>
              <a:t>Show:</a:t>
            </a:r>
          </a:p>
          <a:p>
            <a:r>
              <a:t>The checklist graphic with the red header.</a:t>
            </a:r>
          </a:p>
          <a:p/>
          <a:p>
            <a:r>
              <a:t>Do:</a:t>
            </a:r>
          </a:p>
          <a:p>
            <a:r>
              <a:t>Run a dry check: pick one student at random, give them a notional action ("deploy the partner RAT to `adv-c2`"), and have them read the five-item documentation check aloud against it. Correct any missing items.</a:t>
            </a:r>
          </a:p>
          <a:p/>
          <a:p>
            <a:r>
              <a:t>Image Prompt:</a:t>
            </a:r>
          </a:p>
          <a:p>
            <a:r>
              <a:t>A five-box checklist graphic with header "Pre-Execution Documentation Check." The five boxes are the five checklist items from the slide.</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"Two practices, both in extending territory. Tracking starts with on-target survey and then deliberate expansion. Handoff is a live implant plus a complete Access Guide. Later this Block, the adversary runs these same playbooks with SI help."</a:t>
            </a:r>
          </a:p>
          <a:p/>
          <a:p>
            <a:r>
              <a:t>Show:</a:t>
            </a:r>
          </a:p>
          <a:p>
            <a:r>
              <a:t>The annotated stack diagram.</a:t>
            </a:r>
          </a:p>
          <a:p/>
          <a:p>
            <a:r>
              <a:t>Do:</a:t>
            </a:r>
          </a:p>
          <a:p>
            <a:r>
              <a:t>Hand out the adversary-tracking student brief. Remind them that precision in collection and reporting is graded, not just successful callback. Break 15 minutes, then release to the lab.</a:t>
            </a:r>
          </a:p>
          <a:p/>
          <a:p>
            <a:r>
              <a:t>Image Prompt:</a:t>
            </a:r>
          </a:p>
          <a:p>
            <a:r>
              <a:t>Adversary collection-workflow stack (collection nodes, queue, parser, analyst destination — not an ATT&amp;CK kill-chain ladder). Survey icon on the current foothold node. Branch markers to "Scan Path" and "Plant Path (Optional)." Partner-team implant icon dropping onto a node labeled adv-c2. No lecture names, no Module IDs, no Recon/Initial Access/Execution stage labels.</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"Look at what you ran in two days. Deny-or-degrade language on collection, deception on their analysis, reconnoiter via disciplined survey, then handoff when partners need to execute at tempo. One adversary stack. Human-paced. Now imagine an adversary running the same arc against you with a local LLM picking targets, tool-calling into your environment, and rewriting its own C2 on the fly. That is what later adversary-agent practice ends against. The only way you get good at defeating that is to build one first — which is what the next lectures start."</a:t>
            </a:r>
          </a:p>
          <a:p/>
          <a:p>
            <a:r>
              <a:t>Show:</a:t>
            </a:r>
          </a:p>
          <a:p>
            <a:r>
              <a:t>A simple four-box checklist labeled with the four doctrinal buckets from the slide bullets; check them all.</a:t>
            </a:r>
          </a:p>
          <a:p/>
          <a:p>
            <a:r>
              <a:t>Do:</a:t>
            </a:r>
          </a:p>
          <a:p>
            <a:r>
              <a:t>Collect the five-line effect reports and handoff packages. Tell students these reports become later retrieval context — their own work becomes the agent's knowledge base. Dismiss.</a:t>
            </a:r>
          </a:p>
          <a:p/>
          <a:p>
            <a:r>
              <a:t>Image Prompt:</a:t>
            </a:r>
          </a:p>
          <a:p>
            <a:r>
              <a:t>No image required for this slide.</a:t>
            </a:r>
          </a:p>
          <a:p/>
          <a:p>
            <a:r>
              <a:t>Ask (Q):</a:t>
            </a:r>
          </a:p>
          <a:p>
            <a:r>
              <a:t>What is the operational takeaway from this row?</a:t>
            </a:r>
          </a:p>
          <a:p>
            <a:r>
              <a:t>At your home unit, where does a partner team usually get stuck first: incomplete technical detail, unclear behavioral context, or both?</a:t>
            </a:r>
          </a:p>
          <a:p>
            <a:r>
              <a:t>Which of these four buckets is usually weakest in your team handoffs, and what mission risk does that create?</a:t>
            </a:r>
          </a:p>
          <a:p>
            <a:r>
              <a:t>Name one handoff decision your partner cannot make yet, then pick scan or plant and defend your choice in one sentence.</a:t>
            </a:r>
          </a:p>
          <a:p/>
          <a:p>
            <a:r>
              <a:t>Expected Response (A):</a:t>
            </a:r>
          </a:p>
          <a:p>
            <a:r>
              <a:t>Facilitation. Restate the Say/Do in operator terms. Do not invent a new teaching point.</a:t>
            </a:r>
          </a:p>
          <a:p>
            <a:r>
              <a:t>## Lesson summary</a:t>
            </a:r>
          </a:p>
          <a:p>
            <a:r>
              <a:t>B04.M09-persistent-effects-handoff is executed as a generated lesson plan from this file.</a:t>
            </a:r>
          </a:p>
          <a:p>
            <a:r>
              <a:t>Assessment methods live on module.yaml; do not invent extra official ELOs.</a:t>
            </a:r>
          </a:p>
          <a:p>
            <a:r>
              <a:t>Later practice in this Block continues from the product this session collects.</a:t>
            </a:r>
          </a:p>
          <a:p>
            <a:r>
              <a:t>## Questions and check on learning</a:t>
            </a:r>
          </a:p>
          <a:p>
            <a:r>
              <a:t>Facilitation. Use the Say/Do already on this row; do not force a single keyed answer.</a:t>
            </a:r>
          </a:p>
          <a:p>
            <a:r>
              <a:t>Facilitation. Use the Say/Do already on this row; do not force a single keyed answer.</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45"/>
        <p:cNvGrpSpPr/>
        <p:nvPr/>
      </p:nvGrpSpPr>
      <p:grpSpPr>
        <a:xfrm>
          <a:off x="0" y="0"/>
          <a:ext cx="0" cy="0"/>
          <a:chOff x="0" y="0"/>
          <a:chExt cx="0" cy="0"/>
        </a:xfrm>
      </p:grpSpPr>
      <p:sp>
        <p:nvSpPr>
          <p:cNvPr id="46" name="Google Shape;46;p79"/>
          <p:cNvSpPr txBox="1">
            <a:spLocks noGrp="1"/>
          </p:cNvSpPr>
          <p:nvPr>
            <p:ph type="ctrTitle"/>
          </p:nvPr>
        </p:nvSpPr>
        <p:spPr>
          <a:xfrm>
            <a:off x="2062480" y="898843"/>
            <a:ext cx="9144000" cy="23876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40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a:p>
        </p:txBody>
      </p:sp>
      <p:sp>
        <p:nvSpPr>
          <p:cNvPr id="89"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47"/>
        <p:cNvGrpSpPr/>
        <p:nvPr/>
      </p:nvGrpSpPr>
      <p:grpSpPr>
        <a:xfrm>
          <a:off x="0" y="0"/>
          <a:ext cx="0" cy="0"/>
          <a:chOff x="0" y="0"/>
          <a:chExt cx="0" cy="0"/>
        </a:xfrm>
      </p:grpSpPr>
      <p:sp>
        <p:nvSpPr>
          <p:cNvPr id="48" name="Google Shape;48;p80"/>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49" name="Google Shape;49;p80"/>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50" name="Google Shape;50;p80"/>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51" name="Google Shape;51;p80"/>
          <p:cNvSpPr txBox="1">
            <a:spLocks noGrp="1"/>
          </p:cNvSpPr>
          <p:nvPr>
            <p:ph type="title"/>
          </p:nvPr>
        </p:nvSpPr>
        <p:spPr>
          <a:xfrm>
            <a:off x="1510029" y="437317"/>
            <a:ext cx="10681971"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0"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2"/>
        <p:cNvGrpSpPr/>
        <p:nvPr/>
      </p:nvGrpSpPr>
      <p:grpSpPr>
        <a:xfrm>
          <a:off x="0" y="0"/>
          <a:ext cx="0" cy="0"/>
          <a:chOff x="0" y="0"/>
          <a:chExt cx="0" cy="0"/>
        </a:xfrm>
      </p:grpSpPr>
      <p:sp>
        <p:nvSpPr>
          <p:cNvPr id="53" name="Google Shape;53;p82"/>
          <p:cNvSpPr txBox="1">
            <a:spLocks noGrp="1"/>
          </p:cNvSpPr>
          <p:nvPr>
            <p:ph type="title"/>
          </p:nvPr>
        </p:nvSpPr>
        <p:spPr>
          <a:xfrm>
            <a:off x="1723854" y="549275"/>
            <a:ext cx="9963493" cy="28528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54" name="Google Shape;54;p82"/>
          <p:cNvSpPr txBox="1">
            <a:spLocks noGrp="1"/>
          </p:cNvSpPr>
          <p:nvPr>
            <p:ph type="body" idx="1"/>
          </p:nvPr>
        </p:nvSpPr>
        <p:spPr>
          <a:xfrm>
            <a:off x="1723854" y="3429000"/>
            <a:ext cx="9963493" cy="2128400"/>
          </a:xfrm>
          <a:prstGeom prst="rect">
            <a:avLst/>
          </a:prstGeom>
          <a:noFill/>
          <a:ln>
            <a:noFill/>
          </a:ln>
        </p:spPr>
        <p:txBody>
          <a:bodyPr spcFirstLastPara="1" wrap="square" lIns="91425" tIns="91425" rIns="91425" bIns="91425" anchor="t" anchorCtr="0">
            <a:noAutofit/>
          </a:bodyPr>
          <a:lstStyle>
            <a:lvl1pPr marL="457200" marR="0" lvl="0" indent="-228600" algn="ctr">
              <a:lnSpc>
                <a:spcPct val="90000"/>
              </a:lnSpc>
              <a:spcBef>
                <a:spcPts val="800"/>
              </a:spcBef>
              <a:spcAft>
                <a:spcPts val="0"/>
              </a:spcAft>
              <a:buClr>
                <a:srgbClr val="888888"/>
              </a:buClr>
              <a:buSzPts val="1600"/>
              <a:buFont typeface="Arial"/>
              <a:buNone/>
              <a:defRPr sz="1800" b="0" i="0" u="none" strike="noStrike" cap="none">
                <a:solidFill>
                  <a:srgbClr val="888888"/>
                </a:solidFill>
                <a:latin typeface="Arial"/>
                <a:ea typeface="Arial"/>
                <a:cs typeface="Arial"/>
                <a:sym typeface="Arial"/>
              </a:defRPr>
            </a:lvl1pPr>
            <a:lvl2pPr marL="914400" marR="0" lvl="1" indent="-228600" algn="l">
              <a:lnSpc>
                <a:spcPct val="90000"/>
              </a:lnSpc>
              <a:spcBef>
                <a:spcPts val="400"/>
              </a:spcBef>
              <a:spcAft>
                <a:spcPts val="0"/>
              </a:spcAft>
              <a:buClr>
                <a:srgbClr val="888888"/>
              </a:buClr>
              <a:buSzPts val="1400"/>
              <a:buFont typeface="Arial"/>
              <a:buNone/>
              <a:defRPr sz="1467"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100"/>
              <a:buFont typeface="Arial"/>
              <a:buNone/>
              <a:defRPr sz="1333"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91"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5"/>
        <p:cNvGrpSpPr/>
        <p:nvPr/>
      </p:nvGrpSpPr>
      <p:grpSpPr>
        <a:xfrm>
          <a:off x="0" y="0"/>
          <a:ext cx="0" cy="0"/>
          <a:chOff x="0" y="0"/>
          <a:chExt cx="0" cy="0"/>
        </a:xfrm>
      </p:grpSpPr>
      <p:sp>
        <p:nvSpPr>
          <p:cNvPr id="56" name="Google Shape;56;p83"/>
          <p:cNvSpPr txBox="1">
            <a:spLocks noGrp="1"/>
          </p:cNvSpPr>
          <p:nvPr>
            <p:ph type="title"/>
          </p:nvPr>
        </p:nvSpPr>
        <p:spPr>
          <a:xfrm>
            <a:off x="1363362" y="952052"/>
            <a:ext cx="10142837" cy="622748"/>
          </a:xfrm>
          <a:prstGeom prst="rect">
            <a:avLst/>
          </a:prstGeom>
          <a:noFill/>
          <a:ln>
            <a:noFill/>
          </a:ln>
        </p:spPr>
        <p:txBody>
          <a:bodyPr spcFirstLastPara="1" wrap="square" lIns="91425" tIns="91425" rIns="91425" bIns="91425" anchor="b" anchorCtr="0">
            <a:noAutofit/>
          </a:bodyPr>
          <a:lstStyle>
            <a:lvl1pPr marR="0" lvl="0" algn="l">
              <a:lnSpc>
                <a:spcPct val="90000"/>
              </a:lnSpc>
              <a:spcBef>
                <a:spcPts val="0"/>
              </a:spcBef>
              <a:spcAft>
                <a:spcPts val="0"/>
              </a:spcAft>
              <a:buClr>
                <a:schemeClr val="dk1"/>
              </a:buClr>
              <a:buSzPts val="1100"/>
              <a:buFont typeface="Arial"/>
              <a:buNone/>
              <a:defRPr sz="32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57" name="Google Shape;57;p83"/>
          <p:cNvSpPr txBox="1">
            <a:spLocks noGrp="1"/>
          </p:cNvSpPr>
          <p:nvPr>
            <p:ph type="body" idx="1"/>
          </p:nvPr>
        </p:nvSpPr>
        <p:spPr>
          <a:xfrm>
            <a:off x="4720611" y="1574799"/>
            <a:ext cx="7091600" cy="4781253"/>
          </a:xfrm>
          <a:prstGeom prst="rect">
            <a:avLst/>
          </a:prstGeom>
          <a:noFill/>
          <a:ln>
            <a:noFill/>
          </a:ln>
        </p:spPr>
        <p:txBody>
          <a:bodyPr spcFirstLastPara="1" wrap="square" lIns="91425" tIns="91425" rIns="91425" bIns="91425" anchor="t" anchorCtr="0">
            <a:noAutofit/>
          </a:bodyPr>
          <a:lstStyle>
            <a:lvl1pPr marL="457200" marR="0" lvl="0" indent="-342900" algn="l">
              <a:lnSpc>
                <a:spcPct val="90000"/>
              </a:lnSpc>
              <a:spcBef>
                <a:spcPts val="800"/>
              </a:spcBef>
              <a:spcAft>
                <a:spcPts val="0"/>
              </a:spcAft>
              <a:buClr>
                <a:schemeClr val="dk1"/>
              </a:buClr>
              <a:buSzPts val="1800"/>
              <a:buFont typeface="Arial"/>
              <a:buChar char="•"/>
              <a:defRPr sz="2667" b="0" i="0" u="none" strike="noStrike" cap="none">
                <a:solidFill>
                  <a:srgbClr val="00004C"/>
                </a:solidFill>
                <a:latin typeface="Arial"/>
                <a:ea typeface="Arial"/>
                <a:cs typeface="Arial"/>
                <a:sym typeface="Arial"/>
              </a:defRPr>
            </a:lvl1pPr>
            <a:lvl2pPr marL="914400" marR="0" lvl="1" indent="-330200" algn="l">
              <a:lnSpc>
                <a:spcPct val="90000"/>
              </a:lnSpc>
              <a:spcBef>
                <a:spcPts val="4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2pPr>
            <a:lvl3pPr marL="1371600" marR="0" lvl="2" indent="-317500" algn="l">
              <a:lnSpc>
                <a:spcPct val="90000"/>
              </a:lnSpc>
              <a:spcBef>
                <a:spcPts val="400"/>
              </a:spcBef>
              <a:spcAft>
                <a:spcPts val="0"/>
              </a:spcAft>
              <a:buClr>
                <a:schemeClr val="dk1"/>
              </a:buClr>
              <a:buSzPts val="1400"/>
              <a:buFont typeface="Arial"/>
              <a:buChar char="•"/>
              <a:defRPr sz="2133" b="0" i="0" u="none" strike="noStrike" cap="none">
                <a:solidFill>
                  <a:srgbClr val="00004C"/>
                </a:solidFill>
                <a:latin typeface="Arial"/>
                <a:ea typeface="Arial"/>
                <a:cs typeface="Arial"/>
                <a:sym typeface="Arial"/>
              </a:defRPr>
            </a:lvl3pPr>
            <a:lvl4pPr marL="1828800" marR="0" lvl="3"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4pPr>
            <a:lvl5pPr marL="2286000" marR="0" lvl="4"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5pPr>
            <a:lvl6pPr marL="2743200" marR="0" lvl="5"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6pPr>
            <a:lvl7pPr marL="3200400" marR="0" lvl="6"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7pPr>
            <a:lvl8pPr marL="3657600" marR="0" lvl="7"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8pPr>
            <a:lvl9pPr marL="4114800" marR="0" lvl="8"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9pPr>
          </a:lstStyle>
          <a:p>
            <a:endParaRPr dirty="0"/>
          </a:p>
        </p:txBody>
      </p:sp>
      <p:sp>
        <p:nvSpPr>
          <p:cNvPr id="58" name="Google Shape;58;p83"/>
          <p:cNvSpPr txBox="1">
            <a:spLocks noGrp="1"/>
          </p:cNvSpPr>
          <p:nvPr>
            <p:ph type="body" idx="2"/>
          </p:nvPr>
        </p:nvSpPr>
        <p:spPr>
          <a:xfrm>
            <a:off x="1363363" y="1582599"/>
            <a:ext cx="3098248" cy="4781253"/>
          </a:xfrm>
          <a:prstGeom prst="rect">
            <a:avLst/>
          </a:prstGeom>
          <a:noFill/>
          <a:ln>
            <a:noFill/>
          </a:ln>
        </p:spPr>
        <p:txBody>
          <a:bodyPr spcFirstLastPara="1" wrap="square" lIns="91425" tIns="91425" rIns="91425" bIns="91425" anchor="t" anchorCtr="0">
            <a:noAutofit/>
          </a:bodyPr>
          <a:lstStyle>
            <a:lvl1pPr marL="457200" marR="0" lvl="0" indent="-228600" algn="l">
              <a:lnSpc>
                <a:spcPct val="90000"/>
              </a:lnSpc>
              <a:spcBef>
                <a:spcPts val="800"/>
              </a:spcBef>
              <a:spcAft>
                <a:spcPts val="0"/>
              </a:spcAft>
              <a:buClr>
                <a:schemeClr val="dk1"/>
              </a:buClr>
              <a:buSzPts val="1600"/>
              <a:buFont typeface="Arial" panose="020B0604020202020204" pitchFamily="34" charset="0"/>
              <a:buChar char="•"/>
              <a:defRPr sz="1867" b="0"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067" b="0"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933" b="0"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9pPr>
          </a:lstStyle>
          <a:p>
            <a:endParaRPr dirty="0"/>
          </a:p>
        </p:txBody>
      </p:sp>
      <p:sp>
        <p:nvSpPr>
          <p:cNvPr id="92"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59"/>
        <p:cNvGrpSpPr/>
        <p:nvPr/>
      </p:nvGrpSpPr>
      <p:grpSpPr>
        <a:xfrm>
          <a:off x="0" y="0"/>
          <a:ext cx="0" cy="0"/>
          <a:chOff x="0" y="0"/>
          <a:chExt cx="0" cy="0"/>
        </a:xfrm>
      </p:grpSpPr>
      <p:sp>
        <p:nvSpPr>
          <p:cNvPr id="60" name="Google Shape;60;p84"/>
          <p:cNvSpPr txBox="1">
            <a:spLocks noGrp="1"/>
          </p:cNvSpPr>
          <p:nvPr>
            <p:ph type="title"/>
          </p:nvPr>
        </p:nvSpPr>
        <p:spPr>
          <a:xfrm>
            <a:off x="1723854" y="549275"/>
            <a:ext cx="9963493" cy="28528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a:p>
        </p:txBody>
      </p:sp>
      <p:sp>
        <p:nvSpPr>
          <p:cNvPr id="93"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p:cSld name="1_Title and Content 2">
    <p:spTree>
      <p:nvGrpSpPr>
        <p:cNvPr id="1" name="Shape 61"/>
        <p:cNvGrpSpPr/>
        <p:nvPr/>
      </p:nvGrpSpPr>
      <p:grpSpPr>
        <a:xfrm>
          <a:off x="0" y="0"/>
          <a:ext cx="0" cy="0"/>
          <a:chOff x="0" y="0"/>
          <a:chExt cx="0" cy="0"/>
        </a:xfrm>
      </p:grpSpPr>
      <p:sp>
        <p:nvSpPr>
          <p:cNvPr id="62" name="Google Shape;62;p85"/>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63" name="Google Shape;63;p85"/>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4" name="Google Shape;64;p85"/>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5" name="Google Shape;65;p85"/>
          <p:cNvSpPr txBox="1">
            <a:spLocks noGrp="1"/>
          </p:cNvSpPr>
          <p:nvPr>
            <p:ph type="title"/>
          </p:nvPr>
        </p:nvSpPr>
        <p:spPr>
          <a:xfrm>
            <a:off x="1510029" y="429225"/>
            <a:ext cx="10666596"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4"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86"/>
          <p:cNvSpPr txBox="1">
            <a:spLocks noGrp="1"/>
          </p:cNvSpPr>
          <p:nvPr>
            <p:ph type="body" idx="1"/>
          </p:nvPr>
        </p:nvSpPr>
        <p:spPr>
          <a:xfrm>
            <a:off x="1141622" y="1000540"/>
            <a:ext cx="4874101" cy="476800"/>
          </a:xfrm>
          <a:prstGeom prst="rect">
            <a:avLst/>
          </a:prstGeom>
          <a:noFill/>
          <a:ln>
            <a:noFill/>
          </a:ln>
        </p:spPr>
        <p:txBody>
          <a:bodyPr spcFirstLastPara="1" wrap="square" lIns="91425" tIns="91425" rIns="91425" bIns="91425" anchor="b" anchorCtr="0">
            <a:noAutofit/>
          </a:bodyPr>
          <a:lstStyle>
            <a:lvl1pPr marL="457200" marR="0" lvl="0" indent="-228600" algn="ctr">
              <a:lnSpc>
                <a:spcPct val="90000"/>
              </a:lnSpc>
              <a:spcBef>
                <a:spcPts val="800"/>
              </a:spcBef>
              <a:spcAft>
                <a:spcPts val="0"/>
              </a:spcAft>
              <a:buClr>
                <a:schemeClr val="dk1"/>
              </a:buClr>
              <a:buSzPts val="1600"/>
              <a:buFont typeface="Arial"/>
              <a:buNone/>
              <a:defRPr sz="2133" b="1"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467" b="1"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1333" b="1"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9pPr>
          </a:lstStyle>
          <a:p>
            <a:endParaRPr dirty="0"/>
          </a:p>
        </p:txBody>
      </p:sp>
      <p:sp>
        <p:nvSpPr>
          <p:cNvPr id="68" name="Google Shape;68;p86"/>
          <p:cNvSpPr txBox="1">
            <a:spLocks noGrp="1"/>
          </p:cNvSpPr>
          <p:nvPr>
            <p:ph type="body" idx="2"/>
          </p:nvPr>
        </p:nvSpPr>
        <p:spPr>
          <a:xfrm>
            <a:off x="1141621" y="1582321"/>
            <a:ext cx="4854344" cy="4826000"/>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1867" b="0" i="0" u="none" strike="noStrike" cap="none">
                <a:solidFill>
                  <a:srgbClr val="00004C"/>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6pPr>
            <a:lvl7pPr marL="3200400" marR="0" lvl="6"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Calibri"/>
                <a:ea typeface="Calibri"/>
                <a:cs typeface="Calibri"/>
                <a:sym typeface="Calibri"/>
              </a:defRPr>
            </a:lvl9pPr>
          </a:lstStyle>
          <a:p>
            <a:endParaRPr dirty="0"/>
          </a:p>
        </p:txBody>
      </p:sp>
      <p:sp>
        <p:nvSpPr>
          <p:cNvPr id="69" name="Google Shape;69;p86"/>
          <p:cNvSpPr txBox="1">
            <a:spLocks noGrp="1"/>
          </p:cNvSpPr>
          <p:nvPr>
            <p:ph type="body" idx="3"/>
          </p:nvPr>
        </p:nvSpPr>
        <p:spPr>
          <a:xfrm>
            <a:off x="6195272" y="1000540"/>
            <a:ext cx="5603200" cy="490000"/>
          </a:xfrm>
          <a:prstGeom prst="rect">
            <a:avLst/>
          </a:prstGeom>
          <a:noFill/>
          <a:ln>
            <a:noFill/>
          </a:ln>
        </p:spPr>
        <p:txBody>
          <a:bodyPr spcFirstLastPara="1" wrap="square" lIns="91425" tIns="91425" rIns="91425" bIns="91425" anchor="b" anchorCtr="0">
            <a:noAutofit/>
          </a:bodyPr>
          <a:lstStyle>
            <a:lvl1pPr marL="457200" marR="0" lvl="0" indent="-228600" algn="ctr">
              <a:lnSpc>
                <a:spcPct val="90000"/>
              </a:lnSpc>
              <a:spcBef>
                <a:spcPts val="800"/>
              </a:spcBef>
              <a:spcAft>
                <a:spcPts val="0"/>
              </a:spcAft>
              <a:buClr>
                <a:schemeClr val="dk1"/>
              </a:buClr>
              <a:buSzPts val="1600"/>
              <a:buFont typeface="Arial"/>
              <a:buNone/>
              <a:defRPr sz="2133" b="1"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467" b="1"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1333" b="1"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9pPr>
          </a:lstStyle>
          <a:p>
            <a:endParaRPr/>
          </a:p>
        </p:txBody>
      </p:sp>
      <p:sp>
        <p:nvSpPr>
          <p:cNvPr id="70" name="Google Shape;70;p86"/>
          <p:cNvSpPr txBox="1">
            <a:spLocks noGrp="1"/>
          </p:cNvSpPr>
          <p:nvPr>
            <p:ph type="body" idx="4"/>
          </p:nvPr>
        </p:nvSpPr>
        <p:spPr>
          <a:xfrm>
            <a:off x="6199877" y="1582323"/>
            <a:ext cx="5598400" cy="4826000"/>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1867" b="0" i="0" u="none" strike="noStrike" cap="none">
                <a:solidFill>
                  <a:srgbClr val="00004C"/>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6pPr>
            <a:lvl7pPr marL="3200400" marR="0" lvl="6"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Calibri"/>
                <a:ea typeface="Calibri"/>
                <a:cs typeface="Calibri"/>
                <a:sym typeface="Calibri"/>
              </a:defRPr>
            </a:lvl9pPr>
          </a:lstStyle>
          <a:p>
            <a:endParaRPr dirty="0"/>
          </a:p>
        </p:txBody>
      </p:sp>
      <p:cxnSp>
        <p:nvCxnSpPr>
          <p:cNvPr id="71" name="Google Shape;71;p86"/>
          <p:cNvCxnSpPr/>
          <p:nvPr/>
        </p:nvCxnSpPr>
        <p:spPr>
          <a:xfrm>
            <a:off x="1141622" y="974035"/>
            <a:ext cx="10830241" cy="0"/>
          </a:xfrm>
          <a:prstGeom prst="straightConnector1">
            <a:avLst/>
          </a:prstGeom>
          <a:noFill/>
          <a:ln w="9525" cap="flat" cmpd="sng">
            <a:solidFill>
              <a:srgbClr val="BFBFBF"/>
            </a:solidFill>
            <a:prstDash val="solid"/>
            <a:miter lim="0"/>
            <a:headEnd type="none" w="sm" len="sm"/>
            <a:tailEnd type="none" w="sm" len="sm"/>
          </a:ln>
        </p:spPr>
      </p:cxnSp>
      <p:cxnSp>
        <p:nvCxnSpPr>
          <p:cNvPr id="72" name="Google Shape;72;p86"/>
          <p:cNvCxnSpPr/>
          <p:nvPr/>
        </p:nvCxnSpPr>
        <p:spPr>
          <a:xfrm>
            <a:off x="6095137" y="974035"/>
            <a:ext cx="800" cy="5382400"/>
          </a:xfrm>
          <a:prstGeom prst="straightConnector1">
            <a:avLst/>
          </a:prstGeom>
          <a:noFill/>
          <a:ln w="9525" cap="flat" cmpd="sng">
            <a:solidFill>
              <a:srgbClr val="BFBFBF"/>
            </a:solidFill>
            <a:prstDash val="solid"/>
            <a:miter lim="0"/>
            <a:headEnd type="none" w="sm" len="sm"/>
            <a:tailEnd type="none" w="sm" len="sm"/>
          </a:ln>
        </p:spPr>
      </p:cxnSp>
      <p:cxnSp>
        <p:nvCxnSpPr>
          <p:cNvPr id="73" name="Google Shape;73;p86"/>
          <p:cNvCxnSpPr/>
          <p:nvPr/>
        </p:nvCxnSpPr>
        <p:spPr>
          <a:xfrm>
            <a:off x="1141621" y="1504121"/>
            <a:ext cx="10830240" cy="0"/>
          </a:xfrm>
          <a:prstGeom prst="straightConnector1">
            <a:avLst/>
          </a:prstGeom>
          <a:noFill/>
          <a:ln w="9525" cap="flat" cmpd="sng">
            <a:solidFill>
              <a:srgbClr val="BFBFBF"/>
            </a:solidFill>
            <a:prstDash val="solid"/>
            <a:miter lim="0"/>
            <a:headEnd type="none" w="sm" len="sm"/>
            <a:tailEnd type="none" w="sm" len="sm"/>
          </a:ln>
        </p:spPr>
      </p:cxnSp>
      <p:sp>
        <p:nvSpPr>
          <p:cNvPr id="74" name="Google Shape;74;p86"/>
          <p:cNvSpPr txBox="1">
            <a:spLocks noGrp="1"/>
          </p:cNvSpPr>
          <p:nvPr>
            <p:ph type="title"/>
          </p:nvPr>
        </p:nvSpPr>
        <p:spPr>
          <a:xfrm>
            <a:off x="1141621" y="326173"/>
            <a:ext cx="10656656" cy="641072"/>
          </a:xfrm>
          <a:prstGeom prst="rect">
            <a:avLst/>
          </a:prstGeom>
          <a:noFill/>
          <a:ln>
            <a:noFill/>
          </a:ln>
        </p:spPr>
        <p:txBody>
          <a:bodyPr spcFirstLastPara="1" wrap="square" lIns="91425" tIns="91425" rIns="91425" bIns="91425" anchor="ctr" anchorCtr="0">
            <a:noAutofit/>
          </a:bodyPr>
          <a:lstStyle>
            <a:lvl1pPr marR="0" lvl="0" algn="l">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5"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5"/>
        <p:cNvGrpSpPr/>
        <p:nvPr/>
      </p:nvGrpSpPr>
      <p:grpSpPr>
        <a:xfrm>
          <a:off x="0" y="0"/>
          <a:ext cx="0" cy="0"/>
          <a:chOff x="0" y="0"/>
          <a:chExt cx="0" cy="0"/>
        </a:xfrm>
      </p:grpSpPr>
      <p:sp>
        <p:nvSpPr>
          <p:cNvPr id="76" name="Google Shape;76;p87"/>
          <p:cNvSpPr txBox="1">
            <a:spLocks noGrp="1"/>
          </p:cNvSpPr>
          <p:nvPr>
            <p:ph type="title"/>
          </p:nvPr>
        </p:nvSpPr>
        <p:spPr>
          <a:xfrm>
            <a:off x="1301577" y="458775"/>
            <a:ext cx="10467243" cy="684225"/>
          </a:xfrm>
          <a:prstGeom prst="rect">
            <a:avLst/>
          </a:prstGeom>
          <a:noFill/>
          <a:ln>
            <a:noFill/>
          </a:ln>
        </p:spPr>
        <p:txBody>
          <a:bodyPr spcFirstLastPara="1" wrap="square" lIns="91425" tIns="91425" rIns="91425" bIns="91425" anchor="b" anchorCtr="0">
            <a:noAutofit/>
          </a:bodyPr>
          <a:lstStyle>
            <a:lvl1pPr marR="0" lvl="0" algn="l">
              <a:lnSpc>
                <a:spcPct val="90000"/>
              </a:lnSpc>
              <a:spcBef>
                <a:spcPts val="0"/>
              </a:spcBef>
              <a:spcAft>
                <a:spcPts val="0"/>
              </a:spcAft>
              <a:buClr>
                <a:schemeClr val="dk1"/>
              </a:buClr>
              <a:buSzPts val="1100"/>
              <a:buFont typeface="Arial"/>
              <a:buNone/>
              <a:defRPr sz="32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77" name="Google Shape;77;p87"/>
          <p:cNvSpPr>
            <a:spLocks noGrp="1"/>
          </p:cNvSpPr>
          <p:nvPr>
            <p:ph type="pic" idx="2"/>
          </p:nvPr>
        </p:nvSpPr>
        <p:spPr>
          <a:xfrm>
            <a:off x="4666821" y="1142999"/>
            <a:ext cx="7102000" cy="5256025"/>
          </a:xfrm>
          <a:prstGeom prst="rect">
            <a:avLst/>
          </a:prstGeom>
          <a:noFill/>
          <a:ln>
            <a:noFill/>
          </a:ln>
        </p:spPr>
        <p:txBody>
          <a:bodyPr/>
          <a:lstStyle/>
          <a:p>
            <a:endParaRPr/>
          </a:p>
        </p:txBody>
      </p:sp>
      <p:sp>
        <p:nvSpPr>
          <p:cNvPr id="78" name="Google Shape;78;p87"/>
          <p:cNvSpPr txBox="1">
            <a:spLocks noGrp="1"/>
          </p:cNvSpPr>
          <p:nvPr>
            <p:ph type="body" idx="1"/>
          </p:nvPr>
        </p:nvSpPr>
        <p:spPr>
          <a:xfrm>
            <a:off x="1301578" y="1142999"/>
            <a:ext cx="3061420" cy="5256226"/>
          </a:xfrm>
          <a:prstGeom prst="rect">
            <a:avLst/>
          </a:prstGeom>
          <a:noFill/>
          <a:ln>
            <a:noFill/>
          </a:ln>
        </p:spPr>
        <p:txBody>
          <a:bodyPr spcFirstLastPara="1" wrap="square" lIns="91425" tIns="91425" rIns="91425" bIns="91425" anchor="t" anchorCtr="0">
            <a:noAutofit/>
          </a:bodyPr>
          <a:lstStyle>
            <a:lvl1pPr marL="457200" lvl="0" indent="-330200" algn="l">
              <a:lnSpc>
                <a:spcPct val="90000"/>
              </a:lnSpc>
              <a:spcBef>
                <a:spcPts val="600"/>
              </a:spcBef>
              <a:spcAft>
                <a:spcPts val="0"/>
              </a:spcAft>
              <a:buSzPts val="1600"/>
              <a:buChar char="•"/>
              <a:defRPr sz="1867">
                <a:solidFill>
                  <a:srgbClr val="00004C"/>
                </a:solidFill>
                <a:latin typeface="Arial"/>
                <a:ea typeface="Arial"/>
                <a:cs typeface="Arial"/>
                <a:sym typeface="Arial"/>
              </a:defRPr>
            </a:lvl1pPr>
            <a:lvl2pPr marL="914400" lvl="1" indent="-317500" algn="l">
              <a:lnSpc>
                <a:spcPct val="90000"/>
              </a:lnSpc>
              <a:spcBef>
                <a:spcPts val="300"/>
              </a:spcBef>
              <a:spcAft>
                <a:spcPts val="0"/>
              </a:spcAft>
              <a:buSzPts val="1400"/>
              <a:buChar char="•"/>
              <a:defRPr/>
            </a:lvl2pPr>
            <a:lvl3pPr marL="1371600" lvl="2" indent="-298450" algn="l">
              <a:lnSpc>
                <a:spcPct val="90000"/>
              </a:lnSpc>
              <a:spcBef>
                <a:spcPts val="300"/>
              </a:spcBef>
              <a:spcAft>
                <a:spcPts val="0"/>
              </a:spcAft>
              <a:buSzPts val="1100"/>
              <a:buChar char="•"/>
              <a:defRPr/>
            </a:lvl3pPr>
            <a:lvl4pPr marL="1828800" lvl="3" indent="-292100" algn="l">
              <a:lnSpc>
                <a:spcPct val="90000"/>
              </a:lnSpc>
              <a:spcBef>
                <a:spcPts val="300"/>
              </a:spcBef>
              <a:spcAft>
                <a:spcPts val="0"/>
              </a:spcAft>
              <a:buSzPts val="1000"/>
              <a:buChar char="•"/>
              <a:defRPr/>
            </a:lvl4pPr>
            <a:lvl5pPr marL="2286000" lvl="4" indent="-292100" algn="l">
              <a:lnSpc>
                <a:spcPct val="90000"/>
              </a:lnSpc>
              <a:spcBef>
                <a:spcPts val="300"/>
              </a:spcBef>
              <a:spcAft>
                <a:spcPts val="0"/>
              </a:spcAft>
              <a:buSzPts val="1000"/>
              <a:buChar char="•"/>
              <a:defRPr/>
            </a:lvl5pPr>
            <a:lvl6pPr marL="2743200" lvl="5" indent="-292100" algn="l">
              <a:lnSpc>
                <a:spcPct val="90000"/>
              </a:lnSpc>
              <a:spcBef>
                <a:spcPts val="300"/>
              </a:spcBef>
              <a:spcAft>
                <a:spcPts val="0"/>
              </a:spcAft>
              <a:buSzPts val="1000"/>
              <a:buChar char="•"/>
              <a:defRPr/>
            </a:lvl6pPr>
            <a:lvl7pPr marL="3200400" lvl="6" indent="-292100" algn="l">
              <a:lnSpc>
                <a:spcPct val="90000"/>
              </a:lnSpc>
              <a:spcBef>
                <a:spcPts val="300"/>
              </a:spcBef>
              <a:spcAft>
                <a:spcPts val="0"/>
              </a:spcAft>
              <a:buSzPts val="1000"/>
              <a:buChar char="•"/>
              <a:defRPr/>
            </a:lvl7pPr>
            <a:lvl8pPr marL="3657600" lvl="7" indent="-292100" algn="l">
              <a:lnSpc>
                <a:spcPct val="90000"/>
              </a:lnSpc>
              <a:spcBef>
                <a:spcPts val="300"/>
              </a:spcBef>
              <a:spcAft>
                <a:spcPts val="0"/>
              </a:spcAft>
              <a:buSzPts val="1000"/>
              <a:buChar char="•"/>
              <a:defRPr/>
            </a:lvl8pPr>
            <a:lvl9pPr marL="4114800" lvl="8" indent="-292100" algn="l">
              <a:lnSpc>
                <a:spcPct val="90000"/>
              </a:lnSpc>
              <a:spcBef>
                <a:spcPts val="300"/>
              </a:spcBef>
              <a:spcAft>
                <a:spcPts val="0"/>
              </a:spcAft>
              <a:buSzPts val="1000"/>
              <a:buChar char="•"/>
              <a:defRPr/>
            </a:lvl9pPr>
          </a:lstStyle>
          <a:p>
            <a:endParaRPr/>
          </a:p>
        </p:txBody>
      </p:sp>
      <p:sp>
        <p:nvSpPr>
          <p:cNvPr id="96"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1_Title Slide">
  <p:cSld name="11_Title Slide">
    <p:spTree>
      <p:nvGrpSpPr>
        <p:cNvPr id="1" name="Shape 79"/>
        <p:cNvGrpSpPr/>
        <p:nvPr/>
      </p:nvGrpSpPr>
      <p:grpSpPr>
        <a:xfrm>
          <a:off x="0" y="0"/>
          <a:ext cx="0" cy="0"/>
          <a:chOff x="0" y="0"/>
          <a:chExt cx="0" cy="0"/>
        </a:xfrm>
      </p:grpSpPr>
      <p:sp>
        <p:nvSpPr>
          <p:cNvPr id="80" name="Google Shape;80;p88"/>
          <p:cNvSpPr txBox="1">
            <a:spLocks noGrp="1"/>
          </p:cNvSpPr>
          <p:nvPr>
            <p:ph type="sldNum" idx="12"/>
          </p:nvPr>
        </p:nvSpPr>
        <p:spPr>
          <a:xfrm>
            <a:off x="8737600" y="6356351"/>
            <a:ext cx="2844800" cy="3652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81"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ster Use">
  <p:cSld name="Master Use">
    <p:spTree>
      <p:nvGrpSpPr>
        <p:cNvPr id="1" name="Shape 82"/>
        <p:cNvGrpSpPr/>
        <p:nvPr/>
      </p:nvGrpSpPr>
      <p:grpSpPr>
        <a:xfrm>
          <a:off x="0" y="0"/>
          <a:ext cx="0" cy="0"/>
          <a:chOff x="0" y="0"/>
          <a:chExt cx="0" cy="0"/>
        </a:xfrm>
      </p:grpSpPr>
      <p:sp>
        <p:nvSpPr>
          <p:cNvPr id="83" name="Google Shape;83;p89"/>
          <p:cNvSpPr txBox="1">
            <a:spLocks noGrp="1"/>
          </p:cNvSpPr>
          <p:nvPr>
            <p:ph type="title"/>
          </p:nvPr>
        </p:nvSpPr>
        <p:spPr>
          <a:xfrm>
            <a:off x="1278542" y="429225"/>
            <a:ext cx="10898083"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7"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ontent">
  <p:cSld name="1_Title and Content 3">
    <p:spTree>
      <p:nvGrpSpPr>
        <p:cNvPr id="1" name="Shape 84"/>
        <p:cNvGrpSpPr/>
        <p:nvPr/>
      </p:nvGrpSpPr>
      <p:grpSpPr>
        <a:xfrm>
          <a:off x="0" y="0"/>
          <a:ext cx="0" cy="0"/>
          <a:chOff x="0" y="0"/>
          <a:chExt cx="0" cy="0"/>
        </a:xfrm>
      </p:grpSpPr>
      <p:sp>
        <p:nvSpPr>
          <p:cNvPr id="85" name="Google Shape;85;p90"/>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86" name="Google Shape;86;p90"/>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87" name="Google Shape;87;p90"/>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88" name="Google Shape;88;p90"/>
          <p:cNvSpPr txBox="1">
            <a:spLocks noGrp="1"/>
          </p:cNvSpPr>
          <p:nvPr>
            <p:ph type="title"/>
          </p:nvPr>
        </p:nvSpPr>
        <p:spPr>
          <a:xfrm>
            <a:off x="1510029" y="429225"/>
            <a:ext cx="10666596"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8"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 Id="rId14" Type="http://schemas.openxmlformats.org/officeDocument/2006/relationships/image" Target="../media/image2.png"/><Relationship Id="rId15"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78"/>
          <p:cNvSpPr/>
          <p:nvPr/>
        </p:nvSpPr>
        <p:spPr>
          <a:xfrm>
            <a:off x="-1" y="-20168"/>
            <a:ext cx="12192000" cy="263700"/>
          </a:xfrm>
          <a:prstGeom prst="rect">
            <a:avLst/>
          </a:prstGeom>
          <a:solidFill>
            <a:schemeClr val="dk1"/>
          </a:solidFill>
          <a:ln>
            <a:noFill/>
          </a:ln>
          <a:effectLst>
            <a:outerShdw blurRad="40000" dist="20000" dir="5400000" rotWithShape="0">
              <a:srgbClr val="000000">
                <a:alpha val="3803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11" name="Google Shape;11;p78"/>
          <p:cNvSpPr/>
          <p:nvPr/>
        </p:nvSpPr>
        <p:spPr>
          <a:xfrm>
            <a:off x="1" y="243443"/>
            <a:ext cx="1128108" cy="6614557"/>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12" name="Google Shape;12;p78"/>
          <p:cNvSpPr txBox="1">
            <a:spLocks noGrp="1"/>
          </p:cNvSpPr>
          <p:nvPr>
            <p:ph type="title"/>
          </p:nvPr>
        </p:nvSpPr>
        <p:spPr>
          <a:xfrm>
            <a:off x="1189403" y="646322"/>
            <a:ext cx="10682000" cy="579876"/>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rgbClr val="000000"/>
              </a:buClr>
              <a:buSzPts val="1100"/>
              <a:buFont typeface="Arial"/>
              <a:buNone/>
              <a:defRPr sz="1600" b="1"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13" name="Google Shape;13;p78"/>
          <p:cNvSpPr txBox="1">
            <a:spLocks noGrp="1"/>
          </p:cNvSpPr>
          <p:nvPr>
            <p:ph type="body" idx="1"/>
          </p:nvPr>
        </p:nvSpPr>
        <p:spPr>
          <a:xfrm>
            <a:off x="1189401" y="1384879"/>
            <a:ext cx="10682000" cy="4858013"/>
          </a:xfrm>
          <a:prstGeom prst="rect">
            <a:avLst/>
          </a:prstGeom>
          <a:noFill/>
          <a:ln>
            <a:noFill/>
          </a:ln>
        </p:spPr>
        <p:txBody>
          <a:bodyPr spcFirstLastPara="1" wrap="square" lIns="91425" tIns="91425" rIns="91425" bIns="91425" anchor="t" anchorCtr="0">
            <a:noAutofit/>
          </a:bodyPr>
          <a:lstStyle>
            <a:lvl1pPr marL="457200" marR="0" lvl="0" indent="-330200" algn="l" rtl="0">
              <a:lnSpc>
                <a:spcPct val="90000"/>
              </a:lnSpc>
              <a:spcBef>
                <a:spcPts val="600"/>
              </a:spcBef>
              <a:spcAft>
                <a:spcPts val="0"/>
              </a:spcAft>
              <a:buClr>
                <a:srgbClr val="000000"/>
              </a:buClr>
              <a:buSzPts val="1600"/>
              <a:buFont typeface="Arial"/>
              <a:buChar char="•"/>
              <a:defRPr sz="1600" b="0" i="0" u="none" strike="noStrike" cap="none">
                <a:solidFill>
                  <a:srgbClr val="000000"/>
                </a:solidFill>
                <a:latin typeface="Arial"/>
                <a:ea typeface="Arial"/>
                <a:cs typeface="Arial"/>
                <a:sym typeface="Arial"/>
              </a:defRPr>
            </a:lvl1pPr>
            <a:lvl2pPr marL="914400" marR="0" lvl="1" indent="-317500" algn="l" rtl="0">
              <a:lnSpc>
                <a:spcPct val="90000"/>
              </a:lnSpc>
              <a:spcBef>
                <a:spcPts val="300"/>
              </a:spcBef>
              <a:spcAft>
                <a:spcPts val="0"/>
              </a:spcAft>
              <a:buClr>
                <a:srgbClr val="000000"/>
              </a:buClr>
              <a:buSzPts val="1400"/>
              <a:buFont typeface="Arial"/>
              <a:buChar char="•"/>
              <a:defRPr sz="1400" b="0" i="0" u="none" strike="noStrike" cap="none">
                <a:solidFill>
                  <a:srgbClr val="000000"/>
                </a:solidFill>
                <a:latin typeface="Arial"/>
                <a:ea typeface="Arial"/>
                <a:cs typeface="Arial"/>
                <a:sym typeface="Arial"/>
              </a:defRPr>
            </a:lvl2pPr>
            <a:lvl3pPr marL="1371600" marR="0" lvl="2" indent="-298450" algn="l" rtl="0">
              <a:lnSpc>
                <a:spcPct val="90000"/>
              </a:lnSpc>
              <a:spcBef>
                <a:spcPts val="30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4pPr>
            <a:lvl5pPr marL="2286000" marR="0" lvl="4"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5pPr>
            <a:lvl6pPr marL="2743200" marR="0" lvl="5"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6pPr>
            <a:lvl7pPr marL="3200400" marR="0" lvl="6"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7pPr>
            <a:lvl8pPr marL="3657600" marR="0" lvl="7"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8pPr>
            <a:lvl9pPr marL="4114800" marR="0" lvl="8"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9pPr>
          </a:lstStyle>
          <a:p>
            <a:endParaRPr/>
          </a:p>
        </p:txBody>
      </p:sp>
      <p:sp>
        <p:nvSpPr>
          <p:cNvPr id="14" name="Google Shape;14;p78"/>
          <p:cNvSpPr txBox="1">
            <a:spLocks noGrp="1"/>
          </p:cNvSpPr>
          <p:nvPr>
            <p:ph type="sldNum" idx="12"/>
          </p:nvPr>
        </p:nvSpPr>
        <p:spPr>
          <a:xfrm>
            <a:off x="10058399" y="6641435"/>
            <a:ext cx="2133600" cy="2248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5" name="Google Shape;15;p78"/>
          <p:cNvSpPr/>
          <p:nvPr/>
        </p:nvSpPr>
        <p:spPr>
          <a:xfrm>
            <a:off x="-2" y="6594389"/>
            <a:ext cx="12191999" cy="263611"/>
          </a:xfrm>
          <a:prstGeom prst="rect">
            <a:avLst/>
          </a:prstGeom>
          <a:solidFill>
            <a:schemeClr val="dk1"/>
          </a:solidFill>
          <a:ln>
            <a:noFill/>
          </a:ln>
          <a:effectLst>
            <a:outerShdw blurRad="40000" dist="20000" dir="5400000" rotWithShape="0">
              <a:srgbClr val="000000">
                <a:alpha val="3803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grpSp>
        <p:nvGrpSpPr>
          <p:cNvPr id="16" name="Google Shape;16;p78"/>
          <p:cNvGrpSpPr/>
          <p:nvPr/>
        </p:nvGrpSpPr>
        <p:grpSpPr>
          <a:xfrm>
            <a:off x="254537" y="37012"/>
            <a:ext cx="4123292" cy="140365"/>
            <a:chOff x="5526083" y="4992009"/>
            <a:chExt cx="3092469" cy="105274"/>
          </a:xfrm>
        </p:grpSpPr>
        <p:sp>
          <p:nvSpPr>
            <p:cNvPr id="17" name="Google Shape;17;p78"/>
            <p:cNvSpPr/>
            <p:nvPr/>
          </p:nvSpPr>
          <p:spPr>
            <a:xfrm>
              <a:off x="833915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8" name="Google Shape;18;p78"/>
            <p:cNvSpPr/>
            <p:nvPr/>
          </p:nvSpPr>
          <p:spPr>
            <a:xfrm>
              <a:off x="8059751"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9" name="Google Shape;19;p78"/>
            <p:cNvSpPr/>
            <p:nvPr/>
          </p:nvSpPr>
          <p:spPr>
            <a:xfrm>
              <a:off x="7773998"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0" name="Google Shape;20;p78"/>
            <p:cNvSpPr/>
            <p:nvPr/>
          </p:nvSpPr>
          <p:spPr>
            <a:xfrm>
              <a:off x="749459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1" name="Google Shape;21;p78"/>
            <p:cNvSpPr/>
            <p:nvPr/>
          </p:nvSpPr>
          <p:spPr>
            <a:xfrm>
              <a:off x="7215195"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2" name="Google Shape;22;p78"/>
            <p:cNvSpPr/>
            <p:nvPr/>
          </p:nvSpPr>
          <p:spPr>
            <a:xfrm>
              <a:off x="692944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3" name="Google Shape;23;p78"/>
            <p:cNvSpPr/>
            <p:nvPr/>
          </p:nvSpPr>
          <p:spPr>
            <a:xfrm>
              <a:off x="6650040"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4" name="Google Shape;24;p78"/>
            <p:cNvSpPr/>
            <p:nvPr/>
          </p:nvSpPr>
          <p:spPr>
            <a:xfrm>
              <a:off x="6370639"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5" name="Google Shape;25;p78"/>
            <p:cNvSpPr/>
            <p:nvPr/>
          </p:nvSpPr>
          <p:spPr>
            <a:xfrm>
              <a:off x="608488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6" name="Google Shape;26;p78"/>
            <p:cNvSpPr/>
            <p:nvPr/>
          </p:nvSpPr>
          <p:spPr>
            <a:xfrm>
              <a:off x="5805484"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7" name="Google Shape;27;p78"/>
            <p:cNvSpPr/>
            <p:nvPr/>
          </p:nvSpPr>
          <p:spPr>
            <a:xfrm>
              <a:off x="5526083"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grpSp>
      <p:sp>
        <p:nvSpPr>
          <p:cNvPr id="28" name="Google Shape;28;p78"/>
          <p:cNvSpPr txBox="1"/>
          <p:nvPr/>
        </p:nvSpPr>
        <p:spPr>
          <a:xfrm flipH="1">
            <a:off x="1043632" y="6366806"/>
            <a:ext cx="4211863" cy="22158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1" i="0" u="none" strike="noStrike" cap="none">
                <a:solidFill>
                  <a:srgbClr val="00B050"/>
                </a:solidFill>
                <a:latin typeface="Arial"/>
                <a:ea typeface="Arial"/>
                <a:cs typeface="Arial"/>
                <a:sym typeface="Arial"/>
              </a:rPr>
              <a:t>UNCLASSIFIED</a:t>
            </a:r>
            <a:endParaRPr sz="1400" b="0" i="0" u="none" strike="noStrike" cap="none">
              <a:solidFill>
                <a:srgbClr val="000000"/>
              </a:solidFill>
              <a:latin typeface="Arial"/>
              <a:ea typeface="Arial"/>
              <a:cs typeface="Arial"/>
              <a:sym typeface="Arial"/>
            </a:endParaRPr>
          </a:p>
        </p:txBody>
      </p:sp>
      <p:sp>
        <p:nvSpPr>
          <p:cNvPr id="29" name="Google Shape;29;p78"/>
          <p:cNvSpPr txBox="1"/>
          <p:nvPr/>
        </p:nvSpPr>
        <p:spPr>
          <a:xfrm>
            <a:off x="5482963" y="207088"/>
            <a:ext cx="6767512" cy="212103"/>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000000"/>
              </a:buClr>
              <a:buSzPts val="1200"/>
              <a:buFont typeface="Arial"/>
              <a:buNone/>
            </a:pPr>
            <a:r>
              <a:rPr lang="en-US" sz="1200" b="1" i="0" u="none" strike="noStrike" cap="none">
                <a:solidFill>
                  <a:srgbClr val="00B050"/>
                </a:solidFill>
                <a:latin typeface="Arial"/>
                <a:ea typeface="Arial"/>
                <a:cs typeface="Arial"/>
                <a:sym typeface="Arial"/>
              </a:rPr>
              <a:t>UNCLASSIFIED</a:t>
            </a:r>
            <a:endParaRPr sz="1400" b="0" i="0" u="none" strike="noStrike" cap="none">
              <a:solidFill>
                <a:srgbClr val="000000"/>
              </a:solidFill>
              <a:latin typeface="Arial"/>
              <a:ea typeface="Arial"/>
              <a:cs typeface="Arial"/>
              <a:sym typeface="Arial"/>
            </a:endParaRPr>
          </a:p>
        </p:txBody>
      </p:sp>
      <p:pic>
        <p:nvPicPr>
          <p:cNvPr id="30" name="Google Shape;30;p78"/>
          <p:cNvPicPr preferRelativeResize="0"/>
          <p:nvPr/>
        </p:nvPicPr>
        <p:blipFill rotWithShape="1">
          <a:blip r:embed="rId13">
            <a:alphaModFix/>
          </a:blip>
          <a:srcRect/>
          <a:stretch/>
        </p:blipFill>
        <p:spPr>
          <a:xfrm rot="-5400000">
            <a:off x="-2150855" y="3445521"/>
            <a:ext cx="5429815" cy="991170"/>
          </a:xfrm>
          <a:prstGeom prst="rect">
            <a:avLst/>
          </a:prstGeom>
          <a:noFill/>
          <a:ln>
            <a:noFill/>
          </a:ln>
        </p:spPr>
      </p:pic>
      <p:grpSp>
        <p:nvGrpSpPr>
          <p:cNvPr id="31" name="Google Shape;31;p78"/>
          <p:cNvGrpSpPr/>
          <p:nvPr/>
        </p:nvGrpSpPr>
        <p:grpSpPr>
          <a:xfrm>
            <a:off x="7996753" y="6659805"/>
            <a:ext cx="4123292" cy="140365"/>
            <a:chOff x="5526083" y="4992009"/>
            <a:chExt cx="3092469" cy="105274"/>
          </a:xfrm>
        </p:grpSpPr>
        <p:sp>
          <p:nvSpPr>
            <p:cNvPr id="32" name="Google Shape;32;p78"/>
            <p:cNvSpPr/>
            <p:nvPr/>
          </p:nvSpPr>
          <p:spPr>
            <a:xfrm>
              <a:off x="833915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3" name="Google Shape;33;p78"/>
            <p:cNvSpPr/>
            <p:nvPr/>
          </p:nvSpPr>
          <p:spPr>
            <a:xfrm>
              <a:off x="8059751"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4" name="Google Shape;34;p78"/>
            <p:cNvSpPr/>
            <p:nvPr/>
          </p:nvSpPr>
          <p:spPr>
            <a:xfrm>
              <a:off x="7773998"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5" name="Google Shape;35;p78"/>
            <p:cNvSpPr/>
            <p:nvPr/>
          </p:nvSpPr>
          <p:spPr>
            <a:xfrm>
              <a:off x="749459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6" name="Google Shape;36;p78"/>
            <p:cNvSpPr/>
            <p:nvPr/>
          </p:nvSpPr>
          <p:spPr>
            <a:xfrm>
              <a:off x="7215195"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7" name="Google Shape;37;p78"/>
            <p:cNvSpPr/>
            <p:nvPr/>
          </p:nvSpPr>
          <p:spPr>
            <a:xfrm>
              <a:off x="692944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8" name="Google Shape;38;p78"/>
            <p:cNvSpPr/>
            <p:nvPr/>
          </p:nvSpPr>
          <p:spPr>
            <a:xfrm>
              <a:off x="6650040"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9" name="Google Shape;39;p78"/>
            <p:cNvSpPr/>
            <p:nvPr/>
          </p:nvSpPr>
          <p:spPr>
            <a:xfrm>
              <a:off x="6370639"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0" name="Google Shape;40;p78"/>
            <p:cNvSpPr/>
            <p:nvPr/>
          </p:nvSpPr>
          <p:spPr>
            <a:xfrm>
              <a:off x="608488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1" name="Google Shape;41;p78"/>
            <p:cNvSpPr/>
            <p:nvPr/>
          </p:nvSpPr>
          <p:spPr>
            <a:xfrm>
              <a:off x="5805484"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2" name="Google Shape;42;p78"/>
            <p:cNvSpPr/>
            <p:nvPr/>
          </p:nvSpPr>
          <p:spPr>
            <a:xfrm>
              <a:off x="5526083"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grpSp>
      <p:pic>
        <p:nvPicPr>
          <p:cNvPr id="43" name="Google Shape;43;p78" title="ACTEC_Logo_v2_Circle.png"/>
          <p:cNvPicPr preferRelativeResize="0"/>
          <p:nvPr/>
        </p:nvPicPr>
        <p:blipFill>
          <a:blip r:embed="rId14">
            <a:alphaModFix/>
          </a:blip>
          <a:stretch>
            <a:fillRect/>
          </a:stretch>
        </p:blipFill>
        <p:spPr>
          <a:xfrm>
            <a:off x="-118447" y="193555"/>
            <a:ext cx="1307427" cy="1010281"/>
          </a:xfrm>
          <a:prstGeom prst="rect">
            <a:avLst/>
          </a:prstGeom>
          <a:noFill/>
          <a:ln>
            <a:noFill/>
          </a:ln>
        </p:spPr>
      </p:pic>
      <p:pic>
        <p:nvPicPr>
          <p:cNvPr id="44" name="Google Shape;44;p78"/>
          <p:cNvPicPr preferRelativeResize="0"/>
          <p:nvPr/>
        </p:nvPicPr>
        <p:blipFill rotWithShape="1">
          <a:blip r:embed="rId15">
            <a:alphaModFix/>
          </a:blip>
          <a:srcRect/>
          <a:stretch/>
        </p:blipFill>
        <p:spPr>
          <a:xfrm>
            <a:off x="70930" y="1270922"/>
            <a:ext cx="928675" cy="92867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normAutofit/>
          </a:bodyPr>
          <a:lstStyle/>
          <a:p>
            <a:pPr/>
            <a:r>
              <a:rPr sz="4400"/>
              <a:t>Persistent Effects and Handoff</a:t>
            </a:r>
          </a:p>
        </p:txBody>
      </p:sp>
      <p:sp>
        <p:nvSpPr>
          <p:cNvPr id="3"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200"/>
              <a:t>Yesterday We Denied and Deceived — Today We Survey and Hand Off</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300"/>
              <a:t>Local effects (</a:t>
            </a:r>
            <a:r>
              <a:rPr b="1" sz="1300"/>
              <a:t>degrade / disrupt / deny</a:t>
            </a:r>
            <a:r>
              <a:rPr sz="1300"/>
              <a:t> collection and </a:t>
            </a:r>
            <a:r>
              <a:rPr b="1" sz="1300"/>
              <a:t>deceive / manipulate</a:t>
            </a:r>
            <a:r>
              <a:rPr sz="1300"/>
              <a:t> analysis) </a:t>
            </a:r>
            <a:r>
              <a:rPr b="1" sz="1300"/>
              <a:t>stop at the edge of the adversary stack</a:t>
            </a:r>
          </a:p>
          <a:p>
            <a:pPr/>
            <a:r>
              <a:rPr sz="1300"/>
              <a:t>Extending effects (</a:t>
            </a:r>
            <a:r>
              <a:rPr b="1" sz="1300"/>
              <a:t>reconnoiter</a:t>
            </a:r>
            <a:r>
              <a:rPr sz="1300"/>
              <a:t> via survey methods, then </a:t>
            </a:r>
            <a:r>
              <a:rPr b="1" sz="1300"/>
              <a:t>handoff</a:t>
            </a:r>
            <a:r>
              <a:rPr sz="1300"/>
              <a:t>) </a:t>
            </a:r>
            <a:r>
              <a:rPr b="1" sz="1300"/>
              <a:t>reach past the adversary stack</a:t>
            </a:r>
            <a:r>
              <a:rPr sz="1300"/>
              <a:t> to collect technical and behavioral data, then pass action-ready context to partner teams</a:t>
            </a:r>
          </a:p>
          <a:p>
            <a:pPr/>
            <a:r>
              <a:rPr sz="1300"/>
              <a:t>These are the effects CPT commanders most care about because they generate options for pursuit</a:t>
            </a:r>
          </a:p>
          <a:p>
            <a:pPr/>
            <a:r>
              <a:rPr sz="1300"/>
              <a:t>They also demand the highest documentation discipline because another team may execute based on what you report</a:t>
            </a:r>
          </a:p>
        </p:txBody>
      </p:sp>
      <p:pic>
        <p:nvPicPr>
          <p:cNvPr id="5" name="Picture 4" descr="6190d9228bd9f79078824bbfb718ec85274cc7c046583932694bf8badc179831.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Situational Awareness Package from Prior Survey</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200"/>
              <a:t>Initial access work from last week already produced a first-pass awareness picture; today we package that picture for partner action</a:t>
            </a:r>
          </a:p>
          <a:p>
            <a:pPr/>
            <a:r>
              <a:rPr sz="1200"/>
              <a:t>Organize existing survey-derived observations into four buckets:</a:t>
            </a:r>
          </a:p>
          <a:p>
            <a:pPr lvl="1"/>
            <a:r>
              <a:rPr b="1" sz="1200"/>
              <a:t>Technical state</a:t>
            </a:r>
            <a:r>
              <a:rPr sz="1200"/>
              <a:t> — host, user, process, service, and network facts from the current foothold</a:t>
            </a:r>
          </a:p>
          <a:p>
            <a:pPr lvl="1"/>
            <a:r>
              <a:rPr b="1" sz="1200"/>
              <a:t>Behavioral indicators</a:t>
            </a:r>
            <a:r>
              <a:rPr sz="1200"/>
              <a:t> — cadence, handling patterns, and likely next adversary action</a:t>
            </a:r>
          </a:p>
          <a:p>
            <a:pPr lvl="1"/>
            <a:r>
              <a:rPr b="1" sz="1200"/>
              <a:t>Attribution and tracking support</a:t>
            </a:r>
            <a:r>
              <a:rPr sz="1200"/>
              <a:t> — infrastructure, timing, and routing clues that support "who is handling this" and "from where"</a:t>
            </a:r>
          </a:p>
          <a:p>
            <a:pPr lvl="1"/>
            <a:r>
              <a:rPr b="1" sz="1200"/>
              <a:t>Expansion leads</a:t>
            </a:r>
            <a:r>
              <a:rPr sz="1200"/>
              <a:t> — additional systems, users, services, or workflows revealed by current access</a:t>
            </a:r>
          </a:p>
          <a:p>
            <a:pPr/>
            <a:r>
              <a:rPr sz="1200"/>
              <a:t>This package is the baseline for handoff quality: if these four buckets are weak, partner teams must re-discover before they can execute</a:t>
            </a:r>
          </a:p>
          <a:p>
            <a:pPr/>
            <a:r>
              <a:rPr sz="1200"/>
              <a:t>Effect framing remains </a:t>
            </a:r>
            <a:r>
              <a:rPr b="1" sz="1200"/>
              <a:t>reconnoiter</a:t>
            </a:r>
            <a:r>
              <a:rPr sz="1200"/>
              <a:t>; operational product is an actionable </a:t>
            </a:r>
            <a:r>
              <a:rPr b="1" sz="1200"/>
              <a:t>Access Guide</a:t>
            </a:r>
            <a:r>
              <a:rPr sz="1200"/>
              <a:t> baseline</a:t>
            </a:r>
          </a:p>
        </p:txBody>
      </p:sp>
      <p:pic>
        <p:nvPicPr>
          <p:cNvPr id="5" name="Picture 4" descr="658005dc551dce74b81b77df54f94f11322f939cf85074d2e8a46380763cada1.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Additional Collection for Handoff Decisions and Success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200"/>
              <a:t>Once baseline awareness is organized, collect only what closes partner decision gaps or handoff execution gaps</a:t>
            </a:r>
          </a:p>
          <a:p>
            <a:pPr/>
            <a:r>
              <a:rPr sz="1200"/>
              <a:t>Two common additional-collection paths before/with handoff:</a:t>
            </a:r>
          </a:p>
          <a:p>
            <a:pPr lvl="1"/>
            <a:r>
              <a:rPr b="1" sz="1200"/>
              <a:t>Targeted scanning/enumeration from current foothold</a:t>
            </a:r>
            <a:r>
              <a:rPr sz="1200"/>
              <a:t> — gather missing validation on adjacent hosts, exposed services, user paths, and callback feasibility</a:t>
            </a:r>
          </a:p>
          <a:p>
            <a:pPr lvl="1"/>
            <a:r>
              <a:rPr b="1" sz="1200"/>
              <a:t>Pipeline plant (optional, informed)</a:t>
            </a:r>
            <a:r>
              <a:rPr sz="1200"/>
              <a:t> — introduce a controlled plant in a known adversary workflow when you need higher-confidence interaction evidence or persistent partner positioning</a:t>
            </a:r>
          </a:p>
          <a:p>
            <a:pPr/>
            <a:r>
              <a:rPr sz="1200"/>
              <a:t>Selection logic:</a:t>
            </a:r>
          </a:p>
          <a:p>
            <a:pPr lvl="1"/>
            <a:r>
              <a:rPr sz="1200"/>
              <a:t>Use additional scanning when the gap is coverage, reachability, or technical validation</a:t>
            </a:r>
          </a:p>
          <a:p>
            <a:pPr lvl="1"/>
            <a:r>
              <a:rPr sz="1200"/>
              <a:t>Use a pipeline plant when the gap is workflow understanding, adversary handling confirmation, or partner persistence requirements</a:t>
            </a:r>
          </a:p>
          <a:p>
            <a:pPr lvl="1"/>
            <a:r>
              <a:rPr sz="1200"/>
              <a:t>Record purpose, expected evidence, and risk in the Access Guide before execution</a:t>
            </a:r>
          </a:p>
          <a:p>
            <a:pPr/>
            <a:r>
              <a:rPr sz="1200"/>
              <a:t>Poor handoff prep is collecting "more data" without a stated partner decision it supports</a:t>
            </a:r>
          </a:p>
        </p:txBody>
      </p:sp>
      <p:pic>
        <p:nvPicPr>
          <p:cNvPr id="5" name="Picture 4" descr="e3ca983aee27698e374a8c9ab80987b0ab62e7f16e148b07c28131be48568be1.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What "Handoff" Means in Cyber</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200"/>
              <a:t>Handoff</a:t>
            </a:r>
            <a:r>
              <a:rPr sz="1200"/>
              <a:t> = convert your tactical access into operational reach for someone else</a:t>
            </a:r>
          </a:p>
          <a:p>
            <a:pPr/>
            <a:r>
              <a:rPr sz="1200"/>
              <a:t>Two flavors:</a:t>
            </a:r>
          </a:p>
          <a:p>
            <a:pPr lvl="1"/>
            <a:r>
              <a:rPr b="1" sz="1200"/>
              <a:t>Access Guide handoff</a:t>
            </a:r>
            <a:r>
              <a:rPr sz="1200"/>
              <a:t> — you package evidence so well that the partner team can act without re-discovering the target</a:t>
            </a:r>
          </a:p>
          <a:p>
            <a:pPr lvl="1"/>
            <a:r>
              <a:rPr b="1" sz="1200"/>
              <a:t>Capability handoff</a:t>
            </a:r>
            <a:r>
              <a:rPr sz="1200"/>
              <a:t> — you deploy the partner team's </a:t>
            </a:r>
            <a:r>
              <a:rPr b="1" sz="1200"/>
              <a:t>tool</a:t>
            </a:r>
            <a:r>
              <a:rPr sz="1200"/>
              <a:t> into your foothold and let them drive</a:t>
            </a:r>
          </a:p>
          <a:p>
            <a:pPr/>
            <a:r>
              <a:rPr sz="1200"/>
              <a:t>Capability handoff is powerful and </a:t>
            </a:r>
            <a:r>
              <a:rPr b="1" sz="1200"/>
              <a:t>dangerous</a:t>
            </a:r>
            <a:r>
              <a:rPr sz="1200"/>
              <a:t>: you are now running someone else's code on a target that is still nominally your responsibility</a:t>
            </a:r>
          </a:p>
          <a:p>
            <a:pPr/>
            <a:r>
              <a:rPr sz="1200"/>
              <a:t>CPT rule of thumb: the Access Guide must be good enough that the partner team could act </a:t>
            </a:r>
            <a:r>
              <a:rPr b="1" sz="1200"/>
              <a:t>without</a:t>
            </a:r>
            <a:r>
              <a:rPr sz="1200"/>
              <a:t> the capability handoff — the implant is an accelerator, not a crutch</a:t>
            </a:r>
          </a:p>
          <a:p>
            <a:pPr/>
            <a:r>
              <a:rPr sz="1200"/>
              <a:t>Include the expansion rationale (scan vs plant) so partners understand how evidence was produced and where uncertainty remains</a:t>
            </a:r>
          </a:p>
        </p:txBody>
      </p:sp>
      <p:pic>
        <p:nvPicPr>
          <p:cNvPr id="5" name="Picture 4" descr="c2d4904f43e536d94360dc0e828bd322caa153b7e0de10279de082487db7869d.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The Access Guide — What a Partner Team Actually Needs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200"/>
              <a:t>Target identity</a:t>
            </a:r>
            <a:r>
              <a:rPr sz="1200"/>
              <a:t> — hostname, domain (if any), IPs, OS/kernel, key users</a:t>
            </a:r>
          </a:p>
          <a:p>
            <a:pPr/>
            <a:r>
              <a:rPr b="1" sz="1200"/>
              <a:t>Access story</a:t>
            </a:r>
            <a:r>
              <a:rPr sz="1200"/>
              <a:t> — how you got in, what credentials/tokens/sessions you are holding, and how long they last</a:t>
            </a:r>
          </a:p>
          <a:p>
            <a:pPr/>
            <a:r>
              <a:rPr b="1" sz="1200"/>
              <a:t>Current posture</a:t>
            </a:r>
            <a:r>
              <a:rPr sz="1200"/>
              <a:t> — what you have enumerated, what you have already changed (prior local effects go here), what you have </a:t>
            </a:r>
            <a:r>
              <a:rPr b="1" sz="1200"/>
              <a:t>not</a:t>
            </a:r>
            <a:r>
              <a:rPr sz="1200"/>
              <a:t> touched</a:t>
            </a:r>
          </a:p>
          <a:p>
            <a:pPr/>
            <a:r>
              <a:rPr b="1" sz="1200"/>
              <a:t>Expansion method and findings</a:t>
            </a:r>
            <a:r>
              <a:rPr sz="1200"/>
              <a:t> — what follow-on method you chose (scan or plant), what it produced, and confidence level</a:t>
            </a:r>
          </a:p>
          <a:p>
            <a:pPr/>
            <a:r>
              <a:rPr b="1" sz="1200"/>
              <a:t>Adversary tempo</a:t>
            </a:r>
            <a:r>
              <a:rPr sz="1200"/>
              <a:t> — cadence observed, next expected action, time-to-detect estimate</a:t>
            </a:r>
          </a:p>
          <a:p>
            <a:pPr/>
            <a:r>
              <a:rPr b="1" sz="1200"/>
              <a:t>Partner tasking</a:t>
            </a:r>
            <a:r>
              <a:rPr sz="1200"/>
              <a:t> — what specifically you want them to do once they have their implant in place</a:t>
            </a:r>
          </a:p>
          <a:p>
            <a:pPr/>
            <a:r>
              <a:rPr b="1" sz="1200"/>
              <a:t>Rollback plan</a:t>
            </a:r>
            <a:r>
              <a:rPr sz="1200"/>
              <a:t> — how to remove partner capability cleanly if mission direction changes</a:t>
            </a:r>
          </a:p>
        </p:txBody>
      </p:sp>
      <p:pic>
        <p:nvPicPr>
          <p:cNvPr id="5" name="Picture 4" descr="dcb70dd0399c48fecc2b2a38320684c8693401f4947fec9564b25ed60772e8a4.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200"/>
              <a:t>Documentation Discipline — Characterize the Target and Actor Precisely</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200"/>
              <a:t>Extending effects are only as good as the evidence quality you record</a:t>
            </a:r>
          </a:p>
          <a:p>
            <a:pPr/>
            <a:r>
              <a:rPr sz="1200"/>
              <a:t>Your Access Guide must capture both:</a:t>
            </a:r>
          </a:p>
          <a:p>
            <a:pPr lvl="1"/>
            <a:r>
              <a:rPr b="1" sz="1200"/>
              <a:t>Technical characteristics</a:t>
            </a:r>
            <a:r>
              <a:rPr sz="1200"/>
              <a:t> — host/user/process/network/tooling details</a:t>
            </a:r>
          </a:p>
          <a:p>
            <a:pPr lvl="1"/>
            <a:r>
              <a:rPr b="1" sz="1200"/>
              <a:t>Behavioral characteristics</a:t>
            </a:r>
            <a:r>
              <a:rPr sz="1200"/>
              <a:t> — cadence, handling pattern, likely next action</a:t>
            </a:r>
          </a:p>
          <a:p>
            <a:pPr/>
            <a:r>
              <a:rPr sz="1200"/>
              <a:t>Poor characterization creates partner rework and can delay action windows</a:t>
            </a:r>
          </a:p>
          <a:p>
            <a:pPr/>
            <a:r>
              <a:rPr sz="1200"/>
              <a:t>Expansion decisions must be explicit so partners can reproduce or challenge your findings</a:t>
            </a:r>
          </a:p>
          <a:p>
            <a:pPr/>
            <a:r>
              <a:rPr sz="1200"/>
              <a:t>Checklist before any extending-effect execution:</a:t>
            </a:r>
          </a:p>
          <a:p>
            <a:pPr lvl="1"/>
            <a:r>
              <a:rPr sz="1200"/>
              <a:t>1. Technical artifacts captured and timestamped</a:t>
            </a:r>
          </a:p>
          <a:p>
            <a:pPr lvl="1"/>
            <a:r>
              <a:rPr sz="1200"/>
              <a:t>2. Behavioral observations captured with confidence notes</a:t>
            </a:r>
          </a:p>
          <a:p>
            <a:pPr lvl="1"/>
            <a:r>
              <a:rPr sz="1200"/>
              <a:t>3. Expansion method selected (scan or plant) and justified</a:t>
            </a:r>
          </a:p>
          <a:p>
            <a:pPr lvl="1"/>
            <a:r>
              <a:rPr sz="1200"/>
              <a:t>4. Callback / implant destination validated</a:t>
            </a:r>
          </a:p>
          <a:p>
            <a:pPr lvl="1"/>
            <a:r>
              <a:rPr sz="1200"/>
              <a:t>5. Next-action estimate written in the five-line report</a:t>
            </a:r>
          </a:p>
        </p:txBody>
      </p:sp>
      <p:pic>
        <p:nvPicPr>
          <p:cNvPr id="5" name="Picture 4" descr="02e5a6f16223f4a2d837ae946f5da9aa0ef829812809d53c08eb5cee6f133e6d.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Tracking and Partner Handoff Practice</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400"/>
              <a:t>Adversary tracking</a:t>
            </a:r>
            <a:r>
              <a:rPr sz="1400"/>
              <a:t> — run on-target survey from your current foothold, then expand with deliberate follow-on collection to produce tracking-grade telemetry</a:t>
            </a:r>
          </a:p>
          <a:p>
            <a:pPr/>
            <a:r>
              <a:rPr b="1" sz="1400"/>
              <a:t>Handoff and partner RAT deploy</a:t>
            </a:r>
            <a:r>
              <a:rPr sz="1400"/>
              <a:t> — produce an Access Guide and deploy an instructor-provided RAT binary into the adversary foothold, validating callback and documenting expected partner next actions</a:t>
            </a:r>
          </a:p>
          <a:p>
            <a:pPr/>
            <a:r>
              <a:rPr sz="1400"/>
              <a:t>Both labs are graded on the </a:t>
            </a:r>
            <a:r>
              <a:rPr b="1" sz="1400"/>
              <a:t>effect report</a:t>
            </a:r>
            <a:r>
              <a:rPr sz="1400"/>
              <a:t> plus the </a:t>
            </a:r>
            <a:r>
              <a:rPr b="1" sz="1400"/>
              <a:t>Access Guide</a:t>
            </a:r>
            <a:r>
              <a:rPr sz="1400"/>
              <a:t> (handoff practice only)</a:t>
            </a:r>
          </a:p>
          <a:p>
            <a:pPr/>
            <a:r>
              <a:rPr sz="1400"/>
              <a:t>End-of-day transition is the pivot to agentic operations — </a:t>
            </a:r>
            <a:r>
              <a:rPr b="1" sz="1400"/>
              <a:t>the adversary also automates</a:t>
            </a:r>
          </a:p>
        </p:txBody>
      </p:sp>
      <p:pic>
        <p:nvPicPr>
          <p:cNvPr id="5" name="Picture 4" descr="68cf95a0d9e87ad34f7005e95160626589ffb278a0b6970a073c322795f62ae5.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r>
              <a:rPr sz="2400"/>
              <a:t>You have now run the effects arc at least once: </a:t>
            </a:r>
            <a:r>
              <a:rPr b="1" sz="2400"/>
              <a:t>degrade / disrupt / deny</a:t>
            </a:r>
            <a:r>
              <a:rPr sz="2400"/>
              <a:t>, </a:t>
            </a:r>
            <a:r>
              <a:rPr b="1" sz="2400"/>
              <a:t>deceive / manipulate</a:t>
            </a:r>
            <a:r>
              <a:rPr sz="2400"/>
              <a:t>, </a:t>
            </a:r>
            <a:r>
              <a:rPr b="1" sz="2400"/>
              <a:t>reconnoiter (survey)</a:t>
            </a:r>
            <a:r>
              <a:rPr sz="2400"/>
              <a:t>, </a:t>
            </a:r>
            <a:r>
              <a:rPr b="1" sz="2400"/>
              <a:t>handoff</a:t>
            </a:r>
          </a:p>
          <a:p>
            <a:pPr/>
            <a:r>
              <a:rPr sz="2400"/>
              <a:t>Tomorrow: the adversary is doing all of this too, but faster — because they are using agents</a:t>
            </a:r>
          </a:p>
          <a:p>
            <a:pPr/>
            <a:r>
              <a:rPr sz="2400"/>
              <a:t>You will spend three days building the same automation layer they are using, then counter-striking it</a:t>
            </a:r>
          </a:p>
          <a:p>
            <a:pPr/>
            <a:r>
              <a:rPr sz="2400"/>
              <a:t>Tonight's read-ahead: </a:t>
            </a:r>
            <a:r>
              <a:rPr sz="2400">
                <a:latin typeface="Courier New"/>
              </a:rPr>
              <a:t>../Agentic Lesson Part 1 Outline.md</a:t>
            </a:r>
            <a:r>
              <a:rPr sz="2400"/>
              <a:t> and the first half of </a:t>
            </a:r>
            <a:r>
              <a:rPr sz="2400">
                <a:latin typeface="Courier New"/>
              </a:rPr>
              <a:t>../AI Part 1 Lecture Content.md</a:t>
            </a:r>
          </a:p>
        </p:txBody>
      </p:sp>
      <p:sp>
        <p:nvSpPr>
          <p:cNvPr id="3" name="Title 2"/>
          <p:cNvSpPr>
            <a:spLocks noGrp="1"/>
          </p:cNvSpPr>
          <p:nvPr>
            <p:ph type="title"/>
          </p:nvPr>
        </p:nvSpPr>
        <p:spPr/>
        <p:txBody>
          <a:bodyPr wrap="square">
            <a:normAutofit/>
          </a:bodyPr>
          <a:lstStyle/>
          <a:p>
            <a:pPr/>
            <a:r>
              <a:rPr sz="2700"/>
              <a:t>Wrap — Transition to Agentic Operations</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normAutofit/>
          </a:bodyPr>
          <a:lstStyle/>
          <a:p>
            <a:pPr/>
            <a:r>
              <a:rPr sz="2700"/>
              <a:t>Questions?</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theme/theme1.xml><?xml version="1.0" encoding="utf-8"?>
<a:theme xmlns:a="http://schemas.openxmlformats.org/drawingml/2006/main" name="CyberTemplateL_Green Unclass">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420</Words>
  <Application>Microsoft Office PowerPoint</Application>
  <PresentationFormat>Widescreen</PresentationFormat>
  <Paragraphs>45</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Calibri</vt:lpstr>
      <vt:lpstr>Arial</vt:lpstr>
      <vt:lpstr>Noto Sans Symbols</vt:lpstr>
      <vt:lpstr>Google Sans</vt:lpstr>
      <vt:lpstr>CyberTemplateL_Green Unclass</vt:lpstr>
      <vt:lpstr>Lesson title</vt:lpstr>
      <vt:lpstr>Intro Video</vt:lpstr>
      <vt:lpstr>Lesson Objectives</vt:lpstr>
      <vt:lpstr>What is a Learning Management System?</vt:lpstr>
      <vt:lpstr>Lets log in to Moodle</vt:lpstr>
      <vt:lpstr>Lesson Summary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Houston, Joshua T</dc:creator>
  <cp:lastModifiedBy>Cross, Clay</cp:lastModifiedBy>
  <cp:revision>1</cp:revision>
  <dcterms:modified xsi:type="dcterms:W3CDTF">2026-10-12T17:41:16Z</dcterms:modified>
</cp:coreProperties>
</file>