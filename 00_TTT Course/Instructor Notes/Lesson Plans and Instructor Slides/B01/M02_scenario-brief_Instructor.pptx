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8"/>
    <p:sldId id="257" r:id="rId14"/>
    <p:sldId id="258" r:id="rId15"/>
    <p:sldId id="259" r:id="rId7"/>
    <p:sldId id="260" r:id="rId6"/>
    <p:sldId id="261" r:id="rId5"/>
    <p:sldId id="262" r:id="rId4"/>
    <p:sldId id="263" r:id="rId3"/>
    <p:sldId id="264" r:id="rId2"/>
    <p:sldId id="265" r:id="rId22"/>
    <p:sldId id="266" r:id="rId23"/>
    <p:sldId id="267" r:id="rId24"/>
  </p:sldIdLst>
  <p:sldSz cx="12192000" cy="6858000"/>
  <p:notesSz cx="6858000" cy="9144000"/>
  <p:embeddedFontLst>
    <p:embeddedFont>
      <p:font typeface="Google Sans" panose="020B060402020202020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j7TtVeiHhDOAAACQUvrCI66Sw72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5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slide" Target="slides/slide2.xml"/><Relationship Id="rId15" Type="http://schemas.openxmlformats.org/officeDocument/2006/relationships/slide" Target="slides/slide3.xml"/><Relationship Id="rId16" Type="http://customschemas.google.com/relationships/presentationmetadata" Target="meta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ss, Clay" userId="f346be3b-e1cb-4aec-811e-8a3f5d1dd33f" providerId="ADAL" clId="{5AB2DC96-CDCC-45B4-B053-2F2446580AF9}"/>
    <pc:docChg chg="modSld modMainMaster">
      <pc:chgData name="Cross, Clay" userId="f346be3b-e1cb-4aec-811e-8a3f5d1dd33f" providerId="ADAL" clId="{5AB2DC96-CDCC-45B4-B053-2F2446580AF9}" dt="2026-10-12T17:41:14.911" v="31" actId="20577"/>
      <pc:docMkLst>
        <pc:docMk/>
      </pc:docMkLst>
      <pc:sldChg chg="addSp modSp mod">
        <pc:chgData name="Cross, Clay" userId="f346be3b-e1cb-4aec-811e-8a3f5d1dd33f" providerId="ADAL" clId="{5AB2DC96-CDCC-45B4-B053-2F2446580AF9}" dt="2026-10-12T17:41:14.911" v="31" actId="20577"/>
        <pc:sldMkLst>
          <pc:docMk/>
          <pc:sldMk cId="0" sldId="256"/>
        </pc:sldMkLst>
        <pc:spChg chg="add mod">
          <ac:chgData name="Cross, Clay" userId="f346be3b-e1cb-4aec-811e-8a3f5d1dd33f" providerId="ADAL" clId="{5AB2DC96-CDCC-45B4-B053-2F2446580AF9}" dt="2026-09-16T14:10:03.197" v="14"/>
          <ac:spMkLst>
            <pc:docMk/>
            <pc:sldMk cId="0" sldId="256"/>
            <ac:spMk id="2" creationId="{AF066B48-BBCB-D243-DA16-4C1CF9825479}"/>
          </ac:spMkLst>
        </pc:spChg>
        <pc:spChg chg="mod">
          <ac:chgData name="Cross, Clay" userId="f346be3b-e1cb-4aec-811e-8a3f5d1dd33f" providerId="ADAL" clId="{5AB2DC96-CDCC-45B4-B053-2F2446580AF9}" dt="2026-10-12T17:41:14.911" v="31" actId="20577"/>
          <ac:spMkLst>
            <pc:docMk/>
            <pc:sldMk cId="0" sldId="256"/>
            <ac:spMk id="93" creationId="{00000000-0000-0000-0000-000000000000}"/>
          </ac:spMkLst>
        </pc:spChg>
      </pc:sldChg>
      <pc:sldChg chg="addSp modSp">
        <pc:chgData name="Cross, Clay" userId="f346be3b-e1cb-4aec-811e-8a3f5d1dd33f" providerId="ADAL" clId="{5AB2DC96-CDCC-45B4-B053-2F2446580AF9}" dt="2026-09-16T14:10:05.967" v="15"/>
        <pc:sldMkLst>
          <pc:docMk/>
          <pc:sldMk cId="0" sldId="257"/>
        </pc:sldMkLst>
        <pc:spChg chg="add mod">
          <ac:chgData name="Cross, Clay" userId="f346be3b-e1cb-4aec-811e-8a3f5d1dd33f" providerId="ADAL" clId="{5AB2DC96-CDCC-45B4-B053-2F2446580AF9}" dt="2026-09-16T14:10:05.967" v="15"/>
          <ac:spMkLst>
            <pc:docMk/>
            <pc:sldMk cId="0" sldId="257"/>
            <ac:spMk id="2" creationId="{C59CE0A4-E66C-0842-A9F5-B432CCCBB70C}"/>
          </ac:spMkLst>
        </pc:spChg>
      </pc:sldChg>
      <pc:sldChg chg="addSp modSp">
        <pc:chgData name="Cross, Clay" userId="f346be3b-e1cb-4aec-811e-8a3f5d1dd33f" providerId="ADAL" clId="{5AB2DC96-CDCC-45B4-B053-2F2446580AF9}" dt="2026-09-16T14:10:07.294" v="16"/>
        <pc:sldMkLst>
          <pc:docMk/>
          <pc:sldMk cId="0" sldId="258"/>
        </pc:sldMkLst>
        <pc:spChg chg="add mod">
          <ac:chgData name="Cross, Clay" userId="f346be3b-e1cb-4aec-811e-8a3f5d1dd33f" providerId="ADAL" clId="{5AB2DC96-CDCC-45B4-B053-2F2446580AF9}" dt="2026-09-16T14:10:07.294" v="16"/>
          <ac:spMkLst>
            <pc:docMk/>
            <pc:sldMk cId="0" sldId="258"/>
            <ac:spMk id="2" creationId="{9367D3A5-428A-79F2-AC81-ADCB1A0F11C1}"/>
          </ac:spMkLst>
        </pc:spChg>
      </pc:sldChg>
      <pc:sldChg chg="addSp modSp">
        <pc:chgData name="Cross, Clay" userId="f346be3b-e1cb-4aec-811e-8a3f5d1dd33f" providerId="ADAL" clId="{5AB2DC96-CDCC-45B4-B053-2F2446580AF9}" dt="2026-09-16T14:10:08.375" v="17"/>
        <pc:sldMkLst>
          <pc:docMk/>
          <pc:sldMk cId="0" sldId="259"/>
        </pc:sldMkLst>
        <pc:spChg chg="add mod">
          <ac:chgData name="Cross, Clay" userId="f346be3b-e1cb-4aec-811e-8a3f5d1dd33f" providerId="ADAL" clId="{5AB2DC96-CDCC-45B4-B053-2F2446580AF9}" dt="2026-09-16T14:10:08.375" v="17"/>
          <ac:spMkLst>
            <pc:docMk/>
            <pc:sldMk cId="0" sldId="259"/>
            <ac:spMk id="2" creationId="{07E1C860-F9EC-56A5-3678-9C818C512B47}"/>
          </ac:spMkLst>
        </pc:spChg>
      </pc:sldChg>
      <pc:sldChg chg="addSp modSp">
        <pc:chgData name="Cross, Clay" userId="f346be3b-e1cb-4aec-811e-8a3f5d1dd33f" providerId="ADAL" clId="{5AB2DC96-CDCC-45B4-B053-2F2446580AF9}" dt="2026-09-16T14:10:11.392" v="18"/>
        <pc:sldMkLst>
          <pc:docMk/>
          <pc:sldMk cId="0" sldId="260"/>
        </pc:sldMkLst>
        <pc:spChg chg="add mod">
          <ac:chgData name="Cross, Clay" userId="f346be3b-e1cb-4aec-811e-8a3f5d1dd33f" providerId="ADAL" clId="{5AB2DC96-CDCC-45B4-B053-2F2446580AF9}" dt="2026-09-16T14:10:11.392" v="18"/>
          <ac:spMkLst>
            <pc:docMk/>
            <pc:sldMk cId="0" sldId="260"/>
            <ac:spMk id="2" creationId="{1588E63D-8331-98F8-2393-DF79A145BF58}"/>
          </ac:spMkLst>
        </pc:spChg>
      </pc:sldChg>
      <pc:sldChg chg="addSp modSp">
        <pc:chgData name="Cross, Clay" userId="f346be3b-e1cb-4aec-811e-8a3f5d1dd33f" providerId="ADAL" clId="{5AB2DC96-CDCC-45B4-B053-2F2446580AF9}" dt="2026-09-16T14:10:12.517" v="19"/>
        <pc:sldMkLst>
          <pc:docMk/>
          <pc:sldMk cId="0" sldId="261"/>
        </pc:sldMkLst>
        <pc:spChg chg="add mod">
          <ac:chgData name="Cross, Clay" userId="f346be3b-e1cb-4aec-811e-8a3f5d1dd33f" providerId="ADAL" clId="{5AB2DC96-CDCC-45B4-B053-2F2446580AF9}" dt="2026-09-16T14:10:12.517" v="19"/>
          <ac:spMkLst>
            <pc:docMk/>
            <pc:sldMk cId="0" sldId="261"/>
            <ac:spMk id="2" creationId="{93535A3B-BAB2-61CE-5223-82D4BF2B0E2D}"/>
          </ac:spMkLst>
        </pc:spChg>
      </pc:sldChg>
      <pc:sldChg chg="addSp delSp modSp mod">
        <pc:chgData name="Cross, Clay" userId="f346be3b-e1cb-4aec-811e-8a3f5d1dd33f" providerId="ADAL" clId="{5AB2DC96-CDCC-45B4-B053-2F2446580AF9}" dt="2026-09-16T14:10:13.935" v="20"/>
        <pc:sldMkLst>
          <pc:docMk/>
          <pc:sldMk cId="0" sldId="262"/>
        </pc:sldMkLst>
        <pc:spChg chg="add mod">
          <ac:chgData name="Cross, Clay" userId="f346be3b-e1cb-4aec-811e-8a3f5d1dd33f" providerId="ADAL" clId="{5AB2DC96-CDCC-45B4-B053-2F2446580AF9}" dt="2026-09-16T14:10:13.935" v="20"/>
          <ac:spMkLst>
            <pc:docMk/>
            <pc:sldMk cId="0" sldId="262"/>
            <ac:spMk id="2" creationId="{D7EC3C54-652C-9EC2-FAB0-E19765D5B90B}"/>
          </ac:spMkLst>
        </pc:spChg>
      </pc:sldChg>
      <pc:sldMasterChg chg="modSp mod modSldLayout">
        <pc:chgData name="Cross, Clay" userId="f346be3b-e1cb-4aec-811e-8a3f5d1dd33f" providerId="ADAL" clId="{5AB2DC96-CDCC-45B4-B053-2F2446580AF9}" dt="2026-10-12T16:58:37.748" v="29" actId="14100"/>
        <pc:sldMasterMkLst>
          <pc:docMk/>
          <pc:sldMasterMk cId="0" sldId="2147483648"/>
        </pc:sldMasterMkLst>
        <pc:sldLayoutChg chg="modSp mod">
          <pc:chgData name="Cross, Clay" userId="f346be3b-e1cb-4aec-811e-8a3f5d1dd33f" providerId="ADAL" clId="{5AB2DC96-CDCC-45B4-B053-2F2446580AF9}" dt="2026-10-12T16:58:06.482" v="24" actId="14100"/>
          <pc:sldLayoutMkLst>
            <pc:docMk/>
            <pc:sldMasterMk cId="0" sldId="2147483648"/>
            <pc:sldLayoutMk cId="0" sldId="2147483652"/>
          </pc:sldLayoutMkLst>
          <pc:spChg chg="mod">
            <ac:chgData name="Cross, Clay" userId="f346be3b-e1cb-4aec-811e-8a3f5d1dd33f" providerId="ADAL" clId="{5AB2DC96-CDCC-45B4-B053-2F2446580AF9}" dt="2026-10-12T16:57:55.345" v="22" actId="14100"/>
            <ac:spMkLst>
              <pc:docMk/>
              <pc:sldMasterMk cId="0" sldId="2147483648"/>
              <pc:sldLayoutMk cId="0" sldId="2147483652"/>
              <ac:spMk id="56" creationId="{00000000-0000-0000-0000-000000000000}"/>
            </ac:spMkLst>
          </pc:spChg>
          <pc:spChg chg="mod">
            <ac:chgData name="Cross, Clay" userId="f346be3b-e1cb-4aec-811e-8a3f5d1dd33f" providerId="ADAL" clId="{5AB2DC96-CDCC-45B4-B053-2F2446580AF9}" dt="2026-10-12T16:58:00.151" v="23" actId="14100"/>
            <ac:spMkLst>
              <pc:docMk/>
              <pc:sldMasterMk cId="0" sldId="2147483648"/>
              <pc:sldLayoutMk cId="0" sldId="2147483652"/>
              <ac:spMk id="57" creationId="{00000000-0000-0000-0000-000000000000}"/>
            </ac:spMkLst>
          </pc:spChg>
          <pc:spChg chg="mod">
            <ac:chgData name="Cross, Clay" userId="f346be3b-e1cb-4aec-811e-8a3f5d1dd33f" providerId="ADAL" clId="{5AB2DC96-CDCC-45B4-B053-2F2446580AF9}" dt="2026-10-12T16:58:06.482" v="24" actId="14100"/>
            <ac:spMkLst>
              <pc:docMk/>
              <pc:sldMasterMk cId="0" sldId="2147483648"/>
              <pc:sldLayoutMk cId="0" sldId="2147483652"/>
              <ac:spMk id="58" creationId="{00000000-0000-0000-0000-000000000000}"/>
            </ac:spMkLst>
          </pc:spChg>
        </pc:sldLayoutChg>
        <pc:sldLayoutChg chg="modSp mod">
          <pc:chgData name="Cross, Clay" userId="f346be3b-e1cb-4aec-811e-8a3f5d1dd33f" providerId="ADAL" clId="{5AB2DC96-CDCC-45B4-B053-2F2446580AF9}" dt="2026-10-12T16:58:37.748" v="29" actId="14100"/>
          <pc:sldLayoutMkLst>
            <pc:docMk/>
            <pc:sldMasterMk cId="0" sldId="2147483648"/>
            <pc:sldLayoutMk cId="0" sldId="2147483656"/>
          </pc:sldLayoutMkLst>
          <pc:spChg chg="mod">
            <ac:chgData name="Cross, Clay" userId="f346be3b-e1cb-4aec-811e-8a3f5d1dd33f" providerId="ADAL" clId="{5AB2DC96-CDCC-45B4-B053-2F2446580AF9}" dt="2026-10-12T16:58:32.543" v="27" actId="14100"/>
            <ac:spMkLst>
              <pc:docMk/>
              <pc:sldMasterMk cId="0" sldId="2147483648"/>
              <pc:sldLayoutMk cId="0" sldId="2147483656"/>
              <ac:spMk id="76" creationId="{00000000-0000-0000-0000-000000000000}"/>
            </ac:spMkLst>
          </pc:spChg>
          <pc:spChg chg="mod">
            <ac:chgData name="Cross, Clay" userId="f346be3b-e1cb-4aec-811e-8a3f5d1dd33f" providerId="ADAL" clId="{5AB2DC96-CDCC-45B4-B053-2F2446580AF9}" dt="2026-10-12T16:58:34.943" v="28" actId="14100"/>
            <ac:spMkLst>
              <pc:docMk/>
              <pc:sldMasterMk cId="0" sldId="2147483648"/>
              <pc:sldLayoutMk cId="0" sldId="2147483656"/>
              <ac:spMk id="77" creationId="{00000000-0000-0000-0000-000000000000}"/>
            </ac:spMkLst>
          </pc:spChg>
          <pc:spChg chg="mod">
            <ac:chgData name="Cross, Clay" userId="f346be3b-e1cb-4aec-811e-8a3f5d1dd33f" providerId="ADAL" clId="{5AB2DC96-CDCC-45B4-B053-2F2446580AF9}" dt="2026-10-12T16:58:37.748" v="29" actId="14100"/>
            <ac:spMkLst>
              <pc:docMk/>
              <pc:sldMasterMk cId="0" sldId="2147483648"/>
              <pc:sldLayoutMk cId="0" sldId="2147483656"/>
              <ac:spMk id="7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Scenario Brief — Content Guide</a:t>
            </a:r>
          </a:p>
          <a:p/>
          <a:p>
            <a:r>
              <a:t>**Source:** `../../scenario/index.md`</a:t>
            </a:r>
          </a:p>
          <a:p>
            <a:r>
              <a:t>**Audience:** CPT operators who will use this scenario as shared target, terrain, and adversary.</a:t>
            </a:r>
          </a:p>
          <a:p>
            <a:r>
              <a:t>**Duration:** ~45 minutes (single scenario-brief block)</a:t>
            </a:r>
          </a:p>
          <a:p>
            <a:r>
              <a:t>**References:**</a:t>
            </a:r>
          </a:p>
          <a:p/>
          <a:p>
            <a:r>
              <a:t>- `../../scenario/index.md`</a:t>
            </a:r>
          </a:p>
          <a:p>
            <a:r>
              <a:t>- `../../scenario/overview/background.md`</a:t>
            </a:r>
          </a:p>
          <a:p>
            <a:r>
              <a:t>- `../../scenario/overview/varensk.md`</a:t>
            </a:r>
          </a:p>
          <a:p>
            <a:r>
              <a:t>- `../../scenario/overview/lunovia.md`</a:t>
            </a:r>
          </a:p>
          <a:p>
            <a:r>
              <a:t>- `../../scenario/maps/network-diagram.png`</a:t>
            </a:r>
          </a:p>
          <a:p/>
          <a:p>
            <a:r>
              <a:t>## Instructor resources and pre-class</a:t>
            </a:r>
          </a:p>
          <a:p/>
          <a:p>
            <a:r>
              <a:t>- Classroom projector and screen</a:t>
            </a:r>
          </a:p>
          <a:p>
            <a:r>
              <a:t>- Whiteboard and markers (two-state sketch for the opening; capture targeting answers on Slide 8)</a:t>
            </a:r>
          </a:p>
          <a:p>
            <a:r>
              <a:t>- Instructor copies of `../../scenario/index.md`, `../../scenario/overview/background.md`, `../../scenario/overview/varensk.md`, and `../../scenario/overview/lunovia.md`</a:t>
            </a:r>
          </a:p>
          <a:p>
            <a:r>
              <a:t>- Project `../../scenario/maps/network-diagram.png` full-screen on Slide 10</a:t>
            </a:r>
          </a:p>
          <a:p/>
          <a:p>
            <a:r>
              <a:t>## Student resources</a:t>
            </a:r>
          </a:p>
          <a:p/>
          <a:p>
            <a:r>
              <a:t>- Student copies of the scenario overview pages listed above</a:t>
            </a:r>
          </a:p>
          <a:p>
            <a:r>
              <a:t>- Course network diagram at `../../scenario/maps/network-diagram.png`</a:t>
            </a:r>
          </a:p>
          <a:p>
            <a:r>
              <a:t>- No additional student kit for this lecture</a:t>
            </a:r>
          </a:p>
          <a:p/>
          <a:p>
            <a:r>
              <a:t>## Dual opening</a:t>
            </a:r>
          </a:p>
          <a:p/>
          <a:p>
            <a:r>
              <a:t>### Option 1 (Interactive / Whiteboard / Kinesthetic)</a:t>
            </a:r>
          </a:p>
          <a:p/>
          <a:p>
            <a:r>
              <a:t>- **Say:** "Before we get into the scenario itself — why fictional? Two reasons. First, classification: a fictional scenario keeps us out of problems during training. Second, common ground: every student, every block, every lab will share this world."</a:t>
            </a:r>
          </a:p>
          <a:p>
            <a:r>
              <a:t>- **Do:** Sketch two neighboring states on the board (large authoritarian state, smaller democratic state, border between them). No real-world place names. Leave the sketch up.</a:t>
            </a:r>
          </a:p>
          <a:p>
            <a:r>
              <a:t>- **Ask (Q):** Who has taken a course that used a real-world actor as the scenario and hit a classification wall mid-lab?</a:t>
            </a:r>
          </a:p>
          <a:p>
            <a:r>
              <a:t>- **Expected Response (A):** Facilitation only. Hands are the point. Do not collect a scored answer.</a:t>
            </a:r>
          </a:p>
          <a:p/>
          <a:p>
            <a:r>
              <a:t>### Option 2 (Digital Slide / Virtual / Slide Deck)</a:t>
            </a:r>
          </a:p>
          <a:p/>
          <a:p>
            <a:r>
              <a:t>- **Say:** "Before we get into the scenario itself — why fictional? Two reasons. First, classification: a fictional scenario keeps us out of problems during training. Second, common ground: every student, every block, every lab will share this world. When I say 'Varensk,' you will know what I mean for the rest of the course."</a:t>
            </a:r>
          </a:p>
          <a:p>
            <a:r>
              <a:t>- **Show:** The regional map graphic (two unnamed states; no real-world place names).</a:t>
            </a:r>
          </a:p>
          <a:p>
            <a:r>
              <a:t>- **Do:** Keep the classification-wall check as a verbal show of hands if a whiteboard is not available.</a:t>
            </a:r>
          </a:p>
          <a:p>
            <a:r>
              <a:t>- **Ask (Q):** Who has taken a course that used a real-world actor as the scenario and hit a classification wall mid-lab?</a:t>
            </a:r>
          </a:p>
          <a:p>
            <a:r>
              <a:t>- **Expected Response (A):** Facilitation only. Hands are the point.</a:t>
            </a:r>
          </a:p>
          <a:p/>
          <a:p>
            <a:r>
              <a: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"Before we get into the scenario itself — why fictional? Two reasons. First, classification: a fictional scenario keeps us out of problems during training. Second, common ground: every student, every block, every lab will share this world. When I say 'Varensk,' you will know what I mean for the rest of the course."</a:t>
            </a:r>
          </a:p>
          <a:p/>
          <a:p>
            <a:r>
              <a:t>Show:</a:t>
            </a:r>
          </a:p>
          <a:p>
            <a:r>
              <a:t>The regional map graphic.</a:t>
            </a:r>
          </a:p>
          <a:p/>
          <a:p>
            <a:r>
              <a:t>Do:</a:t>
            </a:r>
          </a:p>
          <a:p>
            <a:r>
              <a:t>Take a show of hands. The hands are the point.</a:t>
            </a:r>
          </a:p>
          <a:p/>
          <a:p>
            <a:r>
              <a:t>Image Prompt:</a:t>
            </a:r>
          </a:p>
          <a:p>
            <a:r>
              <a:t>A stylized regional map graphic — two unnamed states in contrast (a large authoritarian state in muted reds/greys to the north-east; a smaller democratic state in blues/greens to the south-west), with a border line between them. No real-world place names. Clean, illustrative, suitable as a chapter opener.</a:t>
            </a:r>
          </a:p>
          <a:p/>
          <a:p>
            <a:r>
              <a:t>Ask (Q):</a:t>
            </a:r>
          </a:p>
          <a:p>
            <a:r>
              <a:t>Who has taken a course that used a real-world actor as the scenario and hit a classification wall mid-lab?</a:t>
            </a:r>
          </a:p>
          <a:p/>
          <a:p>
            <a:r>
              <a:t>Expected Response (A):</a:t>
            </a:r>
          </a:p>
          <a:p>
            <a:r>
              <a:t>Facilitation only. Hands, not a scored answer.</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"Here is the backstory in a paragraph. Two neighboring states, long shared history. When the old empire broke up, Lunovia went West. Varensk treats that as betrayal. Over the past five years, the border has heated up and Varensk has run cyber and hybrid operations against Lunovia's critical infrastructure. International observers expect open conflict in 3 to 5 years."</a:t>
            </a:r>
          </a:p>
          <a:p/>
          <a:p>
            <a:r>
              <a:t>Show:</a:t>
            </a:r>
          </a:p>
          <a:p>
            <a:r>
              <a:t>The timeline graphic.</a:t>
            </a:r>
          </a:p>
          <a:p/>
          <a:p>
            <a:r>
              <a:t>Do:</a:t>
            </a:r>
          </a:p>
          <a:p>
            <a:r>
              <a:t>Let the room call out parallels, then steer back to the scenario names.</a:t>
            </a:r>
          </a:p>
          <a:p/>
          <a:p>
            <a:r>
              <a:t>Image Prompt:</a:t>
            </a:r>
          </a:p>
          <a:p>
            <a:r>
              <a:t>A simple timeline graphic spanning "Imperial era" → "Break-up" → "Lunovia aligns West" → "Cyber &amp; hybrid ops" → "Present (escalating)". Five tiles on a horizontal line.</a:t>
            </a:r>
          </a:p>
          <a:p/>
          <a:p>
            <a:r>
              <a:t>Ask (Q):</a:t>
            </a:r>
          </a:p>
          <a:p>
            <a:r>
              <a:t>What real-world parallels do you hear in this backstory?</a:t>
            </a:r>
          </a:p>
          <a:p/>
          <a:p>
            <a:r>
              <a:t>Expected Response (A):</a:t>
            </a:r>
          </a:p>
          <a:p>
            <a:r>
              <a:t>Facilitation only. Acknowledge parallels, then steer back: "We operate in Varensk vs. Lunovia for the rest of the course."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"Varensk is the big one. Ninety million people, centralized authoritarian government, a nationalist ideology called Varensker Revivalism. The president has been in power 17 years. Economy runs on gas, rare earths, and heavy industry. Their foreign policy is regional dominance and they treat cyber as a primary lever."</a:t>
            </a:r>
          </a:p>
          <a:p/>
          <a:p>
            <a:r>
              <a:t>Show:</a:t>
            </a:r>
          </a:p>
          <a:p>
            <a:r>
              <a:t>The country-profile card.</a:t>
            </a:r>
          </a:p>
          <a:p/>
          <a:p>
            <a:r>
              <a:t>Do:</a:t>
            </a:r>
          </a:p>
          <a:p>
            <a:r>
              <a:t>Let the room answer — it seeds the cyber-apparatus discussion two slides from now.</a:t>
            </a:r>
          </a:p>
          <a:p/>
          <a:p>
            <a:r>
              <a:t>Image Prompt:</a:t>
            </a:r>
          </a:p>
          <a:p>
            <a:r>
              <a:t>A country-profile card graphic. Left side: a stylized flag bar in muted reds and greys. Right side: a list of fact-sheet labels ("Population", "Capital", "Government", "Leader") — labels only, no values — for the lecturer to overlay. Do not put real text in the card so the visual is reusable.</a:t>
            </a:r>
          </a:p>
          <a:p/>
          <a:p>
            <a:r>
              <a:t>Ask (Q):</a:t>
            </a:r>
          </a:p>
          <a:p>
            <a:r>
              <a:t>If you were in their intelligence service, what would your job priorities be?</a:t>
            </a:r>
          </a:p>
          <a:p/>
          <a:p>
            <a:r>
              <a:t>Expected Response (A):</a:t>
            </a:r>
          </a:p>
          <a:p>
            <a:r>
              <a:t>Facilitation only. Steer toward influence, espionage, and infrastructure pressure. Do not require a unit name yet.</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"Physical geography matters even in a cyber course. The Karsenic Coast hosts their naval bases *and* their cyber-intelligence hubs. That co-location is realistic — in the real world, signals and cyber infrastructure cluster near the sea and near the core."</a:t>
            </a:r>
          </a:p>
          <a:p/>
          <a:p>
            <a:r>
              <a:t>Show:</a:t>
            </a:r>
          </a:p>
          <a:p>
            <a:r>
              <a:t>The bullet list; linger on Karsenic Coast.</a:t>
            </a:r>
          </a:p>
          <a:p/>
          <a:p>
            <a:r>
              <a:t>Do:</a:t>
            </a:r>
          </a:p>
          <a:p>
            <a:r>
              <a:t>Tie back: "When we plan against Varensk in later blocks, 'location' on your SALUTE is going to point here."</a:t>
            </a:r>
          </a:p>
          <a:p/>
          <a:p>
            <a:r>
              <a:t>Image Prompt:</a:t>
            </a:r>
          </a:p>
          <a:p>
            <a:r>
              <a:t>No image required for this slide — the Varensk profile in Slide 3 is sufficient; this slide is content-heavy and benefits from room to read.</a:t>
            </a:r>
          </a:p>
          <a:p/>
          <a:p>
            <a:r>
              <a:t>Ask (Q):</a:t>
            </a:r>
          </a:p>
          <a:p>
            <a:r>
              <a:t>When we plan against Varensk later, where does SALUTE location point on this map?</a:t>
            </a:r>
          </a:p>
          <a:p/>
          <a:p>
            <a:r>
              <a:t>Expected Response (A):</a:t>
            </a:r>
          </a:p>
          <a:p>
            <a:r>
              <a:t>Steer toward the Karsenic Coast (naval bases and cyber-intelligence hubs).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"Varensk's cyber apparatus has three directorates. D7 is the military cyber arm — the destructive one. EIS is foreign espionage — the stealthy one. ISB is domestic and near-abroad — the loud, politically-driven one. When we plan against a specific actor in this course, you will trace them back to one of these three."</a:t>
            </a:r>
          </a:p>
          <a:p/>
          <a:p>
            <a:r>
              <a:t>Show:</a:t>
            </a:r>
          </a:p>
          <a:p>
            <a:r>
              <a:t>The three-column diagram.</a:t>
            </a:r>
          </a:p>
          <a:p/>
          <a:p>
            <a:r>
              <a:t>Do:</a:t>
            </a:r>
          </a:p>
          <a:p>
            <a:r>
              <a:t>Preview: the next slide breaks each directorate into specific units.</a:t>
            </a:r>
          </a:p>
          <a:p/>
          <a:p>
            <a:r>
              <a:t>Image Prompt:</a:t>
            </a:r>
          </a:p>
          <a:p>
            <a:r>
              <a:t>A three-column organizational diagram. Top bar: "Varensk Cyber Apparatus". Three columns below: "D7 — Military", "EIS — Foreign Espionage", "ISB — Domestic / Near-Abroad". Each column styled identically. Clean, neutral color palette.</a:t>
            </a:r>
          </a:p>
          <a:p/>
          <a:p>
            <a:r>
              <a:t>Ask (Q):</a:t>
            </a:r>
          </a:p>
          <a:p>
            <a:r>
              <a:t>Which directorate is destructive, which is stealthy, and which is politically loud?</a:t>
            </a:r>
          </a:p>
          <a:p/>
          <a:p>
            <a:r>
              <a:t>Expected Response (A):</a:t>
            </a:r>
          </a:p>
          <a:p>
            <a:r>
              <a:t>D7 destructive; EIS stealthy; ISB politically loud / hack-and-leak.</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"Here is the unit-level detail. Pay attention to the C2 framework assignments — they are intentional and consistent through the course labs. Also note the real-world analogues in parentheses: *Seraph-3* plays the Cozy Bear role; *Amber Tide* plays the Gamaredon role. When we do the Gamaredon walk-through in Block 2 and the labs use *Amber Tide* instead — that is the reason."</a:t>
            </a:r>
          </a:p>
          <a:p/>
          <a:p>
            <a:r>
              <a:t>Show:</a:t>
            </a:r>
          </a:p>
          <a:p>
            <a:r>
              <a:t>The unit list; point specifically to Unit 18 *Amber Tide* and note its Gamaredon role.</a:t>
            </a:r>
          </a:p>
          <a:p/>
          <a:p>
            <a:r>
              <a:t>Do:</a:t>
            </a:r>
          </a:p>
          <a:p>
            <a:r>
              <a:t>Tell students to dog-ear this slide. They will return to it every time the course names a Varensk unit.</a:t>
            </a:r>
          </a:p>
          <a:p/>
          <a:p>
            <a:r>
              <a:t>Image Prompt:</a:t>
            </a:r>
          </a:p>
          <a:p>
            <a:r>
              <a:t>No image required for this slide.</a:t>
            </a:r>
          </a:p>
          <a:p/>
          <a:p>
            <a:r>
              <a:t>Ask (Q):</a:t>
            </a:r>
          </a:p>
          <a:p>
            <a:r>
              <a:t>Which Varensk unit plays the Gamaredon role in this course, and which plays Cozy Bear?</a:t>
            </a:r>
          </a:p>
          <a:p/>
          <a:p>
            <a:r>
              <a:t>Expected Response (A):</a:t>
            </a:r>
          </a:p>
          <a:p>
            <a:r>
              <a:t>*Amber Tide* (Unit 18) = Gamaredon; *Seraph-3* = Cozy Bear.</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"Lunovia is the smaller, democratic state. Thirty-two million people, parliamentary republic, younger and more urban than Varensk. Their economy is diversified and *digital*. Their foreign policy is Western alignment, cyber resilience, digital sovereignty. In short — they look like the state we usually find ourselves defending."</a:t>
            </a:r>
          </a:p>
          <a:p/>
          <a:p>
            <a:r>
              <a:t>Show:</a:t>
            </a:r>
          </a:p>
          <a:p>
            <a:r>
              <a:t>The country-profile card.</a:t>
            </a:r>
          </a:p>
          <a:p/>
          <a:p>
            <a:r>
              <a:t>Do:</a:t>
            </a:r>
          </a:p>
          <a:p>
            <a:r>
              <a:t>Draw the parallel explicitly. Get a nod of understanding from the room.</a:t>
            </a:r>
          </a:p>
          <a:p/>
          <a:p>
            <a:r>
              <a:t>Image Prompt:</a:t>
            </a:r>
          </a:p>
          <a:p>
            <a:r>
              <a:t>A country-profile card matching Slide 3's layout, not a travel brochure. Left: a stylized flag bar in muted blues and greens. Right: fact-sheet labels only ("Population", "Capital", "Government", "Leader") with blank value lines. No climate, attractions, tourism, or "country name" placeholder map.</a:t>
            </a:r>
          </a:p>
          <a:p/>
          <a:p>
            <a:r>
              <a:t>Ask (Q):</a:t>
            </a:r>
          </a:p>
          <a:p>
            <a:r>
              <a:t>When we are the blue team, who are we in this scenario? When we plan DCO-RA out of blue-space, who are we?</a:t>
            </a:r>
          </a:p>
          <a:p/>
          <a:p>
            <a:r>
              <a:t>Expected Response (A):</a:t>
            </a:r>
          </a:p>
          <a:p>
            <a:r>
              <a:t>Blue team = Lunovia. DCO-RA out of blue-space = a Lunovian unit.</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"Lunovia's strategic posture is exactly where a lot of real-world partner nations sit — heavy investment in defensive cyber, lots of allied partnerships, strong territorial defense, and a cloud-heavy digital government. That cloud reliance is efficient, but it is also an attack surface we will revisit."</a:t>
            </a:r>
          </a:p>
          <a:p/>
          <a:p>
            <a:r>
              <a:t>Show:</a:t>
            </a:r>
          </a:p>
          <a:p>
            <a:r>
              <a:t>The bullets; linger on the last sub-bullet (cloud reliance).</a:t>
            </a:r>
          </a:p>
          <a:p/>
          <a:p>
            <a:r>
              <a:t>Do:</a:t>
            </a:r>
          </a:p>
          <a:p>
            <a:r>
              <a:t>Capture two or three answers on the board.</a:t>
            </a:r>
          </a:p>
          <a:p/>
          <a:p>
            <a:r>
              <a:t>Image Prompt:</a:t>
            </a:r>
          </a:p>
          <a:p>
            <a:r>
              <a:t>No image required for this slide.</a:t>
            </a:r>
          </a:p>
          <a:p/>
          <a:p>
            <a:r>
              <a:t>Ask (Q):</a:t>
            </a:r>
          </a:p>
          <a:p>
            <a:r>
              <a:t>Name one thing you would target first if you were Varensk and you wanted to rattle Lunovia without triggering a kinetic response.</a:t>
            </a:r>
          </a:p>
          <a:p/>
          <a:p>
            <a:r>
              <a:t>Expected Response (A):</a:t>
            </a:r>
          </a:p>
          <a:p>
            <a:r>
              <a:t>Facilitation only. Cloud, energy, telecom, or hydro on the Vel River are on-scenario. Do not grade a single correct target.</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"Lunovia's defensive cyber structure has three pillars. NCDA runs the CERT and defends government networks. DIPC guards critical infrastructure sectors and includes a volunteer cyber auxiliary. And their foreign partnerships provide intelligence sharing and joint exercises. If you are playing blue, you are probably in NCDA or DIPC."</a:t>
            </a:r>
          </a:p>
          <a:p/>
          <a:p>
            <a:r>
              <a:t>Show:</a:t>
            </a:r>
          </a:p>
          <a:p>
            <a:r>
              <a:t>The three-pillar diagram.</a:t>
            </a:r>
          </a:p>
          <a:p/>
          <a:p>
            <a:r>
              <a:t>Do:</a:t>
            </a:r>
          </a:p>
          <a:p>
            <a:r>
              <a:t>Use the answers to set CPT assignment lanes (NCDA or DIPC).</a:t>
            </a:r>
          </a:p>
          <a:p/>
          <a:p>
            <a:r>
              <a:t>Image Prompt:</a:t>
            </a:r>
          </a:p>
          <a:p>
            <a:r>
              <a:t>A three-pillar organizational diagram for Lunovia's defense, styled as a mirror of Slide 5's Varensk diagram. Pillars labeled "NCDA — National Cyber Defense Agency", "DIPC — Digital Infrastructure Protection Corps", and "Foreign Partnerships". Do not invent other expansions (not coastal defense, not intelligence planning command).</a:t>
            </a:r>
          </a:p>
          <a:p/>
          <a:p>
            <a:r>
              <a:t>Ask (Q):</a:t>
            </a:r>
          </a:p>
          <a:p>
            <a:r>
              <a:t>Which Lunovian pillar would you most likely be assigned to as CPT operators?</a:t>
            </a:r>
          </a:p>
          <a:p/>
          <a:p>
            <a:r>
              <a:t>Expected Response (A):</a:t>
            </a:r>
          </a:p>
          <a:p>
            <a:r>
              <a:t>Facilitation only. NCDA or DIPC are the expected lanes from the Say script.</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"Last slide. This is the network. Study it. Planning uses this terrain. Recon scans it. On-target work lives inside it. Agentic workflows automate against it. Varensk units are the opposition; Lunovia is the defender; you are the counter-strike operator."</a:t>
            </a:r>
          </a:p>
          <a:p/>
          <a:p>
            <a:r>
              <a:t>Show:</a:t>
            </a:r>
          </a:p>
          <a:p>
            <a:r>
              <a:t>Project `../../scenario/maps/network-diagram.png` full-screen. Walk subnets, zones, and key hosts.</a:t>
            </a:r>
          </a:p>
          <a:p/>
          <a:p>
            <a:r>
              <a:t>Do:</a:t>
            </a:r>
          </a:p>
          <a:p>
            <a:r>
              <a:t>Give the room **5 minutes** of quiet time to trace the diagram. Collect the questions — they seed later planning discussion.</a:t>
            </a:r>
          </a:p>
          <a:p/>
          <a:p>
            <a:r>
              <a:t>Image Prompt:</a:t>
            </a:r>
          </a:p>
          <a:p>
            <a:r>
              <a:t>No image required for this slide.</a:t>
            </a:r>
          </a:p>
          <a:p/>
          <a:p>
            <a:r>
              <a:t>Ask (Q):</a:t>
            </a:r>
          </a:p>
          <a:p>
            <a:r>
              <a:t>After tracing the diagram, write down three questions about this network.</a:t>
            </a:r>
          </a:p>
          <a:p>
            <a:r>
              <a:t>Why is the scenario fictional?</a:t>
            </a:r>
          </a:p>
          <a:p>
            <a:r>
              <a:t>Name Varensk's three cyber directorates and one unit you will see again.</a:t>
            </a:r>
          </a:p>
          <a:p>
            <a:r>
              <a:t>Which operational-environment elements on the Lunovian side will impact later planning?</a:t>
            </a:r>
          </a:p>
          <a:p/>
          <a:p>
            <a:r>
              <a:t>Expected Response (A):</a:t>
            </a:r>
          </a:p>
          <a:p>
            <a:r>
              <a:t>Facilitation only. Collect questions; no target answers.</a:t>
            </a:r>
          </a:p>
          <a:p>
            <a:r>
              <a:t>## Lesson summary</a:t>
            </a:r>
          </a:p>
          <a:p>
            <a:r>
              <a:t>The course uses one fictional setting so every block shares a common target, terrain, and adversary without classification problems.</a:t>
            </a:r>
          </a:p>
          <a:p>
            <a:r>
              <a:t>**Varensk** is the authoritarian adversary: three cyber directorates (D7, EIS, ISB) and named units with C2 assignments and real-world analogues (*Amber Tide* / Gamaredon; *Seraph-3* / Cozy Bear).</a:t>
            </a:r>
          </a:p>
          <a:p>
            <a:r>
              <a:t>**Lunovia** is the defender: NCDA, DIPC, foreign partnerships, and heavy cloud reliance. Blue team = Lunovia; DCO-RA out of blue-space = a Lunovian unit.</a:t>
            </a:r>
          </a:p>
          <a:p>
            <a:r>
              <a:t>The course network diagram is the terrain for planning, tradecraft, on-target, and agentic work.</a:t>
            </a:r>
          </a:p>
          <a:p>
            <a:r>
              <a:t>## Questions and check on learning</a:t>
            </a:r>
          </a:p>
          <a:p>
            <a:r>
              <a:t>Classification / attribution safety, and a common target-terrain-adversary for every block.</a:t>
            </a:r>
          </a:p>
          <a:p>
            <a:r>
              <a:t>D7, EIS, ISB. Accept any listed unit; *Amber Tide* and *Seraph-3* are the analogues called out on Slide 6.</a:t>
            </a:r>
          </a:p>
          <a:p>
            <a:r>
              <a:t>Steer toward cloud reliance, NCDA/DIPC structure, Lunovian Corridor / Vel River / Western Highlands, and the course network diagram as terrain.</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5"/>
        <p:cNvGrpSpPr/>
        <p:nvPr/>
      </p:nvGrpSpPr>
      <p:grpSpPr>
        <a:xfrm>
          <a:off x="0" y="0"/>
          <a:ext cx="0" cy="0"/>
          <a:chOff x="0" y="0"/>
          <a:chExt cx="0" cy="0"/>
        </a:xfrm>
      </p:grpSpPr>
      <p:sp>
        <p:nvSpPr>
          <p:cNvPr id="46" name="Google Shape;46;p79"/>
          <p:cNvSpPr txBox="1">
            <a:spLocks noGrp="1"/>
          </p:cNvSpPr>
          <p:nvPr>
            <p:ph type="ctrTitle"/>
          </p:nvPr>
        </p:nvSpPr>
        <p:spPr>
          <a:xfrm>
            <a:off x="2062480" y="898843"/>
            <a:ext cx="9144000" cy="23876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40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89"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7"/>
        <p:cNvGrpSpPr/>
        <p:nvPr/>
      </p:nvGrpSpPr>
      <p:grpSpPr>
        <a:xfrm>
          <a:off x="0" y="0"/>
          <a:ext cx="0" cy="0"/>
          <a:chOff x="0" y="0"/>
          <a:chExt cx="0" cy="0"/>
        </a:xfrm>
      </p:grpSpPr>
      <p:sp>
        <p:nvSpPr>
          <p:cNvPr id="48" name="Google Shape;48;p8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49" name="Google Shape;49;p8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0" name="Google Shape;50;p8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1" name="Google Shape;51;p80"/>
          <p:cNvSpPr txBox="1">
            <a:spLocks noGrp="1"/>
          </p:cNvSpPr>
          <p:nvPr>
            <p:ph type="title"/>
          </p:nvPr>
        </p:nvSpPr>
        <p:spPr>
          <a:xfrm>
            <a:off x="1510029" y="437317"/>
            <a:ext cx="10681971"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0"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
        <p:cNvGrpSpPr/>
        <p:nvPr/>
      </p:nvGrpSpPr>
      <p:grpSpPr>
        <a:xfrm>
          <a:off x="0" y="0"/>
          <a:ext cx="0" cy="0"/>
          <a:chOff x="0" y="0"/>
          <a:chExt cx="0" cy="0"/>
        </a:xfrm>
      </p:grpSpPr>
      <p:sp>
        <p:nvSpPr>
          <p:cNvPr id="53" name="Google Shape;53;p82"/>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4" name="Google Shape;54;p82"/>
          <p:cNvSpPr txBox="1">
            <a:spLocks noGrp="1"/>
          </p:cNvSpPr>
          <p:nvPr>
            <p:ph type="body" idx="1"/>
          </p:nvPr>
        </p:nvSpPr>
        <p:spPr>
          <a:xfrm>
            <a:off x="1723854" y="3429000"/>
            <a:ext cx="9963493" cy="2128400"/>
          </a:xfrm>
          <a:prstGeom prst="rect">
            <a:avLst/>
          </a:prstGeom>
          <a:noFill/>
          <a:ln>
            <a:noFill/>
          </a:ln>
        </p:spPr>
        <p:txBody>
          <a:bodyPr spcFirstLastPara="1" wrap="square" lIns="91425" tIns="91425" rIns="91425" bIns="91425" anchor="t" anchorCtr="0">
            <a:noAutofit/>
          </a:bodyPr>
          <a:lstStyle>
            <a:lvl1pPr marL="457200" marR="0" lvl="0" indent="-228600" algn="ctr">
              <a:lnSpc>
                <a:spcPct val="90000"/>
              </a:lnSpc>
              <a:spcBef>
                <a:spcPts val="800"/>
              </a:spcBef>
              <a:spcAft>
                <a:spcPts val="0"/>
              </a:spcAft>
              <a:buClr>
                <a:srgbClr val="888888"/>
              </a:buClr>
              <a:buSzPts val="1600"/>
              <a:buFont typeface="Arial"/>
              <a:buNone/>
              <a:defRPr sz="1800" b="0" i="0" u="none" strike="noStrike" cap="none">
                <a:solidFill>
                  <a:srgbClr val="888888"/>
                </a:solidFill>
                <a:latin typeface="Arial"/>
                <a:ea typeface="Arial"/>
                <a:cs typeface="Arial"/>
                <a:sym typeface="Arial"/>
              </a:defRPr>
            </a:lvl1pPr>
            <a:lvl2pPr marL="914400" marR="0" lvl="1" indent="-228600" algn="l">
              <a:lnSpc>
                <a:spcPct val="90000"/>
              </a:lnSpc>
              <a:spcBef>
                <a:spcPts val="400"/>
              </a:spcBef>
              <a:spcAft>
                <a:spcPts val="0"/>
              </a:spcAft>
              <a:buClr>
                <a:srgbClr val="888888"/>
              </a:buClr>
              <a:buSzPts val="1400"/>
              <a:buFont typeface="Arial"/>
              <a:buNone/>
              <a:defRPr sz="1467"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100"/>
              <a:buFont typeface="Arial"/>
              <a:buNone/>
              <a:defRPr sz="1333"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9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83"/>
          <p:cNvSpPr txBox="1">
            <a:spLocks noGrp="1"/>
          </p:cNvSpPr>
          <p:nvPr>
            <p:ph type="title"/>
          </p:nvPr>
        </p:nvSpPr>
        <p:spPr>
          <a:xfrm>
            <a:off x="1363362" y="952052"/>
            <a:ext cx="10142837" cy="622748"/>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7" name="Google Shape;57;p83"/>
          <p:cNvSpPr txBox="1">
            <a:spLocks noGrp="1"/>
          </p:cNvSpPr>
          <p:nvPr>
            <p:ph type="body" idx="1"/>
          </p:nvPr>
        </p:nvSpPr>
        <p:spPr>
          <a:xfrm>
            <a:off x="4720611" y="1574799"/>
            <a:ext cx="7091600" cy="4781253"/>
          </a:xfrm>
          <a:prstGeom prst="rect">
            <a:avLst/>
          </a:prstGeom>
          <a:noFill/>
          <a:ln>
            <a:noFill/>
          </a:ln>
        </p:spPr>
        <p:txBody>
          <a:bodyPr spcFirstLastPara="1" wrap="square" lIns="91425" tIns="91425" rIns="91425" bIns="91425" anchor="t" anchorCtr="0">
            <a:noAutofit/>
          </a:bodyPr>
          <a:lstStyle>
            <a:lvl1pPr marL="457200" marR="0" lvl="0" indent="-342900" algn="l">
              <a:lnSpc>
                <a:spcPct val="90000"/>
              </a:lnSpc>
              <a:spcBef>
                <a:spcPts val="800"/>
              </a:spcBef>
              <a:spcAft>
                <a:spcPts val="0"/>
              </a:spcAft>
              <a:buClr>
                <a:schemeClr val="dk1"/>
              </a:buClr>
              <a:buSzPts val="1800"/>
              <a:buFont typeface="Arial"/>
              <a:buChar char="•"/>
              <a:defRPr sz="2667" b="0" i="0" u="none" strike="noStrike" cap="none">
                <a:solidFill>
                  <a:srgbClr val="00004C"/>
                </a:solidFill>
                <a:latin typeface="Arial"/>
                <a:ea typeface="Arial"/>
                <a:cs typeface="Arial"/>
                <a:sym typeface="Arial"/>
              </a:defRPr>
            </a:lvl1pPr>
            <a:lvl2pPr marL="914400" marR="0" lvl="1" indent="-330200" algn="l">
              <a:lnSpc>
                <a:spcPct val="90000"/>
              </a:lnSpc>
              <a:spcBef>
                <a:spcPts val="4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2pPr>
            <a:lvl3pPr marL="1371600" marR="0" lvl="2" indent="-317500" algn="l">
              <a:lnSpc>
                <a:spcPct val="90000"/>
              </a:lnSpc>
              <a:spcBef>
                <a:spcPts val="400"/>
              </a:spcBef>
              <a:spcAft>
                <a:spcPts val="0"/>
              </a:spcAft>
              <a:buClr>
                <a:schemeClr val="dk1"/>
              </a:buClr>
              <a:buSzPts val="1400"/>
              <a:buFont typeface="Arial"/>
              <a:buChar char="•"/>
              <a:defRPr sz="2133" b="0" i="0" u="none" strike="noStrike" cap="none">
                <a:solidFill>
                  <a:srgbClr val="00004C"/>
                </a:solidFill>
                <a:latin typeface="Arial"/>
                <a:ea typeface="Arial"/>
                <a:cs typeface="Arial"/>
                <a:sym typeface="Arial"/>
              </a:defRPr>
            </a:lvl3pPr>
            <a:lvl4pPr marL="1828800" marR="0" lvl="3"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4pPr>
            <a:lvl5pPr marL="2286000" marR="0" lvl="4"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5pPr>
            <a:lvl6pPr marL="2743200" marR="0" lvl="5"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6pPr>
            <a:lvl7pPr marL="3200400" marR="0" lvl="6"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7pPr>
            <a:lvl8pPr marL="3657600" marR="0" lvl="7"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8pPr>
            <a:lvl9pPr marL="4114800" marR="0" lvl="8"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9pPr>
          </a:lstStyle>
          <a:p>
            <a:endParaRPr dirty="0"/>
          </a:p>
        </p:txBody>
      </p:sp>
      <p:sp>
        <p:nvSpPr>
          <p:cNvPr id="58" name="Google Shape;58;p83"/>
          <p:cNvSpPr txBox="1">
            <a:spLocks noGrp="1"/>
          </p:cNvSpPr>
          <p:nvPr>
            <p:ph type="body" idx="2"/>
          </p:nvPr>
        </p:nvSpPr>
        <p:spPr>
          <a:xfrm>
            <a:off x="1363363" y="1582599"/>
            <a:ext cx="3098248" cy="4781253"/>
          </a:xfrm>
          <a:prstGeom prst="rect">
            <a:avLst/>
          </a:prstGeom>
          <a:noFill/>
          <a:ln>
            <a:noFill/>
          </a:ln>
        </p:spPr>
        <p:txBody>
          <a:bodyPr spcFirstLastPara="1" wrap="square" lIns="91425" tIns="91425" rIns="91425" bIns="91425" anchor="t" anchorCtr="0">
            <a:noAutofit/>
          </a:bodyPr>
          <a:lstStyle>
            <a:lvl1pPr marL="457200" marR="0" lvl="0" indent="-228600" algn="l">
              <a:lnSpc>
                <a:spcPct val="90000"/>
              </a:lnSpc>
              <a:spcBef>
                <a:spcPts val="800"/>
              </a:spcBef>
              <a:spcAft>
                <a:spcPts val="0"/>
              </a:spcAft>
              <a:buClr>
                <a:schemeClr val="dk1"/>
              </a:buClr>
              <a:buSzPts val="1600"/>
              <a:buFont typeface="Arial" panose="020B0604020202020204" pitchFamily="34" charset="0"/>
              <a:buChar char="•"/>
              <a:defRPr sz="1867" b="0"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067" b="0"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933" b="0"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9pPr>
          </a:lstStyle>
          <a:p>
            <a:endParaRPr dirty="0"/>
          </a:p>
        </p:txBody>
      </p:sp>
      <p:sp>
        <p:nvSpPr>
          <p:cNvPr id="92"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59"/>
        <p:cNvGrpSpPr/>
        <p:nvPr/>
      </p:nvGrpSpPr>
      <p:grpSpPr>
        <a:xfrm>
          <a:off x="0" y="0"/>
          <a:ext cx="0" cy="0"/>
          <a:chOff x="0" y="0"/>
          <a:chExt cx="0" cy="0"/>
        </a:xfrm>
      </p:grpSpPr>
      <p:sp>
        <p:nvSpPr>
          <p:cNvPr id="60" name="Google Shape;60;p84"/>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93"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1_Title and Content 2">
    <p:spTree>
      <p:nvGrpSpPr>
        <p:cNvPr id="1" name="Shape 61"/>
        <p:cNvGrpSpPr/>
        <p:nvPr/>
      </p:nvGrpSpPr>
      <p:grpSpPr>
        <a:xfrm>
          <a:off x="0" y="0"/>
          <a:ext cx="0" cy="0"/>
          <a:chOff x="0" y="0"/>
          <a:chExt cx="0" cy="0"/>
        </a:xfrm>
      </p:grpSpPr>
      <p:sp>
        <p:nvSpPr>
          <p:cNvPr id="62" name="Google Shape;62;p85"/>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63" name="Google Shape;63;p85"/>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4" name="Google Shape;64;p85"/>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5" name="Google Shape;65;p85"/>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4"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86"/>
          <p:cNvSpPr txBox="1">
            <a:spLocks noGrp="1"/>
          </p:cNvSpPr>
          <p:nvPr>
            <p:ph type="body" idx="1"/>
          </p:nvPr>
        </p:nvSpPr>
        <p:spPr>
          <a:xfrm>
            <a:off x="1141622" y="1000540"/>
            <a:ext cx="4874101" cy="4768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dirty="0"/>
          </a:p>
        </p:txBody>
      </p:sp>
      <p:sp>
        <p:nvSpPr>
          <p:cNvPr id="68" name="Google Shape;68;p86"/>
          <p:cNvSpPr txBox="1">
            <a:spLocks noGrp="1"/>
          </p:cNvSpPr>
          <p:nvPr>
            <p:ph type="body" idx="2"/>
          </p:nvPr>
        </p:nvSpPr>
        <p:spPr>
          <a:xfrm>
            <a:off x="1141621" y="1582321"/>
            <a:ext cx="4854344"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sp>
        <p:nvSpPr>
          <p:cNvPr id="69" name="Google Shape;69;p86"/>
          <p:cNvSpPr txBox="1">
            <a:spLocks noGrp="1"/>
          </p:cNvSpPr>
          <p:nvPr>
            <p:ph type="body" idx="3"/>
          </p:nvPr>
        </p:nvSpPr>
        <p:spPr>
          <a:xfrm>
            <a:off x="6195272" y="1000540"/>
            <a:ext cx="5603200" cy="4900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70" name="Google Shape;70;p86"/>
          <p:cNvSpPr txBox="1">
            <a:spLocks noGrp="1"/>
          </p:cNvSpPr>
          <p:nvPr>
            <p:ph type="body" idx="4"/>
          </p:nvPr>
        </p:nvSpPr>
        <p:spPr>
          <a:xfrm>
            <a:off x="6199877" y="1582323"/>
            <a:ext cx="5598400"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cxnSp>
        <p:nvCxnSpPr>
          <p:cNvPr id="71" name="Google Shape;71;p86"/>
          <p:cNvCxnSpPr/>
          <p:nvPr/>
        </p:nvCxnSpPr>
        <p:spPr>
          <a:xfrm>
            <a:off x="1141622" y="974035"/>
            <a:ext cx="10830241" cy="0"/>
          </a:xfrm>
          <a:prstGeom prst="straightConnector1">
            <a:avLst/>
          </a:prstGeom>
          <a:noFill/>
          <a:ln w="9525" cap="flat" cmpd="sng">
            <a:solidFill>
              <a:srgbClr val="BFBFBF"/>
            </a:solidFill>
            <a:prstDash val="solid"/>
            <a:miter lim="0"/>
            <a:headEnd type="none" w="sm" len="sm"/>
            <a:tailEnd type="none" w="sm" len="sm"/>
          </a:ln>
        </p:spPr>
      </p:cxnSp>
      <p:cxnSp>
        <p:nvCxnSpPr>
          <p:cNvPr id="72" name="Google Shape;72;p86"/>
          <p:cNvCxnSpPr/>
          <p:nvPr/>
        </p:nvCxnSpPr>
        <p:spPr>
          <a:xfrm>
            <a:off x="6095137" y="974035"/>
            <a:ext cx="800" cy="5382400"/>
          </a:xfrm>
          <a:prstGeom prst="straightConnector1">
            <a:avLst/>
          </a:prstGeom>
          <a:noFill/>
          <a:ln w="9525" cap="flat" cmpd="sng">
            <a:solidFill>
              <a:srgbClr val="BFBFBF"/>
            </a:solidFill>
            <a:prstDash val="solid"/>
            <a:miter lim="0"/>
            <a:headEnd type="none" w="sm" len="sm"/>
            <a:tailEnd type="none" w="sm" len="sm"/>
          </a:ln>
        </p:spPr>
      </p:cxnSp>
      <p:cxnSp>
        <p:nvCxnSpPr>
          <p:cNvPr id="73" name="Google Shape;73;p86"/>
          <p:cNvCxnSpPr/>
          <p:nvPr/>
        </p:nvCxnSpPr>
        <p:spPr>
          <a:xfrm>
            <a:off x="1141621" y="1504121"/>
            <a:ext cx="10830240" cy="0"/>
          </a:xfrm>
          <a:prstGeom prst="straightConnector1">
            <a:avLst/>
          </a:prstGeom>
          <a:noFill/>
          <a:ln w="9525" cap="flat" cmpd="sng">
            <a:solidFill>
              <a:srgbClr val="BFBFBF"/>
            </a:solidFill>
            <a:prstDash val="solid"/>
            <a:miter lim="0"/>
            <a:headEnd type="none" w="sm" len="sm"/>
            <a:tailEnd type="none" w="sm" len="sm"/>
          </a:ln>
        </p:spPr>
      </p:cxnSp>
      <p:sp>
        <p:nvSpPr>
          <p:cNvPr id="74" name="Google Shape;74;p86"/>
          <p:cNvSpPr txBox="1">
            <a:spLocks noGrp="1"/>
          </p:cNvSpPr>
          <p:nvPr>
            <p:ph type="title"/>
          </p:nvPr>
        </p:nvSpPr>
        <p:spPr>
          <a:xfrm>
            <a:off x="1141621" y="326173"/>
            <a:ext cx="10656656"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5"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5"/>
        <p:cNvGrpSpPr/>
        <p:nvPr/>
      </p:nvGrpSpPr>
      <p:grpSpPr>
        <a:xfrm>
          <a:off x="0" y="0"/>
          <a:ext cx="0" cy="0"/>
          <a:chOff x="0" y="0"/>
          <a:chExt cx="0" cy="0"/>
        </a:xfrm>
      </p:grpSpPr>
      <p:sp>
        <p:nvSpPr>
          <p:cNvPr id="76" name="Google Shape;76;p87"/>
          <p:cNvSpPr txBox="1">
            <a:spLocks noGrp="1"/>
          </p:cNvSpPr>
          <p:nvPr>
            <p:ph type="title"/>
          </p:nvPr>
        </p:nvSpPr>
        <p:spPr>
          <a:xfrm>
            <a:off x="1301577" y="458775"/>
            <a:ext cx="10467243" cy="684225"/>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77" name="Google Shape;77;p87"/>
          <p:cNvSpPr>
            <a:spLocks noGrp="1"/>
          </p:cNvSpPr>
          <p:nvPr>
            <p:ph type="pic" idx="2"/>
          </p:nvPr>
        </p:nvSpPr>
        <p:spPr>
          <a:xfrm>
            <a:off x="4666821" y="1142999"/>
            <a:ext cx="7102000" cy="5256025"/>
          </a:xfrm>
          <a:prstGeom prst="rect">
            <a:avLst/>
          </a:prstGeom>
          <a:noFill/>
          <a:ln>
            <a:noFill/>
          </a:ln>
        </p:spPr>
        <p:txBody>
          <a:bodyPr/>
          <a:lstStyle/>
          <a:p>
            <a:endParaRPr/>
          </a:p>
        </p:txBody>
      </p:sp>
      <p:sp>
        <p:nvSpPr>
          <p:cNvPr id="78" name="Google Shape;78;p87"/>
          <p:cNvSpPr txBox="1">
            <a:spLocks noGrp="1"/>
          </p:cNvSpPr>
          <p:nvPr>
            <p:ph type="body" idx="1"/>
          </p:nvPr>
        </p:nvSpPr>
        <p:spPr>
          <a:xfrm>
            <a:off x="1301578" y="1142999"/>
            <a:ext cx="3061420" cy="5256226"/>
          </a:xfrm>
          <a:prstGeom prst="rect">
            <a:avLst/>
          </a:prstGeom>
          <a:noFill/>
          <a:ln>
            <a:noFill/>
          </a:ln>
        </p:spPr>
        <p:txBody>
          <a:bodyPr spcFirstLastPara="1" wrap="square" lIns="91425" tIns="91425" rIns="91425" bIns="91425" anchor="t" anchorCtr="0">
            <a:noAutofit/>
          </a:bodyPr>
          <a:lstStyle>
            <a:lvl1pPr marL="457200" lvl="0" indent="-330200" algn="l">
              <a:lnSpc>
                <a:spcPct val="90000"/>
              </a:lnSpc>
              <a:spcBef>
                <a:spcPts val="600"/>
              </a:spcBef>
              <a:spcAft>
                <a:spcPts val="0"/>
              </a:spcAft>
              <a:buSzPts val="1600"/>
              <a:buChar char="•"/>
              <a:defRPr sz="1867">
                <a:solidFill>
                  <a:srgbClr val="00004C"/>
                </a:solidFill>
                <a:latin typeface="Arial"/>
                <a:ea typeface="Arial"/>
                <a:cs typeface="Arial"/>
                <a:sym typeface="Arial"/>
              </a:defRPr>
            </a:lvl1pPr>
            <a:lvl2pPr marL="914400" lvl="1" indent="-317500" algn="l">
              <a:lnSpc>
                <a:spcPct val="90000"/>
              </a:lnSpc>
              <a:spcBef>
                <a:spcPts val="300"/>
              </a:spcBef>
              <a:spcAft>
                <a:spcPts val="0"/>
              </a:spcAft>
              <a:buSzPts val="1400"/>
              <a:buChar char="•"/>
              <a:defRPr/>
            </a:lvl2pPr>
            <a:lvl3pPr marL="1371600" lvl="2" indent="-298450" algn="l">
              <a:lnSpc>
                <a:spcPct val="90000"/>
              </a:lnSpc>
              <a:spcBef>
                <a:spcPts val="300"/>
              </a:spcBef>
              <a:spcAft>
                <a:spcPts val="0"/>
              </a:spcAft>
              <a:buSzPts val="1100"/>
              <a:buChar char="•"/>
              <a:defRPr/>
            </a:lvl3pPr>
            <a:lvl4pPr marL="1828800" lvl="3" indent="-292100" algn="l">
              <a:lnSpc>
                <a:spcPct val="90000"/>
              </a:lnSpc>
              <a:spcBef>
                <a:spcPts val="300"/>
              </a:spcBef>
              <a:spcAft>
                <a:spcPts val="0"/>
              </a:spcAft>
              <a:buSzPts val="1000"/>
              <a:buChar char="•"/>
              <a:defRPr/>
            </a:lvl4pPr>
            <a:lvl5pPr marL="2286000" lvl="4" indent="-292100" algn="l">
              <a:lnSpc>
                <a:spcPct val="90000"/>
              </a:lnSpc>
              <a:spcBef>
                <a:spcPts val="300"/>
              </a:spcBef>
              <a:spcAft>
                <a:spcPts val="0"/>
              </a:spcAft>
              <a:buSzPts val="1000"/>
              <a:buChar char="•"/>
              <a:defRPr/>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96"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Title Slide">
  <p:cSld name="11_Title Slide">
    <p:spTree>
      <p:nvGrpSpPr>
        <p:cNvPr id="1" name="Shape 79"/>
        <p:cNvGrpSpPr/>
        <p:nvPr/>
      </p:nvGrpSpPr>
      <p:grpSpPr>
        <a:xfrm>
          <a:off x="0" y="0"/>
          <a:ext cx="0" cy="0"/>
          <a:chOff x="0" y="0"/>
          <a:chExt cx="0" cy="0"/>
        </a:xfrm>
      </p:grpSpPr>
      <p:sp>
        <p:nvSpPr>
          <p:cNvPr id="80" name="Google Shape;80;p88"/>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8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ster Use">
  <p:cSld name="Master Use">
    <p:spTree>
      <p:nvGrpSpPr>
        <p:cNvPr id="1" name="Shape 82"/>
        <p:cNvGrpSpPr/>
        <p:nvPr/>
      </p:nvGrpSpPr>
      <p:grpSpPr>
        <a:xfrm>
          <a:off x="0" y="0"/>
          <a:ext cx="0" cy="0"/>
          <a:chOff x="0" y="0"/>
          <a:chExt cx="0" cy="0"/>
        </a:xfrm>
      </p:grpSpPr>
      <p:sp>
        <p:nvSpPr>
          <p:cNvPr id="83" name="Google Shape;83;p89"/>
          <p:cNvSpPr txBox="1">
            <a:spLocks noGrp="1"/>
          </p:cNvSpPr>
          <p:nvPr>
            <p:ph type="title"/>
          </p:nvPr>
        </p:nvSpPr>
        <p:spPr>
          <a:xfrm>
            <a:off x="1278542" y="429225"/>
            <a:ext cx="10898083"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7"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3">
    <p:spTree>
      <p:nvGrpSpPr>
        <p:cNvPr id="1" name="Shape 84"/>
        <p:cNvGrpSpPr/>
        <p:nvPr/>
      </p:nvGrpSpPr>
      <p:grpSpPr>
        <a:xfrm>
          <a:off x="0" y="0"/>
          <a:ext cx="0" cy="0"/>
          <a:chOff x="0" y="0"/>
          <a:chExt cx="0" cy="0"/>
        </a:xfrm>
      </p:grpSpPr>
      <p:sp>
        <p:nvSpPr>
          <p:cNvPr id="85" name="Google Shape;85;p9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86" name="Google Shape;86;p9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7" name="Google Shape;87;p9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8" name="Google Shape;88;p90"/>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8"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14" Type="http://schemas.openxmlformats.org/officeDocument/2006/relationships/image" Target="../media/image2.png"/><Relationship Id="rId1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8"/>
          <p:cNvSpPr/>
          <p:nvPr/>
        </p:nvSpPr>
        <p:spPr>
          <a:xfrm>
            <a:off x="-1" y="-20168"/>
            <a:ext cx="12192000" cy="263700"/>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1" name="Google Shape;11;p78"/>
          <p:cNvSpPr/>
          <p:nvPr/>
        </p:nvSpPr>
        <p:spPr>
          <a:xfrm>
            <a:off x="1" y="243443"/>
            <a:ext cx="1128108" cy="6614557"/>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2" name="Google Shape;12;p78"/>
          <p:cNvSpPr txBox="1">
            <a:spLocks noGrp="1"/>
          </p:cNvSpPr>
          <p:nvPr>
            <p:ph type="title"/>
          </p:nvPr>
        </p:nvSpPr>
        <p:spPr>
          <a:xfrm>
            <a:off x="1189403" y="646322"/>
            <a:ext cx="10682000" cy="579876"/>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 name="Google Shape;13;p78"/>
          <p:cNvSpPr txBox="1">
            <a:spLocks noGrp="1"/>
          </p:cNvSpPr>
          <p:nvPr>
            <p:ph type="body" idx="1"/>
          </p:nvPr>
        </p:nvSpPr>
        <p:spPr>
          <a:xfrm>
            <a:off x="1189401" y="1384879"/>
            <a:ext cx="10682000" cy="485801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90000"/>
              </a:lnSpc>
              <a:spcBef>
                <a:spcPts val="600"/>
              </a:spcBef>
              <a:spcAft>
                <a:spcPts val="0"/>
              </a:spcAft>
              <a:buClr>
                <a:srgbClr val="000000"/>
              </a:buClr>
              <a:buSzPts val="1600"/>
              <a:buFont typeface="Arial"/>
              <a:buChar char="•"/>
              <a:defRPr sz="1600" b="0" i="0" u="none" strike="noStrike" cap="none">
                <a:solidFill>
                  <a:srgbClr val="000000"/>
                </a:solidFill>
                <a:latin typeface="Arial"/>
                <a:ea typeface="Arial"/>
                <a:cs typeface="Arial"/>
                <a:sym typeface="Arial"/>
              </a:defRPr>
            </a:lvl1pPr>
            <a:lvl2pPr marL="914400" marR="0" lvl="1" indent="-317500" algn="l" rtl="0">
              <a:lnSpc>
                <a:spcPct val="90000"/>
              </a:lnSpc>
              <a:spcBef>
                <a:spcPts val="3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298450" algn="l" rtl="0">
              <a:lnSpc>
                <a:spcPct val="9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4pPr>
            <a:lvl5pPr marL="2286000" marR="0" lvl="4"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5pPr>
            <a:lvl6pPr marL="2743200" marR="0" lvl="5"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6pPr>
            <a:lvl7pPr marL="3200400" marR="0" lvl="6"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7pPr>
            <a:lvl8pPr marL="3657600" marR="0" lvl="7"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8pPr>
            <a:lvl9pPr marL="4114800" marR="0" lvl="8"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9pPr>
          </a:lstStyle>
          <a:p>
            <a:endParaRPr/>
          </a:p>
        </p:txBody>
      </p:sp>
      <p:sp>
        <p:nvSpPr>
          <p:cNvPr id="14" name="Google Shape;14;p78"/>
          <p:cNvSpPr txBox="1">
            <a:spLocks noGrp="1"/>
          </p:cNvSpPr>
          <p:nvPr>
            <p:ph type="sldNum" idx="12"/>
          </p:nvPr>
        </p:nvSpPr>
        <p:spPr>
          <a:xfrm>
            <a:off x="10058399" y="6641435"/>
            <a:ext cx="2133600" cy="22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78"/>
          <p:cNvSpPr/>
          <p:nvPr/>
        </p:nvSpPr>
        <p:spPr>
          <a:xfrm>
            <a:off x="-2" y="6594389"/>
            <a:ext cx="12191999" cy="263611"/>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grpSp>
        <p:nvGrpSpPr>
          <p:cNvPr id="16" name="Google Shape;16;p78"/>
          <p:cNvGrpSpPr/>
          <p:nvPr/>
        </p:nvGrpSpPr>
        <p:grpSpPr>
          <a:xfrm>
            <a:off x="254537" y="37012"/>
            <a:ext cx="4123292" cy="140365"/>
            <a:chOff x="5526083" y="4992009"/>
            <a:chExt cx="3092469" cy="105274"/>
          </a:xfrm>
        </p:grpSpPr>
        <p:sp>
          <p:nvSpPr>
            <p:cNvPr id="17" name="Google Shape;17;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 name="Google Shape;18;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 name="Google Shape;19;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0" name="Google Shape;20;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1" name="Google Shape;21;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2" name="Google Shape;22;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3" name="Google Shape;23;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4" name="Google Shape;24;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 name="Google Shape;25;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6" name="Google Shape;26;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7" name="Google Shape;27;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28" name="Google Shape;28;p78"/>
          <p:cNvSpPr txBox="1"/>
          <p:nvPr/>
        </p:nvSpPr>
        <p:spPr>
          <a:xfrm flipH="1">
            <a:off x="1043632" y="6366806"/>
            <a:ext cx="4211863" cy="22158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sp>
        <p:nvSpPr>
          <p:cNvPr id="29" name="Google Shape;29;p78"/>
          <p:cNvSpPr txBox="1"/>
          <p:nvPr/>
        </p:nvSpPr>
        <p:spPr>
          <a:xfrm>
            <a:off x="5482963" y="207088"/>
            <a:ext cx="6767512" cy="21210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pic>
        <p:nvPicPr>
          <p:cNvPr id="30" name="Google Shape;30;p78"/>
          <p:cNvPicPr preferRelativeResize="0"/>
          <p:nvPr/>
        </p:nvPicPr>
        <p:blipFill rotWithShape="1">
          <a:blip r:embed="rId13">
            <a:alphaModFix/>
          </a:blip>
          <a:srcRect/>
          <a:stretch/>
        </p:blipFill>
        <p:spPr>
          <a:xfrm rot="-5400000">
            <a:off x="-2150855" y="3445521"/>
            <a:ext cx="5429815" cy="991170"/>
          </a:xfrm>
          <a:prstGeom prst="rect">
            <a:avLst/>
          </a:prstGeom>
          <a:noFill/>
          <a:ln>
            <a:noFill/>
          </a:ln>
        </p:spPr>
      </p:pic>
      <p:grpSp>
        <p:nvGrpSpPr>
          <p:cNvPr id="31" name="Google Shape;31;p78"/>
          <p:cNvGrpSpPr/>
          <p:nvPr/>
        </p:nvGrpSpPr>
        <p:grpSpPr>
          <a:xfrm>
            <a:off x="7996753" y="6659805"/>
            <a:ext cx="4123292" cy="140365"/>
            <a:chOff x="5526083" y="4992009"/>
            <a:chExt cx="3092469" cy="105274"/>
          </a:xfrm>
        </p:grpSpPr>
        <p:sp>
          <p:nvSpPr>
            <p:cNvPr id="32" name="Google Shape;32;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3" name="Google Shape;33;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4" name="Google Shape;34;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5" name="Google Shape;35;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6" name="Google Shape;36;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7" name="Google Shape;37;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8" name="Google Shape;38;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9" name="Google Shape;39;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0" name="Google Shape;40;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1" name="Google Shape;41;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2" name="Google Shape;42;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pic>
        <p:nvPicPr>
          <p:cNvPr id="43" name="Google Shape;43;p78" title="ACTEC_Logo_v2_Circle.png"/>
          <p:cNvPicPr preferRelativeResize="0"/>
          <p:nvPr/>
        </p:nvPicPr>
        <p:blipFill>
          <a:blip r:embed="rId14">
            <a:alphaModFix/>
          </a:blip>
          <a:stretch>
            <a:fillRect/>
          </a:stretch>
        </p:blipFill>
        <p:spPr>
          <a:xfrm>
            <a:off x="-118447" y="193555"/>
            <a:ext cx="1307427" cy="1010281"/>
          </a:xfrm>
          <a:prstGeom prst="rect">
            <a:avLst/>
          </a:prstGeom>
          <a:noFill/>
          <a:ln>
            <a:noFill/>
          </a:ln>
        </p:spPr>
      </p:pic>
      <p:pic>
        <p:nvPicPr>
          <p:cNvPr id="44" name="Google Shape;44;p78"/>
          <p:cNvPicPr preferRelativeResize="0"/>
          <p:nvPr/>
        </p:nvPicPr>
        <p:blipFill rotWithShape="1">
          <a:blip r:embed="rId15">
            <a:alphaModFix/>
          </a:blip>
          <a:srcRect/>
          <a:stretch/>
        </p:blipFill>
        <p:spPr>
          <a:xfrm>
            <a:off x="70930" y="1270922"/>
            <a:ext cx="928675" cy="9286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ormAutofit/>
          </a:bodyPr>
          <a:lstStyle/>
          <a:p>
            <a:pPr/>
            <a:r>
              <a:rPr sz="4400"/>
              <a:t>Scenario Brief</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Why We Use a Fictional Scenario</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A single, persistent, fictional setting for the whole course</a:t>
            </a:r>
          </a:p>
          <a:p>
            <a:pPr/>
            <a:r>
              <a:rPr sz="1800"/>
              <a:t>Lets us operate freely without classification or attribution issues</a:t>
            </a:r>
          </a:p>
          <a:p>
            <a:pPr/>
            <a:r>
              <a:rPr sz="1800"/>
              <a:t>Gives every block a </a:t>
            </a:r>
            <a:r>
              <a:rPr b="1" sz="1800"/>
              <a:t>common target, terrain, and adversary</a:t>
            </a:r>
          </a:p>
          <a:p>
            <a:pPr/>
            <a:r>
              <a:rPr sz="1800"/>
              <a:t>Both sides are deliberate caricatures of real-world archetypes — recognizable without being real</a:t>
            </a:r>
          </a:p>
        </p:txBody>
      </p:sp>
      <p:pic>
        <p:nvPicPr>
          <p:cNvPr id="5" name="Picture 4" descr="dd00e0ecade7e38cbc9e9cc8c3a234127b44fb5a42dee9908a822c6238ea086b.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The Conflict in Two Minutes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500"/>
              <a:t>Two neighboring states; long shared history</a:t>
            </a:r>
          </a:p>
          <a:p>
            <a:pPr/>
            <a:r>
              <a:rPr sz="1500"/>
              <a:t>Post-imperial break-up: </a:t>
            </a:r>
            <a:r>
              <a:rPr b="1" sz="1500"/>
              <a:t>Lunovia</a:t>
            </a:r>
            <a:r>
              <a:rPr sz="1500"/>
              <a:t> pivoted West; </a:t>
            </a:r>
            <a:r>
              <a:rPr b="1" sz="1500"/>
              <a:t>Varensk</a:t>
            </a:r>
            <a:r>
              <a:rPr sz="1500"/>
              <a:t> sees that as betrayal</a:t>
            </a:r>
          </a:p>
          <a:p>
            <a:pPr/>
            <a:r>
              <a:rPr sz="1500"/>
              <a:t>Lunovia accuses Varensk of cyberattacks, disinformation, and separatist support</a:t>
            </a:r>
          </a:p>
          <a:p>
            <a:pPr/>
            <a:r>
              <a:rPr sz="1500"/>
              <a:t>Past 5 years: increasing military exercises near the border, major cyber operations against Lunovian energy and telecom</a:t>
            </a:r>
          </a:p>
          <a:p>
            <a:pPr/>
            <a:r>
              <a:rPr sz="1500"/>
              <a:t>International observers: </a:t>
            </a:r>
            <a:r>
              <a:rPr b="1" sz="1500"/>
              <a:t>open conflict possible within 3-5 years</a:t>
            </a:r>
          </a:p>
        </p:txBody>
      </p:sp>
      <p:pic>
        <p:nvPicPr>
          <p:cNvPr id="5" name="Picture 4" descr="f63ce3a046e4f10fe3aa35e778645e5c897eb751b27db1055c9c6802581c079c.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Varensk — Core Identity</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700"/>
              <a:t>~90 million</a:t>
            </a:r>
            <a:r>
              <a:rPr sz="1700"/>
              <a:t> population; one-party presidential republic</a:t>
            </a:r>
          </a:p>
          <a:p>
            <a:pPr/>
            <a:r>
              <a:rPr sz="1700"/>
              <a:t>Capital: </a:t>
            </a:r>
            <a:r>
              <a:rPr b="1" sz="1700"/>
              <a:t>Karsograd</a:t>
            </a:r>
          </a:p>
          <a:p>
            <a:pPr/>
            <a:r>
              <a:rPr b="1" sz="1700"/>
              <a:t>Authoritarian, centralized state</a:t>
            </a:r>
            <a:r>
              <a:rPr sz="1700"/>
              <a:t> with a nationalist ideology — "Varensker Revivalism"</a:t>
            </a:r>
          </a:p>
          <a:p>
            <a:pPr/>
            <a:r>
              <a:rPr sz="1700"/>
              <a:t>President </a:t>
            </a:r>
            <a:r>
              <a:rPr b="1" sz="1700"/>
              <a:t>Viktor Surnov</a:t>
            </a:r>
            <a:r>
              <a:rPr sz="1700"/>
              <a:t> — in power 17 years</a:t>
            </a:r>
          </a:p>
          <a:p>
            <a:pPr/>
            <a:r>
              <a:rPr sz="1700"/>
              <a:t>Economy: natural gas, rare earths, heavy manufacturing</a:t>
            </a:r>
          </a:p>
          <a:p>
            <a:pPr/>
            <a:r>
              <a:rPr sz="1700"/>
              <a:t>Foreign policy: regional hegemony; cyber as a primary tool of influence</a:t>
            </a:r>
          </a:p>
        </p:txBody>
      </p:sp>
      <p:pic>
        <p:nvPicPr>
          <p:cNvPr id="5" name="Picture 4" descr="c50676fce09a66e4d38a5da5e5f11e69f73f5d1bed76f785c6dde58f2c684fa3.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1900"/>
              <a:t>Terrain:</a:t>
            </a:r>
            <a:r>
              <a:rPr sz="1900"/>
              <a:t> northern tundra, central plains (Iron Steppe), eastern coastal marshlands</a:t>
            </a:r>
          </a:p>
          <a:p>
            <a:pPr/>
            <a:r>
              <a:rPr sz="1900"/>
              <a:t>Key features:</a:t>
            </a:r>
          </a:p>
          <a:p>
            <a:pPr lvl="1"/>
            <a:r>
              <a:rPr b="1" sz="1900"/>
              <a:t>Iron Steppe</a:t>
            </a:r>
            <a:r>
              <a:rPr sz="1900"/>
              <a:t> — armored maneuver terrain</a:t>
            </a:r>
          </a:p>
          <a:p>
            <a:pPr lvl="1"/>
            <a:r>
              <a:rPr b="1" sz="1900"/>
              <a:t>Voryn Mountains</a:t>
            </a:r>
            <a:r>
              <a:rPr sz="1900"/>
              <a:t> — natural southern barrier</a:t>
            </a:r>
          </a:p>
          <a:p>
            <a:pPr lvl="1"/>
            <a:r>
              <a:rPr b="1" sz="1900"/>
              <a:t>Karsenic Coast</a:t>
            </a:r>
            <a:r>
              <a:rPr sz="1900"/>
              <a:t> — naval bases and </a:t>
            </a:r>
            <a:r>
              <a:rPr b="1" sz="1900"/>
              <a:t>cyber-intelligence hubs</a:t>
            </a:r>
          </a:p>
          <a:p>
            <a:pPr/>
            <a:r>
              <a:rPr sz="1900"/>
              <a:t>Strategic posture:</a:t>
            </a:r>
          </a:p>
          <a:p>
            <a:pPr lvl="1"/>
            <a:r>
              <a:rPr sz="1900"/>
              <a:t>Pursues regional dominance</a:t>
            </a:r>
          </a:p>
          <a:p>
            <a:pPr lvl="1"/>
            <a:r>
              <a:rPr sz="1900"/>
              <a:t>Large, well-funded cyber command integrated with intelligence services</a:t>
            </a:r>
          </a:p>
          <a:p>
            <a:pPr lvl="1"/>
            <a:r>
              <a:rPr sz="1900"/>
              <a:t>Uses cyber for espionage, political pressure, and </a:t>
            </a:r>
            <a:r>
              <a:rPr b="1" sz="1900"/>
              <a:t>infrastructure disruption</a:t>
            </a:r>
          </a:p>
          <a:p>
            <a:pPr lvl="1"/>
            <a:r>
              <a:rPr sz="1900"/>
              <a:t>Runs information operations to shape narratives in neighboring states</a:t>
            </a:r>
          </a:p>
        </p:txBody>
      </p:sp>
      <p:sp>
        <p:nvSpPr>
          <p:cNvPr id="3" name="Title 2"/>
          <p:cNvSpPr>
            <a:spLocks noGrp="1"/>
          </p:cNvSpPr>
          <p:nvPr>
            <p:ph type="title"/>
          </p:nvPr>
        </p:nvSpPr>
        <p:spPr/>
        <p:txBody>
          <a:bodyPr wrap="square">
            <a:normAutofit/>
          </a:bodyPr>
          <a:lstStyle/>
          <a:p>
            <a:pPr/>
            <a:r>
              <a:rPr sz="2700"/>
              <a:t>Varensk — Geography and Strategic Posture</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Varensk Cyber Apparatus — Three Directorates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500"/>
              <a:t>Directorate 7 (D7)</a:t>
            </a:r>
            <a:r>
              <a:rPr sz="1500"/>
              <a:t> — Military Cyber Operations</a:t>
            </a:r>
          </a:p>
          <a:p>
            <a:pPr lvl="1"/>
            <a:r>
              <a:rPr sz="1500"/>
              <a:t>Destructive, battlefield-support, supply-chain, ICS/SCADA</a:t>
            </a:r>
          </a:p>
          <a:p>
            <a:pPr/>
            <a:r>
              <a:rPr b="1" sz="1500"/>
              <a:t>External Intelligence Service (EIS)</a:t>
            </a:r>
            <a:r>
              <a:rPr sz="1500"/>
              <a:t> — Foreign Espionage</a:t>
            </a:r>
          </a:p>
          <a:p>
            <a:pPr lvl="1"/>
            <a:r>
              <a:rPr sz="1500"/>
              <a:t>Stealthy, long-dwell, cloud-identity focused</a:t>
            </a:r>
          </a:p>
          <a:p>
            <a:pPr/>
            <a:r>
              <a:rPr b="1" sz="1500"/>
              <a:t>Internal Security Bureau (ISB)</a:t>
            </a:r>
            <a:r>
              <a:rPr sz="1500"/>
              <a:t> — Domestic and Near-Abroad</a:t>
            </a:r>
          </a:p>
          <a:p>
            <a:pPr lvl="1"/>
            <a:r>
              <a:rPr sz="1500"/>
              <a:t>Hack-and-leak, political interference, rapid-deploy malware</a:t>
            </a:r>
          </a:p>
        </p:txBody>
      </p:sp>
      <p:pic>
        <p:nvPicPr>
          <p:cNvPr id="5" name="Picture 4" descr="3844288b7de125fc9efc3c15e4f38e4386354d6f6bdf8966762f3a6a79c92c06.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1800"/>
              <a:t>D7 — Military</a:t>
            </a:r>
          </a:p>
          <a:p>
            <a:pPr lvl="1"/>
            <a:r>
              <a:rPr sz="1800"/>
              <a:t>Unit 7440 </a:t>
            </a:r>
            <a:r>
              <a:rPr i="1" sz="1800"/>
              <a:t>Black Forge</a:t>
            </a:r>
            <a:r>
              <a:rPr sz="1800"/>
              <a:t> — ICS/SCADA disruption (Havoc C2)</a:t>
            </a:r>
          </a:p>
          <a:p>
            <a:pPr lvl="1"/>
            <a:r>
              <a:rPr sz="1800"/>
              <a:t>Unit 2213 </a:t>
            </a:r>
            <a:r>
              <a:rPr i="1" sz="1800"/>
              <a:t>Iron Wolf</a:t>
            </a:r>
            <a:r>
              <a:rPr sz="1800"/>
              <a:t> — destructive malware, supply-chain (Empire C2)</a:t>
            </a:r>
          </a:p>
          <a:p>
            <a:pPr lvl="1"/>
            <a:r>
              <a:rPr sz="1800"/>
              <a:t>Unit 9931 </a:t>
            </a:r>
            <a:r>
              <a:rPr i="1" sz="1800"/>
              <a:t>Storm Pike</a:t>
            </a:r>
            <a:r>
              <a:rPr sz="1800"/>
              <a:t> — battlefield cyber/EW (Empire C2)</a:t>
            </a:r>
          </a:p>
          <a:p>
            <a:pPr/>
            <a:r>
              <a:rPr b="1" sz="1800"/>
              <a:t>EIS — Foreign Espionage</a:t>
            </a:r>
          </a:p>
          <a:p>
            <a:pPr lvl="1"/>
            <a:r>
              <a:rPr sz="1800"/>
              <a:t>Group </a:t>
            </a:r>
            <a:r>
              <a:rPr i="1" sz="1800"/>
              <a:t>Seraph-3</a:t>
            </a:r>
            <a:r>
              <a:rPr sz="1800"/>
              <a:t> — stealthy cloud persistence (Cozy Bear analogue; Mythic C2)</a:t>
            </a:r>
          </a:p>
          <a:p>
            <a:pPr lvl="1"/>
            <a:r>
              <a:rPr sz="1800"/>
              <a:t>Group </a:t>
            </a:r>
            <a:r>
              <a:rPr i="1" sz="1800"/>
              <a:t>Lattice-9</a:t>
            </a:r>
            <a:r>
              <a:rPr sz="1800"/>
              <a:t> — diplomatic / NGO espionage (Mythic C2)</a:t>
            </a:r>
          </a:p>
          <a:p>
            <a:pPr/>
            <a:r>
              <a:rPr b="1" sz="1800"/>
              <a:t>ISB — Domestic / Near-Abroad</a:t>
            </a:r>
          </a:p>
          <a:p>
            <a:pPr lvl="1"/>
            <a:r>
              <a:rPr sz="1800"/>
              <a:t>Unit 18 </a:t>
            </a:r>
            <a:r>
              <a:rPr i="1" sz="1800"/>
              <a:t>Amber Tide</a:t>
            </a:r>
            <a:r>
              <a:rPr sz="1800"/>
              <a:t> — hack-and-leak, political ops (</a:t>
            </a:r>
            <a:r>
              <a:rPr b="1" sz="1800"/>
              <a:t>Gamaredon analogue</a:t>
            </a:r>
            <a:r>
              <a:rPr sz="1800"/>
              <a:t>; Metasploit Framework)</a:t>
            </a:r>
          </a:p>
          <a:p>
            <a:pPr lvl="1"/>
            <a:r>
              <a:rPr sz="1800"/>
              <a:t>Unit 47 </a:t>
            </a:r>
            <a:r>
              <a:rPr i="1" sz="1800"/>
              <a:t>Sable Net</a:t>
            </a:r>
            <a:r>
              <a:rPr sz="1800"/>
              <a:t> — border-region cyber operations (Metasploit Framework)</a:t>
            </a:r>
          </a:p>
        </p:txBody>
      </p:sp>
      <p:sp>
        <p:nvSpPr>
          <p:cNvPr id="3" name="Title 2"/>
          <p:cNvSpPr>
            <a:spLocks noGrp="1"/>
          </p:cNvSpPr>
          <p:nvPr>
            <p:ph type="title"/>
          </p:nvPr>
        </p:nvSpPr>
        <p:spPr/>
        <p:txBody>
          <a:bodyPr wrap="square">
            <a:normAutofit/>
          </a:bodyPr>
          <a:lstStyle/>
          <a:p>
            <a:pPr/>
            <a:r>
              <a:rPr sz="2700"/>
              <a:t>Varensk Cyber Units and Real-World Analogues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Lunovia — Core Identity</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700"/>
              <a:t>~32 million</a:t>
            </a:r>
            <a:r>
              <a:rPr sz="1700"/>
              <a:t> population; parliamentary democracy</a:t>
            </a:r>
          </a:p>
          <a:p>
            <a:pPr/>
            <a:r>
              <a:rPr sz="1700"/>
              <a:t>Capital: </a:t>
            </a:r>
            <a:r>
              <a:rPr b="1" sz="1700"/>
              <a:t>Velystok</a:t>
            </a:r>
          </a:p>
          <a:p>
            <a:pPr/>
            <a:r>
              <a:rPr sz="1700"/>
              <a:t>Prime Minister: </a:t>
            </a:r>
            <a:r>
              <a:rPr b="1" sz="1700"/>
              <a:t>Alina Veskova</a:t>
            </a:r>
          </a:p>
          <a:p>
            <a:pPr/>
            <a:r>
              <a:rPr sz="1700"/>
              <a:t>Younger, more urban, more globally connected than Varensk</a:t>
            </a:r>
          </a:p>
          <a:p>
            <a:pPr/>
            <a:r>
              <a:rPr sz="1700"/>
              <a:t>Diversified economy; </a:t>
            </a:r>
            <a:r>
              <a:rPr b="1" sz="1700"/>
              <a:t>rapidly expanding digital infrastructure</a:t>
            </a:r>
          </a:p>
          <a:p>
            <a:pPr/>
            <a:r>
              <a:rPr sz="1700"/>
              <a:t>Foreign policy: align with Western democracies, build cyber resilience, pursue digital sovereignty</a:t>
            </a:r>
          </a:p>
        </p:txBody>
      </p:sp>
      <p:pic>
        <p:nvPicPr>
          <p:cNvPr id="5" name="Picture 4" descr="3bed34e93b7b75918b69401192225f5ff92936a9856e61e8027bf0a20c82490c.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b="1" sz="1900"/>
              <a:t>Terrain:</a:t>
            </a:r>
            <a:r>
              <a:rPr sz="1900"/>
              <a:t> rolling plains, fertile agricultural heartland, dense northern forests</a:t>
            </a:r>
          </a:p>
          <a:p>
            <a:pPr/>
            <a:r>
              <a:rPr sz="1900"/>
              <a:t>Key features:</a:t>
            </a:r>
          </a:p>
          <a:p>
            <a:pPr lvl="1"/>
            <a:r>
              <a:rPr b="1" sz="1900"/>
              <a:t>Lunovian Corridor</a:t>
            </a:r>
            <a:r>
              <a:rPr sz="1900"/>
              <a:t> — flat, open — vulnerable to mechanized invasion</a:t>
            </a:r>
          </a:p>
          <a:p>
            <a:pPr lvl="1"/>
            <a:r>
              <a:rPr b="1" sz="1900"/>
              <a:t>Vel River</a:t>
            </a:r>
            <a:r>
              <a:rPr sz="1900"/>
              <a:t> — powers hydro; runs through the capital</a:t>
            </a:r>
          </a:p>
          <a:p>
            <a:pPr lvl="1"/>
            <a:r>
              <a:rPr b="1" sz="1900"/>
              <a:t>Western Highlands</a:t>
            </a:r>
            <a:r>
              <a:rPr sz="1900"/>
              <a:t> — natural defensive terrain</a:t>
            </a:r>
          </a:p>
          <a:p>
            <a:pPr/>
            <a:r>
              <a:rPr sz="1900"/>
              <a:t>Strategic posture:</a:t>
            </a:r>
          </a:p>
          <a:p>
            <a:pPr lvl="1"/>
            <a:r>
              <a:rPr sz="1900"/>
              <a:t>Heavy investment in </a:t>
            </a:r>
            <a:r>
              <a:rPr b="1" sz="1900"/>
              <a:t>defensive cyber</a:t>
            </a:r>
            <a:r>
              <a:rPr sz="1900"/>
              <a:t>, especially critical infrastructure</a:t>
            </a:r>
          </a:p>
          <a:p>
            <a:pPr lvl="1"/>
            <a:r>
              <a:rPr sz="1900"/>
              <a:t>Partnerships with foreign cybersecurity firms and allied intelligence sharing</a:t>
            </a:r>
          </a:p>
          <a:p>
            <a:pPr lvl="1"/>
            <a:r>
              <a:rPr sz="1900"/>
              <a:t>Small but professional military; strong territorial defense doctrine</a:t>
            </a:r>
          </a:p>
          <a:p>
            <a:pPr lvl="1"/>
            <a:r>
              <a:rPr b="1" sz="1900"/>
              <a:t>Heavy cloud reliance</a:t>
            </a:r>
            <a:r>
              <a:rPr sz="1900"/>
              <a:t> — efficient, but a disruption vector</a:t>
            </a:r>
          </a:p>
        </p:txBody>
      </p:sp>
      <p:sp>
        <p:nvSpPr>
          <p:cNvPr id="3" name="Title 2"/>
          <p:cNvSpPr>
            <a:spLocks noGrp="1"/>
          </p:cNvSpPr>
          <p:nvPr>
            <p:ph type="title"/>
          </p:nvPr>
        </p:nvSpPr>
        <p:spPr/>
        <p:txBody>
          <a:bodyPr wrap="square">
            <a:normAutofit/>
          </a:bodyPr>
          <a:lstStyle/>
          <a:p>
            <a:pPr/>
            <a:r>
              <a:rPr sz="2700"/>
              <a:t>Lunovia — Geography and Strategic Posture</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Lunovia Cyber Defense Structure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b="1" sz="1300"/>
              <a:t>National Cyber Defense Agency (NCDA)</a:t>
            </a:r>
          </a:p>
          <a:p>
            <a:pPr lvl="1"/>
            <a:r>
              <a:rPr sz="1300"/>
              <a:t>Protects government networks; coordinates incident response; runs national CERT</a:t>
            </a:r>
          </a:p>
          <a:p>
            <a:pPr/>
            <a:r>
              <a:rPr b="1" sz="1300"/>
              <a:t>Digital Infrastructure Protection Corps (DIPC)</a:t>
            </a:r>
          </a:p>
          <a:p>
            <a:pPr lvl="1"/>
            <a:r>
              <a:rPr sz="1300"/>
              <a:t>Guards energy, telecom, and transportation sectors; works with private industry</a:t>
            </a:r>
          </a:p>
          <a:p>
            <a:pPr lvl="1"/>
            <a:r>
              <a:rPr sz="1300"/>
              <a:t>Includes a </a:t>
            </a:r>
            <a:r>
              <a:rPr b="1" sz="1300"/>
              <a:t>Cyber Auxiliary Reserve</a:t>
            </a:r>
            <a:r>
              <a:rPr sz="1300"/>
              <a:t> — volunteer experts activated in crises</a:t>
            </a:r>
          </a:p>
          <a:p>
            <a:pPr/>
            <a:r>
              <a:rPr b="1" sz="1300"/>
              <a:t>Foreign Cyber Partnerships</a:t>
            </a:r>
          </a:p>
          <a:p>
            <a:pPr lvl="1"/>
            <a:r>
              <a:rPr sz="1300"/>
              <a:t>Intelligence sharing with allied democracies</a:t>
            </a:r>
          </a:p>
          <a:p>
            <a:pPr lvl="1"/>
            <a:r>
              <a:rPr sz="1300"/>
              <a:t>Joint exercises and red-team exchanges</a:t>
            </a:r>
          </a:p>
        </p:txBody>
      </p:sp>
      <p:pic>
        <p:nvPicPr>
          <p:cNvPr id="5" name="Picture 4" descr="89c0be86b127101cf48014eb4c8cf6fbd768bcb7eb01708742bc4e13dedb4de5.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normAutofit/>
          </a:bodyPr>
          <a:lstStyle/>
          <a:p>
            <a:pPr/>
            <a:r>
              <a:rPr sz="2400"/>
              <a:t>Course network diagram lives at </a:t>
            </a:r>
            <a:r>
              <a:rPr sz="2400">
                <a:latin typeface="Courier New"/>
              </a:rPr>
              <a:t>../../scenario/maps/network-diagram.png</a:t>
            </a:r>
          </a:p>
          <a:p>
            <a:pPr/>
            <a:r>
              <a:rPr sz="2400"/>
              <a:t>This is the terrain for planning, recon, on-target work, and automated response</a:t>
            </a:r>
          </a:p>
          <a:p>
            <a:pPr/>
            <a:r>
              <a:rPr sz="2400"/>
              <a:t>Trace subnets, zones, and key hosts in this hour</a:t>
            </a:r>
          </a:p>
          <a:p>
            <a:pPr/>
            <a:r>
              <a:rPr sz="2400"/>
              <a:t>Varensk units oppose; Lunovia defends; you are the counter-strike operator</a:t>
            </a:r>
          </a:p>
        </p:txBody>
      </p:sp>
      <p:sp>
        <p:nvSpPr>
          <p:cNvPr id="3" name="Title 2"/>
          <p:cNvSpPr>
            <a:spLocks noGrp="1"/>
          </p:cNvSpPr>
          <p:nvPr>
            <p:ph type="title"/>
          </p:nvPr>
        </p:nvSpPr>
        <p:spPr/>
        <p:txBody>
          <a:bodyPr wrap="square">
            <a:normAutofit/>
          </a:bodyPr>
          <a:lstStyle/>
          <a:p>
            <a:pPr/>
            <a:r>
              <a:rPr sz="2700"/>
              <a:t>The Network Diagram</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normAutofit/>
          </a:bodyPr>
          <a:lstStyle/>
          <a:p>
            <a:pPr/>
            <a:r>
              <a:rPr sz="2700"/>
              <a:t>Questions?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theme/theme1.xml><?xml version="1.0" encoding="utf-8"?>
<a:theme xmlns:a="http://schemas.openxmlformats.org/drawingml/2006/main" name="CyberTemplateL_Green Unclas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420</Words>
  <Application>Microsoft Office PowerPoint</Application>
  <PresentationFormat>Widescreen</PresentationFormat>
  <Paragraphs>45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Arial</vt:lpstr>
      <vt:lpstr>Noto Sans Symbols</vt:lpstr>
      <vt:lpstr>Google Sans</vt:lpstr>
      <vt:lpstr>CyberTemplateL_Green Unclass</vt:lpstr>
      <vt:lpstr>Lesson title</vt:lpstr>
      <vt:lpstr>Intro Video</vt:lpstr>
      <vt:lpstr>Lesson Objectives</vt:lpstr>
      <vt:lpstr>What is a Learning Management System?</vt:lpstr>
      <vt:lpstr>Lets log in to Moodle</vt:lpstr>
      <vt:lpstr>Lesson 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Houston, Joshua T</dc:creator>
  <cp:lastModifiedBy>Cross, Clay</cp:lastModifiedBy>
  <cp:revision>1</cp:revision>
  <dcterms:modified xsi:type="dcterms:W3CDTF">2026-10-12T17:41:16Z</dcterms:modified>
</cp:coreProperties>
</file>