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 id="266" r:id="rId23"/>
    <p:sldId id="267" r:id="rId24"/>
    <p:sldId id="268" r:id="rId25"/>
    <p:sldId id="269" r:id="rId26"/>
    <p:sldId id="270" r:id="rId27"/>
    <p:sldId id="271" r:id="rId28"/>
    <p:sldId id="272" r:id="rId29"/>
    <p:sldId id="273" r:id="rId30"/>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MITRE ATT&amp;CK and Navigator — Content Guide</a:t>
            </a:r>
          </a:p>
          <a:p/>
          <a:p>
            <a:r>
              <a:t>**Source:** prior lecture notes</a:t>
            </a:r>
          </a:p>
          <a:p>
            <a:r>
              <a:t>**Audience:** CPT operators mapping observed behavior to ATT&amp;CK.</a:t>
            </a:r>
          </a:p>
          <a:p>
            <a:r>
              <a:t>**Duration:** ~2 hours (lecture + Navigator demonstration + mapping practical).</a:t>
            </a:r>
          </a:p>
          <a:p>
            <a:r>
              <a:t>**References:**</a:t>
            </a:r>
          </a:p>
          <a:p/>
          <a:p>
            <a:r>
              <a:t>- prior lecture notes</a:t>
            </a:r>
          </a:p>
          <a:p>
            <a:r>
              <a:t>- CISA Best Practices for MITRE ATT&amp;CK Mapping</a:t>
            </a:r>
          </a:p>
          <a:p>
            <a:r>
              <a:t>- https://attack.mitre.org/ and ATT&amp;CK Navigator (https://mitre-attack.github.io/attack-navigator/)</a:t>
            </a:r>
          </a:p>
          <a:p>
            <a:r>
              <a:t>- https://lolbas-project.github.io/ and https://gtfobins.org/</a:t>
            </a:r>
          </a:p>
          <a:p/>
          <a:p>
            <a:r>
              <a:t>## Instructor resources and pre-class</a:t>
            </a:r>
          </a:p>
          <a:p/>
          <a:p>
            <a:r>
              <a:t>- Classroom projector and screen; workstations that can open ATT&amp;CK Navigator</a:t>
            </a:r>
          </a:p>
          <a:p>
            <a:r>
              <a:t>- Whiteboard for DRAW-D withdraw reminder and SIEM-rule gaps</a:t>
            </a:r>
          </a:p>
          <a:p>
            <a:r>
              <a:t>- Instructor copy of CISA Best Practices for MITRE ATT&amp;CK Mapping</a:t>
            </a:r>
          </a:p>
          <a:p>
            <a:r>
              <a:t>- Live tabs: https://attack.mitre.org/, https://mitre-attack.github.io/attack-navigator/, https://lolbas-project.github.io/, https://gtfobins.org/</a:t>
            </a:r>
          </a:p>
          <a:p>
            <a:r>
              <a:t>- Nested briefs for `B01.M20` (Navigator demonstration), `B01.M21` (intrusion mapping), and `B01.M22` (mission/EMLCOA back-brief)</a:t>
            </a:r>
          </a:p>
          <a:p>
            <a:r>
              <a:t>- Evidence-to-behavior tables students already produced</a:t>
            </a:r>
          </a:p>
          <a:p/>
          <a:p>
            <a:r>
              <a:t>## Student resources</a:t>
            </a:r>
          </a:p>
          <a:p/>
          <a:p>
            <a:r>
              <a:t>- Student workstations with ATT&amp;CK Navigator</a:t>
            </a:r>
          </a:p>
          <a:p>
            <a:r>
              <a:t>- Evidence-to-behavior table (keep open)</a:t>
            </a:r>
          </a:p>
          <a:p>
            <a:r>
              <a:t>- Nested student briefs for `B01.M20`–`B01.M22`</a:t>
            </a:r>
          </a:p>
          <a:p>
            <a:r>
              <a:t>- CISA ATT&amp;CK mapping best-practices PDF as the mapping reference</a:t>
            </a:r>
          </a:p>
          <a:p>
            <a:r>
              <a:t>- No additional student kit beyond Navigator and the intrusion evidence set on Slide 9</a:t>
            </a:r>
          </a:p>
          <a:p/>
          <a:p>
            <a:r>
              <a:t>## Dual opening</a:t>
            </a:r>
          </a:p>
          <a:p/>
          <a:p>
            <a:r>
              <a:t>### Option 1 (Interactive / Whiteboard / Kinesthetic)</a:t>
            </a:r>
          </a:p>
          <a:p/>
          <a:p>
            <a:r>
              <a:t>- **Say:** "ATT&amp;CK gives us a shared vocabulary for observed adversary behavior. Navigator lets us organize that evidence into a pattern we can analyze and hand off."</a:t>
            </a:r>
          </a:p>
          <a:p>
            <a:r>
              <a:t>- **Do:** Draw Evidence → ATT&amp;CK Navigator Layer → Mission and EMLCOA on the board. Tell students to keep their evidence-to-behavior table open.</a:t>
            </a:r>
          </a:p>
          <a:p>
            <a:r>
              <a:t>- **Ask (Q):** What evidence-to-behavior product do you already have that this lesson will map?</a:t>
            </a:r>
          </a:p>
          <a:p>
            <a:r>
              <a:t>- **Expected Response (A):** Steer toward the evidence-to-behavior table. ATT&amp;CK does not replace that evidence.</a:t>
            </a:r>
          </a:p>
          <a:p/>
          <a:p>
            <a:r>
              <a:t>### Option 2 (Digital Slide / Virtual / Slide Deck)</a:t>
            </a:r>
          </a:p>
          <a:p/>
          <a:p>
            <a:r>
              <a:t>- **Say:** "ATT&amp;CK gives us a shared vocabulary for observed adversary behavior. Navigator lets us organize that evidence into a pattern we can analyze and hand off."</a:t>
            </a:r>
          </a:p>
          <a:p>
            <a:r>
              <a:t>- **Show:** The three-step flow and the lesson objectives.</a:t>
            </a:r>
          </a:p>
          <a:p>
            <a:r>
              <a:t>- **Do:** Keep evidence-to-behavior tables open on student stations.</a:t>
            </a:r>
          </a:p>
          <a:p>
            <a:r>
              <a:t>- **Ask (Q):** What evidence-to-behavior product do you already have that this lesson will map?</a:t>
            </a:r>
          </a:p>
          <a:p>
            <a:r>
              <a:t>- **Expected Response (A):** Steer toward the evidence-to-behavior table. ATT&amp;CK does not replace that evidence.</a:t>
            </a:r>
          </a:p>
          <a:p/>
          <a:p>
            <a:r>
              <a: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MITRE ATT&amp;CK and Attack Navigator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"ATT&amp;CK gives us a shared vocabulary for observed adversary behavior. Navigator lets us organize that evidence into a pattern we can analyze and hand off."</a:t>
            </a:r>
          </a:p>
          <a:p/>
          <a:p>
            <a:r>
              <a:t>Show:</a:t>
            </a:r>
          </a:p>
          <a:p>
            <a:r>
              <a:t>the figure on the slide and the lesson objectives. This hour covers eyes on, the Navigator map, and the EMLCOA. Later hours take the same chain into D3FEND, ENGAGE, and the handoff out of blue space.</a:t>
            </a:r>
          </a:p>
          <a:p/>
          <a:p>
            <a:r>
              <a:t>Do:</a:t>
            </a:r>
          </a:p>
          <a:p>
            <a:r>
              <a:t>Ask students to keep their evidence-to-behavior table open.</a:t>
            </a:r>
          </a:p>
          <a:p/>
          <a:p>
            <a:r>
              <a:t>Image Prompt:</a:t>
            </a:r>
          </a:p>
          <a:p>
            <a:r>
              <a:t>No image required for this slide.</a:t>
            </a:r>
          </a:p>
          <a:p/>
          <a:p>
            <a:r>
              <a:t>Ask (Q):</a:t>
            </a:r>
          </a:p>
          <a:p>
            <a:r>
              <a:t>Keep your evidence-to-behavior table open. What will ATT&amp;CK add to it?</a:t>
            </a:r>
          </a:p>
          <a:p/>
          <a:p>
            <a:r>
              <a:t>Expected Response (A):</a:t>
            </a:r>
          </a:p>
          <a:p>
            <a:r>
              <a:t>Shared vocabulary for observed behavior and a Navigator pattern for analysis and handoff. It does not replace evidence.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Lesson Overview in the order it is written.</a:t>
            </a:r>
          </a:p>
          <a:p/>
          <a:p>
            <a:r>
              <a:t>Show:</a:t>
            </a:r>
          </a:p>
          <a:p>
            <a:r>
              <a:t>The figure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Step 1: Eyes on the Adversary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course assumes the hunt has been successful. You are watching them. The first discipline is operational — do not alert them. If you do, you will have temporarily shut down their operation and permanently failed your recon mission."</a:t>
            </a:r>
          </a:p>
          <a:p/>
          <a:p>
            <a:r>
              <a:t>Show:</a:t>
            </a:r>
          </a:p>
          <a:p>
            <a:r>
              <a:t>The concealment graphic; point to the dashed line.</a:t>
            </a:r>
          </a:p>
          <a:p/>
          <a:p>
            <a:r>
              <a:t>Do:</a:t>
            </a:r>
          </a:p>
          <a:p>
            <a:r>
              <a:t>Connect back to DRAW-D from Block 2: "Remember how we said 'withdraw' was the DRAW-D cell that matters most? This is why."</a:t>
            </a:r>
          </a:p>
          <a:p/>
          <a:p>
            <a:r>
              <a:t>Image Prompt:</a:t>
            </a:r>
          </a:p>
          <a:p>
            <a:r>
              <a:t>No image required for this slide.</a:t>
            </a:r>
          </a:p>
          <a:p/>
          <a:p>
            <a:r>
              <a:t>Ask (Q):</a:t>
            </a:r>
          </a:p>
          <a:p>
            <a:r>
              <a:t>Why does the DRAW-D withdraw cell shape everything once you have eyes on the adversary?</a:t>
            </a:r>
          </a:p>
          <a:p/>
          <a:p>
            <a:r>
              <a:t>Expected Response (A):</a:t>
            </a:r>
          </a:p>
          <a:p>
            <a:r>
              <a:t>If you spook them you collapse option space and fail recon. Do not break concealment.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"It is tempting to assume the adversary will do the worst thing they are capable of. Resist that. Intelligence units collect, they do not usually wipe. Destructive units wipe, they do not usually dwell. Your EMLCOA should reflect who the adversary actually is, not who they could theoretically be."</a:t>
            </a:r>
          </a:p>
          <a:p/>
          <a:p>
            <a:r>
              <a:t>Show:</a:t>
            </a:r>
          </a:p>
          <a:p>
            <a:r>
              <a:t>The bullets.</a:t>
            </a:r>
          </a:p>
          <a:p/>
          <a:p>
            <a:r>
              <a:t>Do:</a:t>
            </a:r>
          </a:p>
          <a:p>
            <a:r>
              <a:t>Ask the room: "For FSB Center 18 from yesterday, destructive or not?" Use the answer to reinforce the point.</a:t>
            </a:r>
          </a:p>
          <a:p/>
          <a:p>
            <a:r>
              <a:t>Image Prompt:</a:t>
            </a:r>
          </a:p>
          <a:p>
            <a:r>
              <a:t>No image required for this slide.</a:t>
            </a:r>
          </a:p>
          <a:p/>
          <a:p>
            <a:r>
              <a:t>Ask (Q):</a:t>
            </a:r>
          </a:p>
          <a:p>
            <a:r>
              <a:t>For FSB Center 18 from the prior block, destructive or not — and why?</a:t>
            </a:r>
          </a:p>
          <a:p/>
          <a:p>
            <a:r>
              <a:t>Expected Response (A):</a:t>
            </a:r>
          </a:p>
          <a:p>
            <a:r>
              <a:t>Steer toward collection, not wipe. Do not default to the most destructive EMLCOA just because they have root.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Step 2: Mapping ATT&amp;CK Into Raw Data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"Mapping ATT&amp;CK is not guessing what technique it looks like. It is tying observable evidence to a technique with analytical justification. And you cannot do that without knowing your own collection — which is why we did OCOKA-W first."</a:t>
            </a:r>
          </a:p>
          <a:p/>
          <a:p>
            <a:r>
              <a:t>Show:</a:t>
            </a:r>
          </a:p>
          <a:p>
            <a:r>
              <a:t>CISA Best Practices for MITRE ATT&amp;CK Mapping — point to the title page.</a:t>
            </a:r>
          </a:p>
          <a:p/>
          <a:p>
            <a:r>
              <a:t>Do:</a:t>
            </a:r>
          </a:p>
          <a:p>
            <a:r>
              <a:t>Remind the class this doc is the reference. They will see it three more times in the next three slides.</a:t>
            </a:r>
          </a:p>
          <a:p/>
          <a:p>
            <a:r>
              <a:t>Image Prompt:</a:t>
            </a:r>
          </a:p>
          <a:p>
            <a:r>
              <a:t>No image required for this slide.</a:t>
            </a:r>
          </a:p>
          <a:p/>
          <a:p>
            <a:r>
              <a:t>Ask (Q):</a:t>
            </a:r>
          </a:p>
          <a:p>
            <a:r>
              <a:t>Why did we do OCOKA-W Observation before mapping ATT&amp;CK?</a:t>
            </a:r>
          </a:p>
          <a:p/>
          <a:p>
            <a:r>
              <a:t>Expected Response (A):</a:t>
            </a:r>
          </a:p>
          <a:p>
            <a:r>
              <a:t>Data sources drive which techniques you can see. Mapping ties observable evidence to a technique with justification.</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"Option 1 is the most common path for us. You have a log. You ask what the adversary was touching, how they were touching it, and what set of techniques fits. Then you narrow with substantiating evidence — a known tool, a specific LOLBAS, a weird port, an obfuscation pattern."</a:t>
            </a:r>
          </a:p>
          <a:p/>
          <a:p>
            <a:r>
              <a:t>Show:</a:t>
            </a:r>
          </a:p>
          <a:p>
            <a:r>
              <a:t>Live-open https://lolbas-project.github.io/ and https://gtfobins.org/. Click into one LOLBAS entry to demonstrate.</a:t>
            </a:r>
          </a:p>
          <a:p/>
          <a:p>
            <a:r>
              <a:t>Do:</a:t>
            </a:r>
          </a:p>
          <a:p>
            <a:r>
              <a:t>Walk a concrete example — e.g., a PowerShell invocation with encoded command → T1059.001 with T1027 (Obfuscated Files or Information).</a:t>
            </a:r>
          </a:p>
          <a:p/>
          <a:p>
            <a:r>
              <a:t>Image Prompt:</a:t>
            </a:r>
          </a:p>
          <a:p>
            <a:r>
              <a:t>No image required for this slide.</a:t>
            </a:r>
          </a:p>
          <a:p/>
          <a:p>
            <a:r>
              <a:t>Ask (Q):</a:t>
            </a:r>
          </a:p>
          <a:p>
            <a:r>
              <a:t>Given encoded PowerShell, what do you ask about object, action, techniques, and substantiation?</a:t>
            </a:r>
          </a:p>
          <a:p/>
          <a:p>
            <a:r>
              <a:t>Expected Response (A):</a:t>
            </a:r>
          </a:p>
          <a:p>
            <a:r>
              <a:t>Walk T1059.001 with T1027 as the taught example. Substantiation can be known tools, LOLBAS/GTFOBins, ports, obfuscation.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"Option 2 starts from a specific tool or artifact. Mimikatz seen on disk — you are now in the credential access neighborhood. A Run key added — T1547.001, and probably masquerading, T1036. One good observation is the seed for the rest of the mapping."</a:t>
            </a:r>
          </a:p>
          <a:p/>
          <a:p>
            <a:r>
              <a:t>Show:</a:t>
            </a:r>
          </a:p>
          <a:p>
            <a:r>
              <a:t>Live-open https://attack.mitre.org/ and navigate T1547.001 → related techniques.</a:t>
            </a:r>
          </a:p>
          <a:p/>
          <a:p>
            <a:r>
              <a:t>Do:</a:t>
            </a:r>
          </a:p>
          <a:p>
            <a:r>
              <a:t>Ask a student to name one tool they have seen in the wild. Map it live, together, on screen.</a:t>
            </a:r>
          </a:p>
          <a:p/>
          <a:p>
            <a:r>
              <a:t>Image Prompt:</a:t>
            </a:r>
          </a:p>
          <a:p>
            <a:r>
              <a:t>No image required for this slide.</a:t>
            </a:r>
          </a:p>
          <a:p/>
          <a:p>
            <a:r>
              <a:t>Ask (Q):</a:t>
            </a:r>
          </a:p>
          <a:p>
            <a:r>
              <a:t>Name one tool you have seen in the wild. What ATT&amp;CK neighborhood does it seed?</a:t>
            </a:r>
          </a:p>
          <a:p/>
          <a:p>
            <a:r>
              <a:t>Expected Response (A):</a:t>
            </a:r>
          </a:p>
          <a:p>
            <a:r>
              <a:t>Facilitation only. Map it live. Example in the notes: Run key → T1547.001 and likely T1036.</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"Option 3 starts from your detections. If you have a rule that fires on LSASS access from a non-system account, that rule is telling you the neighborhood to look in — credential dumping, probably Mimikatz or an impacket variant. Follow the rule to the technique to the data source to the adjacent techniques."</a:t>
            </a:r>
          </a:p>
          <a:p/>
          <a:p>
            <a:r>
              <a:t>Show:</a:t>
            </a:r>
          </a:p>
          <a:p>
            <a:r>
              <a:t>One CAR page and one Sigma rule on GitHub — short, just enough to see the structure.</a:t>
            </a:r>
          </a:p>
          <a:p/>
          <a:p>
            <a:r>
              <a:t>Do:</a:t>
            </a:r>
          </a:p>
          <a:p>
            <a:r>
              <a:t>Ask: "Which of your current SIEM rules map cleanly to an ATT&amp;CK technique?" Answers here often surface gaps.</a:t>
            </a:r>
          </a:p>
          <a:p/>
          <a:p>
            <a:r>
              <a:t>Image Prompt:</a:t>
            </a:r>
          </a:p>
          <a:p>
            <a:r>
              <a:t>No image required for this slide.</a:t>
            </a:r>
          </a:p>
          <a:p/>
          <a:p>
            <a:r>
              <a:t>Ask (Q):</a:t>
            </a:r>
          </a:p>
          <a:p>
            <a:r>
              <a:t>Which of your current SIEM rules map cleanly to an ATT&amp;CK technique?</a:t>
            </a:r>
          </a:p>
          <a:p/>
          <a:p>
            <a:r>
              <a:t>Expected Response (A):</a:t>
            </a:r>
          </a:p>
          <a:p>
            <a:r>
              <a:t>Facilitation only. Answers often surface gaps. Example: LSASS access from non-system → T1003.</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Navigator is how we visualize an intrusion. I am going to build a layer live — you should have this tool open on your own workstation too."</a:t>
            </a:r>
          </a:p>
          <a:p/>
          <a:p>
            <a:r>
              <a:t>Show:</a:t>
            </a:r>
          </a:p>
          <a:p>
            <a:r>
              <a:t>The figure on the slide.</a:t>
            </a:r>
          </a:p>
          <a:p/>
          <a:p>
            <a:r>
              <a:t>Do:</a:t>
            </a:r>
          </a:p>
          <a:p>
            <a:r>
              <a:t>Have each student create their own Navigator layer for the APT their team already worked. Timebox: **20 minutes**. Timebox: **20 minutes**.</a:t>
            </a:r>
          </a:p>
          <a:p/>
          <a:p>
            <a:r>
              <a:t>Image Prompt:</a:t>
            </a:r>
          </a:p>
          <a:p>
            <a:r>
              <a:t>No image required for this slide.</a:t>
            </a:r>
          </a:p>
          <a:p/>
          <a:p>
            <a:r>
              <a:t>Ask (Q):</a:t>
            </a:r>
          </a:p>
          <a:p>
            <a:r>
              <a:t>After 20 minutes, can you show a Navigator layer for the APT your team was assigned?</a:t>
            </a:r>
          </a:p>
          <a:p/>
          <a:p>
            <a:r>
              <a:t>Expected Response (A):</a:t>
            </a:r>
          </a:p>
          <a:p>
            <a:r>
              <a:t>Nested demo: B01.M20. Build a layer; overlay later. Instructor colors 6–8 FSB Center 18 techniques live.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is where you earn the mapping. You get an intrusion narrative. You produce a Navigator layer. You justify each technique — not just 'it looked like T1059,' but 'we observed encoded PowerShell in Event 4104 invoking an external URL, consistent with T1059.001 and T1105.'"</a:t>
            </a:r>
          </a:p>
          <a:p/>
          <a:p>
            <a:r>
              <a:t>Show:</a:t>
            </a:r>
          </a:p>
          <a:p>
            <a:r>
              <a:t>Demonstrate one evidence-to-technique row, then leave the required fields visible.</a:t>
            </a:r>
          </a:p>
          <a:p/>
          <a:p>
            <a:r>
              <a:t>Do:</a:t>
            </a:r>
          </a:p>
          <a:p>
            <a:r>
              <a:t>Timebox: **45–60 minutes**. Back-brief each team in **5 minutes** with Navigator shared to the projector. Challenge unsupported mappings and reward calibrated confidence.</a:t>
            </a:r>
          </a:p>
          <a:p/>
          <a:p>
            <a:r>
              <a:t>Image Prompt:</a:t>
            </a:r>
          </a:p>
          <a:p>
            <a:r>
              <a:t>No image required for this slide.</a:t>
            </a:r>
          </a:p>
          <a:p/>
          <a:p>
            <a:r>
              <a:t>Ask (Q):</a:t>
            </a:r>
          </a:p>
          <a:p>
            <a:r>
              <a:t>For each mapped technique, what four fields must you state?</a:t>
            </a:r>
          </a:p>
          <a:p/>
          <a:p>
            <a:r>
              <a:t>Expected Response (A):</a:t>
            </a:r>
          </a:p>
          <a:p>
            <a:r>
              <a:t>Observed fact and source; behavior it supports; technique/sub-technique; confidence and competing interpretations. Nested drill: B01.M21. Challenge unsupported mappings.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Step 3: Determine the Adversary's Mission and EMLCOA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"Now you take the layer and work backward. This cluster of techniques is not random — it is a mission. What mission? State it as an EMLCOA and defend the statement with the techniques on the layer."</a:t>
            </a:r>
          </a:p>
          <a:p/>
          <a:p>
            <a:r>
              <a:t>Show:</a:t>
            </a:r>
          </a:p>
          <a:p>
            <a:r>
              <a:t>The Navigator layer from the lab.</a:t>
            </a:r>
          </a:p>
          <a:p/>
          <a:p>
            <a:r>
              <a:t>Do:</a:t>
            </a:r>
          </a:p>
          <a:p>
            <a:r>
              <a:t>Team back-brief: each team takes 2 minutes to state the EMLCOA their layer implies.</a:t>
            </a:r>
          </a:p>
          <a:p/>
          <a:p>
            <a:r>
              <a:t>Image Prompt:</a:t>
            </a:r>
          </a:p>
          <a:p>
            <a:r>
              <a:t>No image required for this slide.</a:t>
            </a:r>
          </a:p>
          <a:p/>
          <a:p>
            <a:r>
              <a:t>Ask (Q):</a:t>
            </a:r>
          </a:p>
          <a:p>
            <a:r>
              <a:t>What mission does your layer imply, stated as an EMLCOA?</a:t>
            </a:r>
          </a:p>
          <a:p/>
          <a:p>
            <a:r>
              <a:t>Expected Response (A):</a:t>
            </a:r>
          </a:p>
          <a:p>
            <a:r>
              <a:t>Work backward from the technique pattern. Do not default to destructive. Nested drill: B01.M22. Two minutes per team.</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now have an evidence-backed layer and an assessment of what mission that pattern serves. Convert the same layer into options for the commander."</a:t>
            </a:r>
          </a:p>
          <a:p/>
          <a:p>
            <a:r>
              <a:t>Show:</a:t>
            </a:r>
          </a:p>
          <a:p>
            <a:r>
              <a:t>One team layer and its analytical-justification table.</a:t>
            </a:r>
          </a:p>
          <a:p/>
          <a:p>
            <a:r>
              <a:t>Do:</a:t>
            </a:r>
          </a:p>
          <a:p>
            <a:r>
              <a:t>Save exported layers.</a:t>
            </a:r>
          </a:p>
          <a:p/>
          <a:p>
            <a:r>
              <a:t>Image Prompt:</a:t>
            </a:r>
          </a:p>
          <a:p>
            <a:r>
              <a:t>No image required for this slide.</a:t>
            </a:r>
          </a:p>
          <a:p/>
          <a:p>
            <a:r>
              <a:t>Ask (Q):</a:t>
            </a:r>
          </a:p>
          <a:p>
            <a:r>
              <a:t>What two products hand off to D3FEND and ENGAGE mapping?</a:t>
            </a:r>
          </a:p>
          <a:p>
            <a:r>
              <a:t>Why must mapping start from observable evidence rather than a "what if" destructive EMLCOA?</a:t>
            </a:r>
          </a:p>
          <a:p>
            <a:r>
              <a:t>What are the three CISA mapping entry points taught here?</a:t>
            </a:r>
          </a:p>
          <a:p>
            <a:r>
              <a:t>What two products hand off to D3FEND and ENGAGE mapping?</a:t>
            </a:r>
          </a:p>
          <a:p/>
          <a:p>
            <a:r>
              <a:t>Expected Response (A):</a:t>
            </a:r>
          </a:p>
          <a:p>
            <a:r>
              <a:t>An evidence-backed Navigator layer and a mission/EMLCOA assessment. Those convert into D3FEND and ENGAGE options.</a:t>
            </a:r>
          </a:p>
          <a:p>
            <a:r>
              <a:t>## Lesson summary</a:t>
            </a:r>
          </a:p>
          <a:p>
            <a:r>
              <a:t>ATT&amp;CK is a shared vocabulary for observed adversary behavior; it does not replace evidence.</a:t>
            </a:r>
          </a:p>
          <a:p>
            <a:r>
              <a:t>Map from data sources, tools/attributes, or analytics, then substantiate. Navigator organizes the pattern.</a:t>
            </a:r>
          </a:p>
          <a:p>
            <a:r>
              <a:t>Nested `B01.M20` demonstrates Navigator; `B01.M21` maps an intrusion; `B01.M22` states mission and EMLCOA from the layer.</a:t>
            </a:r>
          </a:p>
          <a:p>
            <a:r>
              <a:t>Convert the same layer into D3FEND and ENGAGE options.</a:t>
            </a:r>
          </a:p>
          <a:p>
            <a:r>
              <a:t>## Questions and check on learning</a:t>
            </a:r>
          </a:p>
          <a:p>
            <a:r>
              <a:t>Root/system does not make wipe the likely course. Intelligence units collect; DRAW-D withdraw still shapes recon.</a:t>
            </a:r>
          </a:p>
          <a:p>
            <a:r>
              <a:t>Data source; tools or attributes; analytics (Sigma / CAR).</a:t>
            </a:r>
          </a:p>
          <a:p>
            <a:r>
              <a:t>Exported Navigator layer plus an analytical-justification table, and a mission/EMLCOA stated from that pattern.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pPr/>
            <a:r>
              <a:rPr sz="4400"/>
              <a:t>MITRE ATT&amp;CK and Navigator</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MITRE ATT&amp;CK and Attack Navigator</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sz="2400"/>
              <a:t>By the end of this lesson you will be able to:</a:t>
            </a:r>
          </a:p>
          <a:p>
            <a:pPr/>
            <a:r>
              <a:rPr sz="2400"/>
              <a:t>Recall the purpose for which the MITRE ATT&amp;CK model was created</a:t>
            </a:r>
          </a:p>
          <a:p>
            <a:pPr/>
            <a:r>
              <a:rPr sz="2400"/>
              <a:t>Map adversary activity using the MITRE ATT&amp;CK Navigator</a:t>
            </a:r>
          </a:p>
          <a:p>
            <a:pPr/>
            <a:r>
              <a:rPr sz="2400"/>
              <a:t>Determine an adversary's mission and EMLCOA using attack navigator and mapped data</a:t>
            </a:r>
          </a:p>
        </p:txBody>
      </p:sp>
      <p:sp>
        <p:nvSpPr>
          <p:cNvPr id="3" name="Title 2"/>
          <p:cNvSpPr>
            <a:spLocks noGrp="1"/>
          </p:cNvSpPr>
          <p:nvPr>
            <p:ph type="title"/>
          </p:nvPr>
        </p:nvSpPr>
        <p:spPr/>
        <p:txBody>
          <a:bodyPr wrap="square">
            <a:normAutofit/>
          </a:bodyPr>
          <a:lstStyle/>
          <a:p>
            <a:pPr/>
            <a:r>
              <a:rPr sz="2700"/>
              <a:t>Lesson Objectives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sz="2400"/>
              <a:t>In this lesson you will be presented with the knowledge highlighted below to develop your analytical skills via the following sections:</a:t>
            </a:r>
          </a:p>
        </p:txBody>
      </p:sp>
      <p:sp>
        <p:nvSpPr>
          <p:cNvPr id="3" name="Title 2"/>
          <p:cNvSpPr>
            <a:spLocks noGrp="1"/>
          </p:cNvSpPr>
          <p:nvPr>
            <p:ph type="title"/>
          </p:nvPr>
        </p:nvSpPr>
        <p:spPr/>
        <p:txBody>
          <a:bodyPr wrap="square">
            <a:normAutofit/>
          </a:bodyPr>
          <a:lstStyle/>
          <a:p>
            <a:pPr/>
            <a:r>
              <a:rPr sz="2700"/>
              <a:t>Lesson Overview</a:t>
            </a:r>
          </a:p>
        </p:txBody>
      </p:sp>
      <p:pic>
        <p:nvPicPr>
          <p:cNvPr id="4" name="Picture 3" descr="M19-s03-0-0c2bc274f756.png"/>
          <p:cNvPicPr>
            <a:picLocks noChangeAspect="1"/>
          </p:cNvPicPr>
          <p:nvPr/>
        </p:nvPicPr>
        <p:blipFill>
          <a:blip r:embed="rId3"/>
          <a:stretch>
            <a:fillRect/>
          </a:stretch>
        </p:blipFill>
        <p:spPr>
          <a:xfrm>
            <a:off x="1748123" y="1062990"/>
            <a:ext cx="9597961" cy="5239512"/>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Step 1: Eyes on the Adversary</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4202304" cy="5063243"/>
          </a:xfrm>
        </p:spPr>
        <p:txBody>
          <a:bodyPr wrap="square" anchor="t">
            <a:normAutofit/>
          </a:bodyPr>
          <a:lstStyle/>
          <a:p>
            <a:pPr/>
            <a:r>
              <a:rPr sz="1800"/>
              <a:t>Assume the hunt was successful — you have a foothold watching them</a:t>
            </a:r>
          </a:p>
          <a:p>
            <a:pPr/>
            <a:r>
              <a:rPr sz="1800"/>
              <a:t>Your first job is do not spook them</a:t>
            </a:r>
          </a:p>
          <a:p>
            <a:pPr/>
            <a:r>
              <a:rPr sz="1800"/>
              <a:t>If you spook them, you collapse your own option space</a:t>
            </a:r>
          </a:p>
          <a:p>
            <a:pPr/>
            <a:r>
              <a:rPr sz="1800"/>
              <a:t>Remember DRAW-D: their </a:t>
            </a:r>
            <a:r>
              <a:rPr b="1" sz="1800"/>
              <a:t>withdraw</a:t>
            </a:r>
            <a:r>
              <a:rPr sz="1800"/>
              <a:t> condition shapes everything</a:t>
            </a:r>
          </a:p>
        </p:txBody>
      </p:sp>
      <p:sp>
        <p:nvSpPr>
          <p:cNvPr id="3" name="Title 2"/>
          <p:cNvSpPr>
            <a:spLocks noGrp="1"/>
          </p:cNvSpPr>
          <p:nvPr>
            <p:ph type="title"/>
          </p:nvPr>
        </p:nvSpPr>
        <p:spPr>
          <a:xfrm>
            <a:off x="1510029" y="437317"/>
            <a:ext cx="10681971" cy="495370"/>
          </a:xfrm>
        </p:spPr>
        <p:txBody>
          <a:bodyPr wrap="square" anchor="t">
            <a:normAutofit/>
          </a:bodyPr>
          <a:lstStyle/>
          <a:p>
            <a:pPr/>
            <a:r>
              <a:rPr sz="2200"/>
              <a:t>Eyes on the Adversary</a:t>
            </a:r>
          </a:p>
        </p:txBody>
      </p:sp>
      <p:pic>
        <p:nvPicPr>
          <p:cNvPr id="4" name="Picture 3" descr="M19-s05-0-7ba098890b52.jpg"/>
          <p:cNvPicPr>
            <a:picLocks noChangeAspect="1"/>
          </p:cNvPicPr>
          <p:nvPr/>
        </p:nvPicPr>
        <p:blipFill>
          <a:blip r:embed="rId3"/>
          <a:stretch>
            <a:fillRect/>
          </a:stretch>
        </p:blipFill>
        <p:spPr>
          <a:xfrm>
            <a:off x="5803773" y="987551"/>
            <a:ext cx="4876038" cy="4876038"/>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b="1" sz="2400"/>
              <a:t>Avoid the "What If" Game</a:t>
            </a:r>
          </a:p>
          <a:p>
            <a:pPr lvl="1"/>
            <a:r>
              <a:rPr sz="2400"/>
              <a:t>Once an adversary has root/system, they can theoretically do anything</a:t>
            </a:r>
          </a:p>
          <a:p>
            <a:pPr lvl="1"/>
            <a:r>
              <a:rPr sz="2400"/>
              <a:t>Do </a:t>
            </a:r>
            <a:r>
              <a:rPr b="1" sz="2400"/>
              <a:t>not</a:t>
            </a:r>
            <a:r>
              <a:rPr sz="2400"/>
              <a:t> default to the most destructive EMLCOA</a:t>
            </a:r>
          </a:p>
          <a:p>
            <a:pPr lvl="1"/>
            <a:r>
              <a:rPr sz="2400"/>
              <a:t>Consider the adversary's authority and intent — T10 vs. T50 equivalents</a:t>
            </a:r>
          </a:p>
          <a:p>
            <a:pPr lvl="1"/>
            <a:r>
              <a:rPr sz="2400"/>
              <a:t>Intelligence-collection units rarely destroy; destructive units rarely dwell</a:t>
            </a:r>
          </a:p>
        </p:txBody>
      </p:sp>
      <p:sp>
        <p:nvSpPr>
          <p:cNvPr id="3" name="Title 2"/>
          <p:cNvSpPr>
            <a:spLocks noGrp="1"/>
          </p:cNvSpPr>
          <p:nvPr>
            <p:ph type="title"/>
          </p:nvPr>
        </p:nvSpPr>
        <p:spPr/>
        <p:txBody>
          <a:bodyPr wrap="square">
            <a:normAutofit/>
          </a:bodyPr>
          <a:lstStyle/>
          <a:p>
            <a:pPr/>
            <a:r>
              <a:rPr sz="2700"/>
              <a:t>Eyes on the Adversary</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Step 2: Mapping ATT&amp;CK Into Raw Data</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sz="2400"/>
              <a:t>Before we map, we must know what data we have</a:t>
            </a:r>
          </a:p>
          <a:p>
            <a:pPr/>
            <a:r>
              <a:rPr sz="2400"/>
              <a:t>Pull up your friendly OCOKA-W "Observation" row</a:t>
            </a:r>
          </a:p>
          <a:p>
            <a:pPr/>
            <a:r>
              <a:rPr sz="2400"/>
              <a:t>Data sources drive what techniques you can see at all</a:t>
            </a:r>
          </a:p>
          <a:p>
            <a:pPr/>
            <a:r>
              <a:rPr sz="2400"/>
              <a:t>CISA has published the canonical methodology for this</a:t>
            </a:r>
          </a:p>
        </p:txBody>
      </p:sp>
      <p:sp>
        <p:nvSpPr>
          <p:cNvPr id="3" name="Title 2"/>
          <p:cNvSpPr>
            <a:spLocks noGrp="1"/>
          </p:cNvSpPr>
          <p:nvPr>
            <p:ph type="title"/>
          </p:nvPr>
        </p:nvSpPr>
        <p:spPr/>
        <p:txBody>
          <a:bodyPr wrap="square">
            <a:normAutofit/>
          </a:bodyPr>
          <a:lstStyle/>
          <a:p>
            <a:pPr/>
            <a:r>
              <a:rPr sz="2700"/>
              <a:t>Mapping ATT&amp;CK Into Raw Data</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b="1" sz="2000"/>
              <a:t>Option 1: Start From the Data Source</a:t>
            </a:r>
          </a:p>
          <a:p>
            <a:pPr/>
            <a:r>
              <a:rPr sz="2000"/>
              <a:t>You have a data source (Windows Events, Sysmon, EDR, netflow, etc.) — now reason forward</a:t>
            </a:r>
          </a:p>
          <a:p>
            <a:pPr/>
            <a:r>
              <a:rPr sz="2000"/>
              <a:t>Ask:</a:t>
            </a:r>
          </a:p>
          <a:p>
            <a:pPr lvl="1"/>
            <a:r>
              <a:rPr sz="2000"/>
              <a:t>What is the object of focus? (file, driver, process, registry key)</a:t>
            </a:r>
          </a:p>
          <a:p>
            <a:pPr lvl="1"/>
            <a:r>
              <a:rPr sz="2000"/>
              <a:t>What action is being performed on the object? (read, write, execute)</a:t>
            </a:r>
          </a:p>
          <a:p>
            <a:pPr lvl="1"/>
            <a:r>
              <a:rPr sz="2000"/>
              <a:t>What techniques require this activity?</a:t>
            </a:r>
          </a:p>
          <a:p>
            <a:pPr lvl="1"/>
            <a:r>
              <a:rPr sz="2000"/>
              <a:t>What substantiating activity would narrow the technique?</a:t>
            </a:r>
          </a:p>
          <a:p>
            <a:pPr/>
            <a:r>
              <a:rPr sz="2000"/>
              <a:t>Substantiation examples: known tools (impacket, mimikatz), LOLBAS/GTFOBins use, protocol/port signatures, obfuscation evidence, unexpected behavior on a specific device type</a:t>
            </a:r>
          </a:p>
        </p:txBody>
      </p:sp>
      <p:sp>
        <p:nvSpPr>
          <p:cNvPr id="3" name="Title 2"/>
          <p:cNvSpPr>
            <a:spLocks noGrp="1"/>
          </p:cNvSpPr>
          <p:nvPr>
            <p:ph type="title"/>
          </p:nvPr>
        </p:nvSpPr>
        <p:spPr/>
        <p:txBody>
          <a:bodyPr wrap="square">
            <a:normAutofit/>
          </a:bodyPr>
          <a:lstStyle/>
          <a:p>
            <a:pPr/>
            <a:r>
              <a:rPr sz="2700"/>
              <a:t>Mapping ATT&amp;CK Into Raw Data</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b="1" sz="2400"/>
              <a:t>Option 2: Start From Tools or Attributes</a:t>
            </a:r>
          </a:p>
          <a:p>
            <a:pPr/>
            <a:r>
              <a:rPr sz="2400"/>
              <a:t>You saw a specific command, artifact, or tool — broaden the aperture</a:t>
            </a:r>
          </a:p>
          <a:p>
            <a:pPr/>
            <a:r>
              <a:rPr sz="2400"/>
              <a:t>Example: registry key under HKLM\Software\Microsoft\Windows\CurrentVersion\Run → T1547.001 (Registry Run Keys / Startup Folder)</a:t>
            </a:r>
          </a:p>
          <a:p>
            <a:pPr/>
            <a:r>
              <a:rPr sz="2400"/>
              <a:t>From there, related techniques often apply — e.g., masquerading legitimate entries → T1036</a:t>
            </a:r>
          </a:p>
          <a:p>
            <a:pPr/>
            <a:r>
              <a:rPr sz="2400"/>
              <a:t>Use one observation as the seed; explore the neighborhood</a:t>
            </a:r>
          </a:p>
        </p:txBody>
      </p:sp>
      <p:sp>
        <p:nvSpPr>
          <p:cNvPr id="3" name="Title 2"/>
          <p:cNvSpPr>
            <a:spLocks noGrp="1"/>
          </p:cNvSpPr>
          <p:nvPr>
            <p:ph type="title"/>
          </p:nvPr>
        </p:nvSpPr>
        <p:spPr/>
        <p:txBody>
          <a:bodyPr wrap="square">
            <a:normAutofit/>
          </a:bodyPr>
          <a:lstStyle/>
          <a:p>
            <a:pPr/>
            <a:r>
              <a:rPr sz="2700"/>
              <a:t>Mapping ATT&amp;CK Into Raw Data</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b="1" sz="2400"/>
              <a:t>Option 3: Start From Analytics</a:t>
            </a:r>
          </a:p>
          <a:p>
            <a:pPr/>
            <a:r>
              <a:rPr sz="2400"/>
              <a:t>Detection rules in a SIEM already encode technique-level logic</a:t>
            </a:r>
          </a:p>
          <a:p>
            <a:pPr/>
            <a:r>
              <a:rPr sz="2400"/>
              <a:t>Open-source sources:</a:t>
            </a:r>
          </a:p>
          <a:p>
            <a:pPr lvl="1"/>
            <a:r>
              <a:rPr sz="2400"/>
              <a:t>Sigma (standardized SIEM rule syntax)</a:t>
            </a:r>
          </a:p>
          <a:p>
            <a:pPr lvl="1"/>
            <a:r>
              <a:rPr sz="2400"/>
              <a:t>MITRE CAR (Cyber Analytics Repository)</a:t>
            </a:r>
          </a:p>
          <a:p>
            <a:pPr lvl="1"/>
            <a:r>
              <a:rPr sz="2400"/>
              <a:t>Examples: "LSASS Access from Non-System Account" → credential dumping (T1003)</a:t>
            </a:r>
          </a:p>
          <a:p>
            <a:pPr/>
            <a:r>
              <a:rPr sz="2400"/>
              <a:t>Use the rule's logic to find more techniques nearby</a:t>
            </a:r>
          </a:p>
        </p:txBody>
      </p:sp>
      <p:sp>
        <p:nvSpPr>
          <p:cNvPr id="3" name="Title 2"/>
          <p:cNvSpPr>
            <a:spLocks noGrp="1"/>
          </p:cNvSpPr>
          <p:nvPr>
            <p:ph type="title"/>
          </p:nvPr>
        </p:nvSpPr>
        <p:spPr/>
        <p:txBody>
          <a:bodyPr wrap="square">
            <a:normAutofit/>
          </a:bodyPr>
          <a:lstStyle/>
          <a:p>
            <a:pPr/>
            <a:r>
              <a:rPr sz="2700"/>
              <a:t>Mapping ATT&amp;CK Into Raw Data</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4667619" cy="5063243"/>
          </a:xfrm>
        </p:spPr>
        <p:txBody>
          <a:bodyPr wrap="square" anchor="t">
            <a:normAutofit/>
          </a:bodyPr>
          <a:lstStyle/>
          <a:p>
            <a:pPr/>
            <a:r>
              <a:rPr sz="1800"/>
              <a:t>ATT&amp;CK Navigator is the canonical tool for visualizing observed TTPs</a:t>
            </a:r>
          </a:p>
          <a:p>
            <a:pPr/>
            <a:r>
              <a:rPr sz="1800"/>
              <a:t>Build a layer per intrusion; overlay layers to see overlaps across actors</a:t>
            </a:r>
          </a:p>
          <a:p>
            <a:pPr/>
            <a:r>
              <a:rPr sz="1800"/>
              <a:t>Export layers for briefs and for hand-off to intel or defenders</a:t>
            </a:r>
          </a:p>
          <a:p>
            <a:pPr>
              <a:buNone/>
            </a:pPr>
            <a:r>
              <a:rPr b="1" sz="1800"/>
              <a:t>Demo: ATT&amp;CK Navigator</a:t>
            </a:r>
          </a:p>
          <a:p>
            <a:pPr>
              <a:buNone/>
            </a:pPr>
            <a:r>
              <a:rPr b="1" sz="1800"/>
              <a:t>https://mitre-attack.github.io/attack-navigator/</a:t>
            </a:r>
          </a:p>
          <a:p>
            <a:pPr>
              <a:buNone/>
            </a:pPr>
            <a:r>
              <a:rPr b="1" sz="1800"/>
              <a:t>ATT&amp;CK</a:t>
            </a:r>
          </a:p>
          <a:p>
            <a:pPr>
              <a:buNone/>
            </a:pPr>
            <a:r>
              <a:rPr sz="1800"/>
              <a:t>Describes Adversary TTPs</a:t>
            </a:r>
          </a:p>
        </p:txBody>
      </p:sp>
      <p:sp>
        <p:nvSpPr>
          <p:cNvPr id="3" name="Title 2"/>
          <p:cNvSpPr>
            <a:spLocks noGrp="1"/>
          </p:cNvSpPr>
          <p:nvPr>
            <p:ph type="title"/>
          </p:nvPr>
        </p:nvSpPr>
        <p:spPr/>
        <p:txBody>
          <a:bodyPr wrap="square">
            <a:normAutofit/>
          </a:bodyPr>
          <a:lstStyle/>
          <a:p>
            <a:pPr/>
            <a:r>
              <a:rPr sz="2700"/>
              <a:t>Mapping ATT&amp;CK Into Raw Data</a:t>
            </a:r>
          </a:p>
        </p:txBody>
      </p:sp>
      <p:pic>
        <p:nvPicPr>
          <p:cNvPr id="4" name="Picture 3" descr="M19-s12-0-941e158eff23.png"/>
          <p:cNvPicPr>
            <a:picLocks noChangeAspect="1"/>
          </p:cNvPicPr>
          <p:nvPr/>
        </p:nvPicPr>
        <p:blipFill>
          <a:blip r:embed="rId3"/>
          <a:stretch>
            <a:fillRect/>
          </a:stretch>
        </p:blipFill>
        <p:spPr>
          <a:xfrm>
            <a:off x="6269088" y="2400300"/>
            <a:ext cx="5652287" cy="2928366"/>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27245"/>
            <a:ext cx="10361372" cy="1719072"/>
          </a:xfrm>
        </p:spPr>
        <p:txBody>
          <a:bodyPr wrap="square">
            <a:normAutofit/>
          </a:bodyPr>
          <a:lstStyle/>
          <a:p>
            <a:pPr/>
            <a:r>
              <a:rPr b="1" sz="1700"/>
              <a:t>Practical Application: </a:t>
            </a:r>
            <a:r>
              <a:rPr sz="1700"/>
              <a:t>Map an Intrusion to an ATT&amp;CK navigator layer</a:t>
            </a:r>
          </a:p>
          <a:p>
            <a:pPr/>
            <a:r>
              <a:rPr b="1" sz="1700"/>
              <a:t>Objective: </a:t>
            </a:r>
            <a:r>
              <a:rPr sz="1700"/>
              <a:t>Map the Adversary's attack onto an attack navigator layer</a:t>
            </a:r>
          </a:p>
          <a:p>
            <a:pPr/>
            <a:r>
              <a:rPr b="1" sz="1700"/>
              <a:t>Instructions:</a:t>
            </a:r>
            <a:r>
              <a:rPr sz="1700"/>
              <a:t>Using the </a:t>
            </a:r>
            <a:r>
              <a:rPr b="1" sz="1700"/>
              <a:t>https://mitre-attack.github.io/attack-navigator/</a:t>
            </a:r>
            <a:r>
              <a:rPr sz="1700"/>
              <a:t> produce a navigator Layer AND an analytical justification for each technique listed below</a:t>
            </a:r>
          </a:p>
        </p:txBody>
      </p:sp>
      <p:sp>
        <p:nvSpPr>
          <p:cNvPr id="3" name="Title 2"/>
          <p:cNvSpPr>
            <a:spLocks noGrp="1"/>
          </p:cNvSpPr>
          <p:nvPr>
            <p:ph type="title"/>
          </p:nvPr>
        </p:nvSpPr>
        <p:spPr/>
        <p:txBody>
          <a:bodyPr wrap="square">
            <a:normAutofit/>
          </a:bodyPr>
          <a:lstStyle/>
          <a:p>
            <a:pPr/>
            <a:r>
              <a:rPr sz="2700"/>
              <a:t>Mapping ATT&amp;CK Into Raw Data</a:t>
            </a:r>
          </a:p>
        </p:txBody>
      </p:sp>
      <p:graphicFrame>
        <p:nvGraphicFramePr>
          <p:cNvPr id="4" name="Table 3"/>
          <p:cNvGraphicFramePr>
            <a:graphicFrameLocks noGrp="1"/>
          </p:cNvGraphicFramePr>
          <p:nvPr/>
        </p:nvGraphicFramePr>
        <p:xfrm>
          <a:off x="1510029" y="2919469"/>
          <a:ext cx="10361372" cy="3029966"/>
        </p:xfrm>
        <a:graphic>
          <a:graphicData uri="http://schemas.openxmlformats.org/drawingml/2006/table">
            <a:tbl>
              <a:tblPr firstRow="1" bandRow="1">
                <a:tableStyleId>{5C22544A-7EE6-4342-B048-85BDC9FD1C3A}</a:tableStyleId>
              </a:tblPr>
              <a:tblGrid>
                <a:gridCol w="3453790"/>
                <a:gridCol w="3453790"/>
                <a:gridCol w="3453792"/>
              </a:tblGrid>
              <a:tr h="247777">
                <a:tc>
                  <a:txBody>
                    <a:bodyPr wrap="square"/>
                    <a:lstStyle/>
                    <a:p>
                      <a:pPr>
                        <a:defRPr sz="1100"/>
                      </a:pPr>
                    </a:p>
                  </a:txBody>
                  <a:tcPr/>
                </a:tc>
                <a:tc>
                  <a:txBody>
                    <a:bodyPr wrap="square"/>
                    <a:lstStyle/>
                    <a:p>
                      <a:pPr>
                        <a:defRPr sz="1100"/>
                      </a:pPr>
                      <a:r>
                        <a:t>Attack</a:t>
                      </a:r>
                    </a:p>
                  </a:txBody>
                  <a:tcPr/>
                </a:tc>
                <a:tc>
                  <a:txBody>
                    <a:bodyPr wrap="square"/>
                    <a:lstStyle/>
                    <a:p>
                      <a:pPr>
                        <a:defRPr sz="1100"/>
                      </a:pPr>
                      <a:r>
                        <a:t>Justification</a:t>
                      </a:r>
                    </a:p>
                  </a:txBody>
                  <a:tcPr/>
                </a:tc>
              </a:tr>
              <a:tr h="440690">
                <a:tc>
                  <a:txBody>
                    <a:bodyPr wrap="square"/>
                    <a:lstStyle/>
                    <a:p>
                      <a:pPr>
                        <a:defRPr sz="1100"/>
                      </a:pPr>
                      <a:r>
                        <a:t>Log 1 (Email Gateway): An email is delivered with a .lnk attachment.</a:t>
                      </a:r>
                    </a:p>
                  </a:txBody>
                  <a:tcPr/>
                </a:tc>
                <a:tc>
                  <a:txBody>
                    <a:bodyPr wrap="square"/>
                    <a:lstStyle/>
                    <a:p>
                      <a:pPr>
                        <a:defRPr sz="1100"/>
                      </a:pPr>
                      <a:r>
                        <a:t>T1092:</a:t>
                      </a:r>
                    </a:p>
                  </a:txBody>
                  <a:tcPr/>
                </a:tc>
                <a:tc>
                  <a:txBody>
                    <a:bodyPr wrap="square"/>
                    <a:lstStyle/>
                    <a:p>
                      <a:pPr>
                        <a:defRPr sz="1100"/>
                      </a:pPr>
                      <a:r>
                        <a:t>it looked like it</a:t>
                      </a:r>
                    </a:p>
                  </a:txBody>
                  <a:tcPr/>
                </a:tc>
              </a:tr>
              <a:tr h="440690">
                <a:tc>
                  <a:txBody>
                    <a:bodyPr wrap="square"/>
                    <a:lstStyle/>
                    <a:p>
                      <a:pPr>
                        <a:defRPr sz="1100"/>
                      </a:pPr>
                      <a:r>
                        <a:t>Log 2 (Sysmon Event 1): mshta.exe is observed executing a URL hosted on a .ru domain.</a:t>
                      </a:r>
                    </a:p>
                  </a:txBody>
                  <a:tcPr/>
                </a:tc>
                <a:tc>
                  <a:txBody>
                    <a:bodyPr wrap="square"/>
                    <a:lstStyle/>
                    <a:p>
                      <a:pPr>
                        <a:defRPr sz="1100"/>
                      </a:pPr>
                    </a:p>
                  </a:txBody>
                  <a:tcPr/>
                </a:tc>
                <a:tc>
                  <a:txBody>
                    <a:bodyPr wrap="square"/>
                    <a:lstStyle/>
                    <a:p>
                      <a:pPr>
                        <a:defRPr sz="1100"/>
                      </a:pPr>
                    </a:p>
                  </a:txBody>
                  <a:tcPr/>
                </a:tc>
              </a:tr>
              <a:tr h="633603">
                <a:tc>
                  <a:txBody>
                    <a:bodyPr wrap="square"/>
                    <a:lstStyle/>
                    <a:p>
                      <a:pPr>
                        <a:defRPr sz="1100"/>
                      </a:pPr>
                      <a:r>
                        <a:t>Log 3 (Sysmon Event 1): powershell.exe is observed running a command containing Invoke-Expression and a Base64 encoded string.</a:t>
                      </a:r>
                    </a:p>
                  </a:txBody>
                  <a:tcPr/>
                </a:tc>
                <a:tc>
                  <a:txBody>
                    <a:bodyPr wrap="square"/>
                    <a:lstStyle/>
                    <a:p>
                      <a:pPr>
                        <a:defRPr sz="1100"/>
                      </a:pPr>
                      <a:r>
                        <a:t>T####: Name listed here</a:t>
                      </a:r>
                    </a:p>
                  </a:txBody>
                  <a:tcPr/>
                </a:tc>
                <a:tc>
                  <a:txBody>
                    <a:bodyPr wrap="square"/>
                    <a:lstStyle/>
                    <a:p>
                      <a:pPr>
                        <a:defRPr sz="1100"/>
                      </a:pPr>
                      <a:r>
                        <a:t>We observed encoded #### in Sysmon Event 1 Doing this and that consistent with T####.###</a:t>
                      </a:r>
                    </a:p>
                  </a:txBody>
                  <a:tcPr/>
                </a:tc>
              </a:tr>
              <a:tr h="440690">
                <a:tc>
                  <a:txBody>
                    <a:bodyPr wrap="square"/>
                    <a:lstStyle/>
                    <a:p>
                      <a:pPr>
                        <a:defRPr sz="1100"/>
                      </a:pPr>
                      <a:r>
                        <a:t>Log 4 (EDR Log): PteroLNK.vbs is observed querying WMI for win32_logicaldisk where mediatype=null.</a:t>
                      </a:r>
                    </a:p>
                  </a:txBody>
                  <a:tcPr/>
                </a:tc>
                <a:tc>
                  <a:txBody>
                    <a:bodyPr wrap="square"/>
                    <a:lstStyle/>
                    <a:p>
                      <a:pPr>
                        <a:defRPr sz="1100"/>
                      </a:pPr>
                    </a:p>
                  </a:txBody>
                  <a:tcPr/>
                </a:tc>
                <a:tc>
                  <a:txBody>
                    <a:bodyPr wrap="square"/>
                    <a:lstStyle/>
                    <a:p>
                      <a:pPr>
                        <a:defRPr sz="1100"/>
                      </a:pPr>
                    </a:p>
                  </a:txBody>
                  <a:tcPr/>
                </a:tc>
              </a:tr>
              <a:tr h="826516">
                <a:tc>
                  <a:txBody>
                    <a:bodyPr wrap="square"/>
                    <a:lstStyle/>
                    <a:p>
                      <a:pPr>
                        <a:defRPr sz="1100"/>
                      </a:pPr>
                      <a:r>
                        <a:t>Log 5 (File Auditing): PteroPSDoor.ps1 is observed reading files with extensions .docx, .xlsx, and .pdf from a user's Desktop and writing them to a staging directory in %LOCALAPPDATA%\vector.</a:t>
                      </a:r>
                    </a:p>
                  </a:txBody>
                  <a:tcPr/>
                </a:tc>
                <a:tc>
                  <a:txBody>
                    <a:bodyPr wrap="square"/>
                    <a:lstStyle/>
                    <a:p>
                      <a:pPr>
                        <a:defRPr sz="1100"/>
                      </a:pPr>
                    </a:p>
                  </a:txBody>
                  <a:tcPr/>
                </a:tc>
                <a:tc>
                  <a:txBody>
                    <a:bodyPr wrap="square"/>
                    <a:lstStyle/>
                    <a:p>
                      <a:pPr>
                        <a:defRPr sz="1100"/>
                      </a:pPr>
                    </a:p>
                  </a:txBody>
                  <a:tcPr/>
                </a:tc>
              </a:tr>
            </a:tbl>
          </a:graphicData>
        </a:graphic>
      </p:graphicFrame>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Step 3: Determine the Adversary's Mission and EMLCOA</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sz="2400"/>
              <a:t>Use the ATT&amp;CK layer you just built as evidence</a:t>
            </a:r>
          </a:p>
          <a:p>
            <a:pPr/>
            <a:r>
              <a:rPr sz="2400"/>
              <a:t>Ask: what mission requires this set of techniques?</a:t>
            </a:r>
          </a:p>
          <a:p>
            <a:pPr/>
            <a:r>
              <a:rPr sz="2400"/>
              <a:t>Build the EMLCOA straight from the technique pattern</a:t>
            </a:r>
          </a:p>
          <a:p>
            <a:pPr/>
            <a:r>
              <a:rPr sz="2400"/>
              <a:t>Name actions on contact based on DRAW-D — do not default to destructive</a:t>
            </a:r>
          </a:p>
        </p:txBody>
      </p:sp>
      <p:sp>
        <p:nvSpPr>
          <p:cNvPr id="3" name="Title 2"/>
          <p:cNvSpPr>
            <a:spLocks noGrp="1"/>
          </p:cNvSpPr>
          <p:nvPr>
            <p:ph type="title"/>
          </p:nvPr>
        </p:nvSpPr>
        <p:spPr/>
        <p:txBody>
          <a:bodyPr wrap="square">
            <a:normAutofit/>
          </a:bodyPr>
          <a:lstStyle/>
          <a:p>
            <a:pPr/>
            <a:r>
              <a:rPr sz="2700"/>
              <a:t>Determine the Adversary's Mission and EMLCOA</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sz="2400"/>
              <a:t>You should now be able to:</a:t>
            </a:r>
          </a:p>
          <a:p>
            <a:pPr/>
            <a:r>
              <a:rPr sz="2400"/>
              <a:t>Recall the purpose for which the MITRE ATT&amp;K model was created</a:t>
            </a:r>
          </a:p>
          <a:p>
            <a:pPr/>
            <a:r>
              <a:rPr sz="2400"/>
              <a:t>Map adversary activity using the MITRE ATT&amp;K Navigator</a:t>
            </a:r>
          </a:p>
          <a:p>
            <a:pPr/>
            <a:r>
              <a:rPr sz="2400"/>
              <a:t>Determine an Adversary's Mission and EMLCOA using ATT&amp;K navigator and mapped data</a:t>
            </a:r>
          </a:p>
        </p:txBody>
      </p:sp>
      <p:sp>
        <p:nvSpPr>
          <p:cNvPr id="3" name="Title 2"/>
          <p:cNvSpPr>
            <a:spLocks noGrp="1"/>
          </p:cNvSpPr>
          <p:nvPr>
            <p:ph type="title"/>
          </p:nvPr>
        </p:nvSpPr>
        <p:spPr/>
        <p:txBody>
          <a:bodyPr wrap="square">
            <a:normAutofit/>
          </a:bodyPr>
          <a:lstStyle/>
          <a:p>
            <a:pPr/>
            <a:r>
              <a:rPr sz="2700"/>
              <a:t>Lesson Summary</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