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8"/>
    <p:sldId id="257" r:id="rId14"/>
    <p:sldId id="258" r:id="rId15"/>
    <p:sldId id="259" r:id="rId7"/>
    <p:sldId id="260" r:id="rId6"/>
    <p:sldId id="261" r:id="rId5"/>
    <p:sldId id="262" r:id="rId4"/>
    <p:sldId id="263" r:id="rId3"/>
    <p:sldId id="264" r:id="rId2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</p:sldIdLst>
  <p:sldSz cx="12192000" cy="6858000"/>
  <p:notesSz cx="6858000" cy="9144000"/>
  <p:embeddedFontLst>
    <p:embeddedFont>
      <p:font typeface="Google Sans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7TtVeiHhDOAAACQUvrCI66Sw7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customschemas.google.com/relationships/presentationmetadata" Target="meta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oss, Clay" userId="f346be3b-e1cb-4aec-811e-8a3f5d1dd33f" providerId="ADAL" clId="{5AB2DC96-CDCC-45B4-B053-2F2446580AF9}"/>
    <pc:docChg chg="modSld modMainMaster">
      <pc:chgData name="Cross, Clay" userId="f346be3b-e1cb-4aec-811e-8a3f5d1dd33f" providerId="ADAL" clId="{5AB2DC96-CDCC-45B4-B053-2F2446580AF9}" dt="2026-10-12T17:41:14.911" v="31" actId="20577"/>
      <pc:docMkLst>
        <pc:docMk/>
      </pc:docMkLst>
      <pc:sldChg chg="addSp modSp mod">
        <pc:chgData name="Cross, Clay" userId="f346be3b-e1cb-4aec-811e-8a3f5d1dd33f" providerId="ADAL" clId="{5AB2DC96-CDCC-45B4-B053-2F2446580AF9}" dt="2026-10-12T17:41:14.911" v="31" actId="20577"/>
        <pc:sldMkLst>
          <pc:docMk/>
          <pc:sldMk cId="0" sldId="256"/>
        </pc:sldMkLst>
        <pc:spChg chg="add mod">
          <ac:chgData name="Cross, Clay" userId="f346be3b-e1cb-4aec-811e-8a3f5d1dd33f" providerId="ADAL" clId="{5AB2DC96-CDCC-45B4-B053-2F2446580AF9}" dt="2026-09-16T14:10:03.197" v="14"/>
          <ac:spMkLst>
            <pc:docMk/>
            <pc:sldMk cId="0" sldId="256"/>
            <ac:spMk id="2" creationId="{AF066B48-BBCB-D243-DA16-4C1CF9825479}"/>
          </ac:spMkLst>
        </pc:spChg>
        <pc:spChg chg="mod">
          <ac:chgData name="Cross, Clay" userId="f346be3b-e1cb-4aec-811e-8a3f5d1dd33f" providerId="ADAL" clId="{5AB2DC96-CDCC-45B4-B053-2F2446580AF9}" dt="2026-10-12T17:41:14.911" v="31" actId="20577"/>
          <ac:spMkLst>
            <pc:docMk/>
            <pc:sldMk cId="0" sldId="256"/>
            <ac:spMk id="93" creationId="{00000000-0000-0000-0000-000000000000}"/>
          </ac:spMkLst>
        </pc:spChg>
      </pc:sldChg>
      <pc:sldChg chg="addSp modSp">
        <pc:chgData name="Cross, Clay" userId="f346be3b-e1cb-4aec-811e-8a3f5d1dd33f" providerId="ADAL" clId="{5AB2DC96-CDCC-45B4-B053-2F2446580AF9}" dt="2026-09-16T14:10:05.967" v="15"/>
        <pc:sldMkLst>
          <pc:docMk/>
          <pc:sldMk cId="0" sldId="257"/>
        </pc:sldMkLst>
        <pc:spChg chg="add mod">
          <ac:chgData name="Cross, Clay" userId="f346be3b-e1cb-4aec-811e-8a3f5d1dd33f" providerId="ADAL" clId="{5AB2DC96-CDCC-45B4-B053-2F2446580AF9}" dt="2026-09-16T14:10:05.967" v="15"/>
          <ac:spMkLst>
            <pc:docMk/>
            <pc:sldMk cId="0" sldId="257"/>
            <ac:spMk id="2" creationId="{C59CE0A4-E66C-0842-A9F5-B432CCCBB70C}"/>
          </ac:spMkLst>
        </pc:spChg>
      </pc:sldChg>
      <pc:sldChg chg="addSp modSp">
        <pc:chgData name="Cross, Clay" userId="f346be3b-e1cb-4aec-811e-8a3f5d1dd33f" providerId="ADAL" clId="{5AB2DC96-CDCC-45B4-B053-2F2446580AF9}" dt="2026-09-16T14:10:07.294" v="16"/>
        <pc:sldMkLst>
          <pc:docMk/>
          <pc:sldMk cId="0" sldId="258"/>
        </pc:sldMkLst>
        <pc:spChg chg="add mod">
          <ac:chgData name="Cross, Clay" userId="f346be3b-e1cb-4aec-811e-8a3f5d1dd33f" providerId="ADAL" clId="{5AB2DC96-CDCC-45B4-B053-2F2446580AF9}" dt="2026-09-16T14:10:07.294" v="16"/>
          <ac:spMkLst>
            <pc:docMk/>
            <pc:sldMk cId="0" sldId="258"/>
            <ac:spMk id="2" creationId="{9367D3A5-428A-79F2-AC81-ADCB1A0F11C1}"/>
          </ac:spMkLst>
        </pc:spChg>
      </pc:sldChg>
      <pc:sldChg chg="addSp modSp">
        <pc:chgData name="Cross, Clay" userId="f346be3b-e1cb-4aec-811e-8a3f5d1dd33f" providerId="ADAL" clId="{5AB2DC96-CDCC-45B4-B053-2F2446580AF9}" dt="2026-09-16T14:10:08.375" v="17"/>
        <pc:sldMkLst>
          <pc:docMk/>
          <pc:sldMk cId="0" sldId="259"/>
        </pc:sldMkLst>
        <pc:spChg chg="add mod">
          <ac:chgData name="Cross, Clay" userId="f346be3b-e1cb-4aec-811e-8a3f5d1dd33f" providerId="ADAL" clId="{5AB2DC96-CDCC-45B4-B053-2F2446580AF9}" dt="2026-09-16T14:10:08.375" v="17"/>
          <ac:spMkLst>
            <pc:docMk/>
            <pc:sldMk cId="0" sldId="259"/>
            <ac:spMk id="2" creationId="{07E1C860-F9EC-56A5-3678-9C818C512B47}"/>
          </ac:spMkLst>
        </pc:spChg>
      </pc:sldChg>
      <pc:sldChg chg="addSp modSp">
        <pc:chgData name="Cross, Clay" userId="f346be3b-e1cb-4aec-811e-8a3f5d1dd33f" providerId="ADAL" clId="{5AB2DC96-CDCC-45B4-B053-2F2446580AF9}" dt="2026-09-16T14:10:11.392" v="18"/>
        <pc:sldMkLst>
          <pc:docMk/>
          <pc:sldMk cId="0" sldId="260"/>
        </pc:sldMkLst>
        <pc:spChg chg="add mod">
          <ac:chgData name="Cross, Clay" userId="f346be3b-e1cb-4aec-811e-8a3f5d1dd33f" providerId="ADAL" clId="{5AB2DC96-CDCC-45B4-B053-2F2446580AF9}" dt="2026-09-16T14:10:11.392" v="18"/>
          <ac:spMkLst>
            <pc:docMk/>
            <pc:sldMk cId="0" sldId="260"/>
            <ac:spMk id="2" creationId="{1588E63D-8331-98F8-2393-DF79A145BF58}"/>
          </ac:spMkLst>
        </pc:spChg>
      </pc:sldChg>
      <pc:sldChg chg="addSp modSp">
        <pc:chgData name="Cross, Clay" userId="f346be3b-e1cb-4aec-811e-8a3f5d1dd33f" providerId="ADAL" clId="{5AB2DC96-CDCC-45B4-B053-2F2446580AF9}" dt="2026-09-16T14:10:12.517" v="19"/>
        <pc:sldMkLst>
          <pc:docMk/>
          <pc:sldMk cId="0" sldId="261"/>
        </pc:sldMkLst>
        <pc:spChg chg="add mod">
          <ac:chgData name="Cross, Clay" userId="f346be3b-e1cb-4aec-811e-8a3f5d1dd33f" providerId="ADAL" clId="{5AB2DC96-CDCC-45B4-B053-2F2446580AF9}" dt="2026-09-16T14:10:12.517" v="19"/>
          <ac:spMkLst>
            <pc:docMk/>
            <pc:sldMk cId="0" sldId="261"/>
            <ac:spMk id="2" creationId="{93535A3B-BAB2-61CE-5223-82D4BF2B0E2D}"/>
          </ac:spMkLst>
        </pc:spChg>
      </pc:sldChg>
      <pc:sldChg chg="addSp delSp modSp mod">
        <pc:chgData name="Cross, Clay" userId="f346be3b-e1cb-4aec-811e-8a3f5d1dd33f" providerId="ADAL" clId="{5AB2DC96-CDCC-45B4-B053-2F2446580AF9}" dt="2026-09-16T14:10:13.935" v="20"/>
        <pc:sldMkLst>
          <pc:docMk/>
          <pc:sldMk cId="0" sldId="262"/>
        </pc:sldMkLst>
        <pc:spChg chg="add mod">
          <ac:chgData name="Cross, Clay" userId="f346be3b-e1cb-4aec-811e-8a3f5d1dd33f" providerId="ADAL" clId="{5AB2DC96-CDCC-45B4-B053-2F2446580AF9}" dt="2026-09-16T14:10:13.935" v="20"/>
          <ac:spMkLst>
            <pc:docMk/>
            <pc:sldMk cId="0" sldId="262"/>
            <ac:spMk id="2" creationId="{D7EC3C54-652C-9EC2-FAB0-E19765D5B90B}"/>
          </ac:spMkLst>
        </pc:spChg>
      </pc:sldChg>
      <pc:sldMasterChg chg="modSp mod modSldLayout">
        <pc:chgData name="Cross, Clay" userId="f346be3b-e1cb-4aec-811e-8a3f5d1dd33f" providerId="ADAL" clId="{5AB2DC96-CDCC-45B4-B053-2F2446580AF9}" dt="2026-10-12T16:58:37.748" v="29" actId="14100"/>
        <pc:sldMasterMkLst>
          <pc:docMk/>
          <pc:sldMasterMk cId="0" sldId="2147483648"/>
        </pc:sldMasterMkLst>
        <pc:sldLayoutChg chg="modSp mod">
          <pc:chgData name="Cross, Clay" userId="f346be3b-e1cb-4aec-811e-8a3f5d1dd33f" providerId="ADAL" clId="{5AB2DC96-CDCC-45B4-B053-2F2446580AF9}" dt="2026-10-12T16:58:06.482" v="24" actId="14100"/>
          <pc:sldLayoutMkLst>
            <pc:docMk/>
            <pc:sldMasterMk cId="0" sldId="2147483648"/>
            <pc:sldLayoutMk cId="0" sldId="2147483652"/>
          </pc:sldLayoutMkLst>
          <pc:spChg chg="mod">
            <ac:chgData name="Cross, Clay" userId="f346be3b-e1cb-4aec-811e-8a3f5d1dd33f" providerId="ADAL" clId="{5AB2DC96-CDCC-45B4-B053-2F2446580AF9}" dt="2026-10-12T16:57:55.345" v="22" actId="14100"/>
            <ac:spMkLst>
              <pc:docMk/>
              <pc:sldMasterMk cId="0" sldId="2147483648"/>
              <pc:sldLayoutMk cId="0" sldId="2147483652"/>
              <ac:spMk id="5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0.151" v="23" actId="14100"/>
            <ac:spMkLst>
              <pc:docMk/>
              <pc:sldMasterMk cId="0" sldId="2147483648"/>
              <pc:sldLayoutMk cId="0" sldId="2147483652"/>
              <ac:spMk id="5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6.482" v="24" actId="14100"/>
            <ac:spMkLst>
              <pc:docMk/>
              <pc:sldMasterMk cId="0" sldId="2147483648"/>
              <pc:sldLayoutMk cId="0" sldId="2147483652"/>
              <ac:spMk id="58" creationId="{00000000-0000-0000-0000-000000000000}"/>
            </ac:spMkLst>
          </pc:spChg>
        </pc:sldLayoutChg>
        <pc:sldLayoutChg chg="modSp mod">
          <pc:chgData name="Cross, Clay" userId="f346be3b-e1cb-4aec-811e-8a3f5d1dd33f" providerId="ADAL" clId="{5AB2DC96-CDCC-45B4-B053-2F2446580AF9}" dt="2026-10-12T16:58:37.748" v="29" actId="14100"/>
          <pc:sldLayoutMkLst>
            <pc:docMk/>
            <pc:sldMasterMk cId="0" sldId="2147483648"/>
            <pc:sldLayoutMk cId="0" sldId="2147483656"/>
          </pc:sldLayoutMkLst>
          <pc:spChg chg="mod">
            <ac:chgData name="Cross, Clay" userId="f346be3b-e1cb-4aec-811e-8a3f5d1dd33f" providerId="ADAL" clId="{5AB2DC96-CDCC-45B4-B053-2F2446580AF9}" dt="2026-10-12T16:58:32.543" v="27" actId="14100"/>
            <ac:spMkLst>
              <pc:docMk/>
              <pc:sldMasterMk cId="0" sldId="2147483648"/>
              <pc:sldLayoutMk cId="0" sldId="2147483656"/>
              <ac:spMk id="7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4.943" v="28" actId="14100"/>
            <ac:spMkLst>
              <pc:docMk/>
              <pc:sldMasterMk cId="0" sldId="2147483648"/>
              <pc:sldLayoutMk cId="0" sldId="2147483656"/>
              <ac:spMk id="7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7.748" v="29" actId="14100"/>
            <ac:spMkLst>
              <pc:docMk/>
              <pc:sldMasterMk cId="0" sldId="2147483648"/>
              <pc:sldLayoutMk cId="0" sldId="2147483656"/>
              <ac:spMk id="7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 MITRE D3FEND CAD — Content Guide</a:t>
            </a:r>
          </a:p>
          <a:p/>
          <a:p>
            <a:r>
              <a:t>**Source:** `archive/provenance/lecture.md`</a:t>
            </a:r>
          </a:p>
          <a:p>
            <a:r>
              <a:t>**Audience:** CPT operators who have completed the attack-to-defend analytical arc.</a:t>
            </a:r>
          </a:p>
          <a:p>
            <a:r>
              <a:t>**Duration:** ~1.5 hours (lecture + live Quick Start + mini-build exercise)</a:t>
            </a:r>
          </a:p>
          <a:p>
            <a:r>
              <a:t>**References:**</a:t>
            </a:r>
          </a:p>
          <a:p/>
          <a:p>
            <a:r>
              <a:t>- `archive/provenance/lecture.md`</a:t>
            </a:r>
          </a:p>
          <a:p>
            <a:r>
              <a:t>- `../../references/node_anatomy.jpg`</a:t>
            </a:r>
          </a:p>
          <a:p>
            <a:r>
              <a:t>- https://d3fend.mitre.org/cad/</a:t>
            </a:r>
          </a:p>
          <a:p>
            <a:r>
              <a:t>- https://d3fend.mitre.org/cad/docs/</a:t>
            </a:r>
          </a:p>
          <a:p>
            <a:r>
              <a:t>- https://d3fend.mitre.org/blog/building-d3fend-graphs-with-d3fend-cad/</a:t>
            </a:r>
          </a:p>
          <a:p>
            <a:r>
              <a:t>- https://d3fend.mitre.org/resources/ontology/</a:t>
            </a:r>
          </a:p>
          <a:p/>
          <a:p>
            <a:r>
              <a:t>## Instructor resources and pre-class</a:t>
            </a:r>
          </a:p>
          <a:p/>
          <a:p>
            <a:r>
              <a:t>- Classroom projector and screen; workstations that can open D3FEND CAD</a:t>
            </a:r>
          </a:p>
          <a:p>
            <a:r>
              <a:t>- Whiteboard for comparable-across-teams answers and mini-build checklist</a:t>
            </a:r>
          </a:p>
          <a:p>
            <a:r>
              <a:t>- Live tab: https://d3fend.mitre.org/cad/; CAD docs, blog, and ontology pages</a:t>
            </a:r>
          </a:p>
          <a:p>
            <a:r>
              <a:t>- Instructor copy of `../../references/node_anatomy.jpg` for Slide 10</a:t>
            </a:r>
          </a:p>
          <a:p>
            <a:r>
              <a:t>- Nested briefs for `B01.M29` (Shadowcat exploration) and `B01.M30` (CAD mini-build)</a:t>
            </a:r>
          </a:p>
          <a:p>
            <a:r>
              <a:t>- Navigator layers and paired D3+EAC option sheets students already produced</a:t>
            </a:r>
          </a:p>
          <a:p/>
          <a:p>
            <a:r>
              <a:t>## Student resources</a:t>
            </a:r>
          </a:p>
          <a:p/>
          <a:p>
            <a:r>
              <a:t>- Student workstations with https://d3fend.mitre.org/cad/</a:t>
            </a:r>
          </a:p>
          <a:p>
            <a:r>
              <a:t>- Nested student briefs for `B01.M29` and `B01.M30`</a:t>
            </a:r>
          </a:p>
          <a:p>
            <a:r>
              <a:t>- Navigator layer and paired option sheet (keep open)</a:t>
            </a:r>
          </a:p>
          <a:p>
            <a:r>
              <a:t>- Exported CAD JSON</a:t>
            </a:r>
          </a:p>
          <a:p>
            <a:r>
              <a:t>- No additional student kit beyond CAD and the prior-layer products</a:t>
            </a:r>
          </a:p>
          <a:p/>
          <a:p>
            <a:r>
              <a:t>## Dual opening</a:t>
            </a:r>
          </a:p>
          <a:p/>
          <a:p>
            <a:r>
              <a:t>### Option 1 (Interactive / Whiteboard / Kinesthetic)</a:t>
            </a:r>
          </a:p>
          <a:p/>
          <a:p>
            <a:r>
              <a:t>- **Say:** "CAD is the communication product for the analysis you already completed. The goal is not a pretty picture; it is a typed, evidence-grounded graph another team can understand."</a:t>
            </a:r>
          </a:p>
          <a:p>
            <a:r>
              <a:t>- **Do:** Sketch one Agent, Attack, Artifact, Condition, and Countermeasure on the board and connect them. Tell teams to keep the Navigator layer and paired option sheet available.</a:t>
            </a:r>
          </a:p>
          <a:p>
            <a:r>
              <a:t>- **Ask (Q):** What two products do you keep open for CAD?</a:t>
            </a:r>
          </a:p>
          <a:p>
            <a:r>
              <a:t>- **Expected Response (A):** Steer toward the Navigator layer and the paired D3+EAC option sheet.</a:t>
            </a:r>
          </a:p>
          <a:p/>
          <a:p>
            <a:r>
              <a:t>### Option 2 (Digital Slide / Virtual / Slide Deck)</a:t>
            </a:r>
          </a:p>
          <a:p/>
          <a:p>
            <a:r>
              <a:t>- **Say:** "CAD is the communication product for the analysis you already completed. The goal is not a pretty picture; it is a typed, evidence-grounded graph another team can understand."</a:t>
            </a:r>
          </a:p>
          <a:p>
            <a:r>
              <a:t>- **Show:** The objectives and example graph.</a:t>
            </a:r>
          </a:p>
          <a:p>
            <a:r>
              <a:t>- **Do:** Have teams keep their Navigator layer and paired option sheet available.</a:t>
            </a:r>
          </a:p>
          <a:p>
            <a:r>
              <a:t>- **Ask (Q):** What two products do you keep open for CAD?</a:t>
            </a:r>
          </a:p>
          <a:p>
            <a:r>
              <a:t>- **Expected Response (A):** Steer toward the Navigator layer and the paired D3+EAC option sheet.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"CAD is the communication product for the analysis you already completed. The goal is not a pretty picture; it is a typed, evidence-grounded graph another team can understand."</a:t>
            </a:r>
          </a:p>
          <a:p/>
          <a:p>
            <a:r>
              <a:t>Show:</a:t>
            </a:r>
          </a:p>
          <a:p>
            <a:r>
              <a:t>The objectives and example graph.</a:t>
            </a:r>
          </a:p>
          <a:p/>
          <a:p>
            <a:r>
              <a:t>Do:</a:t>
            </a:r>
          </a:p>
          <a:p>
            <a:r>
              <a:t>Have teams keep their Navigator layer and paired option sheet available.</a:t>
            </a:r>
          </a:p>
          <a:p/>
          <a:p>
            <a:r>
              <a:t>Image Prompt:</a:t>
            </a:r>
          </a:p>
          <a:p>
            <a:r>
              <a:t>A compact knowledge graph with one Agent, Attack, Artifact, Condition, and Countermeasure node.</a:t>
            </a:r>
          </a:p>
          <a:p/>
          <a:p>
            <a:r>
              <a:t>Ask (Q):</a:t>
            </a:r>
          </a:p>
          <a:p>
            <a:r>
              <a:t>What two products do you keep open for CAD?</a:t>
            </a:r>
          </a:p>
          <a:p/>
          <a:p>
            <a:r>
              <a:t>Expected Response (A):</a:t>
            </a:r>
          </a:p>
          <a:p>
            <a:r>
              <a:t>Navigator layer and paired D3+EAC option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"CAD is how we draw the story. You did the analysis in the last block — ATT&amp;CK mapping, EMLCOA, D3FEND counterparts, options for the commander. CAD is where all of that becomes a single picture a commander can read in two minutes."</a:t>
            </a:r>
          </a:p>
          <a:p/>
          <a:p>
            <a:r>
              <a:t>Show:</a:t>
            </a:r>
          </a:p>
          <a:p>
            <a:r>
              <a:t>Live-open https://d3fend.mitre.org/cad/ in a browser. Let them see it on the projector.</a:t>
            </a:r>
          </a:p>
          <a:p/>
          <a:p>
            <a:r>
              <a:t>Do:</a:t>
            </a:r>
          </a:p>
          <a:p>
            <a:r>
              <a:t>Preview: "We will do a Quick Start together, then tour the node types, then you will build one."</a:t>
            </a:r>
          </a:p>
          <a:p/>
          <a:p>
            <a:r>
              <a:t>Image Prompt:</a:t>
            </a:r>
          </a:p>
          <a:p>
            <a:r>
              <a:t>A stylized knowledge-graph visual with a handful of labeled nodes (Attack, Artifact, Countermeasure, Agent) connected by labeled edges. Minimalist, clean, non-busy.</a:t>
            </a:r>
          </a:p>
          <a:p/>
          <a:p>
            <a:r>
              <a:t>Ask (Q):</a:t>
            </a:r>
          </a:p>
          <a:p>
            <a:r>
              <a:t>What is CAD for, relative to the analysis you already completed?</a:t>
            </a:r>
          </a:p>
          <a:p/>
          <a:p>
            <a:r>
              <a:t>Expected Response (A):</a:t>
            </a:r>
          </a:p>
          <a:p>
            <a:r>
              <a:t>Communication product. Typed, evidence-grounded graph a commander can read. Not a pretty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 critical distinction — from the MITRE blog, verbatim — is that existing attack graphs conflate actions, objects, and state changes. A D3FEND graph keeps them typed and separate. That is what makes two analysts working the same intrusion on opposite sides of the world produce graphs that can be compared."</a:t>
            </a:r>
          </a:p>
          <a:p/>
          <a:p>
            <a:r>
              <a:t>Show:</a:t>
            </a:r>
          </a:p>
          <a:p>
            <a:r>
              <a:t>Read the definition slowly. Linger on the word "discrete."</a:t>
            </a:r>
          </a:p>
          <a:p/>
          <a:p>
            <a:r>
              <a:t>Do:</a:t>
            </a:r>
          </a:p>
          <a:p>
            <a:r>
              <a:t>Ask: "Why do we care about 'comparable across teams' in DCO-RA?" Drive toward hand-off, deconfliction, and joint operations.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Why do we care about comparable-across-teams graphs in DCO-RA?</a:t>
            </a:r>
          </a:p>
          <a:p/>
          <a:p>
            <a:r>
              <a:t>Expected Response (A):</a:t>
            </a:r>
          </a:p>
          <a:p>
            <a:r>
              <a:t>Steer toward hand-off, deconfliction, and joint operations. Typed nodes make graphs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"Everyone open https://d3fend.mitre.org/cad/ on your laptop. Go to File, Example Graphs, and pick Shadowcat.json. When it loads, do not click anything — just look. I want you to see the shape before we talk about the pieces."</a:t>
            </a:r>
          </a:p>
          <a:p/>
          <a:p>
            <a:r>
              <a:t>Show:</a:t>
            </a:r>
          </a:p>
          <a:p>
            <a:r>
              <a:t>Demonstrate the load on the projector. Zoom and pan the graph.</a:t>
            </a:r>
          </a:p>
          <a:p/>
          <a:p>
            <a:r>
              <a:t>Do:</a:t>
            </a:r>
          </a:p>
          <a:p>
            <a:r>
              <a:t>Give the room **3 minutes** of silent exploration. Ask: "Before we name anything — what jumps out at you?" Accept 2-3 answers. Nested drill: B01.M29.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Before we name anything, what jumps out at you on the Shadowcat graph?</a:t>
            </a:r>
          </a:p>
          <a:p/>
          <a:p>
            <a:r>
              <a:t>Expected Response (A):</a:t>
            </a:r>
          </a:p>
          <a:p>
            <a:r>
              <a:t>Facilitation. Accept 2-3 answers. Nested drill: B01.M29.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"Four buckets. Action, Object, State, Misc. We are going to walk each one in turn. Whenever you place a node in CAD, you are picking from one of these four buckets first and then refining."</a:t>
            </a:r>
          </a:p>
          <a:p/>
          <a:p>
            <a:r>
              <a:t>Show:</a:t>
            </a:r>
          </a:p>
          <a:p>
            <a:r>
              <a:t>The 2x2 grid; keep it on the side monitor for the next three slides.</a:t>
            </a:r>
          </a:p>
          <a:p/>
          <a:p>
            <a:r>
              <a:t>Do:</a:t>
            </a:r>
          </a:p>
          <a:p>
            <a:r>
              <a:t>Preview: next three slides cover Action, Object, and State in detail.</a:t>
            </a:r>
          </a:p>
          <a:p/>
          <a:p>
            <a:r>
              <a:t>Image Prompt:</a:t>
            </a:r>
          </a:p>
          <a:p>
            <a:r>
              <a:t>A 2x2 grid of MITRE D3FEND CAD node categories, not a consumer-app UI. Tiles labeled Action, Object, State, Miscellaneous. Action shows Event / Attack / Countermeasure (examples Remote Command, Keylogging, File Carving). Object shows Artifact / Agent (Network Packet, APT28). State shows Vulnerability / Condition (Absolute Path Traversal, attacker holds credentials). Miscellaneous shows Note / Thing (Data Center as a physical building). Do not use Run, Click, Shake, Book, Phone, Mug, Happy, Sad, or Favorite-star icons.</a:t>
            </a:r>
          </a:p>
          <a:p/>
          <a:p>
            <a:r>
              <a:t>Ask (Q):</a:t>
            </a:r>
          </a:p>
          <a:p>
            <a:r>
              <a:t>When you place a node in CAD, what do you pick first?</a:t>
            </a:r>
          </a:p>
          <a:p/>
          <a:p>
            <a:r>
              <a:t>Expected Response (A):</a:t>
            </a:r>
          </a:p>
          <a:p>
            <a:r>
              <a:t>One of four buckets — Action, Object, State, or Miscellaneous — then refine.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"Action nodes capture things that happened, things the adversary did, or things we did in response. Events are generic; Attacks are specifically ATT&amp;CK techniques; Countermeasures are specifically D3FEND techniques. The ontology does not let you smear those together."</a:t>
            </a:r>
          </a:p>
          <a:p/>
          <a:p>
            <a:r>
              <a:t>Show:</a:t>
            </a:r>
          </a:p>
          <a:p>
            <a:r>
              <a:t>Drop one of each node type into a new graph on-screen. Open each node's detail panel.</a:t>
            </a:r>
          </a:p>
          <a:p/>
          <a:p>
            <a:r>
              <a:t>Do:</a:t>
            </a:r>
          </a:p>
          <a:p>
            <a:r>
              <a:t>Ask the room: "Pick a technique from your ATT&amp;CK layer in Block 3. Is it an Event or an Attack?" The answer is almost always Attack — reinforce why.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Pick a technique from your ATT&amp;CK layer. Is it an Event or an Attack?</a:t>
            </a:r>
          </a:p>
          <a:p/>
          <a:p>
            <a:r>
              <a:t>Expected Response (A):</a:t>
            </a:r>
          </a:p>
          <a:p>
            <a:r>
              <a:t>Almost always Attack. Attacks are ATT&amp;CK techniques; Events are generic.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"Object nodes are the *things* in the graph. Artifacts are what the action is acting on — a packet, a file, a driver. Agents are who is acting — humans, processes, threat actors. In our course, you are going to place an Agent node for whichever adversary you are graphing."</a:t>
            </a:r>
          </a:p>
          <a:p/>
          <a:p>
            <a:r>
              <a:t>Show:</a:t>
            </a:r>
          </a:p>
          <a:p>
            <a:r>
              <a:t>Place an Artifact node and an Agent node. Show the property panel for each.</a:t>
            </a:r>
          </a:p>
          <a:p/>
          <a:p>
            <a:r>
              <a:t>Do:</a:t>
            </a:r>
          </a:p>
          <a:p>
            <a:r>
              <a:t>Tie back: "The 'Unit' line from your SALUTE in Block 2 — that is the label on your Agent node."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from your SALUTE in Block 2 labels the Agent node?</a:t>
            </a:r>
          </a:p>
          <a:p/>
          <a:p>
            <a:r>
              <a:t>Expected Response (A):</a:t>
            </a:r>
          </a:p>
          <a:p>
            <a:r>
              <a:t>The Unit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"State nodes capture *conditions*. Vulnerabilities are the specific weakness class. Conditions are everything else — 'attacker has SYSTEM,' 'service is now unavailable,' 'credentials have been exfiltrated.' Use Condition nodes to capture effects."</a:t>
            </a:r>
          </a:p>
          <a:p/>
          <a:p>
            <a:r>
              <a:t>Show:</a:t>
            </a:r>
          </a:p>
          <a:p>
            <a:r>
              <a:t>Place a Vulnerability node and a Condition node; link them to an Attack node.</a:t>
            </a:r>
          </a:p>
          <a:p/>
          <a:p>
            <a:r>
              <a:t>Do:</a:t>
            </a:r>
          </a:p>
          <a:p>
            <a:r>
              <a:t>Ask: "What Condition would you attach to a successful T1003 credential-dumping attack?" Common answer: "Credentials exfiltrated" or "Attacker holds LSASS-sourced credentials."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Condition would you attach to a successful T1003 credential-dumping attack?</a:t>
            </a:r>
          </a:p>
          <a:p/>
          <a:p>
            <a:r>
              <a:t>Expected Response (A):</a:t>
            </a:r>
          </a:p>
          <a:p>
            <a:r>
              <a:t>Credentials exfiltrated, or attacker holds LSASS-sourced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"Misc nodes are your escape hatch. Note is for analyst commentary. Thing is for objects the ontology does not cover — the data center, a specific facility, a physical person. Use them sparingly; if you are using Thing nodes a lot, you are probably missing a real node type."</a:t>
            </a:r>
          </a:p>
          <a:p/>
          <a:p>
            <a:r>
              <a:t>Show:</a:t>
            </a:r>
          </a:p>
          <a:p>
            <a:r>
              <a:t>Place a Note on a node to demonstrate.</a:t>
            </a:r>
          </a:p>
          <a:p/>
          <a:p>
            <a:r>
              <a:t>Do:</a:t>
            </a:r>
          </a:p>
          <a:p>
            <a:r>
              <a:t>Reinforce the "sparingly" rule. Overuse of `Thing` and `Note` defeats the purpose of the ontology.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When should you use Thing or Note?</a:t>
            </a:r>
          </a:p>
          <a:p/>
          <a:p>
            <a:r>
              <a:t>Expected Response (A):</a:t>
            </a:r>
          </a:p>
          <a:p>
            <a:r>
              <a:t>Sparingly. Overuse defeats the ontology. Thing is for objects D3FEND does not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"Every node you place has these four pieces. The type puts it in a bucket. The class selection narrows it to a specific ATT&amp;CK or D3FEND technique. Properties carry the evidence. And edges are typed — you do not just draw lines; each edge means something defined in the ontology."</a:t>
            </a:r>
          </a:p>
          <a:p/>
          <a:p>
            <a:r>
              <a:t>Show:</a:t>
            </a:r>
          </a:p>
          <a:p>
            <a:r>
              <a:t>Project `../../references/node_anatomy.jpg` full-screen. Walk it top to bottom.</a:t>
            </a:r>
          </a:p>
          <a:p/>
          <a:p>
            <a:r>
              <a:t>Do:</a:t>
            </a:r>
          </a:p>
          <a:p>
            <a:r>
              <a:t>Live on screen, add properties to a node that is already placed. Show the property panel.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four pieces does every CAD node have?</a:t>
            </a:r>
          </a:p>
          <a:p/>
          <a:p>
            <a:r>
              <a:t>Expected Response (A):</a:t>
            </a:r>
          </a:p>
          <a:p>
            <a:r>
              <a:t>Type, class selection, properties/metadata, and typed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part newcomers skip past. Edges are not decorative. Each edge is a typed relationship drawn from the ontology. CAD will only offer you edge types that are valid for the two nodes you are connecting — if you do not see the edge you want, you probably picked the wrong node type."</a:t>
            </a:r>
          </a:p>
          <a:p/>
          <a:p>
            <a:r>
              <a:t>Show:</a:t>
            </a:r>
          </a:p>
          <a:p>
            <a:r>
              <a:t>On-screen, create an edge between an Attack and an Artifact node. Read the available edge types aloud.</a:t>
            </a:r>
          </a:p>
          <a:p/>
          <a:p>
            <a:r>
              <a:t>Do:</a:t>
            </a:r>
          </a:p>
          <a:p>
            <a:r>
              <a:t>Ask the room: "If CAD is not offering you an edge type you need, what does that tell you?" Answer: your node type is wrong.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If CAD is not offering an edge type you need, what does that tell you?</a:t>
            </a:r>
          </a:p>
          <a:p/>
          <a:p>
            <a:r>
              <a:t>Expected Response (A):</a:t>
            </a:r>
          </a:p>
          <a:p>
            <a:r>
              <a:t>Your node type is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"Three habits that separate a good CAD graph from a bad one. First — follow artifact provenance; every artifact should have a source. Second — be specific; 'Attack: PowerShell' is worse than 'Attack: T1059.001 PowerShell.' Third — build incrementally; do not try to draw the whole intrusion in one pass."</a:t>
            </a:r>
          </a:p>
          <a:p/>
          <a:p>
            <a:r>
              <a:t>Show:</a:t>
            </a:r>
          </a:p>
          <a:p>
            <a:r>
              <a:t>The three-tip list.</a:t>
            </a:r>
          </a:p>
          <a:p/>
          <a:p>
            <a:r>
              <a:t>Do:</a:t>
            </a:r>
          </a:p>
          <a:p>
            <a:r>
              <a:t>Demonstrate File → Save (exports JSON). Remind the class to save every 5-10 minutes while they work.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three habits separate a good CAD graph from a bad one?</a:t>
            </a:r>
          </a:p>
          <a:p/>
          <a:p>
            <a:r>
              <a:t>Expected Response (A):</a:t>
            </a:r>
          </a:p>
          <a:p>
            <a:r>
              <a:t>Artifact provenance, specificity, and incremental modeling. Save and export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"Stay with your current team. You already have the ATT&amp;CK layer. Now turn it into a CAD graph with the minimum node set on this slide. Focus on provenance — every artifact has a source and an effect."</a:t>
            </a:r>
          </a:p>
          <a:p/>
          <a:p>
            <a:r>
              <a:t>Show:</a:t>
            </a:r>
          </a:p>
          <a:p>
            <a:r>
              <a:t>The minimum-node checklist; leave it visible during the exercise.</a:t>
            </a:r>
          </a:p>
          <a:p/>
          <a:p>
            <a:r>
              <a:t>Do:</a:t>
            </a:r>
          </a:p>
          <a:p>
            <a:r>
              <a:t>Timebox: **30 minutes** build + **3 minutes per team** to back-brief. Export the JSON and retain it for later commander briefing. Nested drill: B01.M30.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is the minimum node set for the mini-build?</a:t>
            </a:r>
          </a:p>
          <a:p/>
          <a:p>
            <a:r>
              <a:t>Expected Response (A):</a:t>
            </a:r>
          </a:p>
          <a:p>
            <a:r>
              <a:t>1 Agent, 2 Attacks, 1 Artifact, 1 Condition, 1 Countermeasure, plus enough edges to make a story. Nested drill: B01.M30.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"These references are the authoritative starting points when the tool or ontology changes."</a:t>
            </a:r>
          </a:p>
          <a:p/>
          <a:p>
            <a:r>
              <a:t>Show:</a:t>
            </a:r>
          </a:p>
          <a:p>
            <a:r>
              <a:t>Open the CAD documentation and ontology pages.</a:t>
            </a:r>
          </a:p>
          <a:p/>
          <a:p>
            <a:r>
              <a:t>Do:</a:t>
            </a:r>
          </a:p>
          <a:p>
            <a:r>
              <a:t>Have students bookmark the CAD documentation.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Which reference do you bookmark for when the tool or ontology changes?</a:t>
            </a:r>
          </a:p>
          <a:p/>
          <a:p>
            <a:r>
              <a:t>Expected Response (A):</a:t>
            </a:r>
          </a:p>
          <a:p>
            <a:r>
              <a:t>CAD documentation, and the ontology page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now have the planning pipeline, an ATT&amp;CK layer, paired D3FEND/ENGAGE options, and a graph that preserves the evidence chain."</a:t>
            </a:r>
          </a:p>
          <a:p/>
          <a:p>
            <a:r>
              <a:t>Show:</a:t>
            </a:r>
          </a:p>
          <a:p>
            <a:r>
              <a:t>The evidence flow beside the paired-options sheet.</a:t>
            </a:r>
          </a:p>
          <a:p/>
          <a:p>
            <a:r>
              <a:t>Do:</a:t>
            </a:r>
          </a:p>
          <a:p>
            <a:r>
              <a:t>Confirm exported JSON is saved for later briefing.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do you hand off from this lesson?</a:t>
            </a:r>
          </a:p>
          <a:p>
            <a:r>
              <a:t>How does a D3FEND knowledge graph differ from an untyped attack diagram?</a:t>
            </a:r>
          </a:p>
          <a:p>
            <a:r>
              <a:t>What four node categories do you pick from, and what makes an edge valid?</a:t>
            </a:r>
          </a:p>
          <a:p>
            <a:r>
              <a:t>What is the minimum mini-build node set, and what three habits keep the graph usable?</a:t>
            </a:r>
          </a:p>
          <a:p/>
          <a:p>
            <a:r>
              <a:t>Expected Response (A):</a:t>
            </a:r>
          </a:p>
          <a:p>
            <a:r>
              <a:t>Exported CAD JSON plus the planning-pipeline products. Next: wire frameworks back to tactical tasks.</a:t>
            </a:r>
          </a:p>
          <a:p>
            <a:r>
              <a:t>## Lesson summary</a:t>
            </a:r>
          </a:p>
          <a:p>
            <a:r>
              <a:t>CAD is the typed communication product for ATT&amp;CK, D3FEND, and ENGAGE analysis already completed.</a:t>
            </a:r>
          </a:p>
          <a:p>
            <a:r>
              <a:t>A D3FEND graph keeps action, object, and state discrete so graphs are comparable across teams.</a:t>
            </a:r>
          </a:p>
          <a:p>
            <a:r>
              <a:t>Nested `B01.M29` explores Shadowcat; `B01.M30` is the mini-build from the Navigator intrusion.</a:t>
            </a:r>
          </a:p>
          <a:p>
            <a:r>
              <a:t>Retain exported JSON for later commander briefing and tactical-task synthesis.</a:t>
            </a:r>
          </a:p>
          <a:p>
            <a:r>
              <a:t>## Questions and check on learning</a:t>
            </a:r>
          </a:p>
          <a:p>
            <a:r>
              <a:t>It keeps actions, objects, and state typed and separate under the D3FEND ontology, so graphs are comparable across teams.</a:t>
            </a:r>
          </a:p>
          <a:p>
            <a:r>
              <a:t>Action, Object, State, Miscellaneous. CAD only offers ontology-valid edge types for the two node types you connected.</a:t>
            </a:r>
          </a:p>
          <a:p>
            <a:r>
              <a:t>1 Agent, 2 Attacks, 1 Artifact, 1 Condition, 1 Countermeasure, with enough edges to tell a story. Provenance, specificity, incremental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9"/>
          <p:cNvSpPr txBox="1">
            <a:spLocks noGrp="1"/>
          </p:cNvSpPr>
          <p:nvPr>
            <p:ph type="ctrTitle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8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80"/>
          <p:cNvSpPr txBox="1">
            <a:spLocks noGrp="1"/>
          </p:cNvSpPr>
          <p:nvPr>
            <p:ph type="title"/>
          </p:nvPr>
        </p:nvSpPr>
        <p:spPr>
          <a:xfrm>
            <a:off x="1510029" y="437317"/>
            <a:ext cx="10681971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0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4" name="Google Shape;54;p8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3"/>
          <p:cNvSpPr txBox="1">
            <a:spLocks noGrp="1"/>
          </p:cNvSpPr>
          <p:nvPr>
            <p:ph type="title"/>
          </p:nvPr>
        </p:nvSpPr>
        <p:spPr>
          <a:xfrm>
            <a:off x="1363362" y="952052"/>
            <a:ext cx="10142837" cy="62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7" name="Google Shape;57;p83"/>
          <p:cNvSpPr txBox="1">
            <a:spLocks noGrp="1"/>
          </p:cNvSpPr>
          <p:nvPr>
            <p:ph type="body" idx="1"/>
          </p:nvPr>
        </p:nvSpPr>
        <p:spPr>
          <a:xfrm>
            <a:off x="4720611" y="1574799"/>
            <a:ext cx="7091600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8" name="Google Shape;58;p83"/>
          <p:cNvSpPr txBox="1">
            <a:spLocks noGrp="1"/>
          </p:cNvSpPr>
          <p:nvPr>
            <p:ph type="body" idx="2"/>
          </p:nvPr>
        </p:nvSpPr>
        <p:spPr>
          <a:xfrm>
            <a:off x="1363363" y="1582599"/>
            <a:ext cx="3098248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2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4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2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5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85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5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5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4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6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8" name="Google Shape;68;p86"/>
          <p:cNvSpPr txBox="1">
            <a:spLocks noGrp="1"/>
          </p:cNvSpPr>
          <p:nvPr>
            <p:ph type="body" idx="2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Google Shape;69;p86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86"/>
          <p:cNvSpPr txBox="1">
            <a:spLocks noGrp="1"/>
          </p:cNvSpPr>
          <p:nvPr>
            <p:ph type="body" idx="4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1" name="Google Shape;71;p86"/>
          <p:cNvCxnSpPr/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2" name="Google Shape;72;p86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3" name="Google Shape;73;p86"/>
          <p:cNvCxnSpPr/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74" name="Google Shape;74;p86"/>
          <p:cNvSpPr txBox="1">
            <a:spLocks noGrp="1"/>
          </p:cNvSpPr>
          <p:nvPr>
            <p:ph type="title"/>
          </p:nvPr>
        </p:nvSpPr>
        <p:spPr>
          <a:xfrm>
            <a:off x="1141621" y="326173"/>
            <a:ext cx="10656656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5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7"/>
          <p:cNvSpPr txBox="1">
            <a:spLocks noGrp="1"/>
          </p:cNvSpPr>
          <p:nvPr>
            <p:ph type="title"/>
          </p:nvPr>
        </p:nvSpPr>
        <p:spPr>
          <a:xfrm>
            <a:off x="1301577" y="458775"/>
            <a:ext cx="10467243" cy="68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7" name="Google Shape;77;p87"/>
          <p:cNvSpPr>
            <a:spLocks noGrp="1"/>
          </p:cNvSpPr>
          <p:nvPr>
            <p:ph type="pic" idx="2"/>
          </p:nvPr>
        </p:nvSpPr>
        <p:spPr>
          <a:xfrm>
            <a:off x="4666821" y="1142999"/>
            <a:ext cx="7102000" cy="52560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Google Shape;78;p87"/>
          <p:cNvSpPr txBox="1">
            <a:spLocks noGrp="1"/>
          </p:cNvSpPr>
          <p:nvPr>
            <p:ph type="body" idx="1"/>
          </p:nvPr>
        </p:nvSpPr>
        <p:spPr>
          <a:xfrm>
            <a:off x="1301578" y="1142999"/>
            <a:ext cx="3061420" cy="525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867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3pPr>
            <a:lvl4pPr marL="1828800" lvl="3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4pPr>
            <a:lvl5pPr marL="2286000" lvl="4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5pPr>
            <a:lvl6pPr marL="2743200" lvl="5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6pPr>
            <a:lvl7pPr marL="3200400" lvl="6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7pPr>
            <a:lvl8pPr marL="3657600" lvl="7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8pPr>
            <a:lvl9pPr marL="4114800" lvl="8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9pPr>
          </a:lstStyle>
          <a:p>
            <a:endParaRPr/>
          </a:p>
        </p:txBody>
      </p:sp>
      <p:sp>
        <p:nvSpPr>
          <p:cNvPr id="96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>
  <p:cSld name="11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>
  <p:cSld name="Master Use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9"/>
          <p:cNvSpPr txBox="1">
            <a:spLocks noGrp="1"/>
          </p:cNvSpPr>
          <p:nvPr>
            <p:ph type="title"/>
          </p:nvPr>
        </p:nvSpPr>
        <p:spPr>
          <a:xfrm>
            <a:off x="1278542" y="429225"/>
            <a:ext cx="10898083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7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9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0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8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8"/>
          <p:cNvSpPr/>
          <p:nvPr/>
        </p:nvSpPr>
        <p:spPr>
          <a:xfrm>
            <a:off x="-1" y="-20168"/>
            <a:ext cx="12192000" cy="2637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78"/>
          <p:cNvSpPr/>
          <p:nvPr/>
        </p:nvSpPr>
        <p:spPr>
          <a:xfrm>
            <a:off x="1" y="243443"/>
            <a:ext cx="1128108" cy="661455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8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8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8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78"/>
          <p:cNvSpPr/>
          <p:nvPr/>
        </p:nvSpPr>
        <p:spPr>
          <a:xfrm>
            <a:off x="-2" y="6594389"/>
            <a:ext cx="12191999" cy="26361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p78"/>
          <p:cNvGrpSpPr/>
          <p:nvPr/>
        </p:nvGrpSpPr>
        <p:grpSpPr>
          <a:xfrm>
            <a:off x="254537" y="37012"/>
            <a:ext cx="4123292" cy="140365"/>
            <a:chOff x="5526083" y="4992009"/>
            <a:chExt cx="3092469" cy="105274"/>
          </a:xfrm>
        </p:grpSpPr>
        <p:sp>
          <p:nvSpPr>
            <p:cNvPr id="17" name="Google Shape;17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78"/>
          <p:cNvSpPr txBox="1"/>
          <p:nvPr/>
        </p:nvSpPr>
        <p:spPr>
          <a:xfrm flipH="1">
            <a:off x="1043632" y="6366806"/>
            <a:ext cx="4211863" cy="221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78"/>
          <p:cNvSpPr txBox="1"/>
          <p:nvPr/>
        </p:nvSpPr>
        <p:spPr>
          <a:xfrm>
            <a:off x="5482963" y="207088"/>
            <a:ext cx="6767512" cy="21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7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2150855" y="3445521"/>
            <a:ext cx="5429815" cy="9911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" name="Google Shape;31;p78"/>
          <p:cNvGrpSpPr/>
          <p:nvPr/>
        </p:nvGrpSpPr>
        <p:grpSpPr>
          <a:xfrm>
            <a:off x="7996753" y="6659805"/>
            <a:ext cx="4123292" cy="140365"/>
            <a:chOff x="5526083" y="4992009"/>
            <a:chExt cx="3092469" cy="105274"/>
          </a:xfrm>
        </p:grpSpPr>
        <p:sp>
          <p:nvSpPr>
            <p:cNvPr id="32" name="Google Shape;32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3" name="Google Shape;43;p78" title="ACTEC_Logo_v2_Circle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-118447" y="193555"/>
            <a:ext cx="1307427" cy="1010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0930" y="1270922"/>
            <a:ext cx="928675" cy="9286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pPr/>
            <a:r>
              <a:rPr sz="4400"/>
              <a:t>MITRE D3FEND CAD</a:t>
            </a:r>
          </a:p>
        </p:txBody>
      </p:sp>
      <p:sp>
        <p:nvSpPr>
          <p:cNvPr id="3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MITRE D3FEND CAD 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Explain how a D3FEND knowledge graph differs from an untyped diagram</a:t>
            </a:r>
          </a:p>
          <a:p>
            <a:pPr/>
            <a:r>
              <a:rPr sz="1800"/>
              <a:t>Identify action, object, state, and miscellaneous node categories</a:t>
            </a:r>
          </a:p>
          <a:p>
            <a:pPr/>
            <a:r>
              <a:rPr sz="1800"/>
              <a:t>Build typed relationships between adversary activity, artifacts, conditions, and countermeasures</a:t>
            </a:r>
          </a:p>
          <a:p>
            <a:pPr/>
            <a:r>
              <a:rPr sz="1800"/>
              <a:t>Preserve artifact provenance and export a reusable CAD graph</a:t>
            </a:r>
          </a:p>
        </p:txBody>
      </p:sp>
      <p:pic>
        <p:nvPicPr>
          <p:cNvPr id="5" name="Picture 4" descr="a77d2f1fdd2fd1a90d4cbe32c91a7be57c759e70fa0e26b46c10209a50fa6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MITRE D3FEND CAD — What and Why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CAD:</a:t>
            </a:r>
            <a:r>
              <a:rPr sz="1800"/>
              <a:t> </a:t>
            </a:r>
            <a:r>
              <a:rPr i="1" sz="1800"/>
              <a:t>Cyberspace Attack Diagrammer</a:t>
            </a:r>
            <a:r>
              <a:rPr sz="1800"/>
              <a:t> — MITRE's D3FEND graphing tool</a:t>
            </a:r>
          </a:p>
          <a:p>
            <a:pPr/>
            <a:r>
              <a:rPr sz="1800"/>
              <a:t>Graphs </a:t>
            </a:r>
            <a:r>
              <a:rPr b="1" sz="1800"/>
              <a:t>adversary activity</a:t>
            </a:r>
            <a:r>
              <a:rPr sz="1800"/>
              <a:t> and </a:t>
            </a:r>
            <a:r>
              <a:rPr b="1" sz="1800"/>
              <a:t>our blue-space response</a:t>
            </a:r>
            <a:r>
              <a:rPr sz="1800"/>
              <a:t> in one artifact</a:t>
            </a:r>
          </a:p>
          <a:p>
            <a:pPr/>
            <a:r>
              <a:rPr sz="1800"/>
              <a:t>Underpinned by the </a:t>
            </a:r>
            <a:r>
              <a:rPr b="1" sz="1800"/>
              <a:t>D3FEND Ontology</a:t>
            </a:r>
            <a:r>
              <a:rPr sz="1800"/>
              <a:t> — structured, consistent, shareable</a:t>
            </a:r>
          </a:p>
          <a:p>
            <a:pPr/>
            <a:r>
              <a:rPr sz="1800"/>
              <a:t>We use CAD to communicate plans to commanders and peers</a:t>
            </a:r>
          </a:p>
        </p:txBody>
      </p:sp>
      <p:pic>
        <p:nvPicPr>
          <p:cNvPr id="5" name="Picture 4" descr="135671d07bfaa453d2ba834121c7cd73a29990b0bfd9e03ec2fcce4f7abaa9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Most "attack graphs" out there are property graphs — they </a:t>
            </a:r>
            <a:r>
              <a:rPr b="1" sz="2400"/>
              <a:t>conflate</a:t>
            </a:r>
            <a:r>
              <a:rPr sz="2400"/>
              <a:t> actions, objects, and state</a:t>
            </a:r>
          </a:p>
          <a:p>
            <a:pPr/>
            <a:r>
              <a:rPr sz="2400"/>
              <a:t>A </a:t>
            </a:r>
            <a:r>
              <a:rPr b="1" sz="2400"/>
              <a:t>D3FEND Graph</a:t>
            </a:r>
            <a:r>
              <a:rPr sz="2400"/>
              <a:t> is a </a:t>
            </a:r>
            <a:r>
              <a:rPr b="1" sz="2400"/>
              <a:t>knowledge graph</a:t>
            </a:r>
            <a:r>
              <a:rPr sz="2400"/>
              <a:t> — discrete activities, objects, and conditions with typed relationships</a:t>
            </a:r>
          </a:p>
          <a:p>
            <a:pPr/>
            <a:r>
              <a:rPr sz="2400"/>
              <a:t>Every node and edge conforms to the </a:t>
            </a:r>
            <a:r>
              <a:rPr b="1" sz="2400"/>
              <a:t>D3FEND Ontology</a:t>
            </a:r>
          </a:p>
          <a:p>
            <a:pPr/>
            <a:r>
              <a:rPr sz="2400"/>
              <a:t>That structure is what makes graphs </a:t>
            </a:r>
            <a:r>
              <a:rPr b="1" sz="2400"/>
              <a:t>comparable across teams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What is a D3FEND Graph?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Browse to https://d3fend.mitre.org/cad/</a:t>
            </a:r>
          </a:p>
          <a:p>
            <a:pPr/>
            <a:r>
              <a:rPr b="1" sz="2400"/>
              <a:t>File → Example Graphs → Shadowcat.json</a:t>
            </a:r>
          </a:p>
          <a:p>
            <a:pPr/>
            <a:r>
              <a:rPr sz="2400"/>
              <a:t>Explore the loaded graph before we build our own</a:t>
            </a:r>
          </a:p>
          <a:p>
            <a:pPr/>
            <a:r>
              <a:rPr sz="2400"/>
              <a:t>Shadowcat is the canonical teaching example from MITRE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Quick Start — Load the Shadowcat Example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CAD Node Categories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Nodes are grouped by </a:t>
            </a:r>
            <a:r>
              <a:rPr b="1" sz="1700"/>
              <a:t>semantics</a:t>
            </a:r>
            <a:r>
              <a:rPr sz="1700"/>
              <a:t>, not by color</a:t>
            </a:r>
          </a:p>
          <a:p>
            <a:pPr/>
            <a:r>
              <a:rPr sz="1700"/>
              <a:t>Four categories:</a:t>
            </a:r>
          </a:p>
          <a:p>
            <a:pPr lvl="1"/>
            <a:r>
              <a:rPr b="1" sz="1700"/>
              <a:t>Action Nodes</a:t>
            </a:r>
            <a:r>
              <a:rPr sz="1700"/>
              <a:t> — things that happened or may happen</a:t>
            </a:r>
          </a:p>
          <a:p>
            <a:pPr lvl="1"/>
            <a:r>
              <a:rPr b="1" sz="1700"/>
              <a:t>Object Nodes</a:t>
            </a:r>
            <a:r>
              <a:rPr sz="1700"/>
              <a:t> — the things in the cyber domain</a:t>
            </a:r>
          </a:p>
          <a:p>
            <a:pPr lvl="1"/>
            <a:r>
              <a:rPr b="1" sz="1700"/>
              <a:t>State Nodes</a:t>
            </a:r>
            <a:r>
              <a:rPr sz="1700"/>
              <a:t> — conditions or vulnerabilities</a:t>
            </a:r>
          </a:p>
          <a:p>
            <a:pPr lvl="1"/>
            <a:r>
              <a:rPr b="1" sz="1700"/>
              <a:t>Miscellaneous Nodes</a:t>
            </a:r>
            <a:r>
              <a:rPr sz="1700"/>
              <a:t> — context that doesn't fit the ontology strictly</a:t>
            </a:r>
          </a:p>
        </p:txBody>
      </p:sp>
      <p:pic>
        <p:nvPicPr>
          <p:cNvPr id="5" name="Picture 4" descr="afec7db6e5368fe2277f74b130a44aa8d6bfb389ad41c4ae3147b3c28494e0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b="1" sz="2400"/>
              <a:t>Event</a:t>
            </a:r>
            <a:r>
              <a:rPr sz="2400"/>
              <a:t> — instances of events (mapped to </a:t>
            </a:r>
            <a:r>
              <a:rPr sz="2400">
                <a:latin typeface="Courier New"/>
              </a:rPr>
              <a:t>d3f:Event</a:t>
            </a:r>
            <a:r>
              <a:rPr sz="2400"/>
              <a:t>)</a:t>
            </a:r>
          </a:p>
          <a:p>
            <a:pPr lvl="1"/>
            <a:r>
              <a:rPr sz="2400"/>
              <a:t>Example: </a:t>
            </a:r>
            <a:r>
              <a:rPr b="1" sz="2400"/>
              <a:t>Remote Command</a:t>
            </a:r>
          </a:p>
          <a:p>
            <a:pPr/>
            <a:r>
              <a:rPr b="1" sz="2400"/>
              <a:t>Attack</a:t>
            </a:r>
            <a:r>
              <a:rPr sz="2400"/>
              <a:t> — adversary steps, mapped to the full </a:t>
            </a:r>
            <a:r>
              <a:rPr b="1" sz="2400"/>
              <a:t>d3f:ATTACKEnterprise</a:t>
            </a:r>
            <a:r>
              <a:rPr sz="2400"/>
              <a:t> technique set</a:t>
            </a:r>
          </a:p>
          <a:p>
            <a:pPr lvl="1"/>
            <a:r>
              <a:rPr sz="2400"/>
              <a:t>Example: </a:t>
            </a:r>
            <a:r>
              <a:rPr b="1" sz="2400"/>
              <a:t>Keylogging</a:t>
            </a:r>
          </a:p>
          <a:p>
            <a:pPr/>
            <a:r>
              <a:rPr b="1" sz="2400"/>
              <a:t>Countermeasure</a:t>
            </a:r>
            <a:r>
              <a:rPr sz="2400"/>
              <a:t> — defensive tactics/techniques from D3FEND</a:t>
            </a:r>
          </a:p>
          <a:p>
            <a:pPr lvl="1"/>
            <a:r>
              <a:rPr sz="2400"/>
              <a:t>Example: </a:t>
            </a:r>
            <a:r>
              <a:rPr b="1" sz="2400"/>
              <a:t>File Carving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Action Nodes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b="1" sz="2400"/>
              <a:t>Artifact</a:t>
            </a:r>
            <a:r>
              <a:rPr sz="2400"/>
              <a:t> — physical, information, or information-bearing artifacts</a:t>
            </a:r>
          </a:p>
          <a:p>
            <a:pPr lvl="1"/>
            <a:r>
              <a:rPr sz="2400"/>
              <a:t>Mapped to </a:t>
            </a:r>
            <a:r>
              <a:rPr sz="2400">
                <a:latin typeface="Courier New"/>
              </a:rPr>
              <a:t>d3f:Artifact</a:t>
            </a:r>
          </a:p>
          <a:p>
            <a:pPr lvl="1"/>
            <a:r>
              <a:rPr sz="2400"/>
              <a:t>Example: </a:t>
            </a:r>
            <a:r>
              <a:rPr b="1" sz="2400"/>
              <a:t>Network Packet</a:t>
            </a:r>
          </a:p>
          <a:p>
            <a:pPr/>
            <a:r>
              <a:rPr b="1" sz="2400"/>
              <a:t>Agent</a:t>
            </a:r>
            <a:r>
              <a:rPr sz="2400"/>
              <a:t> — person or non-person entity, including threat actors</a:t>
            </a:r>
          </a:p>
          <a:p>
            <a:pPr lvl="1"/>
            <a:r>
              <a:rPr sz="2400"/>
              <a:t>Example: </a:t>
            </a:r>
            <a:r>
              <a:rPr b="1" sz="2400"/>
              <a:t>APT28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Object Nodes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b="1" sz="2400"/>
              <a:t>Vulnerability</a:t>
            </a:r>
            <a:r>
              <a:rPr sz="2400"/>
              <a:t> — software vulnerabilities and underlying weaknesses</a:t>
            </a:r>
          </a:p>
          <a:p>
            <a:pPr lvl="1"/>
            <a:r>
              <a:rPr sz="2400"/>
              <a:t>Mapped to </a:t>
            </a:r>
            <a:r>
              <a:rPr sz="2400">
                <a:latin typeface="Courier New"/>
              </a:rPr>
              <a:t>d3f:Weakness</a:t>
            </a:r>
          </a:p>
          <a:p>
            <a:pPr lvl="1"/>
            <a:r>
              <a:rPr sz="2400"/>
              <a:t>Example: </a:t>
            </a:r>
            <a:r>
              <a:rPr b="1" sz="2400"/>
              <a:t>Absolute Path Traversal</a:t>
            </a:r>
          </a:p>
          <a:p>
            <a:pPr/>
            <a:r>
              <a:rPr b="1" sz="2400"/>
              <a:t>Condition</a:t>
            </a:r>
            <a:r>
              <a:rPr sz="2400"/>
              <a:t> — open-ended; any condition associated with another node</a:t>
            </a:r>
          </a:p>
          <a:p>
            <a:pPr lvl="1"/>
            <a:r>
              <a:rPr sz="2400"/>
              <a:t>Example: resulting effect of an Attack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State Nodes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b="1" sz="2400"/>
              <a:t>Note</a:t>
            </a:r>
            <a:r>
              <a:rPr sz="2400"/>
              <a:t> — comments or annotations that provide context</a:t>
            </a:r>
          </a:p>
          <a:p>
            <a:pPr/>
            <a:r>
              <a:rPr b="1" sz="2400"/>
              <a:t>Thing</a:t>
            </a:r>
            <a:r>
              <a:rPr sz="2400"/>
              <a:t> — objects or concepts outside the scope of D3FEND (non-cyber entities)</a:t>
            </a:r>
          </a:p>
          <a:p>
            <a:pPr lvl="1"/>
            <a:r>
              <a:rPr sz="2400"/>
              <a:t>Example: </a:t>
            </a:r>
            <a:r>
              <a:rPr b="1" sz="2400"/>
              <a:t>Data Center</a:t>
            </a:r>
            <a:r>
              <a:rPr sz="2400"/>
              <a:t> as a physical building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Miscellaneous Nodes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Every node has:</a:t>
            </a:r>
          </a:p>
          <a:p>
            <a:pPr lvl="1"/>
            <a:r>
              <a:rPr sz="2400"/>
              <a:t>A </a:t>
            </a:r>
            <a:r>
              <a:rPr b="1" sz="2400"/>
              <a:t>type</a:t>
            </a:r>
            <a:r>
              <a:rPr sz="2400"/>
              <a:t> (drawn from the ontology classes above)</a:t>
            </a:r>
          </a:p>
          <a:p>
            <a:pPr lvl="1"/>
            <a:r>
              <a:rPr sz="2400"/>
              <a:t>A </a:t>
            </a:r>
            <a:r>
              <a:rPr b="1" sz="2400"/>
              <a:t>class selection</a:t>
            </a:r>
            <a:r>
              <a:rPr sz="2400"/>
              <a:t> (the specific ATT&amp;CK or D3FEND technique)</a:t>
            </a:r>
          </a:p>
          <a:p>
            <a:pPr lvl="1"/>
            <a:r>
              <a:rPr b="1" sz="2400"/>
              <a:t>Properties / metadata</a:t>
            </a:r>
            <a:r>
              <a:rPr sz="2400"/>
              <a:t> (free-text and typed fields)</a:t>
            </a:r>
          </a:p>
          <a:p>
            <a:pPr lvl="1"/>
            <a:r>
              <a:rPr b="1" sz="2400"/>
              <a:t>Edges</a:t>
            </a:r>
            <a:r>
              <a:rPr sz="2400"/>
              <a:t> to other nodes (typed relationships, not arbitrary lines)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Node Anatomy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Nodes without edges are just a list</a:t>
            </a:r>
          </a:p>
          <a:p>
            <a:pPr/>
            <a:r>
              <a:rPr sz="2400"/>
              <a:t>Edge types are </a:t>
            </a:r>
            <a:r>
              <a:rPr b="1" sz="2400"/>
              <a:t>defined by the ontology</a:t>
            </a:r>
            <a:r>
              <a:rPr sz="2400"/>
              <a:t> — not free-form</a:t>
            </a:r>
          </a:p>
          <a:p>
            <a:pPr/>
            <a:r>
              <a:rPr sz="2400"/>
              <a:t>When you create an edge, CAD shows only the edge types that are </a:t>
            </a:r>
            <a:r>
              <a:rPr b="1" sz="2400"/>
              <a:t>valid</a:t>
            </a:r>
            <a:r>
              <a:rPr sz="2400"/>
              <a:t> for the two node types you connected</a:t>
            </a:r>
          </a:p>
          <a:p>
            <a:pPr/>
            <a:r>
              <a:rPr sz="2400"/>
              <a:t>Common edges: </a:t>
            </a:r>
            <a:r>
              <a:rPr i="1" sz="2400"/>
              <a:t>produces</a:t>
            </a:r>
            <a:r>
              <a:rPr sz="2400"/>
              <a:t>, </a:t>
            </a:r>
            <a:r>
              <a:rPr i="1" sz="2400"/>
              <a:t>accesses</a:t>
            </a:r>
            <a:r>
              <a:rPr sz="2400"/>
              <a:t>, </a:t>
            </a:r>
            <a:r>
              <a:rPr i="1" sz="2400"/>
              <a:t>exploits</a:t>
            </a:r>
            <a:r>
              <a:rPr sz="2400"/>
              <a:t>, </a:t>
            </a:r>
            <a:r>
              <a:rPr i="1" sz="2400"/>
              <a:t>mitigates</a:t>
            </a:r>
            <a:r>
              <a:rPr sz="2400"/>
              <a:t>, </a:t>
            </a:r>
            <a:r>
              <a:rPr i="1" sz="2400"/>
              <a:t>associated-with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Edges — Creating and Selecting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b="1" sz="2400"/>
              <a:t>Focus on artifact provenance</a:t>
            </a:r>
            <a:r>
              <a:rPr sz="2400"/>
              <a:t> — where does each artifact come from and go to?</a:t>
            </a:r>
          </a:p>
          <a:p>
            <a:pPr/>
            <a:r>
              <a:rPr b="1" sz="2400"/>
              <a:t>Be as specific as possible</a:t>
            </a:r>
            <a:r>
              <a:rPr sz="2400"/>
              <a:t> — specific technique, specific artifact, specific condition</a:t>
            </a:r>
          </a:p>
          <a:p>
            <a:pPr/>
            <a:r>
              <a:rPr b="1" sz="2400"/>
              <a:t>Model incrementally</a:t>
            </a:r>
            <a:r>
              <a:rPr sz="2400"/>
              <a:t> — build a few nodes, connect them, save, extend</a:t>
            </a:r>
          </a:p>
          <a:p>
            <a:pPr/>
            <a:r>
              <a:rPr b="1" sz="2400"/>
              <a:t>Save often</a:t>
            </a:r>
            <a:r>
              <a:rPr sz="2400"/>
              <a:t> — export the graph JSON as you go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Essential Tips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200"/>
              <a:t>Each team graphs the intrusion from the Navigator layer they already have</a:t>
            </a:r>
          </a:p>
          <a:p>
            <a:pPr/>
            <a:r>
              <a:rPr sz="2200"/>
              <a:t>Minimum required nodes:</a:t>
            </a:r>
          </a:p>
          <a:p>
            <a:pPr lvl="1"/>
            <a:r>
              <a:rPr sz="2200"/>
              <a:t>1 Agent (the adversary unit)</a:t>
            </a:r>
          </a:p>
          <a:p>
            <a:pPr lvl="1"/>
            <a:r>
              <a:rPr sz="2200"/>
              <a:t>2 Attacks (from your Navigator layer)</a:t>
            </a:r>
          </a:p>
          <a:p>
            <a:pPr lvl="1"/>
            <a:r>
              <a:rPr sz="2200"/>
              <a:t>1 Artifact</a:t>
            </a:r>
          </a:p>
          <a:p>
            <a:pPr lvl="1"/>
            <a:r>
              <a:rPr sz="2200"/>
              <a:t>1 Condition</a:t>
            </a:r>
          </a:p>
          <a:p>
            <a:pPr lvl="1"/>
            <a:r>
              <a:rPr sz="2200"/>
              <a:t>1 Countermeasure (from D3FEND)</a:t>
            </a:r>
          </a:p>
          <a:p>
            <a:pPr/>
            <a:r>
              <a:rPr sz="2200"/>
              <a:t>Minimum required edges: enough to make the graph a story, not a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Mini-Build Exercise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D3FEND CAD: https://d3fend.mitre.org/cad/</a:t>
            </a:r>
          </a:p>
          <a:p>
            <a:pPr/>
            <a:r>
              <a:rPr sz="2400"/>
              <a:t>CAD documentation: https://d3fend.mitre.org/cad/docs/</a:t>
            </a:r>
          </a:p>
          <a:p>
            <a:pPr/>
            <a:r>
              <a:rPr sz="2400"/>
              <a:t>Building D3FEND Graphs with CAD: https://d3fend.mitre.org/blog/building-d3fend-graphs-with-d3fend-cad/</a:t>
            </a:r>
          </a:p>
          <a:p>
            <a:pPr/>
            <a:r>
              <a:rPr sz="2400"/>
              <a:t>D3FEND Ontology: https://d3fend.mitre.org/resources/ontology/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CAD References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CAD = D3FEND's graphing tool, built on the D3FEND Ontology</a:t>
            </a:r>
          </a:p>
          <a:p>
            <a:pPr/>
            <a:r>
              <a:rPr sz="2400"/>
              <a:t>Four node categories (Action / Object / State / Misc), typed edges</a:t>
            </a:r>
          </a:p>
          <a:p>
            <a:pPr/>
            <a:r>
              <a:rPr sz="2400"/>
              <a:t>Three habits: artifact provenance, specificity, incremental modeling</a:t>
            </a:r>
          </a:p>
          <a:p>
            <a:pPr/>
            <a:r>
              <a:rPr sz="2400"/>
              <a:t>You now have a graphing language that matches the planning pipeline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Recap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Questions?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420</Words>
  <Application>Microsoft Office PowerPoint</Application>
  <PresentationFormat>Widescreen</PresentationFormat>
  <Paragraphs>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Noto Sans Symbols</vt:lpstr>
      <vt:lpstr>Google Sans</vt:lpstr>
      <vt:lpstr>CyberTemplateL_Green Unclass</vt:lpstr>
      <vt:lpstr>Lesson title</vt:lpstr>
      <vt:lpstr>Intro Video</vt:lpstr>
      <vt:lpstr>Lesson Objectives</vt:lpstr>
      <vt:lpstr>What is a Learning Management System?</vt:lpstr>
      <vt:lpstr>Lets log in to Moodle</vt:lpstr>
      <vt:lpstr>Lesson 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Houston, Joshua T</dc:creator>
  <cp:lastModifiedBy>Cross, Clay</cp:lastModifiedBy>
  <cp:revision>1</cp:revision>
  <dcterms:modified xsi:type="dcterms:W3CDTF">2026-10-12T17:41:16Z</dcterms:modified>
</cp:coreProperties>
</file>