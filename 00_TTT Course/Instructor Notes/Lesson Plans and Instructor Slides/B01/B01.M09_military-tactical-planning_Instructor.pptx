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"Tactical planning is not what most people associate with cyber. Today we apply the same rigor used for a small-unit operation to cyberspace."</a:t>
            </a:r>
          </a:p>
          <a:p/>
          <a:p>
            <a:r>
              <a:t>Show:</a:t>
            </a:r>
          </a:p>
          <a:p>
            <a:r>
              <a:t>The two-panel image; emphasize "same process, different terrain."</a:t>
            </a:r>
          </a:p>
          <a:p/>
          <a:p>
            <a:r>
              <a:t>Do:</a:t>
            </a:r>
          </a:p>
          <a:p>
            <a:r>
              <a:t>Ask: "Who has seen a team use a tactical planning process before a cyber operation?" Use responses to calibrate examples.</a:t>
            </a:r>
          </a:p>
          <a:p/>
          <a:p>
            <a:r>
              <a:t>Image Prompt:</a:t>
            </a:r>
          </a:p>
          <a:p>
            <a:r>
              <a:t>No image required for this slide.</a:t>
            </a:r>
          </a:p>
          <a:p/>
          <a:p>
            <a:r>
              <a:t>Ask (Q):</a:t>
            </a:r>
          </a:p>
          <a:p>
            <a:r>
              <a:t>Who has seen a team use a tactical planning process before a cyber operation?</a:t>
            </a:r>
          </a:p>
          <a:p/>
          <a:p>
            <a:r>
              <a:t>Expected Response (A):</a:t>
            </a:r>
          </a:p>
          <a:p>
            <a:r>
              <a:t>Facilitation only. Use responses to calibrate examples.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"Play the clip, then start the lesson."</a:t>
            </a:r>
          </a:p>
          <a:p/>
          <a:p>
            <a:r>
              <a:t>Show:</a:t>
            </a:r>
          </a:p>
          <a:p>
            <a:r>
              <a:t>The video on the slide.</a:t>
            </a:r>
          </a:p>
          <a:p/>
          <a:p>
            <a:r>
              <a:t>Do:</a:t>
            </a:r>
          </a:p>
          <a:p>
            <a:r>
              <a:t>Play it once. Move on when it ends.</a:t>
            </a:r>
          </a:p>
          <a:p/>
          <a:p>
            <a:r>
              <a:t>Image Prompt:</a:t>
            </a:r>
          </a:p>
          <a:p>
            <a:r>
              <a:t>No image required for this slide.</a:t>
            </a:r>
          </a:p>
          <a:p/>
          <a:p>
            <a:r>
              <a:t>Ask (Q):</a:t>
            </a:r>
          </a:p>
          <a:p>
            <a:r>
              <a:t>What is the operational point of the clip?</a:t>
            </a:r>
          </a:p>
          <a:p/>
          <a:p>
            <a:r>
              <a:t>Expected Response (A):</a:t>
            </a:r>
          </a:p>
          <a:p>
            <a:r>
              <a:t>Facilitation only. Use the answers to start the lesson.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"Applying tactical planning to cyber is not one action. It is a sequence of analyses and products. These objectives describe the complete chain."</a:t>
            </a:r>
          </a:p>
          <a:p/>
          <a:p>
            <a:r>
              <a:t>Show:</a:t>
            </a:r>
          </a:p>
          <a:p>
            <a:r>
              <a:t>Reveal the objectives in pipeline order.</a:t>
            </a:r>
          </a:p>
          <a:p/>
          <a:p>
            <a:r>
              <a:t>Do:</a:t>
            </a:r>
          </a:p>
          <a:p>
            <a:r>
              <a:t>Ask students to mark which process is new to them; revisit the poll during the recap.</a:t>
            </a:r>
          </a:p>
          <a:p/>
          <a:p>
            <a:r>
              <a:t>Image Prompt:</a:t>
            </a:r>
          </a:p>
          <a:p>
            <a:r>
              <a:t>No image required for this slide.</a:t>
            </a:r>
          </a:p>
          <a:p/>
          <a:p>
            <a:r>
              <a:t>Ask (Q):</a:t>
            </a:r>
          </a:p>
          <a:p>
            <a:r>
              <a:t>Which process on this list is new to you?</a:t>
            </a:r>
          </a:p>
          <a:p/>
          <a:p>
            <a:r>
              <a:t>Expected Response (A):</a:t>
            </a:r>
          </a:p>
          <a:p>
            <a:r>
              <a:t>Facilitation only. Revisit the poll during the recap.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Lesson Objectives Continued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Introduction to Military Tactical Planning in the order it is written.</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"Tactical planning is not what most people associate with cyber. It is what a small unit leader does when they are about to roll a five-truck convoy five miles up the road. We are going to take that same rigor and apply it to cyberspace, because we are uniformed service members and cyber is a warfighting domain."</a:t>
            </a:r>
          </a:p>
          <a:p/>
          <a:p>
            <a:r>
              <a:t>Show:</a:t>
            </a:r>
          </a:p>
          <a:p>
            <a:r>
              <a:t>The two-panel image; emphasize "same process, different terrain."</a:t>
            </a:r>
          </a:p>
          <a:p/>
          <a:p>
            <a:r>
              <a:t>Do:</a:t>
            </a:r>
          </a:p>
          <a:p>
            <a:r>
              <a:t>Acknowledge it may feel disorienting to not be talking about cyber for the first hour. Tell them that is deliberate: "If you are uncomfortable right now, that is the point. We are resetting the frame."</a:t>
            </a:r>
          </a:p>
          <a:p/>
          <a:p>
            <a:r>
              <a:t>Image Prompt:</a:t>
            </a:r>
          </a:p>
          <a:p>
            <a:r>
              <a:t>No image required for this slide.</a:t>
            </a:r>
          </a:p>
          <a:p/>
          <a:p>
            <a:r>
              <a:t>Ask (Q):</a:t>
            </a:r>
          </a:p>
          <a:p>
            <a:r>
              <a:t>Why are we not starting with industry DFIR frameworks?</a:t>
            </a:r>
          </a:p>
          <a:p/>
          <a:p>
            <a:r>
              <a:t>Expected Response (A):</a:t>
            </a:r>
          </a:p>
          <a:p>
            <a:r>
              <a:t>Steer toward doctrine first and fluent translation between cyberspace and other warfighting domains. Discomfort in the first hour is deliberate.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"Repeat this after me, out loud. It is going to feel weird. It should. Most of you have spent your careers being told that your job stops at the perimeter. That framing is about to shift."</a:t>
            </a:r>
          </a:p>
          <a:p/>
          <a:p>
            <a:r>
              <a:t>Show:</a:t>
            </a:r>
          </a:p>
          <a:p>
            <a:r>
              <a:t>The four sentences, one at a time.</a:t>
            </a:r>
          </a:p>
          <a:p/>
          <a:p>
            <a:r>
              <a:t>Do:</a:t>
            </a:r>
          </a:p>
          <a:p>
            <a:r>
              <a:t>Have the room read the four lines aloud, write them down, and leave them visible for the week. If someone smirks, stop and address it — the tone of the course depends on everyone taking this seriously.</a:t>
            </a:r>
          </a:p>
          <a:p/>
          <a:p>
            <a:r>
              <a:t>Image Prompt:</a:t>
            </a:r>
          </a:p>
          <a:p>
            <a:r>
              <a:t>No image required for this slide.</a:t>
            </a:r>
          </a:p>
          <a:p/>
          <a:p>
            <a:r>
              <a:t>Ask (Q):</a:t>
            </a:r>
          </a:p>
          <a:p>
            <a:r>
              <a:t>Repeat the four mindset lines. Why does this framing feel different from hunt work at the perimeter?</a:t>
            </a:r>
          </a:p>
          <a:p/>
          <a:p>
            <a:r>
              <a:t>Expected Response (A):</a:t>
            </a:r>
          </a:p>
          <a:p>
            <a:r>
              <a:t>Steer toward operations against the enemy and striking back against their terrain. If someone smirks, stop and address it.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"Industry calls the cluster Gamaredon. The unit we plan against is FSB Center 18, Military Unit 64829. That shift changes assumptions, attribution, and support relationships."</a:t>
            </a:r>
          </a:p>
          <a:p/>
          <a:p>
            <a:r>
              <a:t>Show:</a:t>
            </a:r>
          </a:p>
          <a:p>
            <a:r>
              <a:t>The framing panel on the slide.</a:t>
            </a:r>
          </a:p>
          <a:p/>
          <a:p>
            <a:r>
              <a:t>Do:</a:t>
            </a:r>
          </a:p>
          <a:p>
            <a:r>
              <a:t>Leave the panel up. You will use it again when the worked FSB example starts.</a:t>
            </a:r>
          </a:p>
          <a:p/>
          <a:p>
            <a:r>
              <a:t>Image Prompt:</a:t>
            </a:r>
          </a:p>
          <a:p>
            <a:r>
              <a:t>No image required for this slide.</a:t>
            </a:r>
          </a:p>
          <a:p/>
          <a:p>
            <a:r>
              <a:t>Ask (Q):</a:t>
            </a:r>
          </a:p>
          <a:p>
            <a:r>
              <a:t>What changes when the planning unit is FSB Center 18 rather than the industry cluster name?</a:t>
            </a:r>
          </a:p>
          <a:p/>
          <a:p>
            <a:r>
              <a:t>Expected Response (A):</a:t>
            </a:r>
          </a:p>
          <a:p>
            <a:r>
              <a:t>Assumptions, attribution, and support relationships change. The panel is the framing for the worked example.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Enemy-Oriented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deliberate defense: I have been given the terrain task of 'control' in order to protect friendly forces — that's a friendly task. While doing that, with the enemy nearby, I am also told to reconnoiter them — that is either a terrain or enemy task. Three tactical tasks, three orientations, one mission."</a:t>
            </a:r>
          </a:p>
          <a:p/>
          <a:p>
            <a:r>
              <a:t>Show:</a:t>
            </a:r>
          </a:p>
          <a:p>
            <a:r>
              <a:t>The figure on the slide.</a:t>
            </a:r>
          </a:p>
          <a:p/>
          <a:p>
            <a:r>
              <a:t>Do:</a:t>
            </a:r>
          </a:p>
          <a:p>
            <a:r>
              <a:t>Think-pair-share: students define the orientations, discuss whether tasks can cross them, then offer one cyber example for each. Capture the strongest examples. Treat population-oriented tasks briefly; do not force a cyber analogy.</a:t>
            </a:r>
          </a:p>
          <a:p/>
          <a:p>
            <a:r>
              <a:t>Image Prompt:</a:t>
            </a:r>
          </a:p>
          <a:p>
            <a:r>
              <a:t>No image required for this slide.</a:t>
            </a:r>
          </a:p>
          <a:p/>
          <a:p>
            <a:r>
              <a:t>Ask (Q):</a:t>
            </a:r>
          </a:p>
          <a:p>
            <a:r>
              <a:t>Define the four orientations. Can a mission hold more than one? Give one cyber example that is not forced.</a:t>
            </a:r>
          </a:p>
          <a:p/>
          <a:p>
            <a:r>
              <a:t>Expected Response (A):</a:t>
            </a:r>
          </a:p>
          <a:p>
            <a:r>
              <a:t>Enemy, terrain, friendly, population. Tasks can flow between orientations. Population-oriented examples stay brief; do not force a cyber analogy.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technical action is not the tactical task. Choose the task that best expresses the required effect while accounting for the adversary's likely reaction."</a:t>
            </a:r>
          </a:p>
          <a:p/>
          <a:p>
            <a:r>
              <a:t>Show:</a:t>
            </a:r>
          </a:p>
          <a:p>
            <a:r>
              <a:t>The scenario and the tactical-task reference.</a:t>
            </a:r>
          </a:p>
          <a:p/>
          <a:p>
            <a:r>
              <a:t>Do:</a:t>
            </a:r>
          </a:p>
          <a:p>
            <a:r>
              <a:t>Give teams **10 minutes**, then ask each for one task-purpose statement. Grade the reasoning, not agreement on one verb.</a:t>
            </a:r>
          </a:p>
          <a:p/>
          <a:p>
            <a:r>
              <a:t>Image Prompt:</a:t>
            </a:r>
          </a:p>
          <a:p>
            <a:r>
              <a:t>No image required for this slide.</a:t>
            </a:r>
          </a:p>
          <a:p/>
          <a:p>
            <a:r>
              <a:t>Ask (Q):</a:t>
            </a:r>
          </a:p>
          <a:p>
            <a:r>
              <a:t>What is the most appropriate tactical task and purpose for the port-terminal C2 scenario, and why are plausible alternatives less suitable?</a:t>
            </a:r>
          </a:p>
          <a:p/>
          <a:p>
            <a:r>
              <a:t>Expected Response (A):</a:t>
            </a:r>
          </a:p>
          <a:p>
            <a:r>
              <a:t>Grade the reasoning, not agreement on one verb. The technical action is not the tactical task. Nested drill: B01.M12.</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deliberate defense: I have been given the terrain task of 'control' in order to protect friendly forces — that's a friendly task. While doing that, with the enemy nearby, I am also told to reconnoiter them — that is either a terrain or enemy task. Three tactical tasks, three orientations, one mission."</a:t>
            </a:r>
          </a:p>
          <a:p/>
          <a:p>
            <a:r>
              <a:t>Show:</a:t>
            </a:r>
          </a:p>
          <a:p>
            <a:r>
              <a:t>The figure on the slide.</a:t>
            </a:r>
          </a:p>
          <a:p/>
          <a:p>
            <a:r>
              <a:t>Do:</a:t>
            </a:r>
          </a:p>
          <a:p>
            <a:r>
              <a:t>Think-pair-share: students define the orientations, discuss whether tasks can cross them, then offer one cyber example for each. Capture the strongest examples. Treat population-oriented tasks briefly; do not force a cyber analogy.</a:t>
            </a:r>
          </a:p>
          <a:p/>
          <a:p>
            <a:r>
              <a:t>Image Prompt:</a:t>
            </a:r>
          </a:p>
          <a:p>
            <a:r>
              <a:t>No image required for this slide.</a:t>
            </a:r>
          </a:p>
          <a:p/>
          <a:p>
            <a:r>
              <a:t>Ask (Q):</a:t>
            </a:r>
          </a:p>
          <a:p>
            <a:r>
              <a:t>Define the four orientations. Can a mission hold more than one? Give one cyber example that is not forced.</a:t>
            </a:r>
          </a:p>
          <a:p/>
          <a:p>
            <a:r>
              <a:t>Expected Response (A):</a:t>
            </a:r>
          </a:p>
          <a:p>
            <a:r>
              <a:t>Enemy, terrain, friendly, population. Tasks can flow between orientations. Population-oriented examples stay brief; do not force a cyber analogy.</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"Mission analysis starts with a task from higher. If they were good about it, the task includes one of the tactical tasks we just discussed. If not, you have to extract one. Either way, you owe your troops a clean statement of what and why. In this course, the why is always the same: make our adversary's life expensive."</a:t>
            </a:r>
          </a:p>
          <a:p/>
          <a:p>
            <a:r>
              <a:t>Show:</a:t>
            </a:r>
          </a:p>
          <a:p>
            <a:r>
              <a:t>The bullets; linger on "impose cost" and "generate options for pursuit."</a:t>
            </a:r>
          </a:p>
          <a:p/>
          <a:p>
            <a:r>
              <a:t>Do:</a:t>
            </a:r>
          </a:p>
          <a:p>
            <a:r>
              <a:t>Ask: "Our adversaries have operated unopposed in cyberspace for how long?" Let the room answer. Use it to frame the cost-imposition mindset.</a:t>
            </a:r>
          </a:p>
          <a:p/>
          <a:p>
            <a:r>
              <a:t>Image Prompt:</a:t>
            </a:r>
          </a:p>
          <a:p>
            <a:r>
              <a:t>No image required for this slide.</a:t>
            </a:r>
          </a:p>
          <a:p/>
          <a:p>
            <a:r>
              <a:t>Ask (Q):</a:t>
            </a:r>
          </a:p>
          <a:p>
            <a:r>
              <a:t>Our adversaries have operated unopposed in cyberspace for how long? What is the commander's intent in this course?</a:t>
            </a:r>
          </a:p>
          <a:p/>
          <a:p>
            <a:r>
              <a:t>Expected Response (A):</a:t>
            </a:r>
          </a:p>
          <a:p>
            <a:r>
              <a:t>Facilitation only on the first question. Intent: impose cost and generate options for pursuit.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"Here is the first group exercise. You will get a handout of tactical task definitions from Operational Terms and Graphics. Your job is to argue which tasks apply to cyber, which apply with modification, and which do not apply at all. There is no single right answer — the argument matters more than the verdict. We are also going to do a follow-up exercise later this week where we map ATT&amp;CK, D3FEND, and ENGAGE techniques onto these tactical tasks — so keep your verdicts; we will come back to them."</a:t>
            </a:r>
          </a:p>
          <a:p/>
          <a:p>
            <a:r>
              <a:t>Show:</a:t>
            </a:r>
          </a:p>
          <a:p>
            <a:r>
              <a:t>The figure on the slide.</a:t>
            </a:r>
          </a:p>
          <a:p/>
          <a:p>
            <a:r>
              <a:t>Do:</a:t>
            </a:r>
          </a:p>
          <a:p>
            <a:r>
              <a:t>Break into groups of 3-4. Timebox: **20 minutes** of group work + **10 minutes** of back-brief. Collect verdicts on the whiteboard and tell the class you will return to them during the ATT&amp;CK/D3FEND/ENGAGE block.</a:t>
            </a:r>
          </a:p>
          <a:p/>
          <a:p>
            <a:r>
              <a:t>Image Prompt:</a:t>
            </a:r>
          </a:p>
          <a:p>
            <a:r>
              <a:t>No image required for this slide.</a:t>
            </a:r>
          </a:p>
          <a:p/>
          <a:p>
            <a:r>
              <a:t>Ask (Q):</a:t>
            </a:r>
          </a:p>
          <a:p>
            <a:r>
              <a:t>Which tactical tasks apply to cyber, which apply with modification, and which do not apply at all?</a:t>
            </a:r>
          </a:p>
          <a:p/>
          <a:p>
            <a:r>
              <a:t>Expected Response (A):</a:t>
            </a:r>
          </a:p>
          <a:p>
            <a:r>
              <a:t>No single right answer — the argument matters more than the verdict. Keep verdicts for the later ATT&amp;CK / D3FEND / ENGAGE callback. Nested drill: B01.M11.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Task Activity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Planning Process in the order it is written.</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Tactical Planning Process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the BAMCIS detail on the slide.</a:t>
            </a:r>
          </a:p>
          <a:p/>
          <a:p>
            <a:r>
              <a:t>Show:</a:t>
            </a:r>
          </a:p>
          <a:p>
            <a:r>
              <a:t>The figure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"Most of a second lieutenant's planning lives in the first two steps — Begin and Arrange. Begin is three things: assess time, do a first-pass METT-TC, and draft a tentative plan. The tentative plan is just three questions — what do I know, what do I think, what am I going to do. The moment you put that on paper, you will discover the questions you cannot answer. Those become your RFIs. Arrange Recon is where people over-simplify. It is not 'send scouts out.' It is **all** of the coordination — legal, intel, host unit, adjacent cyber units, the physical-logical-persona maneuver required for your team to be in position to execute."</a:t>
            </a:r>
          </a:p>
          <a:p/>
          <a:p>
            <a:r>
              <a:t>Show:</a:t>
            </a:r>
          </a:p>
          <a:p>
            <a:r>
              <a:t>The table on the slide.</a:t>
            </a:r>
          </a:p>
          <a:p/>
          <a:p>
            <a:r>
              <a:t>Do:</a:t>
            </a:r>
          </a:p>
          <a:p>
            <a:r>
              <a:t>Ask the room to name one RFI you would generate from a first-pass METT-TC against any APT from the earlier group exercise. Capture two answers on the whiteboard.</a:t>
            </a:r>
          </a:p>
          <a:p/>
          <a:p>
            <a:r>
              <a:t>Image Prompt:</a:t>
            </a:r>
          </a:p>
          <a:p>
            <a:r>
              <a:t>No image required for this slide.</a:t>
            </a:r>
          </a:p>
          <a:p/>
          <a:p>
            <a:r>
              <a:t>Ask (Q):</a:t>
            </a:r>
          </a:p>
          <a:p>
            <a:r>
              <a:t>Name one RFI you would generate from a first-pass METT-TC against any APT from the earlier group exercise.</a:t>
            </a:r>
          </a:p>
          <a:p/>
          <a:p>
            <a:r>
              <a:t>Expected Response (A):</a:t>
            </a:r>
          </a:p>
          <a:p>
            <a:r>
              <a:t>Capture two answers on the board. RFIs emerge when the tentative plan answers what do I know / think / going to do.</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Mission Analysis in the order it is written.</a:t>
            </a:r>
          </a:p>
          <a:p/>
          <a:p>
            <a:r>
              <a:t>Show:</a:t>
            </a:r>
          </a:p>
          <a:p>
            <a:r>
              <a:t>The title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Mission Analysis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Mission Analysis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 Analysis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"SALUTE captures composition, disposition, and strength. In cyber, size is usually a proxy for money. Activity is your MITRE ATT&amp;CK mapping. Location has two layers — physical and logical — and you have to articulate both. Unit matters because we are not hunting 'Fancy Bear'; we are hunting the GRU."</a:t>
            </a:r>
          </a:p>
          <a:p/>
          <a:p>
            <a:r>
              <a:t>Show:</a:t>
            </a:r>
          </a:p>
          <a:p>
            <a:r>
              <a:t>The SALUTE diagram.</a:t>
            </a:r>
          </a:p>
          <a:p/>
          <a:p>
            <a:r>
              <a:t>Do:</a:t>
            </a:r>
          </a:p>
          <a:p>
            <a:r>
              <a:t>Give the class one example SALUTE line for each letter using a well-known APT — pick one they will all recognize.</a:t>
            </a:r>
          </a:p>
          <a:p/>
          <a:p>
            <a:r>
              <a:t>Image Prompt:</a:t>
            </a:r>
          </a:p>
          <a:p>
            <a:r>
              <a:t>No image required for this slide.</a:t>
            </a:r>
          </a:p>
          <a:p/>
          <a:p>
            <a:r>
              <a:t>Ask (Q):</a:t>
            </a:r>
          </a:p>
          <a:p>
            <a:r>
              <a:t>Give one SALUTE line for each letter using a well-known APT.</a:t>
            </a:r>
          </a:p>
          <a:p/>
          <a:p>
            <a:r>
              <a:t>Expected Response (A):</a:t>
            </a:r>
          </a:p>
          <a:p>
            <a:r>
              <a:t>Size as money/workforce; activity as ATT&amp;CK; location physical and logical; unit as the actual intel/military entity; time observed; equipment as tooling.</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 Analysis: SALUTE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 Analysis: SALUTE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"DRAW-D is evidence plus bounded inference. The observed mission is collection. Do not make destructive action the EMLCOA merely because root access makes it technically possible."</a:t>
            </a:r>
          </a:p>
          <a:p/>
          <a:p>
            <a:r>
              <a:t>Show:</a:t>
            </a:r>
          </a:p>
          <a:p>
            <a:r>
              <a:t>Link each conclusion to the report evidence or label it an assumption.</a:t>
            </a:r>
          </a:p>
          <a:p/>
          <a:p>
            <a:r>
              <a:t>Do:</a:t>
            </a:r>
          </a:p>
          <a:p>
            <a:r>
              <a:t>Teams receive **15 minutes** to challenge one DRAW-D conclusion and write the RFI that would resolve it.</a:t>
            </a:r>
          </a:p>
          <a:p/>
          <a:p>
            <a:r>
              <a:t>Image Prompt:</a:t>
            </a:r>
          </a:p>
          <a:p>
            <a:r>
              <a:t>No image required for this slide.</a:t>
            </a:r>
          </a:p>
          <a:p/>
          <a:p>
            <a:r>
              <a:t>Ask (Q):</a:t>
            </a:r>
          </a:p>
          <a:p>
            <a:r>
              <a:t>Challenge one DRAW-D conclusion and write the RFI that would resolve it.</a:t>
            </a:r>
          </a:p>
          <a:p/>
          <a:p>
            <a:r>
              <a:t>Expected Response (A):</a:t>
            </a:r>
          </a:p>
          <a:p>
            <a:r>
              <a:t>Do not make destructive action the EMLCOA merely because root access makes it possible. Observed mission is collection.</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 Analysis: DRAW-D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"After SALUTE you move to DRAW-D: capabilities and limitations. For each action, answer three questions — can they do it, what limits them, and under what conditions will they do it? Withdraw is the one I want you to really sit with. If your adversary withdraws the instant they sense us, reconnoiter as a mission is gone."</a:t>
            </a:r>
          </a:p>
          <a:p/>
          <a:p>
            <a:r>
              <a:t>Show:</a:t>
            </a:r>
          </a:p>
          <a:p>
            <a:r>
              <a:t>The DRAW-D bullets; spend extra time on **Withdraw**.</a:t>
            </a:r>
          </a:p>
          <a:p/>
          <a:p>
            <a:r>
              <a:t>Do:</a:t>
            </a:r>
          </a:p>
          <a:p>
            <a:r>
              <a:t>Pose the scenario: "Your tasking is 'reconnoiter.' Your adversary's withdrawal condition is 'any anomaly in normal traffic.' What does that do to your scheme of maneuver?" Let the room answer.</a:t>
            </a:r>
          </a:p>
          <a:p/>
          <a:p>
            <a:r>
              <a:t>Image Prompt:</a:t>
            </a:r>
          </a:p>
          <a:p>
            <a:r>
              <a:t>No image required for this slide.</a:t>
            </a:r>
          </a:p>
          <a:p/>
          <a:p>
            <a:r>
              <a:t>Ask (Q):</a:t>
            </a:r>
          </a:p>
          <a:p>
            <a:r>
              <a:t>Your tasking is reconnoiter. The adversary withdraws on any traffic anomaly. What does that do to your scheme of maneuver?</a:t>
            </a:r>
          </a:p>
          <a:p/>
          <a:p>
            <a:r>
              <a:t>Expected Response (A):</a:t>
            </a:r>
          </a:p>
          <a:p>
            <a:r>
              <a:t>Steer toward DRAW-D withdraw conditions killing a reconnoiter mission if they flee on first anomaly.</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big part of this is learning to recognize the questions you cannot answer from a public report. Those questions become RFIs. Your intel shop needs you to be explicit about what you need — 'tell me more about the adversary' is not a request they can action."</a:t>
            </a:r>
          </a:p>
          <a:p/>
          <a:p>
            <a:r>
              <a:t>Show:</a:t>
            </a:r>
          </a:p>
          <a:p>
            <a:r>
              <a:t>The same reports from Slide 11.</a:t>
            </a:r>
          </a:p>
          <a:p/>
          <a:p>
            <a:r>
              <a:t>Do:</a:t>
            </a:r>
          </a:p>
          <a:p>
            <a:r>
              <a:t>Timebox: **15 minutes**. Capture RFIs on the whiteboard; return to them at the end of the day.</a:t>
            </a:r>
          </a:p>
          <a:p/>
          <a:p>
            <a:r>
              <a:t>Image Prompt:</a:t>
            </a:r>
          </a:p>
          <a:p>
            <a:r>
              <a:t>No image required for this slide.</a:t>
            </a:r>
          </a:p>
          <a:p/>
          <a:p>
            <a:r>
              <a:t>Ask (Q):</a:t>
            </a:r>
          </a:p>
          <a:p>
            <a:r>
              <a:t>Where did you have to guess on DRAW-D, and what RFI would make that guess actionable?</a:t>
            </a:r>
          </a:p>
          <a:p/>
          <a:p>
            <a:r>
              <a:t>Expected Response (A):</a:t>
            </a:r>
          </a:p>
          <a:p>
            <a:r>
              <a:t>Guesses become RFIs. 'Tell me more about the adversary' is not actionable. Nested drill: B01.M14.</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 Analysis: DRAW-D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Friendly Forces Analysis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"Troops and fire support is the friendly counterpart to SALUTE. It is the audit of what you have to work with. Do not over-report capability — a team with one exploitation analyst does not have 'an exploitation cell.'"</a:t>
            </a:r>
          </a:p>
          <a:p/>
          <a:p>
            <a:r>
              <a:t>Show:</a:t>
            </a:r>
          </a:p>
          <a:p>
            <a:r>
              <a:t>The four sub-bullets in order.</a:t>
            </a:r>
          </a:p>
          <a:p/>
          <a:p>
            <a:r>
              <a:t>Do:</a:t>
            </a:r>
          </a:p>
          <a:p>
            <a:r>
              <a:t>Ask the room: "If another cyber unit is also working this target, what breaks first if you do not deconflict?" Accept answers; the right one is "attribution and timeline."</a:t>
            </a:r>
          </a:p>
          <a:p/>
          <a:p>
            <a:r>
              <a:t>Image Prompt:</a:t>
            </a:r>
          </a:p>
          <a:p>
            <a:r>
              <a:t>No image required for this slide.</a:t>
            </a:r>
          </a:p>
          <a:p/>
          <a:p>
            <a:r>
              <a:t>Ask (Q):</a:t>
            </a:r>
          </a:p>
          <a:p>
            <a:r>
              <a:t>If another cyber unit is also working this target, what breaks first if you do not deconflict?</a:t>
            </a:r>
          </a:p>
          <a:p/>
          <a:p>
            <a:r>
              <a:t>Expected Response (A):</a:t>
            </a:r>
          </a:p>
          <a:p>
            <a:r>
              <a:t>Accept answers; the walkthrough names attribution and timeline.</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concrete roster prevents imaginary capabilities from entering the plan. Terrain is not a host inventory; it is what enables or constrains each side's mission."</a:t>
            </a:r>
          </a:p>
          <a:p/>
          <a:p>
            <a:r>
              <a:t>Show:</a:t>
            </a:r>
          </a:p>
          <a:p>
            <a:r>
              <a:t>Contrast friendly and enemy key terrain.</a:t>
            </a:r>
          </a:p>
          <a:p/>
          <a:p>
            <a:r>
              <a:t>Do:</a:t>
            </a:r>
          </a:p>
          <a:p>
            <a:r>
              <a:t>Ask teams to identify one resource shortfall and one terrain conclusion that would change the plan.</a:t>
            </a:r>
          </a:p>
          <a:p/>
          <a:p>
            <a:r>
              <a:t>Image Prompt:</a:t>
            </a:r>
          </a:p>
          <a:p>
            <a:r>
              <a:t>No image required for this slide.</a:t>
            </a:r>
          </a:p>
          <a:p/>
          <a:p>
            <a:r>
              <a:t>Ask (Q):</a:t>
            </a:r>
          </a:p>
          <a:p>
            <a:r>
              <a:t>Identify one resource shortfall and one terrain conclusion that would change the plan.</a:t>
            </a:r>
          </a:p>
          <a:p/>
          <a:p>
            <a:r>
              <a:t>Expected Response (A):</a:t>
            </a:r>
          </a:p>
          <a:p>
            <a:r>
              <a:t>A concrete roster prevents imaginary capabilities. Terrain is what enables or constrains each side's mission.</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Terrain Analysis: OCOKAW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"Key terrain is where people get lazy. Everyone throws out 'the domain controller.' Sometimes. But your key terrain is whatever enables the mission *the network was built to perform*, and your adversary's key terrain may be different from yours because they are there for a different reason."</a:t>
            </a:r>
          </a:p>
          <a:p/>
          <a:p>
            <a:r>
              <a:t>Show:</a:t>
            </a:r>
          </a:p>
          <a:p>
            <a:r>
              <a:t>Each bullet; spend longest on Key Terrain.</a:t>
            </a:r>
          </a:p>
          <a:p/>
          <a:p>
            <a:r>
              <a:t>Do:</a:t>
            </a:r>
          </a:p>
          <a:p>
            <a:r>
              <a:t>Ask: "Name a network you have worked and tell me one piece of key terrain that is **not** a domain controller." Collect three or four answers.</a:t>
            </a:r>
          </a:p>
          <a:p/>
          <a:p>
            <a:r>
              <a:t>Image Prompt:</a:t>
            </a:r>
          </a:p>
          <a:p>
            <a:r>
              <a:t>No image required for this slide.</a:t>
            </a:r>
          </a:p>
          <a:p/>
          <a:p>
            <a:r>
              <a:t>Ask (Q):</a:t>
            </a:r>
          </a:p>
          <a:p>
            <a:r>
              <a:t>Name a network you have worked and one piece of key terrain that is not a domain controller.</a:t>
            </a:r>
          </a:p>
          <a:p/>
          <a:p>
            <a:r>
              <a:t>Expected Response (A):</a:t>
            </a:r>
          </a:p>
          <a:p>
            <a:r>
              <a:t>Key terrain ties to the purpose of the network. Collect three or four answers.</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"Their key terrain is whatever enables *their* mission. Enumerate it across all three layers of cyberspace — physical, logical, persona. If you only think about key terrain at the logical layer you will miss half of it."</a:t>
            </a:r>
          </a:p>
          <a:p/>
          <a:p>
            <a:r>
              <a:t>Show:</a:t>
            </a:r>
          </a:p>
          <a:p>
            <a:r>
              <a:t>The three-layer diagram.</a:t>
            </a:r>
          </a:p>
          <a:p/>
          <a:p>
            <a:r>
              <a:t>Do:</a:t>
            </a:r>
          </a:p>
          <a:p>
            <a:r>
              <a:t>Ask the room to name one piece of enemy key terrain at each layer for the APT their team drew earlier.</a:t>
            </a:r>
          </a:p>
          <a:p/>
          <a:p>
            <a:r>
              <a:t>Image Prompt:</a:t>
            </a:r>
          </a:p>
          <a:p>
            <a:r>
              <a:t>No image required for this slide.</a:t>
            </a:r>
          </a:p>
          <a:p/>
          <a:p>
            <a:r>
              <a:t>Ask (Q):</a:t>
            </a:r>
          </a:p>
          <a:p>
            <a:r>
              <a:t>Name one piece of enemy key terrain at each layer — physical, logical, persona — for the APT your team drew.</a:t>
            </a:r>
          </a:p>
          <a:p/>
          <a:p>
            <a:r>
              <a:t>Expected Response (A):</a:t>
            </a:r>
          </a:p>
          <a:p>
            <a:r>
              <a:t>Steer toward all three layers. Logical-only answers miss half of it.</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"Yes, I am going to teach OCOKA-W in a cyber class. Some of it is going to bolt on cleanly, some with effort, and some will feel like a stretch. We are going to go through it honestly and mark the places where the analogy breaks."</a:t>
            </a:r>
          </a:p>
          <a:p/>
          <a:p>
            <a:r>
              <a:t>Show:</a:t>
            </a:r>
          </a:p>
          <a:p>
            <a:r>
              <a:t>The figure on the slide.</a:t>
            </a:r>
          </a:p>
          <a:p/>
          <a:p>
            <a:r>
              <a:t>Do:</a:t>
            </a:r>
          </a:p>
          <a:p>
            <a:r>
              <a:t>Preview: the next two slides are friendly OCOKA-W and enemy OCOKA-W, back to back.</a:t>
            </a:r>
          </a:p>
          <a:p/>
          <a:p>
            <a:r>
              <a:t>Image Prompt:</a:t>
            </a:r>
          </a:p>
          <a:p>
            <a:r>
              <a:t>No image required for this slide.</a:t>
            </a:r>
          </a:p>
          <a:p/>
          <a:p>
            <a:r>
              <a:t>Ask (Q):</a:t>
            </a:r>
          </a:p>
          <a:p>
            <a:r>
              <a:t>Why must OCOKA-W be done from both friendly and enemy perspectives?</a:t>
            </a:r>
          </a:p>
          <a:p/>
          <a:p>
            <a:r>
              <a:t>Expected Response (A):</a:t>
            </a:r>
          </a:p>
          <a:p>
            <a:r>
              <a:t>Each side's key terrain and avenues differ because their missions differ. The analogy will break in places — mark those honestly.</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"Yes, I am going to teach OCOKA-W in a cyber class. Some of it is going to bolt on cleanly, some with effort, and some will feel like a stretch. We are going to go through it honestly and mark the places where the analogy breaks."</a:t>
            </a:r>
          </a:p>
          <a:p/>
          <a:p>
            <a:r>
              <a:t>Show:</a:t>
            </a:r>
          </a:p>
          <a:p>
            <a:r>
              <a:t>The figure on the slide.</a:t>
            </a:r>
          </a:p>
          <a:p/>
          <a:p>
            <a:r>
              <a:t>Do:</a:t>
            </a:r>
          </a:p>
          <a:p>
            <a:r>
              <a:t>Preview: the next two slides are friendly OCOKA-W and enemy OCOKA-W, back to back.</a:t>
            </a:r>
          </a:p>
          <a:p/>
          <a:p>
            <a:r>
              <a:t>Image Prompt:</a:t>
            </a:r>
          </a:p>
          <a:p>
            <a:r>
              <a:t>No image required for this slide.</a:t>
            </a:r>
          </a:p>
          <a:p/>
          <a:p>
            <a:r>
              <a:t>Ask (Q):</a:t>
            </a:r>
          </a:p>
          <a:p>
            <a:r>
              <a:t>Why must OCOKA-W be done from both friendly and enemy perspectives?</a:t>
            </a:r>
          </a:p>
          <a:p/>
          <a:p>
            <a:r>
              <a:t>Expected Response (A):</a:t>
            </a:r>
          </a:p>
          <a:p>
            <a:r>
              <a:t>Each side's key terrain and avenues differ because their missions differ. The analogy will break in places — mark those honestly.</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now have the entire chain, not just vocabulary. The application tests whether your team can build the chain from unfamiliar evidence and leave an ATT&amp;CK-ready handoff."</a:t>
            </a:r>
          </a:p>
          <a:p/>
          <a:p>
            <a:r>
              <a:t>Show:</a:t>
            </a:r>
          </a:p>
          <a:p>
            <a:r>
              <a:t>Return to the objective slide and confirm each objective was taught or practiced.</a:t>
            </a:r>
          </a:p>
          <a:p/>
          <a:p>
            <a:r>
              <a:t>Do:</a:t>
            </a:r>
          </a:p>
          <a:p>
            <a:r>
              <a:t>Collect RFIs and begin the Varensk/Lunovia application.</a:t>
            </a:r>
          </a:p>
          <a:p/>
          <a:p>
            <a:r>
              <a:t>Image Prompt:</a:t>
            </a:r>
          </a:p>
          <a:p>
            <a:r>
              <a:t>No image required for this slide.</a:t>
            </a:r>
          </a:p>
          <a:p/>
          <a:p>
            <a:r>
              <a:t>Ask (Q):</a:t>
            </a:r>
          </a:p>
          <a:p>
            <a:r>
              <a:t>Can you explain the plan using task and purpose, keeping evidence, assumptions, and RFIs distinct?</a:t>
            </a:r>
          </a:p>
          <a:p/>
          <a:p>
            <a:r>
              <a:t>Expected Response (A):</a:t>
            </a:r>
          </a:p>
          <a:p>
            <a:r>
              <a:t>Confirm each objective was taught or practiced. Collect RFIs and begin the application.</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Time/Space/Logistics &amp; Civilian Considerations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"Time, space, and logistics are where a well-intended plan dies. Time is not just 'when do we execute' — it is the adversary's cadence and our dwell. If they are low-and-slow and our OCONUS window is two weeks, a patient adversary just waits us out. Space is harder than it looks in cyber — all three layers matter. And if the enemy holds more permissive access than you do, that asymmetry drives your maneuver. Logistics is where beautiful plans go to die: infrastructure, tooling, shift coverage, legal queues, and Intelligence Gain/Loss review."</a:t>
            </a:r>
          </a:p>
          <a:p/>
          <a:p>
            <a:r>
              <a:t>Show:</a:t>
            </a:r>
          </a:p>
          <a:p>
            <a:r>
              <a:t>The three expanded bullets; linger on the **persona** sub-bullet under Space — the permission-asymmetry case is where most plans break.</a:t>
            </a:r>
          </a:p>
          <a:p/>
          <a:p>
            <a:r>
              <a:t>Do:</a:t>
            </a:r>
          </a:p>
          <a:p>
            <a:r>
              <a:t>Ask: "In your home unit, what is the longest legal-review queue you have ever sat in?" Use the answer to set up the gap between adversary cycle time and friendly decision cycle time.</a:t>
            </a:r>
          </a:p>
          <a:p/>
          <a:p>
            <a:r>
              <a:t>Image Prompt:</a:t>
            </a:r>
          </a:p>
          <a:p>
            <a:r>
              <a:t>No image required for this slide.</a:t>
            </a:r>
          </a:p>
          <a:p/>
          <a:p>
            <a:r>
              <a:t>Ask (Q):</a:t>
            </a:r>
          </a:p>
          <a:p>
            <a:r>
              <a:t>In your home unit, what is the longest legal-review queue you have ever sat in?</a:t>
            </a:r>
          </a:p>
          <a:p/>
          <a:p>
            <a:r>
              <a:t>Expected Response (A):</a:t>
            </a:r>
          </a:p>
          <a:p>
            <a:r>
              <a:t>Facilitation only. Use it to set up the gap between adversary cycle time and friendly decision cycle time.</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 are not going to hammer ASCOPE and PMESII here. Just know they exist. If your response action touches civilian infrastructure — and in DCO-RA it often does — you owe your commander a civil-considerations read before you execute."</a:t>
            </a:r>
          </a:p>
          <a:p/>
          <a:p>
            <a:r>
              <a:t>Show:</a:t>
            </a:r>
          </a:p>
          <a:p>
            <a:r>
              <a:t>ASCOPE and PMESII on screen. Scroll through the first page only.</a:t>
            </a:r>
          </a:p>
          <a:p/>
          <a:p>
            <a:r>
              <a:t>Do:</a:t>
            </a:r>
          </a:p>
          <a:p>
            <a:r>
              <a:t>Tell the class this is an area where they will have to lean on their intel shops and legal review.</a:t>
            </a:r>
          </a:p>
          <a:p/>
          <a:p>
            <a:r>
              <a:t>Image Prompt:</a:t>
            </a:r>
          </a:p>
          <a:p>
            <a:r>
              <a:t>No image required for this slide.</a:t>
            </a:r>
          </a:p>
          <a:p/>
          <a:p>
            <a:r>
              <a:t>Ask (Q):</a:t>
            </a:r>
          </a:p>
          <a:p>
            <a:r>
              <a:t>When must civil considerations be surfaced to higher in DCO-RA?</a:t>
            </a:r>
          </a:p>
          <a:p/>
          <a:p>
            <a:r>
              <a:t>Expected Response (A):</a:t>
            </a:r>
          </a:p>
          <a:p>
            <a:r>
              <a:t>When response action touches civilian infrastructure. This course does not drill ASCOPE/PMESII; lean on intel and legal.</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Enemy’s Most Likely Course of Action (EMLCOA)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"EMLCOA is not a guess. It is the output of your METT-TC. You have done SALUTE, DRAW-D, and terrain — now you assemble an assumption of the enemy's plan. Think of it as their task, their purpose, and their method of imposing their will. That assumption is what your commander has to counter — and your scheme of maneuver has to counter it in two states: what they are doing right now, and what they will do the moment they realize we are here."</a:t>
            </a:r>
          </a:p>
          <a:p/>
          <a:p>
            <a:r>
              <a:t>Show:</a:t>
            </a:r>
          </a:p>
          <a:p>
            <a:r>
              <a:t>The three driving questions plus the definition.</a:t>
            </a:r>
          </a:p>
          <a:p/>
          <a:p>
            <a:r>
              <a:t>Do:</a:t>
            </a:r>
          </a:p>
          <a:p>
            <a:r>
              <a:t>Reminder: "Actions on contact is where DRAW-D pays off. If you skipped DRAW-D, you cannot answer question three. And remember — 'contact' does not mean a gunfight. It means any input from us that changes the enemy's state — a blocked account, a rotated credential, a sudden change in traffic. If they notice, that is contact."</a:t>
            </a:r>
          </a:p>
          <a:p/>
          <a:p>
            <a:r>
              <a:t>Image Prompt:</a:t>
            </a:r>
          </a:p>
          <a:p>
            <a:r>
              <a:t>No image required for this slide.</a:t>
            </a:r>
          </a:p>
          <a:p/>
          <a:p>
            <a:r>
              <a:t>Ask (Q):</a:t>
            </a:r>
          </a:p>
          <a:p>
            <a:r>
              <a:t>What three questions drive EMLCOA, and what counts as contact in cyberspace?</a:t>
            </a:r>
          </a:p>
          <a:p/>
          <a:p>
            <a:r>
              <a:t>Expected Response (A):</a:t>
            </a:r>
          </a:p>
          <a:p>
            <a:r>
              <a:t>Enemy mission; current tactical activity; actions on contact. Contact is any input that alters their state, not only kinetic.</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EMLCOA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EMLCOA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Center of Gravity Analysis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"Center of gravity is the thing that, if it goes away, their mission falls apart. In cyber it is rarely one thing. Usually it is a pair — stealth plus admin creds, or a specific piece of tooling plus an unpatched access route."</a:t>
            </a:r>
          </a:p>
          <a:p/>
          <a:p>
            <a:r>
              <a:t>Show:</a:t>
            </a:r>
          </a:p>
          <a:p>
            <a:r>
              <a:t>The definition; read it verbatim.</a:t>
            </a:r>
          </a:p>
          <a:p/>
          <a:p>
            <a:r>
              <a:t>Do:</a:t>
            </a:r>
          </a:p>
          <a:p>
            <a:r>
              <a:t>Ask the room: "For the APT your team analyzed — take thirty seconds and write down a candidate center of gravity." Collect two answers.</a:t>
            </a:r>
          </a:p>
          <a:p/>
          <a:p>
            <a:r>
              <a:t>Image Prompt:</a:t>
            </a:r>
          </a:p>
          <a:p>
            <a:r>
              <a:t>No image required for this slide.</a:t>
            </a:r>
          </a:p>
          <a:p/>
          <a:p>
            <a:r>
              <a:t>Ask (Q):</a:t>
            </a:r>
          </a:p>
          <a:p>
            <a:r>
              <a:t>For the APT your team analyzed, write a candidate center of gravity in thirty seconds.</a:t>
            </a:r>
          </a:p>
          <a:p/>
          <a:p>
            <a:r>
              <a:t>Expected Response (A):</a:t>
            </a:r>
          </a:p>
          <a:p>
            <a:r>
              <a:t>Name it specifically. 'Their operators' is not a CG. Cyber CG is often a combination.</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jump from a vague center of gravity directly to a favorite tool. Critical capabilities explain what the COG must do. Critical requirements explain what it needs. The critical vulnerability is the requirement you can actually exploit."</a:t>
            </a:r>
          </a:p>
          <a:p/>
          <a:p>
            <a:r>
              <a:t>Show:</a:t>
            </a:r>
          </a:p>
          <a:p>
            <a:r>
              <a:t>Work one FSB example: rapid collection requires repeatable execution, document access, and resilient outbound paths; script-heavy execution and observable persistence can become exploitable requirements.</a:t>
            </a:r>
          </a:p>
          <a:p/>
          <a:p>
            <a:r>
              <a:t>Do:</a:t>
            </a:r>
          </a:p>
          <a:p>
            <a:r>
              <a:t>Ask teams to add one critical capability and one critical requirement beneath their candidate COG before naming a CV.</a:t>
            </a:r>
          </a:p>
          <a:p/>
          <a:p>
            <a:r>
              <a:t>Image Prompt:</a:t>
            </a:r>
          </a:p>
          <a:p>
            <a:r>
              <a:t>No image required for this slide.</a:t>
            </a:r>
          </a:p>
          <a:p/>
          <a:p>
            <a:r>
              <a:t>Ask (Q):</a:t>
            </a:r>
          </a:p>
          <a:p>
            <a:r>
              <a:t>Add one critical capability and one critical requirement beneath your candidate COG before naming a CV.</a:t>
            </a:r>
          </a:p>
          <a:p/>
          <a:p>
            <a:r>
              <a:t>Expected Response (A):</a:t>
            </a:r>
          </a:p>
          <a:p>
            <a:r>
              <a:t>Do not jump from a vague COG to a favorite tool. Trace mission → COG → capability → requirement → vulnerability.</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jump from a vague center of gravity directly to a favorite tool. Critical capabilities explain what the COG must do. Critical requirements explain what it needs. The critical vulnerability is the requirement you can actually exploit."</a:t>
            </a:r>
          </a:p>
          <a:p/>
          <a:p>
            <a:r>
              <a:t>Show:</a:t>
            </a:r>
          </a:p>
          <a:p>
            <a:r>
              <a:t>Work one FSB example: rapid collection requires repeatable execution, document access, and resilient outbound paths; script-heavy execution and observable persistence can become exploitable requirements.</a:t>
            </a:r>
          </a:p>
          <a:p/>
          <a:p>
            <a:r>
              <a:t>Do:</a:t>
            </a:r>
          </a:p>
          <a:p>
            <a:r>
              <a:t>Ask teams to add one critical capability and one critical requirement beneath their candidate COG before naming a CV.</a:t>
            </a:r>
          </a:p>
          <a:p/>
          <a:p>
            <a:r>
              <a:t>Image Prompt:</a:t>
            </a:r>
          </a:p>
          <a:p>
            <a:r>
              <a:t>No image required for this slide.</a:t>
            </a:r>
          </a:p>
          <a:p/>
          <a:p>
            <a:r>
              <a:t>Ask (Q):</a:t>
            </a:r>
          </a:p>
          <a:p>
            <a:r>
              <a:t>Add one critical capability and one critical requirement beneath your candidate COG before naming a CV.</a:t>
            </a:r>
          </a:p>
          <a:p/>
          <a:p>
            <a:r>
              <a:t>Expected Response (A):</a:t>
            </a:r>
          </a:p>
          <a:p>
            <a:r>
              <a:t>Do not jump from a vague COG to a favorite tool. Trace mission → COG → capability → requirement → vulnerability.</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"Critical vulnerability is the thing you can actually do something about. If your CG was 'stealth plus admin creds,' your CV might be the specific credential set they rely on. Knocking that set out — rotating the passwords, disabling the account — collapses the center of gravity."</a:t>
            </a:r>
          </a:p>
          <a:p/>
          <a:p>
            <a:r>
              <a:t>Show:</a:t>
            </a:r>
          </a:p>
          <a:p>
            <a:r>
              <a:t>The definition.</a:t>
            </a:r>
          </a:p>
          <a:p/>
          <a:p>
            <a:r>
              <a:t>Do:</a:t>
            </a:r>
          </a:p>
          <a:p>
            <a:r>
              <a:t>Back to the same teams: "Take the CG you wrote down. Now write a CV that attacks it." Timebox: **5 minutes**.</a:t>
            </a:r>
          </a:p>
          <a:p/>
          <a:p>
            <a:r>
              <a:t>Image Prompt:</a:t>
            </a:r>
          </a:p>
          <a:p>
            <a:r>
              <a:t>No image required for this slide.</a:t>
            </a:r>
          </a:p>
          <a:p/>
          <a:p>
            <a:r>
              <a:t>Ask (Q):</a:t>
            </a:r>
          </a:p>
          <a:p>
            <a:r>
              <a:t>Take the CG you wrote down. Write a CV that attacks it.</a:t>
            </a:r>
          </a:p>
          <a:p/>
          <a:p>
            <a:r>
              <a:t>Expected Response (A):</a:t>
            </a:r>
          </a:p>
          <a:p>
            <a:r>
              <a:t>If they cannot name a CV, the CG is probably too abstract. Nested drill: B01.M16.</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The Exploitation Plan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exploitation plan is where planning becomes doing. You name the method you will use to target the CV. In blue-space, our starting vocabulary is MITRE D3FEND **and** MITRE ENGAGE. D3FEND maps directly from ATT&amp;CK to defensive techniques. ENGAGE adds the active, adversary-engagement options — deception, elicitation, shaping the adversary. Fluency in that mapping is what the rest of this planning chain depends on."</a:t>
            </a:r>
          </a:p>
          <a:p/>
          <a:p>
            <a:r>
              <a:t>Show:</a:t>
            </a:r>
          </a:p>
          <a:p>
            <a:r>
              <a:t>The three-lane ATT&amp;CK → D3FEND + ENGAGE mapping graphic.</a:t>
            </a:r>
          </a:p>
          <a:p/>
          <a:p>
            <a:r>
              <a:t>Do:</a:t>
            </a:r>
          </a:p>
          <a:p>
            <a:r>
              <a:t>Name the bridge: evidence maps in ATT&amp;CK Navigator, options develop in D3FEND/ENGAGE, and CAD graphs the result.</a:t>
            </a:r>
          </a:p>
          <a:p/>
          <a:p>
            <a:r>
              <a:t>Image Prompt:</a:t>
            </a:r>
          </a:p>
          <a:p>
            <a:r>
              <a:t>No image required for this slide.</a:t>
            </a:r>
          </a:p>
          <a:p/>
          <a:p>
            <a:r>
              <a:t>Ask (Q):</a:t>
            </a:r>
          </a:p>
          <a:p>
            <a:r>
              <a:t>Where does the exploitation plan hand off?</a:t>
            </a:r>
          </a:p>
          <a:p/>
          <a:p>
            <a:r>
              <a:t>Expected Response (A):</a:t>
            </a:r>
          </a:p>
          <a:p>
            <a:r>
              <a:t>ATT&amp;CK/Navigator, D3FEND/ENGAGE, and D3FEND CAD. Starting vocabulary is D3FEND and ENGAGE.</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"Another team may argue that persistent access is the COG. That is valid if its evidence chain is stronger. Use competing COGs to teach that the analysis must be explicit, not that one phrase is the answer."</a:t>
            </a:r>
          </a:p>
          <a:p/>
          <a:p>
            <a:r>
              <a:t>Show:</a:t>
            </a:r>
          </a:p>
          <a:p>
            <a:r>
              <a:t>Compare the speed-of-collection and persistent-access interpretations.</a:t>
            </a:r>
          </a:p>
          <a:p/>
          <a:p>
            <a:r>
              <a:t>Do:</a:t>
            </a:r>
          </a:p>
          <a:p>
            <a:r>
              <a:t>Ask each team to defend one interpretation using mission, capability, requirement, and vulnerability.</a:t>
            </a:r>
          </a:p>
          <a:p/>
          <a:p>
            <a:r>
              <a:t>Image Prompt:</a:t>
            </a:r>
          </a:p>
          <a:p>
            <a:r>
              <a:t>No image required for this slide.</a:t>
            </a:r>
          </a:p>
          <a:p/>
          <a:p>
            <a:r>
              <a:t>Ask (Q):</a:t>
            </a:r>
          </a:p>
          <a:p>
            <a:r>
              <a:t>Defend one COG interpretation using mission, capability, requirement, and vulnerability.</a:t>
            </a:r>
          </a:p>
          <a:p/>
          <a:p>
            <a:r>
              <a:t>Expected Response (A):</a:t>
            </a:r>
          </a:p>
          <a:p>
            <a:r>
              <a:t>Competing COGs (speed of collection vs persistent access) are valid if the evidence chain is explicit.</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"Another team may argue that persistent access is the COG. That is valid if its evidence chain is stronger. Use competing COGs to teach that the analysis must be explicit, not that one phrase is the answer."</a:t>
            </a:r>
          </a:p>
          <a:p/>
          <a:p>
            <a:r>
              <a:t>Show:</a:t>
            </a:r>
          </a:p>
          <a:p>
            <a:r>
              <a:t>Compare the speed-of-collection and persistent-access interpretations.</a:t>
            </a:r>
          </a:p>
          <a:p/>
          <a:p>
            <a:r>
              <a:t>Do:</a:t>
            </a:r>
          </a:p>
          <a:p>
            <a:r>
              <a:t>Ask each team to defend one interpretation using mission, capability, requirement, and vulnerability.</a:t>
            </a:r>
          </a:p>
          <a:p/>
          <a:p>
            <a:r>
              <a:t>Image Prompt:</a:t>
            </a:r>
          </a:p>
          <a:p>
            <a:r>
              <a:t>No image required for this slide.</a:t>
            </a:r>
          </a:p>
          <a:p/>
          <a:p>
            <a:r>
              <a:t>Ask (Q):</a:t>
            </a:r>
          </a:p>
          <a:p>
            <a:r>
              <a:t>Defend one COG interpretation using mission, capability, requirement, and vulnerability.</a:t>
            </a:r>
          </a:p>
          <a:p/>
          <a:p>
            <a:r>
              <a:t>Expected Response (A):</a:t>
            </a:r>
          </a:p>
          <a:p>
            <a:r>
              <a:t>Competing COGs (speed of collection vs persistent access) are valid if the evidence chain is explicit.</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Scheme of Maneuver, Fire Support Plan, and Tasks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scheme of maneuver phases the exploitation plan. It tells the team when and how it occupies logical, physical, and persona terrain."</a:t>
            </a:r>
          </a:p>
          <a:p/>
          <a:p>
            <a:r>
              <a:t>Show:</a:t>
            </a:r>
          </a:p>
          <a:p>
            <a:r>
              <a:t>Trace how each phase targets the selected critical vulnerability.</a:t>
            </a:r>
          </a:p>
          <a:p/>
          <a:p>
            <a:r>
              <a:t>Do:</a:t>
            </a:r>
          </a:p>
          <a:p>
            <a:r>
              <a:t>Ask where the plan must branch if the adversary reinforces instead of maintaining its current behavior.</a:t>
            </a:r>
          </a:p>
          <a:p/>
          <a:p>
            <a:r>
              <a:t>Image Prompt:</a:t>
            </a:r>
          </a:p>
          <a:p>
            <a:r>
              <a:t>No image required for this slide.</a:t>
            </a:r>
          </a:p>
          <a:p/>
          <a:p>
            <a:r>
              <a:t>Ask (Q):</a:t>
            </a:r>
          </a:p>
          <a:p>
            <a:r>
              <a:t>Where must the scheme of maneuver branch if the adversary reinforces instead of maintaining current behavior?</a:t>
            </a:r>
          </a:p>
          <a:p/>
          <a:p>
            <a:r>
              <a:t>Expected Response (A):</a:t>
            </a:r>
          </a:p>
          <a:p>
            <a:r>
              <a:t>Each phase must counter current activity and anticipated actions on contact.</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Scheme of Maneuver: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"Cyber fire support is not a list of organizations you might call. It is a trigger-based integration plan tied directly to the scheme of maneuver."</a:t>
            </a:r>
          </a:p>
          <a:p/>
          <a:p>
            <a:r>
              <a:t>Show:</a:t>
            </a:r>
          </a:p>
          <a:p>
            <a:r>
              <a:t>One worked row from the student deck, then have teams draft their own. Confirmed beaconing from an isolated host: organic block of outbound traffic and a support request; rear echelon recon and exploit of the C2 node; desired effects degrade, disrupt, and exploit. A novel payload URL: block the download and send the URL; rear echelon enumerates the toolkit and neutralizes the server; desired effects deny and intelligence gain. Traffic through a known relay: null-route and submit the request; partner or authorized action against the relay; desired effect disrupt.</a:t>
            </a:r>
          </a:p>
          <a:p/>
          <a:p>
            <a:r>
              <a:t>Do:</a:t>
            </a:r>
          </a:p>
          <a:p>
            <a:r>
              <a:t>Teams draft one support row and explain how it advances the mission without breaking collection.</a:t>
            </a:r>
          </a:p>
          <a:p/>
          <a:p>
            <a:r>
              <a:t>Image Prompt:</a:t>
            </a:r>
          </a:p>
          <a:p>
            <a:r>
              <a:t>No image required for this slide.</a:t>
            </a:r>
          </a:p>
          <a:p/>
          <a:p>
            <a:r>
              <a:t>Ask (Q):</a:t>
            </a:r>
          </a:p>
          <a:p>
            <a:r>
              <a:t>Draft one fire-support row: trigger, organic action, supporting action, desired effect. How does it advance the mission without breaking collection?</a:t>
            </a:r>
          </a:p>
          <a:p/>
          <a:p>
            <a:r>
              <a:t>Expected Response (A):</a:t>
            </a:r>
          </a:p>
          <a:p>
            <a:r>
              <a:t>FSP is trigger-based integration, not a list of organizations you might call.</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 room of specialists becomes a team only when responsibilities, triggers, and purpose are explicit."</a:t>
            </a:r>
          </a:p>
          <a:p/>
          <a:p>
            <a:r>
              <a:t>Show:</a:t>
            </a:r>
          </a:p>
          <a:p>
            <a:r>
              <a:t>Map these deck roles across the phases. Mission commander authorizes quarantine and support requests and manages risk. Threat intel provides TTPs, analyzes extracted tools, and updates the EMLCOA. Network analyst builds the monitoring view, triggers alerts, and blocks C2 addresses locally. Host analyst deploys endpoint sensors, quarantines the host, and runs live triage.</a:t>
            </a:r>
          </a:p>
          <a:p/>
          <a:p>
            <a:r>
              <a:t>Do:</a:t>
            </a:r>
          </a:p>
          <a:p>
            <a:r>
              <a:t>Ask teams to identify who owns detection validation, quarantine, indicator dissemination, and support requests.</a:t>
            </a:r>
          </a:p>
          <a:p/>
          <a:p>
            <a:r>
              <a:t>Image Prompt:</a:t>
            </a:r>
          </a:p>
          <a:p>
            <a:r>
              <a:t>No image required for this slide.</a:t>
            </a:r>
          </a:p>
          <a:p/>
          <a:p>
            <a:r>
              <a:t>Ask (Q):</a:t>
            </a:r>
          </a:p>
          <a:p>
            <a:r>
              <a:t>Who owns detection validation, quarantine, indicator dissemination, and support requests?</a:t>
            </a:r>
          </a:p>
          <a:p/>
          <a:p>
            <a:r>
              <a:t>Expected Response (A):</a:t>
            </a:r>
          </a:p>
          <a:p>
            <a:r>
              <a:t>Each role needs task and purpose, phase, trigger, expected evidence, and supervision. Avoid overlapping ownership.</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Lesson Summary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Lesson Summary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p>
            <a:r>
              <a:t>Expected Response (A):</a:t>
            </a:r>
          </a:p>
          <a:p>
            <a:r>
              <a:t>A restatement of the on-slide point. Do not require a scored answer.</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Walk Lesson Summary in the order it is written.</a:t>
            </a:r>
          </a:p>
          <a:p/>
          <a:p>
            <a:r>
              <a:t>Show:</a:t>
            </a:r>
          </a:p>
          <a:p>
            <a:r>
              <a:t>The points on the slide.</a:t>
            </a:r>
          </a:p>
          <a:p/>
          <a:p>
            <a:r>
              <a:t>Do:</a:t>
            </a:r>
          </a:p>
          <a:p>
            <a:r>
              <a:t>Ask one student to restate the point in their own words.</a:t>
            </a:r>
          </a:p>
          <a:p/>
          <a:p>
            <a:r>
              <a:t>Image Prompt:</a:t>
            </a:r>
          </a:p>
          <a:p>
            <a:r>
              <a:t>No image required for this slide.</a:t>
            </a:r>
          </a:p>
          <a:p/>
          <a:p>
            <a:r>
              <a:t>Ask (Q):</a:t>
            </a:r>
          </a:p>
          <a:p>
            <a:r>
              <a:t>What is the operational point of this slide?</a:t>
            </a:r>
          </a:p>
          <a:p>
            <a:r>
              <a:t>What is the tactical planning pipeline we will reuse for the rest of this Block?</a:t>
            </a:r>
          </a:p>
          <a:p>
            <a:r>
              <a:t>How do SALUTE and DRAW-D differ, and what do gaps become?</a:t>
            </a:r>
          </a:p>
          <a:p>
            <a:r>
              <a:t>What is a center of gravity versus a critical vulnerability?</a:t>
            </a:r>
          </a:p>
          <a:p/>
          <a:p>
            <a:r>
              <a:t>Expected Response (A):</a:t>
            </a:r>
          </a:p>
          <a:p>
            <a:r>
              <a:t>A restatement of the on-slide point. Do not require a scored answer.</a:t>
            </a:r>
          </a:p>
          <a:p>
            <a:r>
              <a:t>## Lesson summary</a:t>
            </a:r>
          </a:p>
          <a:p>
            <a:r>
              <a:t>Tactical planning applies the same small-unit rigor to cyberspace: doctrine first, then cyber translation.</a:t>
            </a:r>
          </a:p>
          <a:p>
            <a:r>
              <a:t>BAMCIS is the teaching spine; the tactical planning process (METT-TC → EMLCOA → COG / CV / exploitation plan → SOM → FSP → tasks) lives in Begin and Complete.</a:t>
            </a:r>
          </a:p>
          <a:p>
            <a:r>
              <a:t>Nested drills practice orientations, task translation, SALUTE, DRAW-D, OCOKA-W, and the COG chain (`B01.M10`–`B01.M17`). Apply the same chain to Varensk/Lunovia and leave an ATT&amp;CK-ready handoff.</a:t>
            </a:r>
          </a:p>
          <a:p>
            <a:r>
              <a:t>Keep evidence, assumptions, and RFIs distinct. Explain the plan with task and purpose.</a:t>
            </a:r>
          </a:p>
          <a:p>
            <a:r>
              <a:t>## Questions and check on learning</a:t>
            </a:r>
          </a:p>
          <a:p>
            <a:r>
              <a:t>METT-TC → EMLCOA → COG / CV / exploitation plan → scheme of maneuver → fire support plan → tasks.</a:t>
            </a:r>
          </a:p>
          <a:p>
            <a:r>
              <a:t>SALUTE is composition, disposition, and strength. DRAW-D is capabilities, limitations, and conditions — especially withdraw. Gaps become RFIs.</a:t>
            </a:r>
          </a:p>
          <a:p>
            <a:r>
              <a:t>CG is what lets the enemy execute the mission; CV is the exploitable lever on that CG. If you cannot name a CV, the CG is too abstract.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youtube.com/watch?v=y0C5ShzJnh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1.gif"/><Relationship Id="rId4" Type="http://schemas.openxmlformats.org/officeDocument/2006/relationships/image" Target="../media/image1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Military Tactical Planning</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400"/>
              <a:t>https://www.youtube.com/watch?v=y0C5ShzJnhQ</a:t>
            </a:r>
          </a:p>
          <a:p>
            <a:r>
              <a:rPr u="sng" sz="2000">
                <a:solidFill>
                  <a:srgbClr val="0563C1"/>
                </a:solidFill>
                <a:hlinkClick r:id="rId3"/>
              </a:rPr>
              <a:t>https://www.youtube.com/watch?v=y0C5ShzJnhQ</a:t>
            </a:r>
          </a:p>
        </p:txBody>
      </p:sp>
      <p:sp>
        <p:nvSpPr>
          <p:cNvPr id="3" name="Title 2"/>
          <p:cNvSpPr>
            <a:spLocks noGrp="1"/>
          </p:cNvSpPr>
          <p:nvPr>
            <p:ph type="title"/>
          </p:nvPr>
        </p:nvSpPr>
        <p:spPr/>
        <p:txBody>
          <a:bodyPr wrap="square">
            <a:normAutofit/>
          </a:bodyPr>
          <a:lstStyle/>
          <a:p>
            <a:pPr/>
            <a:r>
              <a:rPr sz="2700"/>
              <a:t>Intro Video</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300"/>
              <a:t>By the end of this lesson you will be able to:</a:t>
            </a:r>
          </a:p>
          <a:p>
            <a:pPr>
              <a:buNone/>
            </a:pPr>
            <a:r>
              <a:rPr sz="2300"/>
              <a:t>Understand the process of conducting Tactical Planning, recall and apply each component/process given a scenario.</a:t>
            </a:r>
          </a:p>
          <a:p>
            <a:pPr/>
            <a:r>
              <a:rPr sz="2300"/>
              <a:t>Map Tactical Tasks to cyberspace operations</a:t>
            </a:r>
          </a:p>
          <a:p>
            <a:pPr/>
            <a:r>
              <a:rPr sz="2300"/>
              <a:t>Define METT-TC</a:t>
            </a:r>
          </a:p>
          <a:p>
            <a:pPr/>
            <a:r>
              <a:rPr sz="2300"/>
              <a:t>Create a SALUTE report on an enemy</a:t>
            </a:r>
          </a:p>
          <a:p>
            <a:pPr/>
            <a:r>
              <a:rPr sz="2300"/>
              <a:t>Conduct DRAW-D analysis, implement each step during planning.</a:t>
            </a:r>
          </a:p>
          <a:p>
            <a:pPr/>
            <a:r>
              <a:rPr sz="2300"/>
              <a:t>Conduct friendly and enemy Terrain Analysis applying the components of OCOKAW.</a:t>
            </a:r>
          </a:p>
        </p:txBody>
      </p:sp>
      <p:sp>
        <p:nvSpPr>
          <p:cNvPr id="3" name="Title 2"/>
          <p:cNvSpPr>
            <a:spLocks noGrp="1"/>
          </p:cNvSpPr>
          <p:nvPr>
            <p:ph type="title"/>
          </p:nvPr>
        </p:nvSpPr>
        <p:spPr/>
        <p:txBody>
          <a:bodyPr wrap="square">
            <a:normAutofit/>
          </a:bodyPr>
          <a:lstStyle/>
          <a:p>
            <a:pPr/>
            <a:r>
              <a:rPr sz="2700"/>
              <a:t>Lesson Objectives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400"/>
              <a:t>By the end of this lesson you will be able to:</a:t>
            </a:r>
          </a:p>
          <a:p>
            <a:pPr/>
            <a:r>
              <a:rPr sz="2400"/>
              <a:t>Identify an adversary Center of Gravity and Critical Vulnerabilities.</a:t>
            </a:r>
          </a:p>
          <a:p>
            <a:pPr/>
            <a:r>
              <a:rPr sz="2400"/>
              <a:t>Determine an adversary’s mission.</a:t>
            </a:r>
          </a:p>
          <a:p>
            <a:pPr/>
            <a:r>
              <a:rPr sz="2400"/>
              <a:t>Determine the Enemy’s Most Likely Course of Action.</a:t>
            </a:r>
          </a:p>
          <a:p>
            <a:pPr/>
            <a:r>
              <a:rPr sz="2400"/>
              <a:t>Recall the components of an effective Exploitation Plan.</a:t>
            </a:r>
          </a:p>
          <a:p>
            <a:pPr/>
            <a:r>
              <a:rPr sz="2400"/>
              <a:t>Develop a Scheme of Maneuver, Fire Support Plan, and Tasks</a:t>
            </a:r>
          </a:p>
        </p:txBody>
      </p:sp>
      <p:sp>
        <p:nvSpPr>
          <p:cNvPr id="3" name="Title 2"/>
          <p:cNvSpPr>
            <a:spLocks noGrp="1"/>
          </p:cNvSpPr>
          <p:nvPr>
            <p:ph type="title"/>
          </p:nvPr>
        </p:nvSpPr>
        <p:spPr/>
        <p:txBody>
          <a:bodyPr wrap="square">
            <a:normAutofit/>
          </a:bodyPr>
          <a:lstStyle/>
          <a:p>
            <a:pPr/>
            <a:r>
              <a:rPr sz="2700"/>
              <a:t>Lesson Objectives Continued</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23854" y="549275"/>
            <a:ext cx="9963493" cy="727271"/>
          </a:xfrm>
        </p:spPr>
        <p:txBody>
          <a:bodyPr wrap="square" anchor="t">
            <a:normAutofit/>
          </a:bodyPr>
          <a:lstStyle/>
          <a:p>
            <a:pPr/>
            <a:r>
              <a:rPr sz="3200"/>
              <a:t>Introduction to Military Tactical Planning</a:t>
            </a:r>
          </a:p>
        </p:txBody>
      </p:sp>
      <p:pic>
        <p:nvPicPr>
          <p:cNvPr id="3" name="Picture 2" descr="M09-s05-0-4ef4ae3b4c0a.png"/>
          <p:cNvPicPr>
            <a:picLocks noChangeAspect="1"/>
          </p:cNvPicPr>
          <p:nvPr/>
        </p:nvPicPr>
        <p:blipFill>
          <a:blip r:embed="rId3"/>
          <a:stretch>
            <a:fillRect/>
          </a:stretch>
        </p:blipFill>
        <p:spPr>
          <a:xfrm>
            <a:off x="2316480" y="1331410"/>
            <a:ext cx="8790432" cy="4798683"/>
          </a:xfrm>
          <a:prstGeom prst="rect">
            <a:avLst/>
          </a:prstGeom>
        </p:spPr>
      </p:pic>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100"/>
              <a:t>Tactical planning is typically not associated with cyber or information operations and rather is normally reserved for those conducting tactical ground operations.</a:t>
            </a:r>
          </a:p>
          <a:p>
            <a:pPr/>
            <a:r>
              <a:rPr sz="2100"/>
              <a:t>Considering this fact, it may seem unusual in a training centered around cyberspace to dive into topics like convoys and tactical ground operations.</a:t>
            </a:r>
          </a:p>
          <a:p>
            <a:pPr/>
            <a:r>
              <a:rPr sz="2100"/>
              <a:t>Remember that as uniformed service members, the better you can contextualize your actions within military planning fundamentals, the better you can communicate and transition between warfighting domains.</a:t>
            </a:r>
          </a:p>
          <a:p>
            <a:pPr>
              <a:buNone/>
            </a:pPr>
            <a:r>
              <a:rPr sz="2100"/>
              <a:t>“War is nothing but a duel on a larger scale…imagining a pair of wrestlers. Each tries through physical force to compel the other to do his will.” – Carl Von Clausewitz</a:t>
            </a:r>
          </a:p>
        </p:txBody>
      </p:sp>
      <p:sp>
        <p:nvSpPr>
          <p:cNvPr id="3" name="Title 2"/>
          <p:cNvSpPr>
            <a:spLocks noGrp="1"/>
          </p:cNvSpPr>
          <p:nvPr>
            <p:ph type="title"/>
          </p:nvPr>
        </p:nvSpPr>
        <p:spPr/>
        <p:txBody>
          <a:bodyPr wrap="square">
            <a:normAutofit/>
          </a:bodyPr>
          <a:lstStyle/>
          <a:p>
            <a:pPr/>
            <a:r>
              <a:rPr sz="2700"/>
              <a:t>Introduction to Military Tactical Planning</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Mindset to adopt throughout this training:</a:t>
            </a:r>
          </a:p>
          <a:p>
            <a:pPr lvl="1"/>
            <a:r>
              <a:rPr sz="2400"/>
              <a:t>You are conducting operations against the enemy</a:t>
            </a:r>
          </a:p>
          <a:p>
            <a:pPr lvl="1"/>
            <a:r>
              <a:rPr sz="2400"/>
              <a:t>You are defending your terrain</a:t>
            </a:r>
          </a:p>
          <a:p>
            <a:pPr lvl="1"/>
            <a:r>
              <a:rPr sz="2400"/>
              <a:t>Enemies are attacking your terrain</a:t>
            </a:r>
          </a:p>
          <a:p>
            <a:pPr lvl="1"/>
            <a:r>
              <a:rPr sz="2400"/>
              <a:t>You are responding by striking back against their terrain</a:t>
            </a:r>
          </a:p>
        </p:txBody>
      </p:sp>
      <p:sp>
        <p:nvSpPr>
          <p:cNvPr id="3" name="Title 2"/>
          <p:cNvSpPr>
            <a:spLocks noGrp="1"/>
          </p:cNvSpPr>
          <p:nvPr>
            <p:ph type="title"/>
          </p:nvPr>
        </p:nvSpPr>
        <p:spPr/>
        <p:txBody>
          <a:bodyPr wrap="square">
            <a:normAutofit/>
          </a:bodyPr>
          <a:lstStyle/>
          <a:p>
            <a:pPr/>
            <a:r>
              <a:rPr sz="2700"/>
              <a:t>Introduction to Military Tactical Planning</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Shifting the Mindset</a:t>
            </a:r>
          </a:p>
        </p:txBody>
      </p:sp>
      <p:sp>
        <p:nvSpPr>
          <p:cNvPr id="3" name="Title 2"/>
          <p:cNvSpPr>
            <a:spLocks noGrp="1"/>
          </p:cNvSpPr>
          <p:nvPr>
            <p:ph type="title"/>
          </p:nvPr>
        </p:nvSpPr>
        <p:spPr/>
        <p:txBody>
          <a:bodyPr wrap="square">
            <a:normAutofit/>
          </a:bodyPr>
          <a:lstStyle/>
          <a:p>
            <a:pPr/>
            <a:r>
              <a:rPr sz="2700"/>
              <a:t>Introduction to Military Tactical Planning</a:t>
            </a:r>
          </a:p>
        </p:txBody>
      </p:sp>
      <p:pic>
        <p:nvPicPr>
          <p:cNvPr id="4" name="Picture 3" descr="M09-s08-0-4aea3b281958.png"/>
          <p:cNvPicPr>
            <a:picLocks noChangeAspect="1"/>
          </p:cNvPicPr>
          <p:nvPr/>
        </p:nvPicPr>
        <p:blipFill>
          <a:blip r:embed="rId3"/>
          <a:stretch>
            <a:fillRect/>
          </a:stretch>
        </p:blipFill>
        <p:spPr>
          <a:xfrm>
            <a:off x="2438400" y="1688078"/>
            <a:ext cx="8327136" cy="4647703"/>
          </a:xfrm>
          <a:prstGeom prst="rect">
            <a:avLst/>
          </a:prstGeom>
        </p:spPr>
      </p:pic>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Tactical Tasks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What are tactical tasks?</a:t>
            </a:r>
          </a:p>
          <a:p>
            <a:pPr lvl="1"/>
            <a:r>
              <a:rPr sz="2400"/>
              <a:t>Essentially, they are actions that can be taken to accomplish a mission. There are four orientations of tactical tasks:</a:t>
            </a:r>
          </a:p>
          <a:p>
            <a:pPr lvl="2"/>
            <a:r>
              <a:rPr sz="2400"/>
              <a:t>Enemy-Oriented</a:t>
            </a:r>
          </a:p>
          <a:p>
            <a:pPr lvl="2"/>
            <a:r>
              <a:rPr sz="2400"/>
              <a:t>Terrain-Oriented</a:t>
            </a:r>
          </a:p>
          <a:p>
            <a:pPr lvl="2"/>
            <a:r>
              <a:rPr sz="2400"/>
              <a:t>Friendly-Oriented</a:t>
            </a:r>
          </a:p>
          <a:p>
            <a:pPr lvl="2"/>
            <a:r>
              <a:rPr sz="2400"/>
              <a:t>Population-Oriented</a:t>
            </a:r>
          </a:p>
          <a:p>
            <a:pPr lvl="1"/>
            <a:r>
              <a:rPr sz="2400"/>
              <a:t>Let’s explore orientations and tasks a little deeper…</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What are Enemy-Oriented Tactical Tasks?</a:t>
            </a:r>
          </a:p>
          <a:p>
            <a:pPr lvl="1"/>
            <a:r>
              <a:rPr sz="2400"/>
              <a:t>Enemy-Oriented Tactical Tasks are actions directed at an enemy force with the aim of creating an effect.</a:t>
            </a:r>
          </a:p>
          <a:p>
            <a:pPr lvl="1"/>
            <a:r>
              <a:rPr sz="2400"/>
              <a:t>They are specific, standardized verbs used in combat orders to clearly communicate the desired effect a friendly unit is to have on the enemy.</a:t>
            </a:r>
          </a:p>
          <a:p>
            <a:pPr lvl="1"/>
            <a:r>
              <a:rPr sz="2400"/>
              <a:t>These tasks are fundamental to offensive operations and are used to create a clear, shared understanding of the mission</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1097280"/>
          </a:xfrm>
        </p:spPr>
        <p:txBody>
          <a:bodyPr wrap="square">
            <a:normAutofit/>
          </a:bodyPr>
          <a:lstStyle/>
          <a:p>
            <a:pPr/>
            <a:r>
              <a:rPr sz="1400"/>
              <a:t>Enemy-Oriented Tactical Tasks:</a:t>
            </a:r>
          </a:p>
          <a:p>
            <a:pPr lvl="1"/>
            <a:r>
              <a:rPr sz="1400"/>
              <a:t>Each Enemy-Oriented tactical task that has an asterisk next to it is a tactical task with multiple classifications and applications.</a:t>
            </a:r>
          </a:p>
        </p:txBody>
      </p:sp>
      <p:sp>
        <p:nvSpPr>
          <p:cNvPr id="3" name="Title 2"/>
          <p:cNvSpPr>
            <a:spLocks noGrp="1"/>
          </p:cNvSpPr>
          <p:nvPr>
            <p:ph type="title"/>
          </p:nvPr>
        </p:nvSpPr>
        <p:spPr/>
        <p:txBody>
          <a:bodyPr wrap="square">
            <a:normAutofit/>
          </a:bodyPr>
          <a:lstStyle/>
          <a:p>
            <a:pPr/>
            <a:r>
              <a:rPr sz="2700"/>
              <a:t>Tactical Tasks</a:t>
            </a:r>
          </a:p>
        </p:txBody>
      </p:sp>
      <p:graphicFrame>
        <p:nvGraphicFramePr>
          <p:cNvPr id="4" name="Table 3"/>
          <p:cNvGraphicFramePr>
            <a:graphicFrameLocks noGrp="1"/>
          </p:cNvGraphicFramePr>
          <p:nvPr/>
        </p:nvGraphicFramePr>
        <p:xfrm>
          <a:off x="1510029" y="2297677"/>
          <a:ext cx="10361372" cy="1845564"/>
        </p:xfrm>
        <a:graphic>
          <a:graphicData uri="http://schemas.openxmlformats.org/drawingml/2006/table">
            <a:tbl>
              <a:tblPr firstRow="0" bandRow="1">
                <a:tableStyleId>{5C22544A-7EE6-4342-B048-85BDC9FD1C3A}</a:tableStyleId>
              </a:tblPr>
              <a:tblGrid>
                <a:gridCol w="2590343"/>
                <a:gridCol w="2590343"/>
                <a:gridCol w="2590343"/>
                <a:gridCol w="2590343"/>
              </a:tblGrid>
              <a:tr h="263652">
                <a:tc>
                  <a:txBody>
                    <a:bodyPr wrap="square"/>
                    <a:lstStyle/>
                    <a:p>
                      <a:pPr>
                        <a:defRPr sz="1200"/>
                      </a:pPr>
                      <a:r>
                        <a:t>Ambush</a:t>
                      </a:r>
                    </a:p>
                  </a:txBody>
                  <a:tcPr/>
                </a:tc>
                <a:tc>
                  <a:txBody>
                    <a:bodyPr wrap="square"/>
                    <a:lstStyle/>
                    <a:p>
                      <a:pPr>
                        <a:defRPr sz="1200"/>
                      </a:pPr>
                      <a:r>
                        <a:t>Attack by Fire</a:t>
                      </a:r>
                    </a:p>
                  </a:txBody>
                  <a:tcPr/>
                </a:tc>
                <a:tc>
                  <a:txBody>
                    <a:bodyPr wrap="square"/>
                    <a:lstStyle/>
                    <a:p>
                      <a:pPr>
                        <a:defRPr sz="1200"/>
                      </a:pPr>
                      <a:r>
                        <a:t>Block</a:t>
                      </a:r>
                    </a:p>
                  </a:txBody>
                  <a:tcPr/>
                </a:tc>
                <a:tc>
                  <a:txBody>
                    <a:bodyPr wrap="square"/>
                    <a:lstStyle/>
                    <a:p>
                      <a:pPr>
                        <a:defRPr sz="1200"/>
                      </a:pPr>
                      <a:r>
                        <a:t>Breach*</a:t>
                      </a:r>
                    </a:p>
                  </a:txBody>
                  <a:tcPr/>
                </a:tc>
              </a:tr>
              <a:tr h="263652">
                <a:tc>
                  <a:txBody>
                    <a:bodyPr wrap="square"/>
                    <a:lstStyle/>
                    <a:p>
                      <a:pPr>
                        <a:defRPr sz="1200"/>
                      </a:pPr>
                      <a:r>
                        <a:t>Bypass</a:t>
                      </a:r>
                    </a:p>
                  </a:txBody>
                  <a:tcPr/>
                </a:tc>
                <a:tc>
                  <a:txBody>
                    <a:bodyPr wrap="square"/>
                    <a:lstStyle/>
                    <a:p>
                      <a:pPr>
                        <a:defRPr sz="1200"/>
                      </a:pPr>
                      <a:r>
                        <a:t>Canalize</a:t>
                      </a:r>
                    </a:p>
                  </a:txBody>
                  <a:tcPr/>
                </a:tc>
                <a:tc>
                  <a:txBody>
                    <a:bodyPr wrap="square"/>
                    <a:lstStyle/>
                    <a:p>
                      <a:pPr>
                        <a:defRPr sz="1200"/>
                      </a:pPr>
                      <a:r>
                        <a:t>Contain</a:t>
                      </a:r>
                    </a:p>
                  </a:txBody>
                  <a:tcPr/>
                </a:tc>
                <a:tc>
                  <a:txBody>
                    <a:bodyPr wrap="square"/>
                    <a:lstStyle/>
                    <a:p>
                      <a:pPr>
                        <a:defRPr sz="1200"/>
                      </a:pPr>
                      <a:r>
                        <a:t>Corrupt</a:t>
                      </a:r>
                    </a:p>
                  </a:txBody>
                  <a:tcPr/>
                </a:tc>
              </a:tr>
              <a:tr h="263652">
                <a:tc>
                  <a:txBody>
                    <a:bodyPr wrap="square"/>
                    <a:lstStyle/>
                    <a:p>
                      <a:pPr>
                        <a:defRPr sz="1200"/>
                      </a:pPr>
                      <a:r>
                        <a:t>Deceive</a:t>
                      </a:r>
                    </a:p>
                  </a:txBody>
                  <a:tcPr/>
                </a:tc>
                <a:tc>
                  <a:txBody>
                    <a:bodyPr wrap="square"/>
                    <a:lstStyle/>
                    <a:p>
                      <a:pPr>
                        <a:defRPr sz="1200"/>
                      </a:pPr>
                      <a:r>
                        <a:t>Defeat</a:t>
                      </a:r>
                    </a:p>
                  </a:txBody>
                  <a:tcPr/>
                </a:tc>
                <a:tc>
                  <a:txBody>
                    <a:bodyPr wrap="square"/>
                    <a:lstStyle/>
                    <a:p>
                      <a:pPr>
                        <a:defRPr sz="1200"/>
                      </a:pPr>
                      <a:r>
                        <a:t>Degrade</a:t>
                      </a:r>
                    </a:p>
                  </a:txBody>
                  <a:tcPr/>
                </a:tc>
                <a:tc>
                  <a:txBody>
                    <a:bodyPr wrap="square"/>
                    <a:lstStyle/>
                    <a:p>
                      <a:pPr>
                        <a:defRPr sz="1200"/>
                      </a:pPr>
                      <a:r>
                        <a:t>Deny</a:t>
                      </a:r>
                    </a:p>
                  </a:txBody>
                  <a:tcPr/>
                </a:tc>
              </a:tr>
              <a:tr h="263652">
                <a:tc>
                  <a:txBody>
                    <a:bodyPr wrap="square"/>
                    <a:lstStyle/>
                    <a:p>
                      <a:pPr>
                        <a:defRPr sz="1200"/>
                      </a:pPr>
                      <a:r>
                        <a:t>Destroy</a:t>
                      </a:r>
                    </a:p>
                  </a:txBody>
                  <a:tcPr/>
                </a:tc>
                <a:tc>
                  <a:txBody>
                    <a:bodyPr wrap="square"/>
                    <a:lstStyle/>
                    <a:p>
                      <a:pPr>
                        <a:defRPr sz="1200"/>
                      </a:pPr>
                      <a:r>
                        <a:t>Disrupt</a:t>
                      </a:r>
                    </a:p>
                  </a:txBody>
                  <a:tcPr/>
                </a:tc>
                <a:tc>
                  <a:txBody>
                    <a:bodyPr wrap="square"/>
                    <a:lstStyle/>
                    <a:p>
                      <a:pPr>
                        <a:defRPr sz="1200"/>
                      </a:pPr>
                      <a:r>
                        <a:t>Exploit</a:t>
                      </a:r>
                    </a:p>
                  </a:txBody>
                  <a:tcPr/>
                </a:tc>
                <a:tc>
                  <a:txBody>
                    <a:bodyPr wrap="square"/>
                    <a:lstStyle/>
                    <a:p>
                      <a:pPr>
                        <a:defRPr sz="1200"/>
                      </a:pPr>
                      <a:r>
                        <a:t>Feint</a:t>
                      </a:r>
                    </a:p>
                  </a:txBody>
                  <a:tcPr/>
                </a:tc>
              </a:tr>
              <a:tr h="263652">
                <a:tc>
                  <a:txBody>
                    <a:bodyPr wrap="square"/>
                    <a:lstStyle/>
                    <a:p>
                      <a:pPr>
                        <a:defRPr sz="1200"/>
                      </a:pPr>
                      <a:r>
                        <a:t>Fix</a:t>
                      </a:r>
                    </a:p>
                  </a:txBody>
                  <a:tcPr/>
                </a:tc>
                <a:tc>
                  <a:txBody>
                    <a:bodyPr wrap="square"/>
                    <a:lstStyle/>
                    <a:p>
                      <a:pPr>
                        <a:defRPr sz="1200"/>
                      </a:pPr>
                      <a:r>
                        <a:t>Influence*</a:t>
                      </a:r>
                    </a:p>
                  </a:txBody>
                  <a:tcPr/>
                </a:tc>
                <a:tc>
                  <a:txBody>
                    <a:bodyPr wrap="square"/>
                    <a:lstStyle/>
                    <a:p>
                      <a:pPr>
                        <a:defRPr sz="1200"/>
                      </a:pPr>
                      <a:r>
                        <a:t>Interdict</a:t>
                      </a:r>
                    </a:p>
                  </a:txBody>
                  <a:tcPr/>
                </a:tc>
                <a:tc>
                  <a:txBody>
                    <a:bodyPr wrap="square"/>
                    <a:lstStyle/>
                    <a:p>
                      <a:pPr>
                        <a:defRPr sz="1200"/>
                      </a:pPr>
                      <a:r>
                        <a:t>Isolate</a:t>
                      </a:r>
                    </a:p>
                  </a:txBody>
                  <a:tcPr/>
                </a:tc>
              </a:tr>
              <a:tr h="263652">
                <a:tc>
                  <a:txBody>
                    <a:bodyPr wrap="square"/>
                    <a:lstStyle/>
                    <a:p>
                      <a:pPr>
                        <a:defRPr sz="1200"/>
                      </a:pPr>
                      <a:r>
                        <a:t>Neutralize</a:t>
                      </a:r>
                    </a:p>
                  </a:txBody>
                  <a:tcPr/>
                </a:tc>
                <a:tc>
                  <a:txBody>
                    <a:bodyPr wrap="square"/>
                    <a:lstStyle/>
                    <a:p>
                      <a:pPr>
                        <a:defRPr sz="1200"/>
                      </a:pPr>
                      <a:r>
                        <a:t>Penetrate</a:t>
                      </a:r>
                    </a:p>
                  </a:txBody>
                  <a:tcPr/>
                </a:tc>
                <a:tc>
                  <a:txBody>
                    <a:bodyPr wrap="square"/>
                    <a:lstStyle/>
                    <a:p>
                      <a:pPr>
                        <a:defRPr sz="1200"/>
                      </a:pPr>
                      <a:r>
                        <a:t>Reconnoiter*</a:t>
                      </a:r>
                    </a:p>
                  </a:txBody>
                  <a:tcPr/>
                </a:tc>
                <a:tc>
                  <a:txBody>
                    <a:bodyPr wrap="square"/>
                    <a:lstStyle/>
                    <a:p>
                      <a:pPr>
                        <a:defRPr sz="1200"/>
                      </a:pPr>
                      <a:r>
                        <a:t>Support by Fire</a:t>
                      </a:r>
                    </a:p>
                  </a:txBody>
                  <a:tcPr/>
                </a:tc>
              </a:tr>
              <a:tr h="263652">
                <a:tc>
                  <a:txBody>
                    <a:bodyPr wrap="square"/>
                    <a:lstStyle/>
                    <a:p>
                      <a:pPr>
                        <a:defRPr sz="1200"/>
                      </a:pPr>
                      <a:r>
                        <a:t>Suppress</a:t>
                      </a:r>
                    </a:p>
                  </a:txBody>
                  <a:tcPr/>
                </a:tc>
                <a:tc>
                  <a:txBody>
                    <a:bodyPr wrap="square"/>
                    <a:lstStyle/>
                    <a:p>
                      <a:pPr>
                        <a:defRPr sz="1200"/>
                      </a:pPr>
                    </a:p>
                  </a:txBody>
                  <a:tcPr/>
                </a:tc>
                <a:tc>
                  <a:txBody>
                    <a:bodyPr wrap="square"/>
                    <a:lstStyle/>
                    <a:p>
                      <a:pPr>
                        <a:defRPr sz="1200"/>
                      </a:pPr>
                    </a:p>
                  </a:txBody>
                  <a:tcPr/>
                </a:tc>
                <a:tc>
                  <a:txBody>
                    <a:bodyPr wrap="square"/>
                    <a:lstStyle/>
                    <a:p>
                      <a:pPr>
                        <a:defRPr sz="1200"/>
                      </a:pP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300"/>
              <a:t>What are Friendly-Oriented Tactical Tasks?</a:t>
            </a:r>
          </a:p>
          <a:p>
            <a:pPr lvl="1"/>
            <a:r>
              <a:rPr sz="2300"/>
              <a:t>Friendly-Oriented Tactical Tasks are actions where the primary focus is on the movement or support of a friendly force.</a:t>
            </a:r>
          </a:p>
          <a:p>
            <a:pPr lvl="1"/>
            <a:r>
              <a:rPr sz="2300"/>
              <a:t>Unlike enemy-oriented tasks that focus on destroying or defeating an adversary, these tasks are centered on the friendly force's status and relationship to the enemy, terrain, or another friendly unit.</a:t>
            </a:r>
          </a:p>
          <a:p>
            <a:pPr lvl="1"/>
            <a:r>
              <a:rPr sz="2300"/>
              <a:t>For example, convoy missions are typically friendly-oriented, with the main goal being to deliver personnel or supplies to a destination.</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640080"/>
          </a:xfrm>
        </p:spPr>
        <p:txBody>
          <a:bodyPr wrap="square">
            <a:normAutofit/>
          </a:bodyPr>
          <a:lstStyle/>
          <a:p>
            <a:pPr/>
            <a:r>
              <a:rPr sz="1800"/>
              <a:t>Friendly-Oriented Tactical Tasks:</a:t>
            </a:r>
          </a:p>
        </p:txBody>
      </p:sp>
      <p:sp>
        <p:nvSpPr>
          <p:cNvPr id="3" name="Title 2"/>
          <p:cNvSpPr>
            <a:spLocks noGrp="1"/>
          </p:cNvSpPr>
          <p:nvPr>
            <p:ph type="title"/>
          </p:nvPr>
        </p:nvSpPr>
        <p:spPr/>
        <p:txBody>
          <a:bodyPr wrap="square">
            <a:normAutofit/>
          </a:bodyPr>
          <a:lstStyle/>
          <a:p>
            <a:pPr/>
            <a:r>
              <a:rPr sz="2700"/>
              <a:t>Tactical Tasks</a:t>
            </a:r>
          </a:p>
        </p:txBody>
      </p:sp>
      <p:graphicFrame>
        <p:nvGraphicFramePr>
          <p:cNvPr id="4" name="Table 3"/>
          <p:cNvGraphicFramePr>
            <a:graphicFrameLocks noGrp="1"/>
          </p:cNvGraphicFramePr>
          <p:nvPr/>
        </p:nvGraphicFramePr>
        <p:xfrm>
          <a:off x="1510029" y="1840477"/>
          <a:ext cx="10361372" cy="790956"/>
        </p:xfrm>
        <a:graphic>
          <a:graphicData uri="http://schemas.openxmlformats.org/drawingml/2006/table">
            <a:tbl>
              <a:tblPr firstRow="0" bandRow="1">
                <a:tableStyleId>{5C22544A-7EE6-4342-B048-85BDC9FD1C3A}</a:tableStyleId>
              </a:tblPr>
              <a:tblGrid>
                <a:gridCol w="3453790"/>
                <a:gridCol w="3453790"/>
                <a:gridCol w="3453792"/>
              </a:tblGrid>
              <a:tr h="263652">
                <a:tc>
                  <a:txBody>
                    <a:bodyPr wrap="square"/>
                    <a:lstStyle/>
                    <a:p>
                      <a:pPr>
                        <a:defRPr sz="1200"/>
                      </a:pPr>
                      <a:r>
                        <a:t>Cover</a:t>
                      </a:r>
                    </a:p>
                  </a:txBody>
                  <a:tcPr/>
                </a:tc>
                <a:tc>
                  <a:txBody>
                    <a:bodyPr wrap="square"/>
                    <a:lstStyle/>
                    <a:p>
                      <a:pPr>
                        <a:defRPr sz="1200"/>
                      </a:pPr>
                      <a:r>
                        <a:t>Disengage</a:t>
                      </a:r>
                    </a:p>
                  </a:txBody>
                  <a:tcPr/>
                </a:tc>
                <a:tc>
                  <a:txBody>
                    <a:bodyPr wrap="square"/>
                    <a:lstStyle/>
                    <a:p>
                      <a:pPr>
                        <a:defRPr sz="1200"/>
                      </a:pPr>
                      <a:r>
                        <a:t>Displace</a:t>
                      </a:r>
                    </a:p>
                  </a:txBody>
                  <a:tcPr/>
                </a:tc>
              </a:tr>
              <a:tr h="263652">
                <a:tc>
                  <a:txBody>
                    <a:bodyPr wrap="square"/>
                    <a:lstStyle/>
                    <a:p>
                      <a:pPr>
                        <a:defRPr sz="1200"/>
                      </a:pPr>
                      <a:r>
                        <a:t>Exfiltrate</a:t>
                      </a:r>
                    </a:p>
                  </a:txBody>
                  <a:tcPr/>
                </a:tc>
                <a:tc>
                  <a:txBody>
                    <a:bodyPr wrap="square"/>
                    <a:lstStyle/>
                    <a:p>
                      <a:pPr>
                        <a:defRPr sz="1200"/>
                      </a:pPr>
                      <a:r>
                        <a:t>Follow and Assume</a:t>
                      </a:r>
                    </a:p>
                  </a:txBody>
                  <a:tcPr/>
                </a:tc>
                <a:tc>
                  <a:txBody>
                    <a:bodyPr wrap="square"/>
                    <a:lstStyle/>
                    <a:p>
                      <a:pPr>
                        <a:defRPr sz="1200"/>
                      </a:pPr>
                      <a:r>
                        <a:t>Follow and Support</a:t>
                      </a:r>
                    </a:p>
                  </a:txBody>
                  <a:tcPr/>
                </a:tc>
              </a:tr>
              <a:tr h="263652">
                <a:tc>
                  <a:txBody>
                    <a:bodyPr wrap="square"/>
                    <a:lstStyle/>
                    <a:p>
                      <a:pPr>
                        <a:defRPr sz="1200"/>
                      </a:pPr>
                      <a:r>
                        <a:t>Guard</a:t>
                      </a:r>
                    </a:p>
                  </a:txBody>
                  <a:tcPr/>
                </a:tc>
                <a:tc>
                  <a:txBody>
                    <a:bodyPr wrap="square"/>
                    <a:lstStyle/>
                    <a:p>
                      <a:pPr>
                        <a:defRPr sz="1200"/>
                      </a:pPr>
                      <a:r>
                        <a:t>Protect</a:t>
                      </a:r>
                    </a:p>
                  </a:txBody>
                  <a:tcPr/>
                </a:tc>
                <a:tc>
                  <a:txBody>
                    <a:bodyPr wrap="square"/>
                    <a:lstStyle/>
                    <a:p>
                      <a:pPr>
                        <a:defRPr sz="1200"/>
                      </a:pPr>
                      <a:r>
                        <a:t>Screen</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What are Terrain-Oriented Tactical Tasks?</a:t>
            </a:r>
          </a:p>
          <a:p>
            <a:pPr lvl="1"/>
            <a:r>
              <a:rPr sz="2400"/>
              <a:t>Terrain-Oriented Tactical Tasks are actions focused on controlling or influencing the physical environment.</a:t>
            </a:r>
          </a:p>
          <a:p>
            <a:pPr lvl="1"/>
            <a:r>
              <a:rPr sz="2400"/>
              <a:t>The primary purpose of these tasks is to seize, retain, or deny the enemy access to specific terrain or a geographic area.</a:t>
            </a:r>
          </a:p>
          <a:p>
            <a:pPr lvl="1"/>
            <a:r>
              <a:rPr sz="2400"/>
              <a:t>Unlike tasks that focus on a friendly or enemy force, the terrain itself is the objective.</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1097280"/>
          </a:xfrm>
        </p:spPr>
        <p:txBody>
          <a:bodyPr wrap="square">
            <a:normAutofit/>
          </a:bodyPr>
          <a:lstStyle/>
          <a:p>
            <a:pPr/>
            <a:r>
              <a:rPr sz="1400"/>
              <a:t>Terrain-Oriented Tactical Tasks:</a:t>
            </a:r>
          </a:p>
          <a:p>
            <a:pPr lvl="3"/>
            <a:r>
              <a:rPr sz="1400"/>
              <a:t>Each Terrain-Oriented tactical task that has an asterisk next to it is a tactical task with multiple classifications and applications.</a:t>
            </a:r>
          </a:p>
        </p:txBody>
      </p:sp>
      <p:sp>
        <p:nvSpPr>
          <p:cNvPr id="3" name="Title 2"/>
          <p:cNvSpPr>
            <a:spLocks noGrp="1"/>
          </p:cNvSpPr>
          <p:nvPr>
            <p:ph type="title"/>
          </p:nvPr>
        </p:nvSpPr>
        <p:spPr/>
        <p:txBody>
          <a:bodyPr wrap="square">
            <a:normAutofit/>
          </a:bodyPr>
          <a:lstStyle/>
          <a:p>
            <a:pPr/>
            <a:r>
              <a:rPr sz="2700"/>
              <a:t>Tactical Tasks</a:t>
            </a:r>
          </a:p>
        </p:txBody>
      </p:sp>
      <p:graphicFrame>
        <p:nvGraphicFramePr>
          <p:cNvPr id="4" name="Table 3"/>
          <p:cNvGraphicFramePr>
            <a:graphicFrameLocks noGrp="1"/>
          </p:cNvGraphicFramePr>
          <p:nvPr/>
        </p:nvGraphicFramePr>
        <p:xfrm>
          <a:off x="1510029" y="2297677"/>
          <a:ext cx="10361372" cy="790956"/>
        </p:xfrm>
        <a:graphic>
          <a:graphicData uri="http://schemas.openxmlformats.org/drawingml/2006/table">
            <a:tbl>
              <a:tblPr firstRow="0" bandRow="1">
                <a:tableStyleId>{5C22544A-7EE6-4342-B048-85BDC9FD1C3A}</a:tableStyleId>
              </a:tblPr>
              <a:tblGrid>
                <a:gridCol w="3453790"/>
                <a:gridCol w="3453790"/>
                <a:gridCol w="3453792"/>
              </a:tblGrid>
              <a:tr h="263652">
                <a:tc>
                  <a:txBody>
                    <a:bodyPr wrap="square"/>
                    <a:lstStyle/>
                    <a:p>
                      <a:pPr>
                        <a:defRPr sz="1200"/>
                      </a:pPr>
                      <a:r>
                        <a:t>Breach*</a:t>
                      </a:r>
                    </a:p>
                  </a:txBody>
                  <a:tcPr/>
                </a:tc>
                <a:tc>
                  <a:txBody>
                    <a:bodyPr wrap="square"/>
                    <a:lstStyle/>
                    <a:p>
                      <a:pPr>
                        <a:defRPr sz="1200"/>
                      </a:pPr>
                      <a:r>
                        <a:t>Clear</a:t>
                      </a:r>
                    </a:p>
                  </a:txBody>
                  <a:tcPr/>
                </a:tc>
                <a:tc>
                  <a:txBody>
                    <a:bodyPr wrap="square"/>
                    <a:lstStyle/>
                    <a:p>
                      <a:pPr>
                        <a:defRPr sz="1200"/>
                      </a:pPr>
                      <a:r>
                        <a:t>Control</a:t>
                      </a:r>
                    </a:p>
                  </a:txBody>
                  <a:tcPr/>
                </a:tc>
              </a:tr>
              <a:tr h="263652">
                <a:tc>
                  <a:txBody>
                    <a:bodyPr wrap="square"/>
                    <a:lstStyle/>
                    <a:p>
                      <a:pPr>
                        <a:defRPr sz="1200"/>
                      </a:pPr>
                      <a:r>
                        <a:t>Cordon</a:t>
                      </a:r>
                    </a:p>
                  </a:txBody>
                  <a:tcPr/>
                </a:tc>
                <a:tc>
                  <a:txBody>
                    <a:bodyPr wrap="square"/>
                    <a:lstStyle/>
                    <a:p>
                      <a:pPr>
                        <a:defRPr sz="1200"/>
                      </a:pPr>
                      <a:r>
                        <a:t>Occupy</a:t>
                      </a:r>
                    </a:p>
                  </a:txBody>
                  <a:tcPr/>
                </a:tc>
                <a:tc>
                  <a:txBody>
                    <a:bodyPr wrap="square"/>
                    <a:lstStyle/>
                    <a:p>
                      <a:pPr>
                        <a:defRPr sz="1200"/>
                      </a:pPr>
                      <a:r>
                        <a:t>Reconnoiter*</a:t>
                      </a:r>
                    </a:p>
                  </a:txBody>
                  <a:tcPr/>
                </a:tc>
              </a:tr>
              <a:tr h="263652">
                <a:tc>
                  <a:txBody>
                    <a:bodyPr wrap="square"/>
                    <a:lstStyle/>
                    <a:p>
                      <a:pPr>
                        <a:defRPr sz="1200"/>
                      </a:pPr>
                      <a:r>
                        <a:t>Retain</a:t>
                      </a:r>
                    </a:p>
                  </a:txBody>
                  <a:tcPr/>
                </a:tc>
                <a:tc>
                  <a:txBody>
                    <a:bodyPr wrap="square"/>
                    <a:lstStyle/>
                    <a:p>
                      <a:pPr>
                        <a:defRPr sz="1200"/>
                      </a:pPr>
                      <a:r>
                        <a:t>Secure</a:t>
                      </a:r>
                    </a:p>
                  </a:txBody>
                  <a:tcPr/>
                </a:tc>
                <a:tc>
                  <a:txBody>
                    <a:bodyPr wrap="square"/>
                    <a:lstStyle/>
                    <a:p>
                      <a:pPr>
                        <a:defRPr sz="1200"/>
                      </a:pPr>
                      <a:r>
                        <a:t>Seize</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What are Population-Oriented Tactical Tasks?</a:t>
            </a:r>
          </a:p>
          <a:p>
            <a:pPr lvl="1"/>
            <a:r>
              <a:rPr sz="2400"/>
              <a:t>Focus on friendly effort on achieving some sort of condition as it relates to the population within the area of operations.</a:t>
            </a:r>
          </a:p>
          <a:p>
            <a:pPr lvl="1"/>
            <a:r>
              <a:rPr sz="2400"/>
              <a:t>Unlike tasks that focus on a friendly or enemy force, the population itself is the objective.</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1097280"/>
          </a:xfrm>
        </p:spPr>
        <p:txBody>
          <a:bodyPr wrap="square">
            <a:normAutofit/>
          </a:bodyPr>
          <a:lstStyle/>
          <a:p>
            <a:pPr/>
            <a:r>
              <a:rPr sz="1400"/>
              <a:t>Population-Oriented Tactical Tasks:</a:t>
            </a:r>
          </a:p>
          <a:p>
            <a:pPr lvl="3"/>
            <a:r>
              <a:rPr sz="1400"/>
              <a:t>Each Population-Oriented tactical task that has an asterisk next to it is a tactical task with multiple classifications and applications.</a:t>
            </a:r>
          </a:p>
        </p:txBody>
      </p:sp>
      <p:sp>
        <p:nvSpPr>
          <p:cNvPr id="3" name="Title 2"/>
          <p:cNvSpPr>
            <a:spLocks noGrp="1"/>
          </p:cNvSpPr>
          <p:nvPr>
            <p:ph type="title"/>
          </p:nvPr>
        </p:nvSpPr>
        <p:spPr/>
        <p:txBody>
          <a:bodyPr wrap="square">
            <a:normAutofit/>
          </a:bodyPr>
          <a:lstStyle/>
          <a:p>
            <a:pPr/>
            <a:r>
              <a:rPr sz="2700"/>
              <a:t>Tactical Tasks</a:t>
            </a:r>
          </a:p>
        </p:txBody>
      </p:sp>
      <p:graphicFrame>
        <p:nvGraphicFramePr>
          <p:cNvPr id="4" name="Table 3"/>
          <p:cNvGraphicFramePr>
            <a:graphicFrameLocks noGrp="1"/>
          </p:cNvGraphicFramePr>
          <p:nvPr/>
        </p:nvGraphicFramePr>
        <p:xfrm>
          <a:off x="1510029" y="2297677"/>
          <a:ext cx="10361372" cy="1581912"/>
        </p:xfrm>
        <a:graphic>
          <a:graphicData uri="http://schemas.openxmlformats.org/drawingml/2006/table">
            <a:tbl>
              <a:tblPr firstRow="0" bandRow="1">
                <a:tableStyleId>{5C22544A-7EE6-4342-B048-85BDC9FD1C3A}</a:tableStyleId>
              </a:tblPr>
              <a:tblGrid>
                <a:gridCol w="3453790"/>
                <a:gridCol w="3453790"/>
                <a:gridCol w="3453792"/>
              </a:tblGrid>
              <a:tr h="263652">
                <a:tc>
                  <a:txBody>
                    <a:bodyPr wrap="square"/>
                    <a:lstStyle/>
                    <a:p>
                      <a:pPr>
                        <a:defRPr sz="1200"/>
                      </a:pPr>
                      <a:r>
                        <a:t>Advise</a:t>
                      </a:r>
                    </a:p>
                  </a:txBody>
                  <a:tcPr/>
                </a:tc>
                <a:tc>
                  <a:txBody>
                    <a:bodyPr wrap="square"/>
                    <a:lstStyle/>
                    <a:p>
                      <a:pPr>
                        <a:defRPr sz="1200"/>
                      </a:pPr>
                      <a:r>
                        <a:t>Assess the Pop.</a:t>
                      </a:r>
                    </a:p>
                  </a:txBody>
                  <a:tcPr/>
                </a:tc>
                <a:tc>
                  <a:txBody>
                    <a:bodyPr wrap="square"/>
                    <a:lstStyle/>
                    <a:p>
                      <a:pPr>
                        <a:defRPr sz="1200"/>
                      </a:pPr>
                      <a:r>
                        <a:t>Assist</a:t>
                      </a:r>
                    </a:p>
                  </a:txBody>
                  <a:tcPr/>
                </a:tc>
              </a:tr>
              <a:tr h="263652">
                <a:tc>
                  <a:txBody>
                    <a:bodyPr wrap="square"/>
                    <a:lstStyle/>
                    <a:p>
                      <a:pPr>
                        <a:defRPr sz="1200"/>
                      </a:pPr>
                      <a:r>
                        <a:t>Build/Restore infrx.</a:t>
                      </a:r>
                    </a:p>
                  </a:txBody>
                  <a:tcPr/>
                </a:tc>
                <a:tc>
                  <a:txBody>
                    <a:bodyPr wrap="square"/>
                    <a:lstStyle/>
                    <a:p>
                      <a:pPr>
                        <a:defRPr sz="1200"/>
                      </a:pPr>
                      <a:r>
                        <a:t>Contain*</a:t>
                      </a:r>
                    </a:p>
                  </a:txBody>
                  <a:tcPr/>
                </a:tc>
                <a:tc>
                  <a:txBody>
                    <a:bodyPr wrap="square"/>
                    <a:lstStyle/>
                    <a:p>
                      <a:pPr>
                        <a:defRPr sz="1200"/>
                      </a:pPr>
                      <a:r>
                        <a:t>Control*</a:t>
                      </a:r>
                    </a:p>
                  </a:txBody>
                  <a:tcPr/>
                </a:tc>
              </a:tr>
              <a:tr h="263652">
                <a:tc>
                  <a:txBody>
                    <a:bodyPr wrap="square"/>
                    <a:lstStyle/>
                    <a:p>
                      <a:pPr>
                        <a:defRPr sz="1200"/>
                      </a:pPr>
                      <a:r>
                        <a:t>Coord with Civ Auth</a:t>
                      </a:r>
                    </a:p>
                  </a:txBody>
                  <a:tcPr/>
                </a:tc>
                <a:tc>
                  <a:txBody>
                    <a:bodyPr wrap="square"/>
                    <a:lstStyle/>
                    <a:p>
                      <a:pPr>
                        <a:defRPr sz="1200"/>
                      </a:pPr>
                      <a:r>
                        <a:t>Cordon*</a:t>
                      </a:r>
                    </a:p>
                  </a:txBody>
                  <a:tcPr/>
                </a:tc>
                <a:tc>
                  <a:txBody>
                    <a:bodyPr wrap="square"/>
                    <a:lstStyle/>
                    <a:p>
                      <a:pPr>
                        <a:defRPr sz="1200"/>
                      </a:pPr>
                      <a:r>
                        <a:t>Enable Civ Auth</a:t>
                      </a:r>
                    </a:p>
                  </a:txBody>
                  <a:tcPr/>
                </a:tc>
              </a:tr>
              <a:tr h="263652">
                <a:tc>
                  <a:txBody>
                    <a:bodyPr wrap="square"/>
                    <a:lstStyle/>
                    <a:p>
                      <a:pPr>
                        <a:defRPr sz="1200"/>
                      </a:pPr>
                      <a:r>
                        <a:t>Exclude</a:t>
                      </a:r>
                    </a:p>
                  </a:txBody>
                  <a:tcPr/>
                </a:tc>
                <a:tc>
                  <a:txBody>
                    <a:bodyPr wrap="square"/>
                    <a:lstStyle/>
                    <a:p>
                      <a:pPr>
                        <a:defRPr sz="1200"/>
                      </a:pPr>
                      <a:r>
                        <a:t>Influence*</a:t>
                      </a:r>
                    </a:p>
                  </a:txBody>
                  <a:tcPr/>
                </a:tc>
                <a:tc>
                  <a:txBody>
                    <a:bodyPr wrap="square"/>
                    <a:lstStyle/>
                    <a:p>
                      <a:pPr>
                        <a:defRPr sz="1200"/>
                      </a:pPr>
                      <a:r>
                        <a:t>Occupy*</a:t>
                      </a:r>
                    </a:p>
                  </a:txBody>
                  <a:tcPr/>
                </a:tc>
              </a:tr>
              <a:tr h="263652">
                <a:tc>
                  <a:txBody>
                    <a:bodyPr wrap="square"/>
                    <a:lstStyle/>
                    <a:p>
                      <a:pPr>
                        <a:defRPr sz="1200"/>
                      </a:pPr>
                      <a:r>
                        <a:t>Reconnoiter*</a:t>
                      </a:r>
                    </a:p>
                  </a:txBody>
                  <a:tcPr/>
                </a:tc>
                <a:tc>
                  <a:txBody>
                    <a:bodyPr wrap="square"/>
                    <a:lstStyle/>
                    <a:p>
                      <a:pPr>
                        <a:defRPr sz="1200"/>
                      </a:pPr>
                      <a:r>
                        <a:t>Secure*</a:t>
                      </a:r>
                    </a:p>
                  </a:txBody>
                  <a:tcPr/>
                </a:tc>
                <a:tc>
                  <a:txBody>
                    <a:bodyPr wrap="square"/>
                    <a:lstStyle/>
                    <a:p>
                      <a:pPr>
                        <a:defRPr sz="1200"/>
                      </a:pPr>
                      <a:r>
                        <a:t>Train</a:t>
                      </a:r>
                    </a:p>
                  </a:txBody>
                  <a:tcPr/>
                </a:tc>
              </a:tr>
              <a:tr h="263652">
                <a:tc>
                  <a:txBody>
                    <a:bodyPr wrap="square"/>
                    <a:lstStyle/>
                    <a:p>
                      <a:pPr>
                        <a:defRPr sz="1200"/>
                      </a:pPr>
                      <a:r>
                        <a:t>Transition to Civ Control</a:t>
                      </a:r>
                    </a:p>
                  </a:txBody>
                  <a:tcPr/>
                </a:tc>
                <a:tc>
                  <a:txBody>
                    <a:bodyPr wrap="square"/>
                    <a:lstStyle/>
                    <a:p>
                      <a:pPr>
                        <a:defRPr sz="1200"/>
                      </a:pPr>
                    </a:p>
                  </a:txBody>
                  <a:tcPr/>
                </a:tc>
                <a:tc>
                  <a:txBody>
                    <a:bodyPr wrap="square"/>
                    <a:lstStyle/>
                    <a:p>
                      <a:pPr>
                        <a:defRPr sz="1200"/>
                      </a:pP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As you have seen, each orientation has task verbs associated with it, and some of these verbs overlap. You can flow between the orientation of task or simultaneously have multiple tactical tasks spanning across those orientations.</a:t>
            </a:r>
          </a:p>
          <a:p>
            <a:pPr/>
            <a:r>
              <a:rPr sz="2400"/>
              <a:t>Let’s look at an example of what this means…</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300"/>
              <a:t>Consider someone who has a deliberate defense and has dug-in trenches because they have been given the terrain-oriented tactical task of </a:t>
            </a:r>
            <a:r>
              <a:rPr b="1" sz="2300"/>
              <a:t>Retain</a:t>
            </a:r>
            <a:r>
              <a:rPr sz="2300"/>
              <a:t> in order to “</a:t>
            </a:r>
            <a:r>
              <a:rPr b="1" sz="2300"/>
              <a:t>protect”</a:t>
            </a:r>
            <a:r>
              <a:rPr sz="2300"/>
              <a:t> friendly forces (and remember that protect is normally a </a:t>
            </a:r>
            <a:r>
              <a:rPr b="1" sz="2300"/>
              <a:t>friendly-oriented</a:t>
            </a:r>
            <a:r>
              <a:rPr sz="2300"/>
              <a:t> tactical task).</a:t>
            </a:r>
          </a:p>
          <a:p>
            <a:pPr/>
            <a:r>
              <a:rPr sz="2300"/>
              <a:t>While controlling and protecting, there may be adversaries in the vicinity so this person may also be tasked with </a:t>
            </a:r>
            <a:r>
              <a:rPr b="1" sz="2300"/>
              <a:t>reconnoitering</a:t>
            </a:r>
            <a:r>
              <a:rPr sz="2300"/>
              <a:t> the adversary (reconnoiter being both a </a:t>
            </a:r>
            <a:r>
              <a:rPr b="1" sz="2300"/>
              <a:t>terrain-oriented</a:t>
            </a:r>
            <a:r>
              <a:rPr sz="2300"/>
              <a:t> AND an </a:t>
            </a:r>
            <a:r>
              <a:rPr b="1" sz="2300"/>
              <a:t>enemy-oriented</a:t>
            </a:r>
            <a:r>
              <a:rPr sz="2300"/>
              <a:t> tactical task).</a:t>
            </a:r>
          </a:p>
          <a:p>
            <a:pPr lvl="1"/>
            <a:r>
              <a:rPr sz="2300"/>
              <a:t>In this scenario, you can see three tactical tasks overlapping their orientations and classifications. This is where task prioritization becomes important.</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b="1" sz="2400"/>
              <a:t>1. Identify Tasks: </a:t>
            </a:r>
            <a:r>
              <a:rPr sz="2400"/>
              <a:t>Deconstruct the order from higher echelons into:</a:t>
            </a:r>
          </a:p>
          <a:p>
            <a:pPr lvl="1"/>
            <a:r>
              <a:rPr b="1" sz="2400"/>
              <a:t>Specified Tasks:</a:t>
            </a:r>
            <a:r>
              <a:rPr sz="2400"/>
              <a:t> Explicitly stated in the order.</a:t>
            </a:r>
          </a:p>
          <a:p>
            <a:pPr lvl="1"/>
            <a:r>
              <a:rPr b="1" sz="2400"/>
              <a:t>Implied Tasks:</a:t>
            </a:r>
            <a:r>
              <a:rPr sz="2400"/>
              <a:t> Not explicitly stated but necessary for mission accomplishment.</a:t>
            </a:r>
          </a:p>
          <a:p>
            <a:pPr>
              <a:buNone/>
            </a:pPr>
            <a:r>
              <a:rPr b="1" sz="2400"/>
              <a:t>2. Conduct Purpose Analysis: </a:t>
            </a:r>
            <a:r>
              <a:rPr sz="2400"/>
              <a:t>Determine the "why" behind the mission.</a:t>
            </a:r>
          </a:p>
          <a:p>
            <a:pPr lvl="2"/>
            <a:r>
              <a:rPr sz="2400"/>
              <a:t>What is the desired end state? “In order to….”</a:t>
            </a:r>
          </a:p>
          <a:p>
            <a:pPr lvl="2"/>
            <a:r>
              <a:rPr sz="2400"/>
              <a:t>What is the commander's overall intent? Higher’s endstate</a:t>
            </a:r>
          </a:p>
        </p:txBody>
      </p:sp>
      <p:sp>
        <p:nvSpPr>
          <p:cNvPr id="3" name="Title 2"/>
          <p:cNvSpPr>
            <a:spLocks noGrp="1"/>
          </p:cNvSpPr>
          <p:nvPr>
            <p:ph type="title"/>
          </p:nvPr>
        </p:nvSpPr>
        <p:spPr/>
        <p:txBody>
          <a:bodyPr wrap="square">
            <a:normAutofit/>
          </a:bodyPr>
          <a:lstStyle/>
          <a:p>
            <a:pPr/>
            <a:r>
              <a:rPr sz="2700"/>
              <a:t>Identify Tasks (Mission Analysis)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The example on the previous slide can happen in cyberspace just as easily.</a:t>
            </a:r>
          </a:p>
          <a:p>
            <a:pPr/>
            <a:r>
              <a:rPr sz="2400"/>
              <a:t>A cyber operator could be tasked with reconnoitering the adversary, and then reconnoitering the adversary as they conduct operations in their terrain, and then reconnoitering the adversary’s terrain. Once they conduct sufficient recon of the terrain, the operator can act on it by destroying it, disrupting it, etc.</a:t>
            </a:r>
          </a:p>
        </p:txBody>
      </p:sp>
      <p:sp>
        <p:nvSpPr>
          <p:cNvPr id="3" name="Title 2"/>
          <p:cNvSpPr>
            <a:spLocks noGrp="1"/>
          </p:cNvSpPr>
          <p:nvPr>
            <p:ph type="title"/>
          </p:nvPr>
        </p:nvSpPr>
        <p:spPr/>
        <p:txBody>
          <a:bodyPr wrap="square">
            <a:normAutofit/>
          </a:bodyPr>
          <a:lstStyle/>
          <a:p>
            <a:pPr/>
            <a:r>
              <a:rPr sz="2700"/>
              <a:t>Tactical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23854" y="549275"/>
            <a:ext cx="9963493" cy="603384"/>
          </a:xfrm>
        </p:spPr>
        <p:txBody>
          <a:bodyPr wrap="square" anchor="t">
            <a:normAutofit/>
          </a:bodyPr>
          <a:lstStyle/>
          <a:p>
            <a:pPr/>
            <a:r>
              <a:rPr sz="2800"/>
              <a:t>Two Maps</a:t>
            </a:r>
          </a:p>
        </p:txBody>
      </p:sp>
      <p:pic>
        <p:nvPicPr>
          <p:cNvPr id="3" name="Picture 2" descr="M09-s23-0-54ec6955de77.jpg"/>
          <p:cNvPicPr>
            <a:picLocks noChangeAspect="1"/>
          </p:cNvPicPr>
          <p:nvPr/>
        </p:nvPicPr>
        <p:blipFill>
          <a:blip r:embed="rId3"/>
          <a:stretch>
            <a:fillRect/>
          </a:stretch>
        </p:blipFill>
        <p:spPr>
          <a:xfrm>
            <a:off x="1146048" y="1207523"/>
            <a:ext cx="4803648" cy="5368783"/>
          </a:xfrm>
          <a:prstGeom prst="rect">
            <a:avLst/>
          </a:prstGeom>
        </p:spPr>
      </p:pic>
      <p:pic>
        <p:nvPicPr>
          <p:cNvPr id="4" name="Picture 3" descr="M09-s23-1-9bab778ecec7.png"/>
          <p:cNvPicPr>
            <a:picLocks noChangeAspect="1"/>
          </p:cNvPicPr>
          <p:nvPr/>
        </p:nvPicPr>
        <p:blipFill>
          <a:blip r:embed="rId4"/>
          <a:stretch>
            <a:fillRect/>
          </a:stretch>
        </p:blipFill>
        <p:spPr>
          <a:xfrm>
            <a:off x="2866482" y="4334256"/>
            <a:ext cx="2155259" cy="1947671"/>
          </a:xfrm>
          <a:prstGeom prst="rect">
            <a:avLst/>
          </a:prstGeom>
        </p:spPr>
      </p:pic>
      <p:pic>
        <p:nvPicPr>
          <p:cNvPr id="5" name="Picture 4" descr="M09-s23-2-4ad277051bf6.png"/>
          <p:cNvPicPr>
            <a:picLocks noChangeAspect="1"/>
          </p:cNvPicPr>
          <p:nvPr/>
        </p:nvPicPr>
        <p:blipFill>
          <a:blip r:embed="rId5"/>
          <a:stretch>
            <a:fillRect/>
          </a:stretch>
        </p:blipFill>
        <p:spPr>
          <a:xfrm>
            <a:off x="5949696" y="2024051"/>
            <a:ext cx="6059424" cy="3742585"/>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b="1" sz="1500"/>
              <a:t>Background </a:t>
            </a:r>
          </a:p>
          <a:p>
            <a:pPr/>
            <a:r>
              <a:rPr sz="1500"/>
              <a:t>Friendly Forces are preparing for an amphibious entry into a contested regional port. The port's local logistics network and maritime operating systems have been partially compromised by an adversary threat group.</a:t>
            </a:r>
          </a:p>
          <a:p>
            <a:pPr/>
            <a:r>
              <a:rPr sz="1500"/>
              <a:t>To support the physical landing, your team has established active logical access to the port's network topology. The Commander demands that every cyber defense or offense plan you pitch be expressed using standard doctrinal tactical tasks. Using non-doctrinal cyber jargon (e.g., "we will patch it" or "we will run an exploit") is unauthorized.</a:t>
            </a:r>
          </a:p>
          <a:p>
            <a:pPr/>
            <a:r>
              <a:rPr sz="1500"/>
              <a:t>For the following your group must:</a:t>
            </a:r>
          </a:p>
          <a:p>
            <a:pPr lvl="1"/>
            <a:r>
              <a:rPr sz="1500"/>
              <a:t>Identify the single most appropriate doctrinal tactical task from Appendix C.</a:t>
            </a:r>
          </a:p>
          <a:p>
            <a:pPr lvl="1"/>
            <a:r>
              <a:rPr sz="1500"/>
              <a:t>Justify why that specific task is the correct choice over closely related tasks.</a:t>
            </a:r>
          </a:p>
          <a:p>
            <a:pPr lvl="1"/>
            <a:r>
              <a:rPr sz="1500"/>
              <a:t>Detail the technical cyber actions required to execute the task.</a:t>
            </a:r>
          </a:p>
          <a:p>
            <a:pPr>
              <a:buNone/>
            </a:pPr>
            <a:r>
              <a:rPr sz="1500"/>
              <a:t>Goal:</a:t>
            </a:r>
          </a:p>
          <a:p>
            <a:pPr>
              <a:buNone/>
            </a:pPr>
            <a:r>
              <a:rPr sz="1500"/>
              <a:t>Translate technical maneuvers into military tasks.</a:t>
            </a:r>
          </a:p>
        </p:txBody>
      </p:sp>
      <p:sp>
        <p:nvSpPr>
          <p:cNvPr id="3" name="Title 2"/>
          <p:cNvSpPr>
            <a:spLocks noGrp="1"/>
          </p:cNvSpPr>
          <p:nvPr>
            <p:ph type="title"/>
          </p:nvPr>
        </p:nvSpPr>
        <p:spPr/>
        <p:txBody>
          <a:bodyPr wrap="square">
            <a:normAutofit/>
          </a:bodyPr>
          <a:lstStyle/>
          <a:p>
            <a:pPr/>
            <a:r>
              <a:rPr sz="2700"/>
              <a:t>Tactical Task Activity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Tactical Planning Process</a:t>
            </a:r>
          </a:p>
        </p:txBody>
      </p:sp>
      <p:pic>
        <p:nvPicPr>
          <p:cNvPr id="3" name="Picture 2" descr="M09-s25-0-591857f955ad.png"/>
          <p:cNvPicPr>
            <a:picLocks noChangeAspect="1"/>
          </p:cNvPicPr>
          <p:nvPr/>
        </p:nvPicPr>
        <p:blipFill>
          <a:blip r:embed="rId3"/>
          <a:stretch>
            <a:fillRect/>
          </a:stretch>
        </p:blipFill>
        <p:spPr>
          <a:xfrm>
            <a:off x="1170432" y="550265"/>
            <a:ext cx="10936224" cy="5970067"/>
          </a:xfrm>
          <a:prstGeom prst="rect">
            <a:avLst/>
          </a:prstGeom>
        </p:spPr>
      </p:pic>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786384"/>
          </a:xfrm>
        </p:spPr>
        <p:txBody>
          <a:bodyPr wrap="square">
            <a:normAutofit/>
          </a:bodyPr>
          <a:lstStyle/>
          <a:p>
            <a:pPr lvl="1"/>
            <a:r>
              <a:rPr b="1" sz="1600"/>
              <a:t>BAMCIS</a:t>
            </a:r>
            <a:r>
              <a:rPr sz="1600"/>
              <a:t> provides a foundational framework for military leadership and planning at the tactical level.</a:t>
            </a:r>
          </a:p>
        </p:txBody>
      </p:sp>
      <p:sp>
        <p:nvSpPr>
          <p:cNvPr id="3" name="Title 2"/>
          <p:cNvSpPr>
            <a:spLocks noGrp="1"/>
          </p:cNvSpPr>
          <p:nvPr>
            <p:ph type="title"/>
          </p:nvPr>
        </p:nvSpPr>
        <p:spPr/>
        <p:txBody>
          <a:bodyPr wrap="square">
            <a:normAutofit/>
          </a:bodyPr>
          <a:lstStyle/>
          <a:p>
            <a:pPr/>
            <a:r>
              <a:rPr sz="2700"/>
              <a:t>Tactical Planning Process</a:t>
            </a:r>
          </a:p>
        </p:txBody>
      </p:sp>
      <p:graphicFrame>
        <p:nvGraphicFramePr>
          <p:cNvPr id="4" name="Table 3"/>
          <p:cNvGraphicFramePr>
            <a:graphicFrameLocks noGrp="1"/>
          </p:cNvGraphicFramePr>
          <p:nvPr/>
        </p:nvGraphicFramePr>
        <p:xfrm>
          <a:off x="1510029" y="1986781"/>
          <a:ext cx="10361372" cy="3515868"/>
        </p:xfrm>
        <a:graphic>
          <a:graphicData uri="http://schemas.openxmlformats.org/drawingml/2006/table">
            <a:tbl>
              <a:tblPr firstRow="1" bandRow="1">
                <a:tableStyleId>{5C22544A-7EE6-4342-B048-85BDC9FD1C3A}</a:tableStyleId>
              </a:tblPr>
              <a:tblGrid>
                <a:gridCol w="3453790"/>
                <a:gridCol w="3453790"/>
                <a:gridCol w="3453792"/>
              </a:tblGrid>
              <a:tr h="263652">
                <a:tc>
                  <a:txBody>
                    <a:bodyPr wrap="square"/>
                    <a:lstStyle/>
                    <a:p>
                      <a:pPr>
                        <a:defRPr sz="1200"/>
                      </a:pPr>
                      <a:r>
                        <a:t>Acronym</a:t>
                      </a:r>
                    </a:p>
                  </a:txBody>
                  <a:tcPr/>
                </a:tc>
                <a:tc>
                  <a:txBody>
                    <a:bodyPr wrap="square"/>
                    <a:lstStyle/>
                    <a:p>
                      <a:pPr>
                        <a:defRPr sz="1200"/>
                      </a:pPr>
                      <a:r>
                        <a:t>Step</a:t>
                      </a:r>
                    </a:p>
                  </a:txBody>
                  <a:tcPr/>
                </a:tc>
                <a:tc>
                  <a:txBody>
                    <a:bodyPr wrap="square"/>
                    <a:lstStyle/>
                    <a:p>
                      <a:pPr>
                        <a:defRPr sz="1200"/>
                      </a:pPr>
                      <a:r>
                        <a:t>Description</a:t>
                      </a:r>
                    </a:p>
                  </a:txBody>
                  <a:tcPr/>
                </a:tc>
              </a:tr>
              <a:tr h="681228">
                <a:tc>
                  <a:txBody>
                    <a:bodyPr wrap="square"/>
                    <a:lstStyle/>
                    <a:p>
                      <a:pPr>
                        <a:defRPr sz="1200"/>
                      </a:pPr>
                      <a:r>
                        <a:t>B</a:t>
                      </a:r>
                    </a:p>
                  </a:txBody>
                  <a:tcPr/>
                </a:tc>
                <a:tc>
                  <a:txBody>
                    <a:bodyPr wrap="square"/>
                    <a:lstStyle/>
                    <a:p>
                      <a:pPr>
                        <a:defRPr sz="1200"/>
                      </a:pPr>
                      <a:r>
                        <a:t>Begin the Planning</a:t>
                      </a:r>
                    </a:p>
                  </a:txBody>
                  <a:tcPr/>
                </a:tc>
                <a:tc>
                  <a:txBody>
                    <a:bodyPr wrap="square"/>
                    <a:lstStyle/>
                    <a:p>
                      <a:pPr>
                        <a:defRPr sz="1200"/>
                      </a:pPr>
                      <a:r>
                        <a:t>Starts upon receipt of a mission. Involves an initial assessment using the METT-TC framework.</a:t>
                      </a:r>
                    </a:p>
                  </a:txBody>
                  <a:tcPr/>
                </a:tc>
              </a:tr>
              <a:tr h="472440">
                <a:tc>
                  <a:txBody>
                    <a:bodyPr wrap="square"/>
                    <a:lstStyle/>
                    <a:p>
                      <a:pPr>
                        <a:defRPr sz="1200"/>
                      </a:pPr>
                      <a:r>
                        <a:t>A</a:t>
                      </a:r>
                    </a:p>
                  </a:txBody>
                  <a:tcPr/>
                </a:tc>
                <a:tc>
                  <a:txBody>
                    <a:bodyPr wrap="square"/>
                    <a:lstStyle/>
                    <a:p>
                      <a:pPr>
                        <a:defRPr sz="1200"/>
                      </a:pPr>
                      <a:r>
                        <a:t>Arrange Reconnaissance</a:t>
                      </a:r>
                    </a:p>
                  </a:txBody>
                  <a:tcPr/>
                </a:tc>
                <a:tc>
                  <a:txBody>
                    <a:bodyPr wrap="square"/>
                    <a:lstStyle/>
                    <a:p>
                      <a:pPr>
                        <a:defRPr sz="1200"/>
                      </a:pPr>
                      <a:r>
                        <a:t>Determine information gaps and plan to fill them through reconnaissance and surveillance.</a:t>
                      </a:r>
                    </a:p>
                  </a:txBody>
                  <a:tcPr/>
                </a:tc>
              </a:tr>
              <a:tr h="681228">
                <a:tc>
                  <a:txBody>
                    <a:bodyPr wrap="square"/>
                    <a:lstStyle/>
                    <a:p>
                      <a:pPr>
                        <a:defRPr sz="1200"/>
                      </a:pPr>
                      <a:r>
                        <a:t>M</a:t>
                      </a:r>
                    </a:p>
                  </a:txBody>
                  <a:tcPr/>
                </a:tc>
                <a:tc>
                  <a:txBody>
                    <a:bodyPr wrap="square"/>
                    <a:lstStyle/>
                    <a:p>
                      <a:pPr>
                        <a:defRPr sz="1200"/>
                      </a:pPr>
                      <a:r>
                        <a:t>Make Reconnaissance</a:t>
                      </a:r>
                    </a:p>
                  </a:txBody>
                  <a:tcPr/>
                </a:tc>
                <a:tc>
                  <a:txBody>
                    <a:bodyPr wrap="square"/>
                    <a:lstStyle/>
                    <a:p>
                      <a:pPr>
                        <a:defRPr sz="1200"/>
                      </a:pPr>
                      <a:r>
                        <a:t>Execute the reconnaissance plan to confirm or deny assumptions about the enemy and terrain.</a:t>
                      </a:r>
                    </a:p>
                  </a:txBody>
                  <a:tcPr/>
                </a:tc>
              </a:tr>
              <a:tr h="472440">
                <a:tc>
                  <a:txBody>
                    <a:bodyPr wrap="square"/>
                    <a:lstStyle/>
                    <a:p>
                      <a:pPr>
                        <a:defRPr sz="1200"/>
                      </a:pPr>
                      <a:r>
                        <a:t>C</a:t>
                      </a:r>
                    </a:p>
                  </a:txBody>
                  <a:tcPr/>
                </a:tc>
                <a:tc>
                  <a:txBody>
                    <a:bodyPr wrap="square"/>
                    <a:lstStyle/>
                    <a:p>
                      <a:pPr>
                        <a:defRPr sz="1200"/>
                      </a:pPr>
                      <a:r>
                        <a:t>Complete the Planning</a:t>
                      </a:r>
                    </a:p>
                  </a:txBody>
                  <a:tcPr/>
                </a:tc>
                <a:tc>
                  <a:txBody>
                    <a:bodyPr wrap="square"/>
                    <a:lstStyle/>
                    <a:p>
                      <a:pPr>
                        <a:defRPr sz="1200"/>
                      </a:pPr>
                      <a:r>
                        <a:t>Finalize the operational plan based on updated information gathered during reconnaissance.</a:t>
                      </a:r>
                    </a:p>
                  </a:txBody>
                  <a:tcPr/>
                </a:tc>
              </a:tr>
              <a:tr h="472440">
                <a:tc>
                  <a:txBody>
                    <a:bodyPr wrap="square"/>
                    <a:lstStyle/>
                    <a:p>
                      <a:pPr>
                        <a:defRPr sz="1200"/>
                      </a:pPr>
                      <a:r>
                        <a:t>I</a:t>
                      </a:r>
                    </a:p>
                  </a:txBody>
                  <a:tcPr/>
                </a:tc>
                <a:tc>
                  <a:txBody>
                    <a:bodyPr wrap="square"/>
                    <a:lstStyle/>
                    <a:p>
                      <a:pPr>
                        <a:defRPr sz="1200"/>
                      </a:pPr>
                      <a:r>
                        <a:t>Issue the Order</a:t>
                      </a:r>
                    </a:p>
                  </a:txBody>
                  <a:tcPr/>
                </a:tc>
                <a:tc>
                  <a:txBody>
                    <a:bodyPr wrap="square"/>
                    <a:lstStyle/>
                    <a:p>
                      <a:pPr>
                        <a:defRPr sz="1200"/>
                      </a:pPr>
                      <a:r>
                        <a:t>Clearly and concisely communicate the finalized plan to subordinate leaders.</a:t>
                      </a:r>
                    </a:p>
                  </a:txBody>
                  <a:tcPr/>
                </a:tc>
              </a:tr>
              <a:tr h="472440">
                <a:tc>
                  <a:txBody>
                    <a:bodyPr wrap="square"/>
                    <a:lstStyle/>
                    <a:p>
                      <a:pPr>
                        <a:defRPr sz="1200"/>
                      </a:pPr>
                      <a:r>
                        <a:t>S</a:t>
                      </a:r>
                    </a:p>
                  </a:txBody>
                  <a:tcPr/>
                </a:tc>
                <a:tc>
                  <a:txBody>
                    <a:bodyPr wrap="square"/>
                    <a:lstStyle/>
                    <a:p>
                      <a:pPr>
                        <a:defRPr sz="1200"/>
                      </a:pPr>
                      <a:r>
                        <a:t>Supervise</a:t>
                      </a:r>
                    </a:p>
                  </a:txBody>
                  <a:tcPr/>
                </a:tc>
                <a:tc>
                  <a:txBody>
                    <a:bodyPr wrap="square"/>
                    <a:lstStyle/>
                    <a:p>
                      <a:pPr>
                        <a:defRPr sz="1200"/>
                      </a:pPr>
                      <a:r>
                        <a:t>Oversee the execution of the plan, making adjustments as the situation evolves.</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Tactical Planning Process</a:t>
            </a:r>
          </a:p>
        </p:txBody>
      </p:sp>
      <p:pic>
        <p:nvPicPr>
          <p:cNvPr id="3" name="Picture 2" descr="M09-s27-0-610a916a3552.png"/>
          <p:cNvPicPr>
            <a:picLocks noChangeAspect="1"/>
          </p:cNvPicPr>
          <p:nvPr/>
        </p:nvPicPr>
        <p:blipFill>
          <a:blip r:embed="rId3"/>
          <a:stretch>
            <a:fillRect/>
          </a:stretch>
        </p:blipFill>
        <p:spPr>
          <a:xfrm>
            <a:off x="1511808" y="522428"/>
            <a:ext cx="9826752" cy="5408522"/>
          </a:xfrm>
          <a:prstGeom prst="rect">
            <a:avLst/>
          </a:prstGeom>
        </p:spPr>
      </p:pic>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1097280"/>
          </a:xfrm>
        </p:spPr>
        <p:txBody>
          <a:bodyPr wrap="square">
            <a:normAutofit/>
          </a:bodyPr>
          <a:lstStyle/>
          <a:p>
            <a:pPr lvl="1"/>
            <a:r>
              <a:rPr b="1" sz="1400"/>
              <a:t>Estimate of the Situation: METT-TC</a:t>
            </a:r>
          </a:p>
          <a:p>
            <a:pPr lvl="1"/>
            <a:r>
              <a:rPr b="1" sz="1400"/>
              <a:t>METT-TC</a:t>
            </a:r>
            <a:r>
              <a:rPr sz="1400"/>
              <a:t> is the primary tool used to Begin the Planning. It is a systematic analysis of the key variables in any tactical situation.</a:t>
            </a:r>
          </a:p>
        </p:txBody>
      </p:sp>
      <p:sp>
        <p:nvSpPr>
          <p:cNvPr id="3" name="Title 2"/>
          <p:cNvSpPr>
            <a:spLocks noGrp="1"/>
          </p:cNvSpPr>
          <p:nvPr>
            <p:ph type="title"/>
          </p:nvPr>
        </p:nvSpPr>
        <p:spPr/>
        <p:txBody>
          <a:bodyPr wrap="square">
            <a:normAutofit/>
          </a:bodyPr>
          <a:lstStyle/>
          <a:p>
            <a:pPr/>
            <a:r>
              <a:rPr sz="2700"/>
              <a:t>Tactical Planning Process</a:t>
            </a:r>
          </a:p>
        </p:txBody>
      </p:sp>
      <p:graphicFrame>
        <p:nvGraphicFramePr>
          <p:cNvPr id="4" name="Table 3"/>
          <p:cNvGraphicFramePr>
            <a:graphicFrameLocks noGrp="1"/>
          </p:cNvGraphicFramePr>
          <p:nvPr/>
        </p:nvGraphicFramePr>
        <p:xfrm>
          <a:off x="1510029" y="2297677"/>
          <a:ext cx="10361372" cy="3515868"/>
        </p:xfrm>
        <a:graphic>
          <a:graphicData uri="http://schemas.openxmlformats.org/drawingml/2006/table">
            <a:tbl>
              <a:tblPr firstRow="1" bandRow="1">
                <a:tableStyleId>{5C22544A-7EE6-4342-B048-85BDC9FD1C3A}</a:tableStyleId>
              </a:tblPr>
              <a:tblGrid>
                <a:gridCol w="3453790"/>
                <a:gridCol w="3453790"/>
                <a:gridCol w="3453792"/>
              </a:tblGrid>
              <a:tr h="263652">
                <a:tc>
                  <a:txBody>
                    <a:bodyPr wrap="square"/>
                    <a:lstStyle/>
                    <a:p>
                      <a:pPr>
                        <a:defRPr sz="1200"/>
                      </a:pPr>
                      <a:r>
                        <a:t>Acronym</a:t>
                      </a:r>
                    </a:p>
                  </a:txBody>
                  <a:tcPr/>
                </a:tc>
                <a:tc>
                  <a:txBody>
                    <a:bodyPr wrap="square"/>
                    <a:lstStyle/>
                    <a:p>
                      <a:pPr>
                        <a:defRPr sz="1200"/>
                      </a:pPr>
                      <a:r>
                        <a:t>Factor</a:t>
                      </a:r>
                    </a:p>
                  </a:txBody>
                  <a:tcPr/>
                </a:tc>
                <a:tc>
                  <a:txBody>
                    <a:bodyPr wrap="square"/>
                    <a:lstStyle/>
                    <a:p>
                      <a:pPr>
                        <a:defRPr sz="1200"/>
                      </a:pPr>
                      <a:r>
                        <a:t>Cyberspace Considerations</a:t>
                      </a:r>
                    </a:p>
                  </a:txBody>
                  <a:tcPr/>
                </a:tc>
              </a:tr>
              <a:tr h="681228">
                <a:tc>
                  <a:txBody>
                    <a:bodyPr wrap="square"/>
                    <a:lstStyle/>
                    <a:p>
                      <a:pPr>
                        <a:defRPr sz="1200"/>
                      </a:pPr>
                      <a:r>
                        <a:t>M</a:t>
                      </a:r>
                    </a:p>
                  </a:txBody>
                  <a:tcPr/>
                </a:tc>
                <a:tc>
                  <a:txBody>
                    <a:bodyPr wrap="square"/>
                    <a:lstStyle/>
                    <a:p>
                      <a:pPr>
                        <a:defRPr sz="1200"/>
                      </a:pPr>
                      <a:r>
                        <a:t>Mission</a:t>
                      </a:r>
                    </a:p>
                  </a:txBody>
                  <a:tcPr/>
                </a:tc>
                <a:tc>
                  <a:txBody>
                    <a:bodyPr wrap="square"/>
                    <a:lstStyle/>
                    <a:p>
                      <a:pPr>
                        <a:defRPr sz="1200"/>
                      </a:pPr>
                      <a:r>
                        <a:t>Analyze specified and implied tasks from higher echelons. Understand the “why” (commander’s intent).</a:t>
                      </a:r>
                    </a:p>
                  </a:txBody>
                  <a:tcPr/>
                </a:tc>
              </a:tr>
              <a:tr h="472440">
                <a:tc>
                  <a:txBody>
                    <a:bodyPr wrap="square"/>
                    <a:lstStyle/>
                    <a:p>
                      <a:pPr>
                        <a:defRPr sz="1200"/>
                      </a:pPr>
                      <a:r>
                        <a:t>E</a:t>
                      </a:r>
                    </a:p>
                  </a:txBody>
                  <a:tcPr/>
                </a:tc>
                <a:tc>
                  <a:txBody>
                    <a:bodyPr wrap="square"/>
                    <a:lstStyle/>
                    <a:p>
                      <a:pPr>
                        <a:defRPr sz="1200"/>
                      </a:pPr>
                      <a:r>
                        <a:t>Enemy</a:t>
                      </a:r>
                    </a:p>
                  </a:txBody>
                  <a:tcPr/>
                </a:tc>
                <a:tc>
                  <a:txBody>
                    <a:bodyPr wrap="square"/>
                    <a:lstStyle/>
                    <a:p>
                      <a:pPr>
                        <a:defRPr sz="1200"/>
                      </a:pPr>
                      <a:r>
                        <a:t>Analyze adversary composition, disposition, strength, and capabilities.</a:t>
                      </a:r>
                    </a:p>
                  </a:txBody>
                  <a:tcPr/>
                </a:tc>
              </a:tr>
              <a:tr h="472440">
                <a:tc>
                  <a:txBody>
                    <a:bodyPr wrap="square"/>
                    <a:lstStyle/>
                    <a:p>
                      <a:pPr>
                        <a:defRPr sz="1200"/>
                      </a:pPr>
                      <a:r>
                        <a:t>T</a:t>
                      </a:r>
                    </a:p>
                  </a:txBody>
                  <a:tcPr/>
                </a:tc>
                <a:tc>
                  <a:txBody>
                    <a:bodyPr wrap="square"/>
                    <a:lstStyle/>
                    <a:p>
                      <a:pPr>
                        <a:defRPr sz="1200"/>
                      </a:pPr>
                      <a:r>
                        <a:t>Troops &amp; Fire Support</a:t>
                      </a:r>
                    </a:p>
                  </a:txBody>
                  <a:tcPr/>
                </a:tc>
                <a:tc>
                  <a:txBody>
                    <a:bodyPr wrap="square"/>
                    <a:lstStyle/>
                    <a:p>
                      <a:pPr>
                        <a:defRPr sz="1200"/>
                      </a:pPr>
                      <a:r>
                        <a:t>Catalog organic and attached assets, skills, tools, and higher-level support.</a:t>
                      </a:r>
                    </a:p>
                  </a:txBody>
                  <a:tcPr/>
                </a:tc>
              </a:tr>
              <a:tr h="681228">
                <a:tc>
                  <a:txBody>
                    <a:bodyPr wrap="square"/>
                    <a:lstStyle/>
                    <a:p>
                      <a:pPr>
                        <a:defRPr sz="1200"/>
                      </a:pPr>
                      <a:r>
                        <a:t>T</a:t>
                      </a:r>
                    </a:p>
                  </a:txBody>
                  <a:tcPr/>
                </a:tc>
                <a:tc>
                  <a:txBody>
                    <a:bodyPr wrap="square"/>
                    <a:lstStyle/>
                    <a:p>
                      <a:pPr>
                        <a:defRPr sz="1200"/>
                      </a:pPr>
                      <a:r>
                        <a:t>Terrain &amp; Weather</a:t>
                      </a:r>
                    </a:p>
                  </a:txBody>
                  <a:tcPr/>
                </a:tc>
                <a:tc>
                  <a:txBody>
                    <a:bodyPr wrap="square"/>
                    <a:lstStyle/>
                    <a:p>
                      <a:pPr>
                        <a:defRPr sz="1200"/>
                      </a:pPr>
                      <a:r>
                        <a:t>Analyze the digital and physical environment from both friendly and adversary perspectives.</a:t>
                      </a:r>
                    </a:p>
                  </a:txBody>
                  <a:tcPr/>
                </a:tc>
              </a:tr>
              <a:tr h="472440">
                <a:tc>
                  <a:txBody>
                    <a:bodyPr wrap="square"/>
                    <a:lstStyle/>
                    <a:p>
                      <a:pPr>
                        <a:defRPr sz="1200"/>
                      </a:pPr>
                      <a:r>
                        <a:t>T</a:t>
                      </a:r>
                    </a:p>
                  </a:txBody>
                  <a:tcPr/>
                </a:tc>
                <a:tc>
                  <a:txBody>
                    <a:bodyPr wrap="square"/>
                    <a:lstStyle/>
                    <a:p>
                      <a:pPr>
                        <a:defRPr sz="1200"/>
                      </a:pPr>
                      <a:r>
                        <a:t>Time/Space/Logistics</a:t>
                      </a:r>
                    </a:p>
                  </a:txBody>
                  <a:tcPr/>
                </a:tc>
                <a:tc>
                  <a:txBody>
                    <a:bodyPr wrap="square"/>
                    <a:lstStyle/>
                    <a:p>
                      <a:pPr>
                        <a:defRPr sz="1200"/>
                      </a:pPr>
                      <a:r>
                        <a:t>Assess time available, operational area (logical/physical), and logistical constraints.</a:t>
                      </a:r>
                    </a:p>
                  </a:txBody>
                  <a:tcPr/>
                </a:tc>
              </a:tr>
              <a:tr h="472440">
                <a:tc>
                  <a:txBody>
                    <a:bodyPr wrap="square"/>
                    <a:lstStyle/>
                    <a:p>
                      <a:pPr>
                        <a:defRPr sz="1200"/>
                      </a:pPr>
                      <a:r>
                        <a:t>C</a:t>
                      </a:r>
                    </a:p>
                  </a:txBody>
                  <a:tcPr/>
                </a:tc>
                <a:tc>
                  <a:txBody>
                    <a:bodyPr wrap="square"/>
                    <a:lstStyle/>
                    <a:p>
                      <a:pPr>
                        <a:defRPr sz="1200"/>
                      </a:pPr>
                      <a:r>
                        <a:t>Civilian Considerations</a:t>
                      </a:r>
                    </a:p>
                  </a:txBody>
                  <a:tcPr/>
                </a:tc>
                <a:tc>
                  <a:txBody>
                    <a:bodyPr wrap="square"/>
                    <a:lstStyle/>
                    <a:p>
                      <a:pPr>
                        <a:defRPr sz="1200"/>
                      </a:pPr>
                      <a:r>
                        <a:t>Evaluate potential impacts on non-combatant populations and infrastructure.</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Mission Analysis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000"/>
              <a:t>Core Task: </a:t>
            </a:r>
          </a:p>
          <a:p>
            <a:pPr lvl="1"/>
            <a:r>
              <a:rPr sz="2000"/>
              <a:t>To understand the unit's mission and the commander's intent.</a:t>
            </a:r>
          </a:p>
          <a:p>
            <a:pPr/>
            <a:r>
              <a:rPr b="1" sz="2000"/>
              <a:t>Process:</a:t>
            </a:r>
          </a:p>
          <a:p>
            <a:pPr lvl="1"/>
            <a:r>
              <a:rPr b="1" sz="2000"/>
              <a:t>1. Identify Tasks: </a:t>
            </a:r>
            <a:r>
              <a:rPr sz="2000"/>
              <a:t>Deconstruct the order from higher echelons into:</a:t>
            </a:r>
          </a:p>
          <a:p>
            <a:pPr lvl="2"/>
            <a:r>
              <a:rPr b="1" sz="2000"/>
              <a:t>Specified Tasks:</a:t>
            </a:r>
            <a:r>
              <a:rPr sz="2000"/>
              <a:t> Explicitly stated in the order.</a:t>
            </a:r>
          </a:p>
          <a:p>
            <a:pPr lvl="2"/>
            <a:r>
              <a:rPr b="1" sz="2000"/>
              <a:t>Implied Tasks:</a:t>
            </a:r>
            <a:r>
              <a:rPr sz="2000"/>
              <a:t> Not explicitly stated but necessary for mission accomplishment.</a:t>
            </a:r>
          </a:p>
          <a:p>
            <a:pPr lvl="1"/>
            <a:r>
              <a:rPr b="1" sz="2000"/>
              <a:t>2. Conduct Purpose Analysis: </a:t>
            </a:r>
            <a:r>
              <a:rPr sz="2000"/>
              <a:t>Determine the "why" behind the mission.</a:t>
            </a:r>
          </a:p>
          <a:p>
            <a:pPr lvl="2"/>
            <a:r>
              <a:rPr sz="2000"/>
              <a:t>What is the desired end state?</a:t>
            </a:r>
          </a:p>
          <a:p>
            <a:pPr lvl="2"/>
            <a:r>
              <a:rPr sz="2000"/>
              <a:t>What is the commander's overall intent?</a:t>
            </a:r>
          </a:p>
        </p:txBody>
      </p:sp>
      <p:sp>
        <p:nvSpPr>
          <p:cNvPr id="3" name="Title 2"/>
          <p:cNvSpPr>
            <a:spLocks noGrp="1"/>
          </p:cNvSpPr>
          <p:nvPr>
            <p:ph type="title"/>
          </p:nvPr>
        </p:nvSpPr>
        <p:spPr/>
        <p:txBody>
          <a:bodyPr wrap="square">
            <a:normAutofit/>
          </a:bodyPr>
          <a:lstStyle/>
          <a:p>
            <a:pPr/>
            <a:r>
              <a:rPr sz="2700"/>
              <a:t>Mission Analysis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400"/>
              <a:t>Deny or degrade the FSB Center 18's ability to collect intelligence from Network X in order to preserve friendly freedom of maneuver in cyberspace.</a:t>
            </a:r>
          </a:p>
        </p:txBody>
      </p:sp>
      <p:sp>
        <p:nvSpPr>
          <p:cNvPr id="3" name="Title 2"/>
          <p:cNvSpPr>
            <a:spLocks noGrp="1"/>
          </p:cNvSpPr>
          <p:nvPr>
            <p:ph type="title"/>
          </p:nvPr>
        </p:nvSpPr>
        <p:spPr/>
        <p:txBody>
          <a:bodyPr wrap="square">
            <a:normAutofit/>
          </a:bodyPr>
          <a:lstStyle/>
          <a:p>
            <a:pPr/>
            <a:r>
              <a:rPr sz="2700"/>
              <a:t>Mission Analysis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Enemy Analysis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786384"/>
          </a:xfrm>
        </p:spPr>
        <p:txBody>
          <a:bodyPr wrap="square">
            <a:normAutofit/>
          </a:bodyPr>
          <a:lstStyle/>
          <a:p>
            <a:pPr lvl="1"/>
            <a:r>
              <a:rPr b="1" sz="1200"/>
              <a:t>Enemy Analysis </a:t>
            </a:r>
            <a:r>
              <a:rPr sz="1200"/>
              <a:t>- Composition, Disposition &amp; Strength</a:t>
            </a:r>
          </a:p>
          <a:p>
            <a:pPr lvl="1"/>
            <a:r>
              <a:rPr sz="1200"/>
              <a:t>A SALUTE report provides a clear picture of the adversary.</a:t>
            </a:r>
          </a:p>
        </p:txBody>
      </p:sp>
      <p:sp>
        <p:nvSpPr>
          <p:cNvPr id="3" name="Title 2"/>
          <p:cNvSpPr>
            <a:spLocks noGrp="1"/>
          </p:cNvSpPr>
          <p:nvPr>
            <p:ph type="title"/>
          </p:nvPr>
        </p:nvSpPr>
        <p:spPr/>
        <p:txBody>
          <a:bodyPr wrap="square">
            <a:normAutofit/>
          </a:bodyPr>
          <a:lstStyle/>
          <a:p>
            <a:pPr/>
            <a:r>
              <a:rPr sz="2700"/>
              <a:t>Enemy Analysis: SALUTE</a:t>
            </a:r>
          </a:p>
        </p:txBody>
      </p:sp>
      <p:graphicFrame>
        <p:nvGraphicFramePr>
          <p:cNvPr id="4" name="Table 3"/>
          <p:cNvGraphicFramePr>
            <a:graphicFrameLocks noGrp="1"/>
          </p:cNvGraphicFramePr>
          <p:nvPr/>
        </p:nvGraphicFramePr>
        <p:xfrm>
          <a:off x="1510029" y="1986781"/>
          <a:ext cx="10361372" cy="3933444"/>
        </p:xfrm>
        <a:graphic>
          <a:graphicData uri="http://schemas.openxmlformats.org/drawingml/2006/table">
            <a:tbl>
              <a:tblPr firstRow="1" bandRow="1">
                <a:tableStyleId>{5C22544A-7EE6-4342-B048-85BDC9FD1C3A}</a:tableStyleId>
              </a:tblPr>
              <a:tblGrid>
                <a:gridCol w="3453790"/>
                <a:gridCol w="3453790"/>
                <a:gridCol w="3453792"/>
              </a:tblGrid>
              <a:tr h="263652">
                <a:tc>
                  <a:txBody>
                    <a:bodyPr wrap="square"/>
                    <a:lstStyle/>
                    <a:p>
                      <a:pPr>
                        <a:defRPr sz="1200"/>
                      </a:pPr>
                      <a:r>
                        <a:t>Acronym</a:t>
                      </a:r>
                    </a:p>
                  </a:txBody>
                  <a:tcPr/>
                </a:tc>
                <a:tc>
                  <a:txBody>
                    <a:bodyPr wrap="square"/>
                    <a:lstStyle/>
                    <a:p>
                      <a:pPr>
                        <a:defRPr sz="1200"/>
                      </a:pPr>
                      <a:r>
                        <a:t>Factor</a:t>
                      </a:r>
                    </a:p>
                  </a:txBody>
                  <a:tcPr/>
                </a:tc>
                <a:tc>
                  <a:txBody>
                    <a:bodyPr wrap="square"/>
                    <a:lstStyle/>
                    <a:p>
                      <a:pPr>
                        <a:defRPr sz="1200"/>
                      </a:pPr>
                      <a:r>
                        <a:t>Cyberspace Considerations</a:t>
                      </a:r>
                    </a:p>
                  </a:txBody>
                  <a:tcPr/>
                </a:tc>
              </a:tr>
              <a:tr h="890016">
                <a:tc>
                  <a:txBody>
                    <a:bodyPr wrap="square"/>
                    <a:lstStyle/>
                    <a:p>
                      <a:pPr>
                        <a:defRPr sz="1200"/>
                      </a:pPr>
                      <a:r>
                        <a:t>S</a:t>
                      </a:r>
                    </a:p>
                  </a:txBody>
                  <a:tcPr/>
                </a:tc>
                <a:tc>
                  <a:txBody>
                    <a:bodyPr wrap="square"/>
                    <a:lstStyle/>
                    <a:p>
                      <a:pPr>
                        <a:defRPr sz="1200"/>
                      </a:pPr>
                      <a:r>
                        <a:t>Size</a:t>
                      </a:r>
                    </a:p>
                  </a:txBody>
                  <a:tcPr/>
                </a:tc>
                <a:tc>
                  <a:txBody>
                    <a:bodyPr wrap="square"/>
                    <a:lstStyle/>
                    <a:p>
                      <a:pPr>
                        <a:defRPr sz="1200"/>
                      </a:pPr>
                      <a:r>
                        <a:t>Nation-state, criminal group, or individual? Assess via estimated monetary backing, manpower, and technical capability (e.g., use of SI).</a:t>
                      </a:r>
                    </a:p>
                  </a:txBody>
                  <a:tcPr/>
                </a:tc>
              </a:tr>
              <a:tr h="472440">
                <a:tc>
                  <a:txBody>
                    <a:bodyPr wrap="square"/>
                    <a:lstStyle/>
                    <a:p>
                      <a:pPr>
                        <a:defRPr sz="1200"/>
                      </a:pPr>
                      <a:r>
                        <a:t>A</a:t>
                      </a:r>
                    </a:p>
                  </a:txBody>
                  <a:tcPr/>
                </a:tc>
                <a:tc>
                  <a:txBody>
                    <a:bodyPr wrap="square"/>
                    <a:lstStyle/>
                    <a:p>
                      <a:pPr>
                        <a:defRPr sz="1200"/>
                      </a:pPr>
                      <a:r>
                        <a:t>Activity</a:t>
                      </a:r>
                    </a:p>
                  </a:txBody>
                  <a:tcPr/>
                </a:tc>
                <a:tc>
                  <a:txBody>
                    <a:bodyPr wrap="square"/>
                    <a:lstStyle/>
                    <a:p>
                      <a:pPr>
                        <a:defRPr sz="1200"/>
                      </a:pPr>
                      <a:r>
                        <a:t>What are they doing? Map adversary action to a standardized framework like MITRE ATT&amp;CK®.</a:t>
                      </a:r>
                    </a:p>
                  </a:txBody>
                  <a:tcPr/>
                </a:tc>
              </a:tr>
              <a:tr h="681228">
                <a:tc>
                  <a:txBody>
                    <a:bodyPr wrap="square"/>
                    <a:lstStyle/>
                    <a:p>
                      <a:pPr>
                        <a:defRPr sz="1200"/>
                      </a:pPr>
                      <a:r>
                        <a:t>L</a:t>
                      </a:r>
                    </a:p>
                  </a:txBody>
                  <a:tcPr/>
                </a:tc>
                <a:tc>
                  <a:txBody>
                    <a:bodyPr wrap="square"/>
                    <a:lstStyle/>
                    <a:p>
                      <a:pPr>
                        <a:defRPr sz="1200"/>
                      </a:pPr>
                      <a:r>
                        <a:t>Location</a:t>
                      </a:r>
                    </a:p>
                  </a:txBody>
                  <a:tcPr/>
                </a:tc>
                <a:tc>
                  <a:txBody>
                    <a:bodyPr wrap="square"/>
                    <a:lstStyle/>
                    <a:p>
                      <a:pPr>
                        <a:defRPr sz="1200"/>
                      </a:pPr>
                      <a:r>
                        <a:t>Where are they operating? Differentiate between physical location (Country X) and logical location (Cloud provider in Country Y).</a:t>
                      </a:r>
                    </a:p>
                  </a:txBody>
                  <a:tcPr/>
                </a:tc>
              </a:tr>
              <a:tr h="681228">
                <a:tc>
                  <a:txBody>
                    <a:bodyPr wrap="square"/>
                    <a:lstStyle/>
                    <a:p>
                      <a:pPr>
                        <a:defRPr sz="1200"/>
                      </a:pPr>
                      <a:r>
                        <a:t>U</a:t>
                      </a:r>
                    </a:p>
                  </a:txBody>
                  <a:tcPr/>
                </a:tc>
                <a:tc>
                  <a:txBody>
                    <a:bodyPr wrap="square"/>
                    <a:lstStyle/>
                    <a:p>
                      <a:pPr>
                        <a:defRPr sz="1200"/>
                      </a:pPr>
                      <a:r>
                        <a:t>Unit</a:t>
                      </a:r>
                    </a:p>
                  </a:txBody>
                  <a:tcPr/>
                </a:tc>
                <a:tc>
                  <a:txBody>
                    <a:bodyPr wrap="square"/>
                    <a:lstStyle/>
                    <a:p>
                      <a:pPr>
                        <a:defRPr sz="1200"/>
                      </a:pPr>
                      <a:r>
                        <a:t>Who are they? Identify specific threat actor groups and their affiliation (e.g., foreign intelligence or military unit).</a:t>
                      </a:r>
                    </a:p>
                  </a:txBody>
                  <a:tcPr/>
                </a:tc>
              </a:tr>
              <a:tr h="472440">
                <a:tc>
                  <a:txBody>
                    <a:bodyPr wrap="square"/>
                    <a:lstStyle/>
                    <a:p>
                      <a:pPr>
                        <a:defRPr sz="1200"/>
                      </a:pPr>
                      <a:r>
                        <a:t>T</a:t>
                      </a:r>
                    </a:p>
                  </a:txBody>
                  <a:tcPr/>
                </a:tc>
                <a:tc>
                  <a:txBody>
                    <a:bodyPr wrap="square"/>
                    <a:lstStyle/>
                    <a:p>
                      <a:pPr>
                        <a:defRPr sz="1200"/>
                      </a:pPr>
                      <a:r>
                        <a:t>Time</a:t>
                      </a:r>
                    </a:p>
                  </a:txBody>
                  <a:tcPr/>
                </a:tc>
                <a:tc>
                  <a:txBody>
                    <a:bodyPr wrap="square"/>
                    <a:lstStyle/>
                    <a:p>
                      <a:pPr>
                        <a:defRPr sz="1200"/>
                      </a:pPr>
                      <a:r>
                        <a:t>When was the activity observed? Recency is critical to assessing current threat.</a:t>
                      </a:r>
                    </a:p>
                  </a:txBody>
                  <a:tcPr/>
                </a:tc>
              </a:tr>
              <a:tr h="472440">
                <a:tc>
                  <a:txBody>
                    <a:bodyPr wrap="square"/>
                    <a:lstStyle/>
                    <a:p>
                      <a:pPr>
                        <a:defRPr sz="1200"/>
                      </a:pPr>
                      <a:r>
                        <a:t>E</a:t>
                      </a:r>
                    </a:p>
                  </a:txBody>
                  <a:tcPr/>
                </a:tc>
                <a:tc>
                  <a:txBody>
                    <a:bodyPr wrap="square"/>
                    <a:lstStyle/>
                    <a:p>
                      <a:pPr>
                        <a:defRPr sz="1200"/>
                      </a:pPr>
                      <a:r>
                        <a:t>Equipment</a:t>
                      </a:r>
                    </a:p>
                  </a:txBody>
                  <a:tcPr/>
                </a:tc>
                <a:tc>
                  <a:txBody>
                    <a:bodyPr wrap="square"/>
                    <a:lstStyle/>
                    <a:p>
                      <a:pPr>
                        <a:defRPr sz="1200"/>
                      </a:pPr>
                      <a:r>
                        <a:t>What tools are they using? Identify specific malware, C2 frameworks, and exploit kits.</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300"/>
              <a:t>Practical Application: SALUTE Analysis Group Exercise</a:t>
            </a:r>
          </a:p>
          <a:p>
            <a:pPr/>
            <a:r>
              <a:rPr b="1" sz="2300"/>
              <a:t>Objective: </a:t>
            </a:r>
            <a:r>
              <a:rPr sz="2300"/>
              <a:t>Apply the SALUTE framework to a real-world adversary.</a:t>
            </a:r>
          </a:p>
          <a:p>
            <a:pPr/>
            <a:r>
              <a:rPr b="1" sz="2300"/>
              <a:t>Instructions:</a:t>
            </a:r>
          </a:p>
          <a:p>
            <a:pPr lvl="1"/>
            <a:r>
              <a:rPr sz="2300"/>
              <a:t>Each team will be provided a threat intelligence report on FSB Center 18</a:t>
            </a:r>
          </a:p>
          <a:p>
            <a:pPr lvl="1"/>
            <a:r>
              <a:rPr sz="2300"/>
              <a:t>Conduct a SALUTE analysis based on the information in the report.</a:t>
            </a:r>
          </a:p>
          <a:p>
            <a:pPr lvl="2"/>
            <a:r>
              <a:rPr sz="2300"/>
              <a:t>Document any RFIs that are likely needed to be submitted</a:t>
            </a:r>
          </a:p>
          <a:p>
            <a:pPr lvl="1"/>
            <a:r>
              <a:rPr sz="2300"/>
              <a:t>Prepare a 2-minute brief to present your findings to the class.</a:t>
            </a:r>
          </a:p>
        </p:txBody>
      </p:sp>
      <p:sp>
        <p:nvSpPr>
          <p:cNvPr id="3" name="Title 2"/>
          <p:cNvSpPr>
            <a:spLocks noGrp="1"/>
          </p:cNvSpPr>
          <p:nvPr>
            <p:ph type="title"/>
          </p:nvPr>
        </p:nvSpPr>
        <p:spPr/>
        <p:txBody>
          <a:bodyPr wrap="square">
            <a:normAutofit/>
          </a:bodyPr>
          <a:lstStyle/>
          <a:p>
            <a:pPr/>
            <a:r>
              <a:rPr sz="2700"/>
              <a:t>Enemy Analysis: SALUTE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Size: </a:t>
            </a:r>
          </a:p>
          <a:p>
            <a:pPr/>
            <a:r>
              <a:rPr b="1" sz="2400"/>
              <a:t>Activity: </a:t>
            </a:r>
          </a:p>
          <a:p>
            <a:pPr/>
            <a:r>
              <a:rPr b="1" sz="2400"/>
              <a:t>Location: </a:t>
            </a:r>
          </a:p>
          <a:p>
            <a:pPr/>
            <a:r>
              <a:rPr b="1" sz="2400"/>
              <a:t>Unit: </a:t>
            </a:r>
          </a:p>
          <a:p>
            <a:pPr/>
            <a:r>
              <a:rPr b="1" sz="2400"/>
              <a:t>Time: </a:t>
            </a:r>
          </a:p>
          <a:p>
            <a:pPr/>
            <a:r>
              <a:rPr b="1" sz="2400"/>
              <a:t>Equipment:</a:t>
            </a:r>
          </a:p>
        </p:txBody>
      </p:sp>
      <p:sp>
        <p:nvSpPr>
          <p:cNvPr id="3" name="Title 2"/>
          <p:cNvSpPr>
            <a:spLocks noGrp="1"/>
          </p:cNvSpPr>
          <p:nvPr>
            <p:ph type="title"/>
          </p:nvPr>
        </p:nvSpPr>
        <p:spPr/>
        <p:txBody>
          <a:bodyPr wrap="square">
            <a:normAutofit/>
          </a:bodyPr>
          <a:lstStyle/>
          <a:p>
            <a:pPr/>
            <a:r>
              <a:rPr sz="2700"/>
              <a:t>Enemy Analysis: SALUTE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Enemy Analysis </a:t>
            </a:r>
            <a:r>
              <a:rPr sz="2400"/>
              <a:t>- Capabilities &amp; Limitations</a:t>
            </a:r>
          </a:p>
          <a:p>
            <a:pPr/>
            <a:r>
              <a:rPr b="1" sz="2400"/>
              <a:t>Initial Access: </a:t>
            </a:r>
            <a:r>
              <a:rPr sz="2400"/>
              <a:t>Spearphishing (malicious LNK/HTA attachments) and weaponized USB drives (PteroLNK).</a:t>
            </a:r>
          </a:p>
          <a:p>
            <a:pPr/>
            <a:r>
              <a:rPr b="1" sz="2400"/>
              <a:t>Data Exfiltration: </a:t>
            </a:r>
            <a:r>
              <a:rPr sz="2400"/>
              <a:t>Stealing documents, browser credentials (PteroSteal), cookies (PteroCookie), and data from Signal (PteroSig) and Telegram (PteroGram).</a:t>
            </a:r>
          </a:p>
          <a:p>
            <a:pPr/>
            <a:r>
              <a:rPr b="1" sz="2400"/>
              <a:t>Persistence &amp; Lateral Movement: </a:t>
            </a:r>
            <a:r>
              <a:rPr sz="2400"/>
              <a:t>Weaponized Office templates (PteroDoc, PteroTemplate) and extensive use of scheduled tasks.</a:t>
            </a:r>
          </a:p>
        </p:txBody>
      </p:sp>
      <p:sp>
        <p:nvSpPr>
          <p:cNvPr id="3" name="Title 2"/>
          <p:cNvSpPr>
            <a:spLocks noGrp="1"/>
          </p:cNvSpPr>
          <p:nvPr>
            <p:ph type="title"/>
          </p:nvPr>
        </p:nvSpPr>
        <p:spPr/>
        <p:txBody>
          <a:bodyPr wrap="square">
            <a:normAutofit/>
          </a:bodyPr>
          <a:lstStyle/>
          <a:p>
            <a:pPr/>
            <a:r>
              <a:rPr sz="2700"/>
              <a:t>Enemy Analysis: How they Operate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640080"/>
          </a:xfrm>
        </p:spPr>
        <p:txBody>
          <a:bodyPr wrap="square">
            <a:normAutofit/>
          </a:bodyPr>
          <a:lstStyle/>
          <a:p>
            <a:pPr/>
            <a:r>
              <a:rPr b="1" sz="1800"/>
              <a:t>Enemy Analysis </a:t>
            </a:r>
            <a:r>
              <a:rPr sz="1800"/>
              <a:t>- Capabilities &amp; Limitations</a:t>
            </a:r>
          </a:p>
        </p:txBody>
      </p:sp>
      <p:sp>
        <p:nvSpPr>
          <p:cNvPr id="3" name="Title 2"/>
          <p:cNvSpPr>
            <a:spLocks noGrp="1"/>
          </p:cNvSpPr>
          <p:nvPr>
            <p:ph type="title"/>
          </p:nvPr>
        </p:nvSpPr>
        <p:spPr/>
        <p:txBody>
          <a:bodyPr wrap="square">
            <a:normAutofit/>
          </a:bodyPr>
          <a:lstStyle/>
          <a:p>
            <a:pPr/>
            <a:r>
              <a:rPr sz="2700"/>
              <a:t>Enemy Analysis: DRAW-D</a:t>
            </a:r>
          </a:p>
        </p:txBody>
      </p:sp>
      <p:graphicFrame>
        <p:nvGraphicFramePr>
          <p:cNvPr id="4" name="Table 3"/>
          <p:cNvGraphicFramePr>
            <a:graphicFrameLocks noGrp="1"/>
          </p:cNvGraphicFramePr>
          <p:nvPr/>
        </p:nvGraphicFramePr>
        <p:xfrm>
          <a:off x="1510029" y="1840477"/>
          <a:ext cx="10361372" cy="3669792"/>
        </p:xfrm>
        <a:graphic>
          <a:graphicData uri="http://schemas.openxmlformats.org/drawingml/2006/table">
            <a:tbl>
              <a:tblPr firstRow="1" bandRow="1">
                <a:tableStyleId>{5C22544A-7EE6-4342-B048-85BDC9FD1C3A}</a:tableStyleId>
              </a:tblPr>
              <a:tblGrid>
                <a:gridCol w="3453790"/>
                <a:gridCol w="3453790"/>
                <a:gridCol w="3453792"/>
              </a:tblGrid>
              <a:tr h="263652">
                <a:tc>
                  <a:txBody>
                    <a:bodyPr wrap="square"/>
                    <a:lstStyle/>
                    <a:p>
                      <a:pPr>
                        <a:defRPr sz="1200"/>
                      </a:pPr>
                      <a:r>
                        <a:t>Acronym</a:t>
                      </a:r>
                    </a:p>
                  </a:txBody>
                  <a:tcPr/>
                </a:tc>
                <a:tc>
                  <a:txBody>
                    <a:bodyPr wrap="square"/>
                    <a:lstStyle/>
                    <a:p>
                      <a:pPr>
                        <a:defRPr sz="1200"/>
                      </a:pPr>
                      <a:r>
                        <a:t>Capability</a:t>
                      </a:r>
                    </a:p>
                  </a:txBody>
                  <a:tcPr/>
                </a:tc>
                <a:tc>
                  <a:txBody>
                    <a:bodyPr wrap="square"/>
                    <a:lstStyle/>
                    <a:p>
                      <a:pPr>
                        <a:defRPr sz="1200"/>
                      </a:pPr>
                      <a:r>
                        <a:t>Cyberspace Considerations</a:t>
                      </a:r>
                    </a:p>
                  </a:txBody>
                  <a:tcPr/>
                </a:tc>
              </a:tr>
              <a:tr h="681228">
                <a:tc>
                  <a:txBody>
                    <a:bodyPr wrap="square"/>
                    <a:lstStyle/>
                    <a:p>
                      <a:pPr>
                        <a:defRPr sz="1200"/>
                      </a:pPr>
                      <a:r>
                        <a:t>D</a:t>
                      </a:r>
                    </a:p>
                  </a:txBody>
                  <a:tcPr/>
                </a:tc>
                <a:tc>
                  <a:txBody>
                    <a:bodyPr wrap="square"/>
                    <a:lstStyle/>
                    <a:p>
                      <a:pPr>
                        <a:defRPr sz="1200"/>
                      </a:pPr>
                      <a:r>
                        <a:t>Defend</a:t>
                      </a:r>
                    </a:p>
                  </a:txBody>
                  <a:tcPr/>
                </a:tc>
                <a:tc>
                  <a:txBody>
                    <a:bodyPr wrap="square"/>
                    <a:lstStyle/>
                    <a:p>
                      <a:pPr>
                        <a:defRPr sz="1200"/>
                      </a:pPr>
                      <a:r>
                        <a:t>Can they defend their infrastructure and access? What defensive tools (e.g., EDR, NGAV) are in place?</a:t>
                      </a:r>
                    </a:p>
                  </a:txBody>
                  <a:tcPr/>
                </a:tc>
              </a:tr>
              <a:tr h="472440">
                <a:tc>
                  <a:txBody>
                    <a:bodyPr wrap="square"/>
                    <a:lstStyle/>
                    <a:p>
                      <a:pPr>
                        <a:defRPr sz="1200"/>
                      </a:pPr>
                      <a:r>
                        <a:t>R</a:t>
                      </a:r>
                    </a:p>
                  </a:txBody>
                  <a:tcPr/>
                </a:tc>
                <a:tc>
                  <a:txBody>
                    <a:bodyPr wrap="square"/>
                    <a:lstStyle/>
                    <a:p>
                      <a:pPr>
                        <a:defRPr sz="1200"/>
                      </a:pPr>
                      <a:r>
                        <a:t>Reinforce</a:t>
                      </a:r>
                    </a:p>
                  </a:txBody>
                  <a:tcPr/>
                </a:tc>
                <a:tc>
                  <a:txBody>
                    <a:bodyPr wrap="square"/>
                    <a:lstStyle/>
                    <a:p>
                      <a:pPr>
                        <a:defRPr sz="1200"/>
                      </a:pPr>
                      <a:r>
                        <a:t>Can they escalate privileges, deploy additional tools, or establish redundant C2 channels?</a:t>
                      </a:r>
                    </a:p>
                  </a:txBody>
                  <a:tcPr/>
                </a:tc>
              </a:tr>
              <a:tr h="681228">
                <a:tc>
                  <a:txBody>
                    <a:bodyPr wrap="square"/>
                    <a:lstStyle/>
                    <a:p>
                      <a:pPr>
                        <a:defRPr sz="1200"/>
                      </a:pPr>
                      <a:r>
                        <a:t>A</a:t>
                      </a:r>
                    </a:p>
                  </a:txBody>
                  <a:tcPr/>
                </a:tc>
                <a:tc>
                  <a:txBody>
                    <a:bodyPr wrap="square"/>
                    <a:lstStyle/>
                    <a:p>
                      <a:pPr>
                        <a:defRPr sz="1200"/>
                      </a:pPr>
                      <a:r>
                        <a:t>Attack</a:t>
                      </a:r>
                    </a:p>
                  </a:txBody>
                  <a:tcPr/>
                </a:tc>
                <a:tc>
                  <a:txBody>
                    <a:bodyPr wrap="square"/>
                    <a:lstStyle/>
                    <a:p>
                      <a:pPr>
                        <a:defRPr sz="1200"/>
                      </a:pPr>
                      <a:r>
                        <a:t>What is their capability to conduct offensive effects operations from their current posture?</a:t>
                      </a:r>
                    </a:p>
                  </a:txBody>
                  <a:tcPr/>
                </a:tc>
              </a:tr>
              <a:tr h="890016">
                <a:tc>
                  <a:txBody>
                    <a:bodyPr wrap="square"/>
                    <a:lstStyle/>
                    <a:p>
                      <a:pPr>
                        <a:defRPr sz="1200"/>
                      </a:pPr>
                      <a:r>
                        <a:t>W</a:t>
                      </a:r>
                    </a:p>
                  </a:txBody>
                  <a:tcPr/>
                </a:tc>
                <a:tc>
                  <a:txBody>
                    <a:bodyPr wrap="square"/>
                    <a:lstStyle/>
                    <a:p>
                      <a:pPr>
                        <a:defRPr sz="1200"/>
                      </a:pPr>
                      <a:r>
                        <a:t>Withdraw</a:t>
                      </a:r>
                    </a:p>
                  </a:txBody>
                  <a:tcPr/>
                </a:tc>
                <a:tc>
                  <a:txBody>
                    <a:bodyPr wrap="square"/>
                    <a:lstStyle/>
                    <a:p>
                      <a:pPr>
                        <a:defRPr sz="1200"/>
                      </a:pPr>
                      <a:r>
                        <a:t>Can they exfiltrate and remove their presence? Is their access too valuable to abandon? Under what conditions will they withdraw (e.g., upon any detection)?</a:t>
                      </a:r>
                    </a:p>
                  </a:txBody>
                  <a:tcPr/>
                </a:tc>
              </a:tr>
              <a:tr h="681228">
                <a:tc>
                  <a:txBody>
                    <a:bodyPr wrap="square"/>
                    <a:lstStyle/>
                    <a:p>
                      <a:pPr>
                        <a:defRPr sz="1200"/>
                      </a:pPr>
                      <a:r>
                        <a:t>D</a:t>
                      </a:r>
                    </a:p>
                  </a:txBody>
                  <a:tcPr/>
                </a:tc>
                <a:tc>
                  <a:txBody>
                    <a:bodyPr wrap="square"/>
                    <a:lstStyle/>
                    <a:p>
                      <a:pPr>
                        <a:defRPr sz="1200"/>
                      </a:pPr>
                      <a:r>
                        <a:t>Delay</a:t>
                      </a:r>
                    </a:p>
                  </a:txBody>
                  <a:tcPr/>
                </a:tc>
                <a:tc>
                  <a:txBody>
                    <a:bodyPr wrap="square"/>
                    <a:lstStyle/>
                    <a:p>
                      <a:pPr>
                        <a:defRPr sz="1200"/>
                      </a:pPr>
                      <a:r>
                        <a:t>Can they disrupt our analysis or response efforts (e.g., through data wiping, misdirection)?</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DRAW-D assesses the adversary's capabilities in the context of the operation. For each element, analyze:</a:t>
            </a:r>
          </a:p>
          <a:p>
            <a:pPr lvl="1"/>
            <a:r>
              <a:rPr sz="2400"/>
              <a:t>What is their capability to perform the action?</a:t>
            </a:r>
          </a:p>
          <a:p>
            <a:pPr lvl="1"/>
            <a:r>
              <a:rPr sz="2400"/>
              <a:t>What limits their ability to perform it?</a:t>
            </a:r>
          </a:p>
          <a:p>
            <a:pPr lvl="1"/>
            <a:r>
              <a:rPr sz="2400"/>
              <a:t>Under what conditions will they perform it?</a:t>
            </a:r>
          </a:p>
        </p:txBody>
      </p:sp>
      <p:sp>
        <p:nvSpPr>
          <p:cNvPr id="3" name="Title 2"/>
          <p:cNvSpPr>
            <a:spLocks noGrp="1"/>
          </p:cNvSpPr>
          <p:nvPr>
            <p:ph type="title"/>
          </p:nvPr>
        </p:nvSpPr>
        <p:spPr/>
        <p:txBody>
          <a:bodyPr wrap="square">
            <a:normAutofit/>
          </a:bodyPr>
          <a:lstStyle/>
          <a:p>
            <a:pPr/>
            <a:r>
              <a:rPr sz="2700"/>
              <a:t>Enemy Analysis: DRAW-D</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Practical Application: DRAW-D Analysis Group Discussion</a:t>
            </a:r>
          </a:p>
          <a:p>
            <a:pPr/>
            <a:r>
              <a:rPr b="1" sz="2400"/>
              <a:t>Objective: </a:t>
            </a:r>
            <a:r>
              <a:rPr sz="2400"/>
              <a:t>Evaluate an adversary's capabilities and limitations.</a:t>
            </a:r>
          </a:p>
          <a:p>
            <a:pPr/>
            <a:r>
              <a:rPr b="1" sz="2400"/>
              <a:t>Instructions:</a:t>
            </a:r>
          </a:p>
          <a:p>
            <a:pPr lvl="1"/>
            <a:r>
              <a:rPr sz="2400"/>
              <a:t>Using the same APT group from the SALUTE exercise, discuss the following question:</a:t>
            </a:r>
          </a:p>
          <a:p>
            <a:pPr lvl="2"/>
            <a:r>
              <a:rPr sz="2400"/>
              <a:t>"Based on your analysis, what is this actor's most significant limitation, and under what conditions would they be forced to withdraw from a compromised network?“</a:t>
            </a:r>
          </a:p>
          <a:p>
            <a:pPr lvl="1"/>
            <a:r>
              <a:rPr sz="2400"/>
              <a:t>Be prepared to share your group's assessment.</a:t>
            </a:r>
          </a:p>
        </p:txBody>
      </p:sp>
      <p:sp>
        <p:nvSpPr>
          <p:cNvPr id="3" name="Title 2"/>
          <p:cNvSpPr>
            <a:spLocks noGrp="1"/>
          </p:cNvSpPr>
          <p:nvPr>
            <p:ph type="title"/>
          </p:nvPr>
        </p:nvSpPr>
        <p:spPr/>
        <p:txBody>
          <a:bodyPr wrap="square">
            <a:normAutofit/>
          </a:bodyPr>
          <a:lstStyle/>
          <a:p>
            <a:pPr/>
            <a:r>
              <a:rPr sz="2700"/>
              <a:t>Enemy Analysis: DRAW-D</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Defend: </a:t>
            </a:r>
          </a:p>
          <a:p>
            <a:pPr/>
            <a:r>
              <a:rPr b="1" sz="2400"/>
              <a:t>Reinforce: </a:t>
            </a:r>
          </a:p>
          <a:p>
            <a:pPr/>
            <a:r>
              <a:rPr b="1" sz="2400"/>
              <a:t>Attack: </a:t>
            </a:r>
          </a:p>
          <a:p>
            <a:pPr/>
            <a:r>
              <a:rPr b="1" sz="2400"/>
              <a:t>Withdraw: </a:t>
            </a:r>
          </a:p>
          <a:p>
            <a:pPr/>
            <a:r>
              <a:rPr b="1" sz="2400"/>
              <a:t>Delay: </a:t>
            </a:r>
          </a:p>
        </p:txBody>
      </p:sp>
      <p:sp>
        <p:nvSpPr>
          <p:cNvPr id="3" name="Title 2"/>
          <p:cNvSpPr>
            <a:spLocks noGrp="1"/>
          </p:cNvSpPr>
          <p:nvPr>
            <p:ph type="title"/>
          </p:nvPr>
        </p:nvSpPr>
        <p:spPr/>
        <p:txBody>
          <a:bodyPr wrap="square">
            <a:normAutofit/>
          </a:bodyPr>
          <a:lstStyle/>
          <a:p>
            <a:pPr/>
            <a:r>
              <a:rPr sz="2700"/>
              <a:t>Enemy Analysis: DRAW-D</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Friendly Forces Analysis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1700"/>
              <a:t>Troops and Fire Support </a:t>
            </a:r>
          </a:p>
          <a:p>
            <a:pPr lvl="1"/>
            <a:r>
              <a:rPr sz="1700"/>
              <a:t>This is the friendly counterpart to enemy analysis. Catalog all available resources.</a:t>
            </a:r>
          </a:p>
          <a:p>
            <a:pPr lvl="1"/>
            <a:r>
              <a:rPr b="1" sz="1700"/>
              <a:t>Organic Assets:</a:t>
            </a:r>
          </a:p>
          <a:p>
            <a:pPr lvl="2"/>
            <a:r>
              <a:rPr b="1" sz="1700"/>
              <a:t>Personnel</a:t>
            </a:r>
            <a:r>
              <a:rPr sz="1700"/>
              <a:t>: How many operators? What are their specific specialties, skill sets, and certifications?</a:t>
            </a:r>
          </a:p>
          <a:p>
            <a:pPr lvl="2"/>
            <a:r>
              <a:rPr b="1" sz="1700"/>
              <a:t>Equipment</a:t>
            </a:r>
            <a:r>
              <a:rPr sz="1700"/>
              <a:t>: What hardware, software, and licenses do we own and have available?</a:t>
            </a:r>
          </a:p>
          <a:p>
            <a:pPr lvl="2"/>
            <a:r>
              <a:rPr b="1" sz="1700"/>
              <a:t>Attachments/Detachments</a:t>
            </a:r>
            <a:r>
              <a:rPr sz="1700"/>
              <a:t>: Who/what has been attached to the unit for this mission (e.g. National Guard element, contractor support)?</a:t>
            </a:r>
          </a:p>
          <a:p>
            <a:pPr lvl="2"/>
            <a:r>
              <a:rPr b="1" sz="1700"/>
              <a:t>Fire Support (Rear Echelon Support): </a:t>
            </a:r>
            <a:r>
              <a:rPr sz="1700"/>
              <a:t>What reach-back capabilities are available? (e.g. advanced malware analysis, digital forensics, national intelligence agencies).</a:t>
            </a:r>
          </a:p>
          <a:p>
            <a:pPr lvl="2"/>
            <a:r>
              <a:rPr b="1" sz="1700"/>
              <a:t>Higher and Adjacent Units: </a:t>
            </a:r>
            <a:r>
              <a:rPr sz="1700"/>
              <a:t>What other friendly cyber units are operating in/near this battlespace? What deconfliction measures are required?</a:t>
            </a:r>
          </a:p>
        </p:txBody>
      </p:sp>
      <p:sp>
        <p:nvSpPr>
          <p:cNvPr id="3" name="Title 2"/>
          <p:cNvSpPr>
            <a:spLocks noGrp="1"/>
          </p:cNvSpPr>
          <p:nvPr>
            <p:ph type="title"/>
          </p:nvPr>
        </p:nvSpPr>
        <p:spPr/>
        <p:txBody>
          <a:bodyPr wrap="square">
            <a:normAutofit/>
          </a:bodyPr>
          <a:lstStyle/>
          <a:p>
            <a:pPr/>
            <a:r>
              <a:rPr sz="2700"/>
              <a:t>Friendly Forces Analysis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Analysts: </a:t>
            </a:r>
            <a:r>
              <a:rPr sz="2400"/>
              <a:t>3 Host Analysts, 3 Network Analysts, 1 All-Source Analyst</a:t>
            </a:r>
          </a:p>
          <a:p>
            <a:pPr/>
            <a:r>
              <a:rPr b="1" sz="2400"/>
              <a:t>Operators: </a:t>
            </a:r>
            <a:r>
              <a:rPr sz="2400"/>
              <a:t>1 Certified Counter-Strike Operator, 1 Certified Malware Analyst</a:t>
            </a:r>
          </a:p>
          <a:p>
            <a:pPr/>
            <a:r>
              <a:rPr b="1" sz="2400"/>
              <a:t>Fire Support: </a:t>
            </a:r>
            <a:r>
              <a:rPr sz="2400"/>
              <a:t>1 SBO ME in Direct Support</a:t>
            </a:r>
          </a:p>
          <a:p>
            <a:pPr/>
            <a:r>
              <a:rPr b="1" sz="2400"/>
              <a:t>Equipment: </a:t>
            </a:r>
            <a:r>
              <a:rPr sz="2400"/>
              <a:t>Standard complement of tools (network taps, forensic workstations, etc.)</a:t>
            </a:r>
          </a:p>
          <a:p>
            <a:pPr/>
            <a:r>
              <a:rPr b="1" sz="2400"/>
              <a:t>Attachments: </a:t>
            </a:r>
            <a:r>
              <a:rPr sz="2400"/>
              <a:t>None.</a:t>
            </a:r>
          </a:p>
        </p:txBody>
      </p:sp>
      <p:sp>
        <p:nvSpPr>
          <p:cNvPr id="3" name="Title 2"/>
          <p:cNvSpPr>
            <a:spLocks noGrp="1"/>
          </p:cNvSpPr>
          <p:nvPr>
            <p:ph type="title"/>
          </p:nvPr>
        </p:nvSpPr>
        <p:spPr/>
        <p:txBody>
          <a:bodyPr wrap="square">
            <a:normAutofit/>
          </a:bodyPr>
          <a:lstStyle/>
          <a:p>
            <a:pPr/>
            <a:r>
              <a:rPr sz="2700"/>
              <a:t>Friendly Forces Analysis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Terrain Analysis: OCOKAW</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786384"/>
          </a:xfrm>
        </p:spPr>
        <p:txBody>
          <a:bodyPr wrap="square">
            <a:normAutofit/>
          </a:bodyPr>
          <a:lstStyle/>
          <a:p>
            <a:pPr lvl="1"/>
            <a:r>
              <a:rPr sz="1600"/>
              <a:t>Terrain analysis must be conducted from both friendly and enemy perspectives. In cyberspace, “terrain” is the network environment.</a:t>
            </a:r>
          </a:p>
        </p:txBody>
      </p:sp>
      <p:sp>
        <p:nvSpPr>
          <p:cNvPr id="3" name="Title 2"/>
          <p:cNvSpPr>
            <a:spLocks noGrp="1"/>
          </p:cNvSpPr>
          <p:nvPr>
            <p:ph type="title"/>
          </p:nvPr>
        </p:nvSpPr>
        <p:spPr/>
        <p:txBody>
          <a:bodyPr wrap="square">
            <a:normAutofit/>
          </a:bodyPr>
          <a:lstStyle/>
          <a:p>
            <a:pPr/>
            <a:r>
              <a:rPr sz="2700"/>
              <a:t>Terrain Analysis: OCOKAW</a:t>
            </a:r>
          </a:p>
        </p:txBody>
      </p:sp>
      <p:graphicFrame>
        <p:nvGraphicFramePr>
          <p:cNvPr id="4" name="Table 3"/>
          <p:cNvGraphicFramePr>
            <a:graphicFrameLocks noGrp="1"/>
          </p:cNvGraphicFramePr>
          <p:nvPr/>
        </p:nvGraphicFramePr>
        <p:xfrm>
          <a:off x="1510029" y="1986781"/>
          <a:ext cx="10361372" cy="2933700"/>
        </p:xfrm>
        <a:graphic>
          <a:graphicData uri="http://schemas.openxmlformats.org/drawingml/2006/table">
            <a:tbl>
              <a:tblPr firstRow="1" bandRow="1">
                <a:tableStyleId>{5C22544A-7EE6-4342-B048-85BDC9FD1C3A}</a:tableStyleId>
              </a:tblPr>
              <a:tblGrid>
                <a:gridCol w="2590343"/>
                <a:gridCol w="2590343"/>
                <a:gridCol w="2590343"/>
                <a:gridCol w="2590343"/>
              </a:tblGrid>
              <a:tr h="263652">
                <a:tc>
                  <a:txBody>
                    <a:bodyPr wrap="square"/>
                    <a:lstStyle/>
                    <a:p>
                      <a:pPr>
                        <a:defRPr sz="1200"/>
                      </a:pPr>
                      <a:r>
                        <a:t>Acronym</a:t>
                      </a:r>
                    </a:p>
                  </a:txBody>
                  <a:tcPr/>
                </a:tc>
                <a:tc>
                  <a:txBody>
                    <a:bodyPr wrap="square"/>
                    <a:lstStyle/>
                    <a:p>
                      <a:pPr>
                        <a:defRPr sz="1200"/>
                      </a:pPr>
                      <a:r>
                        <a:t>Factor</a:t>
                      </a:r>
                    </a:p>
                  </a:txBody>
                  <a:tcPr/>
                </a:tc>
                <a:tc>
                  <a:txBody>
                    <a:bodyPr wrap="square"/>
                    <a:lstStyle/>
                    <a:p>
                      <a:pPr>
                        <a:defRPr sz="1200"/>
                      </a:pPr>
                      <a:r>
                        <a:t>Friendly Perspective (Blue)</a:t>
                      </a:r>
                    </a:p>
                  </a:txBody>
                  <a:tcPr/>
                </a:tc>
                <a:tc>
                  <a:txBody>
                    <a:bodyPr wrap="square"/>
                    <a:lstStyle/>
                    <a:p>
                      <a:pPr>
                        <a:defRPr sz="1200"/>
                      </a:pPr>
                      <a:r>
                        <a:t>Enemy Perspective (Red)</a:t>
                      </a:r>
                    </a:p>
                  </a:txBody>
                  <a:tcPr/>
                </a:tc>
              </a:tr>
              <a:tr h="890016">
                <a:tc>
                  <a:txBody>
                    <a:bodyPr wrap="square"/>
                    <a:lstStyle/>
                    <a:p>
                      <a:pPr>
                        <a:defRPr sz="1200"/>
                      </a:pPr>
                      <a:r>
                        <a:t>O</a:t>
                      </a:r>
                    </a:p>
                  </a:txBody>
                  <a:tcPr/>
                </a:tc>
                <a:tc>
                  <a:txBody>
                    <a:bodyPr wrap="square"/>
                    <a:lstStyle/>
                    <a:p>
                      <a:pPr>
                        <a:defRPr sz="1200"/>
                      </a:pPr>
                      <a:r>
                        <a:t>Observation and Fields of Fire</a:t>
                      </a:r>
                    </a:p>
                  </a:txBody>
                  <a:tcPr/>
                </a:tc>
                <a:tc>
                  <a:txBody>
                    <a:bodyPr wrap="square"/>
                    <a:lstStyle/>
                    <a:p>
                      <a:pPr>
                        <a:defRPr sz="1200"/>
                      </a:pPr>
                      <a:r>
                        <a:t>What are our data sources (e.g., NetFlow, PCAP, EDR, Sysmon)? What is our visibility into the environment?</a:t>
                      </a:r>
                    </a:p>
                  </a:txBody>
                  <a:tcPr/>
                </a:tc>
                <a:tc>
                  <a:txBody>
                    <a:bodyPr wrap="square"/>
                    <a:lstStyle/>
                    <a:p>
                      <a:pPr>
                        <a:defRPr sz="1200"/>
                      </a:pPr>
                      <a:r>
                        <a:t>What are their sensors (e.g., Insider access, compromised logging, C2 beacons)? What is their situational awareness?</a:t>
                      </a:r>
                    </a:p>
                  </a:txBody>
                  <a:tcPr/>
                </a:tc>
              </a:tr>
              <a:tr h="890016">
                <a:tc>
                  <a:txBody>
                    <a:bodyPr wrap="square"/>
                    <a:lstStyle/>
                    <a:p>
                      <a:pPr>
                        <a:defRPr sz="1200"/>
                      </a:pPr>
                      <a:r>
                        <a:t>C</a:t>
                      </a:r>
                    </a:p>
                  </a:txBody>
                  <a:tcPr/>
                </a:tc>
                <a:tc>
                  <a:txBody>
                    <a:bodyPr wrap="square"/>
                    <a:lstStyle/>
                    <a:p>
                      <a:pPr>
                        <a:defRPr sz="1200"/>
                      </a:pPr>
                      <a:r>
                        <a:t>Cover and Concealment</a:t>
                      </a:r>
                    </a:p>
                  </a:txBody>
                  <a:tcPr/>
                </a:tc>
                <a:tc>
                  <a:txBody>
                    <a:bodyPr wrap="square"/>
                    <a:lstStyle/>
                    <a:p>
                      <a:pPr>
                        <a:defRPr sz="1200"/>
                      </a:pPr>
                      <a:r>
                        <a:t>Will our actions be overt or covert? Will we use dedicated obfuscation infrastructure (gray/red space)?</a:t>
                      </a:r>
                    </a:p>
                  </a:txBody>
                  <a:tcPr/>
                </a:tc>
                <a:tc>
                  <a:txBody>
                    <a:bodyPr wrap="square"/>
                    <a:lstStyle/>
                    <a:p>
                      <a:pPr>
                        <a:defRPr sz="1200"/>
                      </a:pPr>
                      <a:r>
                        <a:t>How are they hiding (e.g., matching network baseline, using encryption, “smash and grab” with no stealth)?</a:t>
                      </a:r>
                    </a:p>
                  </a:txBody>
                  <a:tcPr/>
                </a:tc>
              </a:tr>
              <a:tr h="890016">
                <a:tc>
                  <a:txBody>
                    <a:bodyPr wrap="square"/>
                    <a:lstStyle/>
                    <a:p>
                      <a:pPr>
                        <a:defRPr sz="1200"/>
                      </a:pPr>
                      <a:r>
                        <a:t>O</a:t>
                      </a:r>
                    </a:p>
                  </a:txBody>
                  <a:tcPr/>
                </a:tc>
                <a:tc>
                  <a:txBody>
                    <a:bodyPr wrap="square"/>
                    <a:lstStyle/>
                    <a:p>
                      <a:pPr>
                        <a:defRPr sz="1200"/>
                      </a:pPr>
                      <a:r>
                        <a:t>Obstacles</a:t>
                      </a:r>
                    </a:p>
                  </a:txBody>
                  <a:tcPr/>
                </a:tc>
                <a:tc>
                  <a:txBody>
                    <a:bodyPr wrap="square"/>
                    <a:lstStyle/>
                    <a:p>
                      <a:pPr>
                        <a:defRPr sz="1200"/>
                      </a:pPr>
                      <a:r>
                        <a:t>What barriers hinder data acquisition or scheme of maneuver (e.g., firewalls, encryption, lack of logging)?</a:t>
                      </a:r>
                    </a:p>
                  </a:txBody>
                  <a:tcPr/>
                </a:tc>
                <a:tc>
                  <a:txBody>
                    <a:bodyPr wrap="square"/>
                    <a:lstStyle/>
                    <a:p>
                      <a:pPr>
                        <a:defRPr sz="1200"/>
                      </a:pPr>
                      <a:r>
                        <a:t>What obstacles do they face (e.g., EDR, application allow-listing, MFA, segmentation)?</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1510029" y="1127245"/>
            <a:ext cx="10361372" cy="786384"/>
          </a:xfrm>
        </p:spPr>
        <p:txBody>
          <a:bodyPr wrap="square">
            <a:normAutofit/>
          </a:bodyPr>
          <a:lstStyle/>
          <a:p>
            <a:pPr lvl="1"/>
            <a:r>
              <a:rPr sz="1600"/>
              <a:t>Terrain analysis must be conducted from both friendly and enemy perspectives. In cyberspace, “terrain” is the network environment.</a:t>
            </a:r>
          </a:p>
        </p:txBody>
      </p:sp>
      <p:sp>
        <p:nvSpPr>
          <p:cNvPr id="3" name="Title 2"/>
          <p:cNvSpPr>
            <a:spLocks noGrp="1"/>
          </p:cNvSpPr>
          <p:nvPr>
            <p:ph type="title"/>
          </p:nvPr>
        </p:nvSpPr>
        <p:spPr/>
        <p:txBody>
          <a:bodyPr wrap="square">
            <a:normAutofit/>
          </a:bodyPr>
          <a:lstStyle/>
          <a:p>
            <a:pPr/>
            <a:r>
              <a:rPr sz="2700"/>
              <a:t>Terrain Analysis: OCOKAW</a:t>
            </a:r>
          </a:p>
        </p:txBody>
      </p:sp>
      <p:graphicFrame>
        <p:nvGraphicFramePr>
          <p:cNvPr id="4" name="Table 3"/>
          <p:cNvGraphicFramePr>
            <a:graphicFrameLocks noGrp="1"/>
          </p:cNvGraphicFramePr>
          <p:nvPr/>
        </p:nvGraphicFramePr>
        <p:xfrm>
          <a:off x="1510029" y="1986781"/>
          <a:ext cx="10361372" cy="2516124"/>
        </p:xfrm>
        <a:graphic>
          <a:graphicData uri="http://schemas.openxmlformats.org/drawingml/2006/table">
            <a:tbl>
              <a:tblPr firstRow="1" bandRow="1">
                <a:tableStyleId>{5C22544A-7EE6-4342-B048-85BDC9FD1C3A}</a:tableStyleId>
              </a:tblPr>
              <a:tblGrid>
                <a:gridCol w="2590343"/>
                <a:gridCol w="2590343"/>
                <a:gridCol w="2590343"/>
                <a:gridCol w="2590343"/>
              </a:tblGrid>
              <a:tr h="263652">
                <a:tc>
                  <a:txBody>
                    <a:bodyPr wrap="square"/>
                    <a:lstStyle/>
                    <a:p>
                      <a:pPr>
                        <a:defRPr sz="1200"/>
                      </a:pPr>
                      <a:r>
                        <a:t>Acronym</a:t>
                      </a:r>
                    </a:p>
                  </a:txBody>
                  <a:tcPr/>
                </a:tc>
                <a:tc>
                  <a:txBody>
                    <a:bodyPr wrap="square"/>
                    <a:lstStyle/>
                    <a:p>
                      <a:pPr>
                        <a:defRPr sz="1200"/>
                      </a:pPr>
                      <a:r>
                        <a:t>Factor</a:t>
                      </a:r>
                    </a:p>
                  </a:txBody>
                  <a:tcPr/>
                </a:tc>
                <a:tc>
                  <a:txBody>
                    <a:bodyPr wrap="square"/>
                    <a:lstStyle/>
                    <a:p>
                      <a:pPr>
                        <a:defRPr sz="1200"/>
                      </a:pPr>
                      <a:r>
                        <a:t>Friendly Perspective (Blue)</a:t>
                      </a:r>
                    </a:p>
                  </a:txBody>
                  <a:tcPr/>
                </a:tc>
                <a:tc>
                  <a:txBody>
                    <a:bodyPr wrap="square"/>
                    <a:lstStyle/>
                    <a:p>
                      <a:pPr>
                        <a:defRPr sz="1200"/>
                      </a:pPr>
                      <a:r>
                        <a:t>Enemy Perspective (Red)</a:t>
                      </a:r>
                    </a:p>
                  </a:txBody>
                  <a:tcPr/>
                </a:tc>
              </a:tr>
              <a:tr h="890016">
                <a:tc>
                  <a:txBody>
                    <a:bodyPr wrap="square"/>
                    <a:lstStyle/>
                    <a:p>
                      <a:pPr>
                        <a:defRPr sz="1200"/>
                      </a:pPr>
                      <a:r>
                        <a:t>K</a:t>
                      </a:r>
                    </a:p>
                  </a:txBody>
                  <a:tcPr/>
                </a:tc>
                <a:tc>
                  <a:txBody>
                    <a:bodyPr wrap="square"/>
                    <a:lstStyle/>
                    <a:p>
                      <a:pPr>
                        <a:defRPr sz="1200"/>
                      </a:pPr>
                      <a:r>
                        <a:t>Key Terrain</a:t>
                      </a:r>
                    </a:p>
                  </a:txBody>
                  <a:tcPr/>
                </a:tc>
                <a:tc>
                  <a:txBody>
                    <a:bodyPr wrap="square"/>
                    <a:lstStyle/>
                    <a:p>
                      <a:pPr>
                        <a:defRPr sz="1200"/>
                      </a:pPr>
                      <a:r>
                        <a:t>What is the critical function/information on this network that enables our mission? Is it not always the Domain Controller.</a:t>
                      </a:r>
                    </a:p>
                  </a:txBody>
                  <a:tcPr/>
                </a:tc>
                <a:tc>
                  <a:txBody>
                    <a:bodyPr wrap="square"/>
                    <a:lstStyle/>
                    <a:p>
                      <a:pPr>
                        <a:defRPr sz="1200"/>
                      </a:pPr>
                      <a:r>
                        <a:t>What terrain is critical for their mission (e.g., a specific database, an ICS controller, credential server)?</a:t>
                      </a:r>
                    </a:p>
                  </a:txBody>
                  <a:tcPr/>
                </a:tc>
              </a:tr>
              <a:tr h="681228">
                <a:tc>
                  <a:txBody>
                    <a:bodyPr wrap="square"/>
                    <a:lstStyle/>
                    <a:p>
                      <a:pPr>
                        <a:defRPr sz="1200"/>
                      </a:pPr>
                      <a:r>
                        <a:t>A</a:t>
                      </a:r>
                    </a:p>
                  </a:txBody>
                  <a:tcPr/>
                </a:tc>
                <a:tc>
                  <a:txBody>
                    <a:bodyPr wrap="square"/>
                    <a:lstStyle/>
                    <a:p>
                      <a:pPr>
                        <a:defRPr sz="1200"/>
                      </a:pPr>
                      <a:r>
                        <a:t>Avenues of Approach</a:t>
                      </a:r>
                    </a:p>
                  </a:txBody>
                  <a:tcPr/>
                </a:tc>
                <a:tc>
                  <a:txBody>
                    <a:bodyPr wrap="square"/>
                    <a:lstStyle/>
                    <a:p>
                      <a:pPr>
                        <a:defRPr sz="1200"/>
                      </a:pPr>
                      <a:r>
                        <a:t>How can we gain or improve access (e.g., deploying new sensors, using existing credentials)?</a:t>
                      </a:r>
                    </a:p>
                  </a:txBody>
                  <a:tcPr/>
                </a:tc>
                <a:tc>
                  <a:txBody>
                    <a:bodyPr wrap="square"/>
                    <a:lstStyle/>
                    <a:p>
                      <a:pPr>
                        <a:defRPr sz="1200"/>
                      </a:pPr>
                      <a:r>
                        <a:t>How did they get in, and how can they move? Map to MITRE ATT&amp;CK Initial Access Techniques.</a:t>
                      </a:r>
                    </a:p>
                  </a:txBody>
                  <a:tcPr/>
                </a:tc>
              </a:tr>
              <a:tr h="681228">
                <a:tc>
                  <a:txBody>
                    <a:bodyPr wrap="square"/>
                    <a:lstStyle/>
                    <a:p>
                      <a:pPr>
                        <a:defRPr sz="1200"/>
                      </a:pPr>
                      <a:r>
                        <a:t>W</a:t>
                      </a:r>
                    </a:p>
                  </a:txBody>
                  <a:tcPr/>
                </a:tc>
                <a:tc>
                  <a:txBody>
                    <a:bodyPr wrap="square"/>
                    <a:lstStyle/>
                    <a:p>
                      <a:pPr>
                        <a:defRPr sz="1200"/>
                      </a:pPr>
                      <a:r>
                        <a:t>Weather</a:t>
                      </a:r>
                    </a:p>
                  </a:txBody>
                  <a:tcPr/>
                </a:tc>
                <a:tc>
                  <a:txBody>
                    <a:bodyPr wrap="square"/>
                    <a:lstStyle/>
                    <a:p>
                      <a:pPr>
                        <a:defRPr sz="1200"/>
                      </a:pPr>
                      <a:r>
                        <a:t>Physical weather can affect power and satellite communications, impacting physical infrastructure.</a:t>
                      </a:r>
                    </a:p>
                  </a:txBody>
                  <a:tcPr/>
                </a:tc>
                <a:tc>
                  <a:txBody>
                    <a:bodyPr wrap="square"/>
                    <a:lstStyle/>
                    <a:p>
                      <a:pPr>
                        <a:defRPr sz="1200"/>
                      </a:pPr>
                      <a:r>
                        <a:t>Same considerations as friendly.</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23854" y="549275"/>
            <a:ext cx="9963493" cy="582295"/>
          </a:xfrm>
        </p:spPr>
        <p:txBody>
          <a:bodyPr wrap="square" anchor="t">
            <a:normAutofit/>
          </a:bodyPr>
          <a:lstStyle/>
          <a:p>
            <a:pPr/>
            <a:r>
              <a:rPr sz="2700"/>
              <a:t>OCOKAW – A Visual</a:t>
            </a:r>
          </a:p>
        </p:txBody>
      </p:sp>
      <p:pic>
        <p:nvPicPr>
          <p:cNvPr id="3" name="Picture 2" descr="M09-s47-0-33c06398f6df.gif"/>
          <p:cNvPicPr>
            <a:picLocks noChangeAspect="1"/>
          </p:cNvPicPr>
          <p:nvPr/>
        </p:nvPicPr>
        <p:blipFill>
          <a:blip r:embed="rId3"/>
          <a:stretch>
            <a:fillRect/>
          </a:stretch>
        </p:blipFill>
        <p:spPr>
          <a:xfrm>
            <a:off x="1170751" y="1186434"/>
            <a:ext cx="6741537" cy="4793742"/>
          </a:xfrm>
          <a:prstGeom prst="rect">
            <a:avLst/>
          </a:prstGeom>
        </p:spPr>
      </p:pic>
      <p:pic>
        <p:nvPicPr>
          <p:cNvPr id="4" name="Picture 3" descr="M09-s47-1-50a8bc440acc.jpg"/>
          <p:cNvPicPr>
            <a:picLocks noChangeAspect="1"/>
          </p:cNvPicPr>
          <p:nvPr/>
        </p:nvPicPr>
        <p:blipFill>
          <a:blip r:embed="rId4"/>
          <a:stretch>
            <a:fillRect/>
          </a:stretch>
        </p:blipFill>
        <p:spPr>
          <a:xfrm>
            <a:off x="7729728" y="2122514"/>
            <a:ext cx="4462272" cy="4053151"/>
          </a:xfrm>
          <a:prstGeom prst="rect">
            <a:avLst/>
          </a:prstGeom>
        </p:spPr>
      </p:pic>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Practical Application: OCOKAW Analysis Group Discussion</a:t>
            </a:r>
          </a:p>
          <a:p>
            <a:pPr/>
            <a:r>
              <a:rPr b="1" sz="2400"/>
              <a:t>Objective: </a:t>
            </a:r>
            <a:r>
              <a:rPr sz="2400"/>
              <a:t>Evaluate and document the terrain (network environment) from both the friendly and enemy perspective. Enemy perspective is most important – “turn the map around”</a:t>
            </a:r>
          </a:p>
          <a:p>
            <a:pPr/>
            <a:r>
              <a:rPr b="1" sz="2400"/>
              <a:t>Instructions:</a:t>
            </a:r>
          </a:p>
          <a:p>
            <a:pPr lvl="1"/>
            <a:r>
              <a:rPr sz="2400"/>
              <a:t>Continue to use the ESET Whitepaper</a:t>
            </a:r>
          </a:p>
          <a:p>
            <a:pPr lvl="1"/>
            <a:r>
              <a:rPr sz="2400"/>
              <a:t>Be prepared to share your group's assessment.</a:t>
            </a:r>
          </a:p>
        </p:txBody>
      </p:sp>
      <p:sp>
        <p:nvSpPr>
          <p:cNvPr id="3" name="Title 2"/>
          <p:cNvSpPr>
            <a:spLocks noGrp="1"/>
          </p:cNvSpPr>
          <p:nvPr>
            <p:ph type="title"/>
          </p:nvPr>
        </p:nvSpPr>
        <p:spPr/>
        <p:txBody>
          <a:bodyPr wrap="square">
            <a:normAutofit/>
          </a:bodyPr>
          <a:lstStyle/>
          <a:p>
            <a:pPr/>
            <a:r>
              <a:rPr sz="2700"/>
              <a:t>Terrain Analysis: OCOKAW</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Terrain Analysis: OCOKAW</a:t>
            </a:r>
          </a:p>
        </p:txBody>
      </p:sp>
      <p:graphicFrame>
        <p:nvGraphicFramePr>
          <p:cNvPr id="4" name="Table 3"/>
          <p:cNvGraphicFramePr>
            <a:graphicFrameLocks noGrp="1"/>
          </p:cNvGraphicFramePr>
          <p:nvPr/>
        </p:nvGraphicFramePr>
        <p:xfrm>
          <a:off x="1510029" y="1127245"/>
          <a:ext cx="10361372" cy="1845564"/>
        </p:xfrm>
        <a:graphic>
          <a:graphicData uri="http://schemas.openxmlformats.org/drawingml/2006/table">
            <a:tbl>
              <a:tblPr firstRow="1" bandRow="1">
                <a:tableStyleId>{5C22544A-7EE6-4342-B048-85BDC9FD1C3A}</a:tableStyleId>
              </a:tblPr>
              <a:tblGrid>
                <a:gridCol w="3453790"/>
                <a:gridCol w="3453790"/>
                <a:gridCol w="3453792"/>
              </a:tblGrid>
              <a:tr h="263652">
                <a:tc>
                  <a:txBody>
                    <a:bodyPr wrap="square"/>
                    <a:lstStyle/>
                    <a:p>
                      <a:pPr>
                        <a:defRPr sz="1200"/>
                      </a:pPr>
                      <a:r>
                        <a:t>Factor</a:t>
                      </a:r>
                    </a:p>
                  </a:txBody>
                  <a:tcPr/>
                </a:tc>
                <a:tc>
                  <a:txBody>
                    <a:bodyPr wrap="square"/>
                    <a:lstStyle/>
                    <a:p>
                      <a:pPr>
                        <a:defRPr sz="1200"/>
                      </a:pPr>
                      <a:r>
                        <a:t>Friendly Perspective</a:t>
                      </a:r>
                    </a:p>
                  </a:txBody>
                  <a:tcPr/>
                </a:tc>
                <a:tc>
                  <a:txBody>
                    <a:bodyPr wrap="square"/>
                    <a:lstStyle/>
                    <a:p>
                      <a:pPr>
                        <a:defRPr sz="1200"/>
                      </a:pPr>
                      <a:r>
                        <a:t>Enemy Perspective</a:t>
                      </a:r>
                    </a:p>
                  </a:txBody>
                  <a:tcPr/>
                </a:tc>
              </a:tr>
              <a:tr h="263652">
                <a:tc>
                  <a:txBody>
                    <a:bodyPr wrap="square"/>
                    <a:lstStyle/>
                    <a:p>
                      <a:pPr>
                        <a:defRPr sz="1200"/>
                      </a:pPr>
                      <a:r>
                        <a:t>Observation &amp; Fields of Fire</a:t>
                      </a:r>
                    </a:p>
                  </a:txBody>
                  <a:tcPr/>
                </a:tc>
                <a:tc>
                  <a:txBody>
                    <a:bodyPr wrap="square"/>
                    <a:lstStyle/>
                    <a:p>
                      <a:pPr>
                        <a:defRPr sz="1200"/>
                      </a:pPr>
                    </a:p>
                  </a:txBody>
                  <a:tcPr/>
                </a:tc>
                <a:tc>
                  <a:txBody>
                    <a:bodyPr wrap="square"/>
                    <a:lstStyle/>
                    <a:p>
                      <a:pPr>
                        <a:defRPr sz="1200"/>
                      </a:pPr>
                    </a:p>
                  </a:txBody>
                  <a:tcPr/>
                </a:tc>
              </a:tr>
              <a:tr h="263652">
                <a:tc>
                  <a:txBody>
                    <a:bodyPr wrap="square"/>
                    <a:lstStyle/>
                    <a:p>
                      <a:pPr>
                        <a:defRPr sz="1200"/>
                      </a:pPr>
                      <a:r>
                        <a:t>Cover &amp; Concealment</a:t>
                      </a:r>
                    </a:p>
                  </a:txBody>
                  <a:tcPr/>
                </a:tc>
                <a:tc>
                  <a:txBody>
                    <a:bodyPr wrap="square"/>
                    <a:lstStyle/>
                    <a:p>
                      <a:pPr>
                        <a:defRPr sz="1200"/>
                      </a:pPr>
                    </a:p>
                  </a:txBody>
                  <a:tcPr/>
                </a:tc>
                <a:tc>
                  <a:txBody>
                    <a:bodyPr wrap="square"/>
                    <a:lstStyle/>
                    <a:p>
                      <a:pPr>
                        <a:defRPr sz="1200"/>
                      </a:pPr>
                    </a:p>
                  </a:txBody>
                  <a:tcPr/>
                </a:tc>
              </a:tr>
              <a:tr h="263652">
                <a:tc>
                  <a:txBody>
                    <a:bodyPr wrap="square"/>
                    <a:lstStyle/>
                    <a:p>
                      <a:pPr>
                        <a:defRPr sz="1200"/>
                      </a:pPr>
                      <a:r>
                        <a:t>Obstacles</a:t>
                      </a:r>
                    </a:p>
                  </a:txBody>
                  <a:tcPr/>
                </a:tc>
                <a:tc>
                  <a:txBody>
                    <a:bodyPr wrap="square"/>
                    <a:lstStyle/>
                    <a:p>
                      <a:pPr>
                        <a:defRPr sz="1200"/>
                      </a:pPr>
                    </a:p>
                  </a:txBody>
                  <a:tcPr/>
                </a:tc>
                <a:tc>
                  <a:txBody>
                    <a:bodyPr wrap="square"/>
                    <a:lstStyle/>
                    <a:p>
                      <a:pPr>
                        <a:defRPr sz="1200"/>
                      </a:pPr>
                    </a:p>
                  </a:txBody>
                  <a:tcPr/>
                </a:tc>
              </a:tr>
              <a:tr h="263652">
                <a:tc>
                  <a:txBody>
                    <a:bodyPr wrap="square"/>
                    <a:lstStyle/>
                    <a:p>
                      <a:pPr>
                        <a:defRPr sz="1200"/>
                      </a:pPr>
                      <a:r>
                        <a:t>Key Terrain</a:t>
                      </a:r>
                    </a:p>
                  </a:txBody>
                  <a:tcPr/>
                </a:tc>
                <a:tc>
                  <a:txBody>
                    <a:bodyPr wrap="square"/>
                    <a:lstStyle/>
                    <a:p>
                      <a:pPr>
                        <a:defRPr sz="1200"/>
                      </a:pPr>
                    </a:p>
                  </a:txBody>
                  <a:tcPr/>
                </a:tc>
                <a:tc>
                  <a:txBody>
                    <a:bodyPr wrap="square"/>
                    <a:lstStyle/>
                    <a:p>
                      <a:pPr>
                        <a:defRPr sz="1200"/>
                      </a:pPr>
                    </a:p>
                  </a:txBody>
                  <a:tcPr/>
                </a:tc>
              </a:tr>
              <a:tr h="263652">
                <a:tc>
                  <a:txBody>
                    <a:bodyPr wrap="square"/>
                    <a:lstStyle/>
                    <a:p>
                      <a:pPr>
                        <a:defRPr sz="1200"/>
                      </a:pPr>
                      <a:r>
                        <a:t>Avenues of Approach</a:t>
                      </a:r>
                    </a:p>
                  </a:txBody>
                  <a:tcPr/>
                </a:tc>
                <a:tc>
                  <a:txBody>
                    <a:bodyPr wrap="square"/>
                    <a:lstStyle/>
                    <a:p>
                      <a:pPr>
                        <a:defRPr sz="1200"/>
                      </a:pPr>
                    </a:p>
                  </a:txBody>
                  <a:tcPr/>
                </a:tc>
                <a:tc>
                  <a:txBody>
                    <a:bodyPr wrap="square"/>
                    <a:lstStyle/>
                    <a:p>
                      <a:pPr>
                        <a:defRPr sz="1200"/>
                      </a:pPr>
                    </a:p>
                  </a:txBody>
                  <a:tcPr/>
                </a:tc>
              </a:tr>
              <a:tr h="263652">
                <a:tc>
                  <a:txBody>
                    <a:bodyPr wrap="square"/>
                    <a:lstStyle/>
                    <a:p>
                      <a:pPr>
                        <a:defRPr sz="1200"/>
                      </a:pPr>
                      <a:r>
                        <a:t>Weather (Cyber)</a:t>
                      </a:r>
                    </a:p>
                  </a:txBody>
                  <a:tcPr/>
                </a:tc>
                <a:tc>
                  <a:txBody>
                    <a:bodyPr wrap="square"/>
                    <a:lstStyle/>
                    <a:p>
                      <a:pPr>
                        <a:defRPr sz="1200"/>
                      </a:pPr>
                    </a:p>
                  </a:txBody>
                  <a:tcPr/>
                </a:tc>
                <a:tc>
                  <a:txBody>
                    <a:bodyPr wrap="square"/>
                    <a:lstStyle/>
                    <a:p>
                      <a:pPr>
                        <a:defRPr sz="1200"/>
                      </a:pP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Time/Space/Logistics &amp; Civilian Considerations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Time Analysis:</a:t>
            </a:r>
          </a:p>
          <a:p>
            <a:pPr lvl="1"/>
            <a:r>
              <a:rPr sz="2400"/>
              <a:t>How much time is available to plan and execute the mission?</a:t>
            </a:r>
          </a:p>
          <a:p>
            <a:pPr lvl="1"/>
            <a:r>
              <a:rPr sz="2400"/>
              <a:t>What is the adversary’s timeline?</a:t>
            </a:r>
          </a:p>
          <a:p>
            <a:pPr lvl="1"/>
            <a:r>
              <a:rPr sz="2400"/>
              <a:t>How does time zone difference affect adversary vs. friendly operations?</a:t>
            </a:r>
          </a:p>
          <a:p>
            <a:pPr/>
            <a:r>
              <a:rPr b="1" sz="2400"/>
              <a:t>Space Analysis:</a:t>
            </a:r>
          </a:p>
          <a:p>
            <a:pPr lvl="1"/>
            <a:r>
              <a:rPr sz="2400"/>
              <a:t>Where is the physical and logical location of the operational environment?</a:t>
            </a:r>
          </a:p>
          <a:p>
            <a:pPr lvl="1"/>
            <a:r>
              <a:rPr sz="2400"/>
              <a:t>What Legal and political boundaries apply?</a:t>
            </a:r>
          </a:p>
        </p:txBody>
      </p:sp>
      <p:sp>
        <p:nvSpPr>
          <p:cNvPr id="3" name="Title 2"/>
          <p:cNvSpPr>
            <a:spLocks noGrp="1"/>
          </p:cNvSpPr>
          <p:nvPr>
            <p:ph type="title"/>
          </p:nvPr>
        </p:nvSpPr>
        <p:spPr/>
        <p:txBody>
          <a:bodyPr wrap="square">
            <a:normAutofit/>
          </a:bodyPr>
          <a:lstStyle/>
          <a:p>
            <a:pPr/>
            <a:r>
              <a:rPr sz="2700"/>
              <a:t>Time/Space/Logistics &amp; Civilian Considerations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Logistics Analysis:</a:t>
            </a:r>
          </a:p>
          <a:p>
            <a:pPr lvl="1"/>
            <a:r>
              <a:rPr sz="2400"/>
              <a:t>Are the required tools and infrastructure available and provisioned?</a:t>
            </a:r>
          </a:p>
          <a:p>
            <a:pPr/>
            <a:r>
              <a:rPr b="1" sz="2400"/>
              <a:t>Civilian Considerations:</a:t>
            </a:r>
          </a:p>
          <a:p>
            <a:pPr lvl="1"/>
            <a:r>
              <a:rPr sz="2400"/>
              <a:t>How will operations potentially affect non-combatants?</a:t>
            </a:r>
          </a:p>
          <a:p>
            <a:pPr lvl="1"/>
            <a:r>
              <a:rPr sz="2400"/>
              <a:t>Are we operating on critical infrastructure (e.g., power grid, financial services)? What are the potential collateral effects?</a:t>
            </a:r>
          </a:p>
        </p:txBody>
      </p:sp>
      <p:sp>
        <p:nvSpPr>
          <p:cNvPr id="3" name="Title 2"/>
          <p:cNvSpPr>
            <a:spLocks noGrp="1"/>
          </p:cNvSpPr>
          <p:nvPr>
            <p:ph type="title"/>
          </p:nvPr>
        </p:nvSpPr>
        <p:spPr/>
        <p:txBody>
          <a:bodyPr wrap="square">
            <a:normAutofit/>
          </a:bodyPr>
          <a:lstStyle/>
          <a:p>
            <a:pPr/>
            <a:r>
              <a:rPr sz="2700"/>
              <a:t>Time/Space/Logistics &amp; Civilian Considerations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Enemy’s Most Likely Course of Action (EMLCOA)</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1900"/>
              <a:t>After completing the METT-TC analysis, synthesize the findings to develop a comprehensive assumption of enemy actions. The EMLOCOA answers three questions:</a:t>
            </a:r>
          </a:p>
          <a:p>
            <a:pPr lvl="1"/>
            <a:r>
              <a:rPr b="1" sz="1900"/>
              <a:t>What is the enemy’s mission?</a:t>
            </a:r>
          </a:p>
          <a:p>
            <a:pPr lvl="2"/>
            <a:r>
              <a:rPr b="1" sz="1900"/>
              <a:t>Example</a:t>
            </a:r>
            <a:r>
              <a:rPr sz="1900"/>
              <a:t>: Is the enemy trying to achieve a specific tactical task like Exfiltrate sensitive data, or Disrupt a critical service?</a:t>
            </a:r>
          </a:p>
          <a:p>
            <a:pPr lvl="1"/>
            <a:r>
              <a:rPr b="1" sz="1900"/>
              <a:t>What is the enemy’s current tactical activity?</a:t>
            </a:r>
          </a:p>
          <a:p>
            <a:pPr lvl="2"/>
            <a:r>
              <a:rPr b="1" sz="1900"/>
              <a:t>Example</a:t>
            </a:r>
            <a:r>
              <a:rPr sz="1900"/>
              <a:t>: Are they staging tools for an attack? Conducting active reconnaissance? Maintaining persistence?</a:t>
            </a:r>
          </a:p>
          <a:p>
            <a:pPr lvl="1"/>
            <a:r>
              <a:rPr b="1" sz="1900"/>
              <a:t>What are the enemy’s actions on contact?</a:t>
            </a:r>
          </a:p>
          <a:p>
            <a:pPr lvl="2"/>
            <a:r>
              <a:rPr b="1" sz="1900"/>
              <a:t>Example</a:t>
            </a:r>
            <a:r>
              <a:rPr sz="1900"/>
              <a:t>: How will they react when we take action against them? Will they delete their presence, deploy ransomware, or escalate their activity?</a:t>
            </a:r>
          </a:p>
        </p:txBody>
      </p:sp>
      <p:sp>
        <p:nvSpPr>
          <p:cNvPr id="3" name="Title 2"/>
          <p:cNvSpPr>
            <a:spLocks noGrp="1"/>
          </p:cNvSpPr>
          <p:nvPr>
            <p:ph type="title"/>
          </p:nvPr>
        </p:nvSpPr>
        <p:spPr/>
        <p:txBody>
          <a:bodyPr wrap="square">
            <a:normAutofit/>
          </a:bodyPr>
          <a:lstStyle/>
          <a:p>
            <a:pPr/>
            <a:r>
              <a:rPr sz="2700"/>
              <a:t>EMLCOA</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200"/>
              <a:t>Practical Application: EMLCOA Analysis Group Discussion</a:t>
            </a:r>
          </a:p>
          <a:p>
            <a:pPr/>
            <a:r>
              <a:rPr b="1" sz="2200"/>
              <a:t>Objective: </a:t>
            </a:r>
            <a:r>
              <a:rPr sz="2200"/>
              <a:t>Evaluate and document the Enemy’s most likely course of action</a:t>
            </a:r>
          </a:p>
          <a:p>
            <a:pPr/>
            <a:r>
              <a:rPr b="1" sz="2200"/>
              <a:t>Instructions:</a:t>
            </a:r>
          </a:p>
          <a:p>
            <a:pPr lvl="1"/>
            <a:r>
              <a:rPr sz="2200"/>
              <a:t>Continue to use the ESET Whitepaper to answer the following 3 questions.</a:t>
            </a:r>
          </a:p>
          <a:p>
            <a:pPr lvl="2"/>
            <a:r>
              <a:rPr b="1" sz="2200"/>
              <a:t>What is the enemy’s mission?</a:t>
            </a:r>
          </a:p>
          <a:p>
            <a:pPr lvl="2"/>
            <a:r>
              <a:rPr b="1" sz="2200"/>
              <a:t>What is the enemy’s current tactical activity?</a:t>
            </a:r>
          </a:p>
          <a:p>
            <a:pPr lvl="2"/>
            <a:r>
              <a:rPr b="1" sz="2200"/>
              <a:t>What are the enemy’s actions on contact?</a:t>
            </a:r>
          </a:p>
          <a:p>
            <a:pPr lvl="1"/>
            <a:r>
              <a:rPr sz="2200"/>
              <a:t>Be prepared to share your group's assessment.</a:t>
            </a:r>
          </a:p>
        </p:txBody>
      </p:sp>
      <p:sp>
        <p:nvSpPr>
          <p:cNvPr id="3" name="Title 2"/>
          <p:cNvSpPr>
            <a:spLocks noGrp="1"/>
          </p:cNvSpPr>
          <p:nvPr>
            <p:ph type="title"/>
          </p:nvPr>
        </p:nvSpPr>
        <p:spPr/>
        <p:txBody>
          <a:bodyPr wrap="square">
            <a:normAutofit/>
          </a:bodyPr>
          <a:lstStyle/>
          <a:p>
            <a:pPr/>
            <a:r>
              <a:rPr sz="2700"/>
              <a:t>EMLCOA</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lvl="1"/>
            <a:r>
              <a:rPr b="1" sz="2400"/>
              <a:t>The enemy’s mission</a:t>
            </a:r>
          </a:p>
          <a:p>
            <a:pPr lvl="1"/>
            <a:r>
              <a:rPr b="1" sz="2400"/>
              <a:t>The enemy’s current tactical activity</a:t>
            </a:r>
          </a:p>
          <a:p>
            <a:pPr lvl="1"/>
            <a:r>
              <a:rPr b="1" sz="2400"/>
              <a:t>The enemy’s actions on contact</a:t>
            </a:r>
          </a:p>
        </p:txBody>
      </p:sp>
      <p:sp>
        <p:nvSpPr>
          <p:cNvPr id="3" name="Title 2"/>
          <p:cNvSpPr>
            <a:spLocks noGrp="1"/>
          </p:cNvSpPr>
          <p:nvPr>
            <p:ph type="title"/>
          </p:nvPr>
        </p:nvSpPr>
        <p:spPr/>
        <p:txBody>
          <a:bodyPr wrap="square">
            <a:normAutofit/>
          </a:bodyPr>
          <a:lstStyle/>
          <a:p>
            <a:pPr/>
            <a:r>
              <a:rPr sz="2700"/>
              <a:t>EMLCOA</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Center of Gravity Analysis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Center of Gravity (CoG):</a:t>
            </a:r>
          </a:p>
          <a:p>
            <a:pPr lvl="1"/>
            <a:r>
              <a:rPr b="1" sz="2400"/>
              <a:t>Definition</a:t>
            </a:r>
            <a:r>
              <a:rPr sz="2400"/>
              <a:t>: “That element or capability which allows the enemy to execute their mission or scheme of maneuver successfully.”</a:t>
            </a:r>
          </a:p>
          <a:p>
            <a:pPr lvl="1"/>
            <a:r>
              <a:rPr b="1" sz="2400"/>
              <a:t>Key Question</a:t>
            </a:r>
            <a:r>
              <a:rPr sz="2400"/>
              <a:t>: Based on the EMLCOA, what is the one thing that is most critical for the enemy’s success?</a:t>
            </a:r>
          </a:p>
          <a:p>
            <a:pPr lvl="2"/>
            <a:r>
              <a:rPr b="1" sz="2400"/>
              <a:t>Example</a:t>
            </a:r>
            <a:r>
              <a:rPr sz="2400"/>
              <a:t>: The enemy’s CoG is their persistent, undetected access achieved through a combination of stealth and compromised administrative credentials.</a:t>
            </a:r>
          </a:p>
        </p:txBody>
      </p:sp>
      <p:sp>
        <p:nvSpPr>
          <p:cNvPr id="3" name="Title 2"/>
          <p:cNvSpPr>
            <a:spLocks noGrp="1"/>
          </p:cNvSpPr>
          <p:nvPr>
            <p:ph type="title"/>
          </p:nvPr>
        </p:nvSpPr>
        <p:spPr/>
        <p:txBody>
          <a:bodyPr wrap="square">
            <a:normAutofit/>
          </a:bodyPr>
          <a:lstStyle/>
          <a:p>
            <a:pPr/>
            <a:r>
              <a:rPr sz="2700"/>
              <a:t>Center of Gravity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Critical Capabilities (CCs):</a:t>
            </a:r>
          </a:p>
          <a:p>
            <a:pPr lvl="1"/>
            <a:r>
              <a:rPr b="1" sz="2400"/>
              <a:t>Definition</a:t>
            </a:r>
            <a:r>
              <a:rPr sz="2400"/>
              <a:t>: “The primary abilities or key actions (often written as verbs like defend, strike, command, or mobilize) that allow a COG to exert power.”</a:t>
            </a:r>
          </a:p>
          <a:p>
            <a:pPr lvl="1"/>
            <a:r>
              <a:rPr b="1" sz="2400"/>
              <a:t>Key Question</a:t>
            </a:r>
            <a:r>
              <a:rPr sz="2400"/>
              <a:t>: Based on the EMLCOA, what abilities or actions (verbs) does the CoG need?</a:t>
            </a:r>
          </a:p>
          <a:p>
            <a:pPr lvl="2"/>
            <a:r>
              <a:rPr b="1" sz="2400"/>
              <a:t>Example</a:t>
            </a:r>
            <a:r>
              <a:rPr sz="2400"/>
              <a:t>: The enemy’s CC is maneuver through friendly networks.</a:t>
            </a:r>
          </a:p>
        </p:txBody>
      </p:sp>
      <p:sp>
        <p:nvSpPr>
          <p:cNvPr id="3" name="Title 2"/>
          <p:cNvSpPr>
            <a:spLocks noGrp="1"/>
          </p:cNvSpPr>
          <p:nvPr>
            <p:ph type="title"/>
          </p:nvPr>
        </p:nvSpPr>
        <p:spPr/>
        <p:txBody>
          <a:bodyPr wrap="square">
            <a:normAutofit/>
          </a:bodyPr>
          <a:lstStyle/>
          <a:p>
            <a:pPr/>
            <a:r>
              <a:rPr sz="2700"/>
              <a:t>Center of Gravity &amp; Critical Capabilities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Critical Requirements (CRs):</a:t>
            </a:r>
          </a:p>
          <a:p>
            <a:pPr lvl="1"/>
            <a:r>
              <a:rPr b="1" sz="2400"/>
              <a:t>Definition</a:t>
            </a:r>
            <a:r>
              <a:rPr sz="2400"/>
              <a:t>: “The essential conditions, means (things), and specific resources (nouns) needed to keep those capabilities fully operative.”</a:t>
            </a:r>
          </a:p>
          <a:p>
            <a:pPr lvl="1"/>
            <a:r>
              <a:rPr b="1" sz="2400"/>
              <a:t>Key Question</a:t>
            </a:r>
            <a:r>
              <a:rPr sz="2400"/>
              <a:t>: Based on the EMLCOA, what things (nouns) does the CoG need?</a:t>
            </a:r>
          </a:p>
          <a:p>
            <a:pPr lvl="2"/>
            <a:r>
              <a:rPr b="1" sz="2400"/>
              <a:t>Example</a:t>
            </a:r>
            <a:r>
              <a:rPr sz="2400"/>
              <a:t>: The enemy’s CR is electrical power.</a:t>
            </a:r>
          </a:p>
        </p:txBody>
      </p:sp>
      <p:sp>
        <p:nvSpPr>
          <p:cNvPr id="3" name="Title 2"/>
          <p:cNvSpPr>
            <a:spLocks noGrp="1"/>
          </p:cNvSpPr>
          <p:nvPr>
            <p:ph type="title"/>
          </p:nvPr>
        </p:nvSpPr>
        <p:spPr/>
        <p:txBody>
          <a:bodyPr wrap="square">
            <a:normAutofit/>
          </a:bodyPr>
          <a:lstStyle/>
          <a:p>
            <a:pPr/>
            <a:r>
              <a:rPr sz="2700"/>
              <a:t>Center of Gravity &amp; Critical Requirements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Critical Vulnerability (CV):</a:t>
            </a:r>
          </a:p>
          <a:p>
            <a:pPr lvl="1"/>
            <a:r>
              <a:rPr b="1" sz="2400"/>
              <a:t>Definition</a:t>
            </a:r>
            <a:r>
              <a:rPr sz="2400"/>
              <a:t>: “A vulnerability that, if exploited, will render the enemy’s center of gravity ineffective.”</a:t>
            </a:r>
          </a:p>
          <a:p>
            <a:pPr lvl="1"/>
            <a:r>
              <a:rPr b="1" sz="2400"/>
              <a:t>Key Question</a:t>
            </a:r>
            <a:r>
              <a:rPr sz="2400"/>
              <a:t>: How can we attack the enemy’s CoG?</a:t>
            </a:r>
          </a:p>
          <a:p>
            <a:pPr lvl="2"/>
            <a:r>
              <a:rPr b="1" sz="2400"/>
              <a:t>Example</a:t>
            </a:r>
            <a:r>
              <a:rPr sz="2400"/>
              <a:t>: The enemy’s reliance on a single set of credentials for all lateral movement is a critical vulnerability. Removing their access to those credentials will neutralize their CoG.</a:t>
            </a:r>
          </a:p>
        </p:txBody>
      </p:sp>
      <p:sp>
        <p:nvSpPr>
          <p:cNvPr id="3" name="Title 2"/>
          <p:cNvSpPr>
            <a:spLocks noGrp="1"/>
          </p:cNvSpPr>
          <p:nvPr>
            <p:ph type="title"/>
          </p:nvPr>
        </p:nvSpPr>
        <p:spPr/>
        <p:txBody>
          <a:bodyPr wrap="square">
            <a:normAutofit/>
          </a:bodyPr>
          <a:lstStyle/>
          <a:p>
            <a:pPr/>
            <a:r>
              <a:rPr sz="2700"/>
              <a:t>Center of Gravity &amp; Critical Vulnerability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The Exploitation Plan</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Key Question: What specific action(s) will we take to neutralize the enemy’s CoG by exploiting their CV?</a:t>
            </a:r>
          </a:p>
          <a:p>
            <a:pPr lvl="1"/>
            <a:r>
              <a:rPr b="1" sz="2400"/>
              <a:t>Cyberspace Applications:</a:t>
            </a:r>
          </a:p>
          <a:p>
            <a:pPr lvl="2"/>
            <a:r>
              <a:rPr sz="2400"/>
              <a:t>For defensive or “blue space” operations, the MITRE D3FEND framework is a valuable starting point.</a:t>
            </a:r>
          </a:p>
          <a:p>
            <a:pPr lvl="2"/>
            <a:r>
              <a:rPr sz="2400"/>
              <a:t>D3FEND provides specific countermeasures that directly map to adversary techniques identified in MITRE ATT&amp;CK.</a:t>
            </a:r>
          </a:p>
          <a:p>
            <a:pPr lvl="2"/>
            <a:r>
              <a:rPr b="1" sz="2400"/>
              <a:t>Example</a:t>
            </a:r>
            <a:r>
              <a:rPr sz="2400"/>
              <a:t>: If the adversary’s TTP is “Use of Valid Accounts” (ATT&amp;CK), the exploitation plan might involve “Credential Isolation” and “User Account Permissions” (D3FEND).</a:t>
            </a:r>
          </a:p>
        </p:txBody>
      </p:sp>
      <p:sp>
        <p:nvSpPr>
          <p:cNvPr id="3" name="Title 2"/>
          <p:cNvSpPr>
            <a:spLocks noGrp="1"/>
          </p:cNvSpPr>
          <p:nvPr>
            <p:ph type="title"/>
          </p:nvPr>
        </p:nvSpPr>
        <p:spPr/>
        <p:txBody>
          <a:bodyPr wrap="square">
            <a:normAutofit/>
          </a:bodyPr>
          <a:lstStyle/>
          <a:p>
            <a:pPr/>
            <a:r>
              <a:rPr sz="2700"/>
              <a:t>The Exploitation Plan</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Practical Application: Analysis &amp; Group Discussion</a:t>
            </a:r>
          </a:p>
          <a:p>
            <a:pPr/>
            <a:r>
              <a:rPr b="1" sz="2400"/>
              <a:t>Objective: </a:t>
            </a:r>
            <a:r>
              <a:rPr sz="2400"/>
              <a:t>Evaluate and document the Enemy’s most likely course of action</a:t>
            </a:r>
          </a:p>
          <a:p>
            <a:pPr/>
            <a:r>
              <a:rPr b="1" sz="2400"/>
              <a:t>Instructions:</a:t>
            </a:r>
          </a:p>
          <a:p>
            <a:pPr lvl="1"/>
            <a:r>
              <a:rPr sz="2400"/>
              <a:t>As a group develop the following:</a:t>
            </a:r>
          </a:p>
          <a:p>
            <a:pPr lvl="2"/>
            <a:r>
              <a:rPr b="1" sz="2400"/>
              <a:t>Center of Gravity (CoG): </a:t>
            </a:r>
          </a:p>
          <a:p>
            <a:pPr lvl="2"/>
            <a:r>
              <a:rPr b="1" sz="2400"/>
              <a:t>Critical Vulnerability (CV):</a:t>
            </a:r>
          </a:p>
          <a:p>
            <a:pPr lvl="2"/>
            <a:r>
              <a:rPr b="1" sz="2400"/>
              <a:t>Exploitation Plan: </a:t>
            </a:r>
          </a:p>
          <a:p>
            <a:pPr lvl="1"/>
            <a:r>
              <a:rPr sz="2400"/>
              <a:t>Be prepared to share your group's assessment.</a:t>
            </a:r>
          </a:p>
        </p:txBody>
      </p:sp>
      <p:sp>
        <p:nvSpPr>
          <p:cNvPr id="3" name="Title 2"/>
          <p:cNvSpPr>
            <a:spLocks noGrp="1"/>
          </p:cNvSpPr>
          <p:nvPr>
            <p:ph type="title"/>
          </p:nvPr>
        </p:nvSpPr>
        <p:spPr/>
        <p:txBody>
          <a:bodyPr wrap="square">
            <a:normAutofit/>
          </a:bodyPr>
          <a:lstStyle/>
          <a:p>
            <a:pPr/>
            <a:r>
              <a:rPr sz="2700"/>
              <a:t>The Exploitation Plan: Putting it all together</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b="1" sz="2400"/>
              <a:t>Center of Gravity (CoG): </a:t>
            </a:r>
          </a:p>
          <a:p>
            <a:pPr>
              <a:buNone/>
            </a:pPr>
            <a:r>
              <a:rPr b="1" sz="2400"/>
              <a:t>Critical Vulnerability (CV): </a:t>
            </a:r>
          </a:p>
          <a:p>
            <a:pPr>
              <a:buNone/>
            </a:pPr>
            <a:r>
              <a:rPr b="1" sz="2400"/>
              <a:t>Exploitation Plan: </a:t>
            </a:r>
          </a:p>
        </p:txBody>
      </p:sp>
      <p:sp>
        <p:nvSpPr>
          <p:cNvPr id="3" name="Title 2"/>
          <p:cNvSpPr>
            <a:spLocks noGrp="1"/>
          </p:cNvSpPr>
          <p:nvPr>
            <p:ph type="title"/>
          </p:nvPr>
        </p:nvSpPr>
        <p:spPr/>
        <p:txBody>
          <a:bodyPr wrap="square">
            <a:normAutofit/>
          </a:bodyPr>
          <a:lstStyle/>
          <a:p>
            <a:pPr/>
            <a:r>
              <a:rPr sz="2700"/>
              <a:t>The Exploitation Plan: Putting it all together</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pPr/>
            <a:r>
              <a:rPr sz="4000"/>
              <a:t>Scheme of Maneuver, Fire Support Plan, and Tasks</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1800"/>
              <a:t>Scheme of Maneuver:</a:t>
            </a:r>
          </a:p>
          <a:p>
            <a:pPr lvl="1"/>
            <a:r>
              <a:rPr sz="1800"/>
              <a:t>Describes how the elements of the exploitation plan will be implemented in a coordinated manner, often through designated phases of the operation.</a:t>
            </a:r>
          </a:p>
          <a:p>
            <a:pPr/>
            <a:r>
              <a:rPr b="1" sz="1800"/>
              <a:t>Fire Support Plan:</a:t>
            </a:r>
          </a:p>
          <a:p>
            <a:pPr lvl="1"/>
            <a:r>
              <a:rPr sz="1800"/>
              <a:t>A parallel concept in cyberspace operations.</a:t>
            </a:r>
          </a:p>
          <a:p>
            <a:pPr lvl="1"/>
            <a:r>
              <a:rPr sz="1800"/>
              <a:t>Coordinates the use of rear echelon support (e.g., forensics, national agencies) with the tactical actions on the network.</a:t>
            </a:r>
          </a:p>
          <a:p>
            <a:pPr lvl="1"/>
            <a:r>
              <a:rPr sz="1800"/>
              <a:t>Ensures actions are deconflicted and mutually supporting.</a:t>
            </a:r>
          </a:p>
          <a:p>
            <a:pPr/>
            <a:r>
              <a:rPr b="1" sz="1800"/>
              <a:t>Tasks</a:t>
            </a:r>
            <a:r>
              <a:rPr sz="1800"/>
              <a:t>:</a:t>
            </a:r>
          </a:p>
          <a:p>
            <a:pPr lvl="1"/>
            <a:r>
              <a:rPr sz="1800"/>
              <a:t>Clear, concise tasking assigned to individual operators or teams.</a:t>
            </a:r>
          </a:p>
          <a:p>
            <a:pPr lvl="1"/>
            <a:r>
              <a:rPr sz="1800"/>
              <a:t>Crucial for transitioning from a collection of individuals into a synchronized team executing a unified plan.</a:t>
            </a:r>
          </a:p>
        </p:txBody>
      </p:sp>
      <p:sp>
        <p:nvSpPr>
          <p:cNvPr id="3" name="Title 2"/>
          <p:cNvSpPr>
            <a:spLocks noGrp="1"/>
          </p:cNvSpPr>
          <p:nvPr>
            <p:ph type="title"/>
          </p:nvPr>
        </p:nvSpPr>
        <p:spPr/>
        <p:txBody>
          <a:bodyPr wrap="square">
            <a:normAutofit/>
          </a:bodyPr>
          <a:lstStyle/>
          <a:p>
            <a:pPr/>
            <a:r>
              <a:rPr sz="2700"/>
              <a:t>Scheme of Maneuver, Fire Support Plan, and Tasks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2400"/>
              <a:t>Phase 1: </a:t>
            </a:r>
          </a:p>
          <a:p>
            <a:pPr/>
            <a:r>
              <a:rPr b="1" sz="2400"/>
              <a:t>Phase 2: </a:t>
            </a:r>
          </a:p>
          <a:p>
            <a:pPr/>
            <a:r>
              <a:rPr b="1" sz="2400"/>
              <a:t>Phase 3:</a:t>
            </a:r>
          </a:p>
          <a:p>
            <a:pPr/>
            <a:r>
              <a:rPr b="1" sz="2400"/>
              <a:t>Phase 4: </a:t>
            </a:r>
          </a:p>
          <a:p>
            <a:pPr/>
            <a:r>
              <a:rPr b="1" sz="2400"/>
              <a:t>Phase 5: </a:t>
            </a:r>
          </a:p>
        </p:txBody>
      </p:sp>
      <p:sp>
        <p:nvSpPr>
          <p:cNvPr id="3" name="Title 2"/>
          <p:cNvSpPr>
            <a:spLocks noGrp="1"/>
          </p:cNvSpPr>
          <p:nvPr>
            <p:ph type="title"/>
          </p:nvPr>
        </p:nvSpPr>
        <p:spPr/>
        <p:txBody>
          <a:bodyPr wrap="square">
            <a:normAutofit/>
          </a:bodyPr>
          <a:lstStyle/>
          <a:p>
            <a:pPr/>
            <a:r>
              <a:rPr sz="2700"/>
              <a:t>Scheme of Maneuver:</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Fire Support Plan:</a:t>
            </a:r>
          </a:p>
        </p:txBody>
      </p:sp>
      <p:graphicFrame>
        <p:nvGraphicFramePr>
          <p:cNvPr id="4" name="Table 3"/>
          <p:cNvGraphicFramePr>
            <a:graphicFrameLocks noGrp="1"/>
          </p:cNvGraphicFramePr>
          <p:nvPr/>
        </p:nvGraphicFramePr>
        <p:xfrm>
          <a:off x="1510029" y="1127245"/>
          <a:ext cx="10361372" cy="1889760"/>
        </p:xfrm>
        <a:graphic>
          <a:graphicData uri="http://schemas.openxmlformats.org/drawingml/2006/table">
            <a:tbl>
              <a:tblPr firstRow="1" bandRow="1">
                <a:tableStyleId>{5C22544A-7EE6-4342-B048-85BDC9FD1C3A}</a:tableStyleId>
              </a:tblPr>
              <a:tblGrid>
                <a:gridCol w="2072274"/>
                <a:gridCol w="2072274"/>
                <a:gridCol w="2072274"/>
                <a:gridCol w="2072274"/>
                <a:gridCol w="2072276"/>
              </a:tblGrid>
              <a:tr h="263652">
                <a:tc>
                  <a:txBody>
                    <a:bodyPr wrap="square"/>
                    <a:lstStyle/>
                    <a:p>
                      <a:pPr>
                        <a:defRPr sz="1200"/>
                      </a:pPr>
                      <a:r>
                        <a:t>Target Category</a:t>
                      </a:r>
                    </a:p>
                  </a:txBody>
                  <a:tcPr/>
                </a:tc>
                <a:tc>
                  <a:txBody>
                    <a:bodyPr wrap="square"/>
                    <a:lstStyle/>
                    <a:p>
                      <a:pPr>
                        <a:defRPr sz="1200"/>
                      </a:pPr>
                      <a:r>
                        <a:t>Trigger</a:t>
                      </a:r>
                    </a:p>
                  </a:txBody>
                  <a:tcPr/>
                </a:tc>
                <a:tc>
                  <a:txBody>
                    <a:bodyPr wrap="square"/>
                    <a:lstStyle/>
                    <a:p>
                      <a:pPr>
                        <a:defRPr sz="1200"/>
                      </a:pPr>
                      <a:r>
                        <a:t>Organic Action</a:t>
                      </a:r>
                    </a:p>
                  </a:txBody>
                  <a:tcPr/>
                </a:tc>
                <a:tc>
                  <a:txBody>
                    <a:bodyPr wrap="square"/>
                    <a:lstStyle/>
                    <a:p>
                      <a:pPr>
                        <a:defRPr sz="1200"/>
                      </a:pPr>
                      <a:r>
                        <a:t>Rear Echelon Action</a:t>
                      </a:r>
                    </a:p>
                  </a:txBody>
                  <a:tcPr/>
                </a:tc>
                <a:tc>
                  <a:txBody>
                    <a:bodyPr wrap="square"/>
                    <a:lstStyle/>
                    <a:p>
                      <a:pPr>
                        <a:defRPr sz="1200"/>
                      </a:pPr>
                      <a:r>
                        <a:t>Desired Effects</a:t>
                      </a:r>
                    </a:p>
                  </a:txBody>
                  <a:tcPr/>
                </a:tc>
              </a:tr>
              <a:tr h="472440">
                <a:tc>
                  <a:txBody>
                    <a:bodyPr wrap="square"/>
                    <a:lstStyle/>
                    <a:p>
                      <a:pPr>
                        <a:defRPr sz="1200"/>
                      </a:pPr>
                      <a:r>
                        <a:t>Adversary C2 Infrastructure</a:t>
                      </a:r>
                    </a:p>
                  </a:txBody>
                  <a:tcPr/>
                </a:tc>
                <a:tc>
                  <a:txBody>
                    <a:bodyPr wrap="square"/>
                    <a:lstStyle/>
                    <a:p>
                      <a:pPr>
                        <a:defRPr sz="1200"/>
                      </a:pPr>
                      <a:r>
                        <a:t>Confirmed beaconing from isolated host.</a:t>
                      </a:r>
                    </a:p>
                  </a:txBody>
                  <a:tcPr/>
                </a:tc>
                <a:tc>
                  <a:txBody>
                    <a:bodyPr wrap="square"/>
                    <a:lstStyle/>
                    <a:p>
                      <a:pPr>
                        <a:defRPr sz="1200"/>
                      </a:pPr>
                      <a:r>
                        <a:t>Block outbound traffic; submit RFF.</a:t>
                      </a:r>
                    </a:p>
                  </a:txBody>
                  <a:tcPr/>
                </a:tc>
                <a:tc>
                  <a:txBody>
                    <a:bodyPr wrap="square"/>
                    <a:lstStyle/>
                    <a:p>
                      <a:pPr>
                        <a:defRPr sz="1200"/>
                      </a:pPr>
                      <a:r>
                        <a:t>Conduct active recon &amp; exploit C2 node.</a:t>
                      </a:r>
                    </a:p>
                  </a:txBody>
                  <a:tcPr/>
                </a:tc>
                <a:tc>
                  <a:txBody>
                    <a:bodyPr wrap="square"/>
                    <a:lstStyle/>
                    <a:p>
                      <a:pPr>
                        <a:defRPr sz="1200"/>
                      </a:pPr>
                      <a:r>
                        <a:t>Degrade, Disrupt, Exploit</a:t>
                      </a:r>
                    </a:p>
                  </a:txBody>
                  <a:tcPr/>
                </a:tc>
              </a:tr>
              <a:tr h="472440">
                <a:tc>
                  <a:txBody>
                    <a:bodyPr wrap="square"/>
                    <a:lstStyle/>
                    <a:p>
                      <a:pPr>
                        <a:defRPr sz="1200"/>
                      </a:pPr>
                      <a:r>
                        <a:t>Adversary Staging Server</a:t>
                      </a:r>
                    </a:p>
                  </a:txBody>
                  <a:tcPr/>
                </a:tc>
                <a:tc>
                  <a:txBody>
                    <a:bodyPr wrap="square"/>
                    <a:lstStyle/>
                    <a:p>
                      <a:pPr>
                        <a:defRPr sz="1200"/>
                      </a:pPr>
                      <a:r>
                        <a:t>Novel payload URL extracted from memory.</a:t>
                      </a:r>
                    </a:p>
                  </a:txBody>
                  <a:tcPr/>
                </a:tc>
                <a:tc>
                  <a:txBody>
                    <a:bodyPr wrap="square"/>
                    <a:lstStyle/>
                    <a:p>
                      <a:pPr>
                        <a:defRPr sz="1200"/>
                      </a:pPr>
                      <a:r>
                        <a:t>Block downloads; submit RFF with URL.</a:t>
                      </a:r>
                    </a:p>
                  </a:txBody>
                  <a:tcPr/>
                </a:tc>
                <a:tc>
                  <a:txBody>
                    <a:bodyPr wrap="square"/>
                    <a:lstStyle/>
                    <a:p>
                      <a:pPr>
                        <a:defRPr sz="1200"/>
                      </a:pPr>
                      <a:r>
                        <a:t>Enumerate/download full toolkit; neutralize server.</a:t>
                      </a:r>
                    </a:p>
                  </a:txBody>
                  <a:tcPr/>
                </a:tc>
                <a:tc>
                  <a:txBody>
                    <a:bodyPr wrap="square"/>
                    <a:lstStyle/>
                    <a:p>
                      <a:pPr>
                        <a:defRPr sz="1200"/>
                      </a:pPr>
                      <a:r>
                        <a:t>Deny, Intelligence Gain</a:t>
                      </a:r>
                    </a:p>
                  </a:txBody>
                  <a:tcPr/>
                </a:tc>
              </a:tr>
              <a:tr h="681228">
                <a:tc>
                  <a:txBody>
                    <a:bodyPr wrap="square"/>
                    <a:lstStyle/>
                    <a:p>
                      <a:pPr>
                        <a:defRPr sz="1200"/>
                      </a:pPr>
                      <a:r>
                        <a:t>Compromised 3rd-Party Relay</a:t>
                      </a:r>
                    </a:p>
                  </a:txBody>
                  <a:tcPr/>
                </a:tc>
                <a:tc>
                  <a:txBody>
                    <a:bodyPr wrap="square"/>
                    <a:lstStyle/>
                    <a:p>
                      <a:pPr>
                        <a:defRPr sz="1200"/>
                      </a:pPr>
                      <a:r>
                        <a:t>Traffic identified routing through a known proxy.</a:t>
                      </a:r>
                    </a:p>
                  </a:txBody>
                  <a:tcPr/>
                </a:tc>
                <a:tc>
                  <a:txBody>
                    <a:bodyPr wrap="square"/>
                    <a:lstStyle/>
                    <a:p>
                      <a:pPr>
                        <a:defRPr sz="1200"/>
                      </a:pPr>
                      <a:r>
                        <a:t>Null-route traffic; submit RFF.</a:t>
                      </a:r>
                    </a:p>
                  </a:txBody>
                  <a:tcPr/>
                </a:tc>
                <a:tc>
                  <a:txBody>
                    <a:bodyPr wrap="square"/>
                    <a:lstStyle/>
                    <a:p>
                      <a:pPr>
                        <a:defRPr sz="1200"/>
                      </a:pPr>
                      <a:r>
                        <a:t>Coordinate with law enforcement or execute authorized DCORA.</a:t>
                      </a:r>
                    </a:p>
                  </a:txBody>
                  <a:tcPr/>
                </a:tc>
                <a:tc>
                  <a:txBody>
                    <a:bodyPr wrap="square"/>
                    <a:lstStyle/>
                    <a:p>
                      <a:pPr>
                        <a:defRPr sz="1200"/>
                      </a:pPr>
                      <a:r>
                        <a:t>Disrupt</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Tasks: Organic Asset Tasking</a:t>
            </a:r>
          </a:p>
        </p:txBody>
      </p:sp>
      <p:graphicFrame>
        <p:nvGraphicFramePr>
          <p:cNvPr id="4" name="Table 3"/>
          <p:cNvGraphicFramePr>
            <a:graphicFrameLocks noGrp="1"/>
          </p:cNvGraphicFramePr>
          <p:nvPr/>
        </p:nvGraphicFramePr>
        <p:xfrm>
          <a:off x="1510029" y="1127245"/>
          <a:ext cx="10361372" cy="1318260"/>
        </p:xfrm>
        <a:graphic>
          <a:graphicData uri="http://schemas.openxmlformats.org/drawingml/2006/table">
            <a:tbl>
              <a:tblPr firstRow="1" bandRow="1">
                <a:tableStyleId>{5C22544A-7EE6-4342-B048-85BDC9FD1C3A}</a:tableStyleId>
              </a:tblPr>
              <a:tblGrid>
                <a:gridCol w="5180686"/>
                <a:gridCol w="5180686"/>
              </a:tblGrid>
              <a:tr h="263652">
                <a:tc>
                  <a:txBody>
                    <a:bodyPr wrap="square"/>
                    <a:lstStyle/>
                    <a:p>
                      <a:pPr>
                        <a:defRPr sz="1200"/>
                      </a:pPr>
                      <a:r>
                        <a:t>Role</a:t>
                      </a:r>
                    </a:p>
                  </a:txBody>
                  <a:tcPr/>
                </a:tc>
                <a:tc>
                  <a:txBody>
                    <a:bodyPr wrap="square"/>
                    <a:lstStyle/>
                    <a:p>
                      <a:pPr>
                        <a:defRPr sz="1200"/>
                      </a:pPr>
                      <a:r>
                        <a:t>Key Responsibilities</a:t>
                      </a:r>
                    </a:p>
                  </a:txBody>
                  <a:tcPr/>
                </a:tc>
              </a:tr>
              <a:tr h="263652">
                <a:tc>
                  <a:txBody>
                    <a:bodyPr wrap="square"/>
                    <a:lstStyle/>
                    <a:p>
                      <a:pPr>
                        <a:defRPr sz="1200"/>
                      </a:pPr>
                      <a:r>
                        <a:t>Mission Commander (MC)</a:t>
                      </a:r>
                    </a:p>
                  </a:txBody>
                  <a:tcPr/>
                </a:tc>
                <a:tc>
                  <a:txBody>
                    <a:bodyPr wrap="square"/>
                    <a:lstStyle/>
                    <a:p>
                      <a:pPr>
                        <a:defRPr sz="1200"/>
                      </a:pPr>
                      <a:r>
                        <a:t>Authorize key actions (quarantine, RFF submission), manage risk.</a:t>
                      </a:r>
                    </a:p>
                  </a:txBody>
                  <a:tcPr/>
                </a:tc>
              </a:tr>
              <a:tr h="263652">
                <a:tc>
                  <a:txBody>
                    <a:bodyPr wrap="square"/>
                    <a:lstStyle/>
                    <a:p>
                      <a:pPr>
                        <a:defRPr sz="1200"/>
                      </a:pPr>
                      <a:r>
                        <a:t>Threat Intel</a:t>
                      </a:r>
                    </a:p>
                  </a:txBody>
                  <a:tcPr/>
                </a:tc>
                <a:tc>
                  <a:txBody>
                    <a:bodyPr wrap="square"/>
                    <a:lstStyle/>
                    <a:p>
                      <a:pPr>
                        <a:defRPr sz="1200"/>
                      </a:pPr>
                      <a:r>
                        <a:t>Provide initial TTPs, analyze extracted tools, update EMLCOA.</a:t>
                      </a:r>
                    </a:p>
                  </a:txBody>
                  <a:tcPr/>
                </a:tc>
              </a:tr>
              <a:tr h="263652">
                <a:tc>
                  <a:txBody>
                    <a:bodyPr wrap="square"/>
                    <a:lstStyle/>
                    <a:p>
                      <a:pPr>
                        <a:defRPr sz="1200"/>
                      </a:pPr>
                      <a:r>
                        <a:t>Network Analyst (NetOps)</a:t>
                      </a:r>
                    </a:p>
                  </a:txBody>
                  <a:tcPr/>
                </a:tc>
                <a:tc>
                  <a:txBody>
                    <a:bodyPr wrap="square"/>
                    <a:lstStyle/>
                    <a:p>
                      <a:pPr>
                        <a:defRPr sz="1200"/>
                      </a:pPr>
                      <a:r>
                        <a:t>Build/monitor SIEM dashboards, trigger alerts, block C2 IPs locally.</a:t>
                      </a:r>
                    </a:p>
                  </a:txBody>
                  <a:tcPr/>
                </a:tc>
              </a:tr>
              <a:tr h="263652">
                <a:tc>
                  <a:txBody>
                    <a:bodyPr wrap="square"/>
                    <a:lstStyle/>
                    <a:p>
                      <a:pPr>
                        <a:defRPr sz="1200"/>
                      </a:pPr>
                      <a:r>
                        <a:t>Host Analyst (HostOps)</a:t>
                      </a:r>
                    </a:p>
                  </a:txBody>
                  <a:tcPr/>
                </a:tc>
                <a:tc>
                  <a:txBody>
                    <a:bodyPr wrap="square"/>
                    <a:lstStyle/>
                    <a:p>
                      <a:pPr>
                        <a:defRPr sz="1200"/>
                      </a:pPr>
                      <a:r>
                        <a:t>Deploy EDR, execute immediate host quarantine, conduct live triage.</a:t>
                      </a:r>
                    </a:p>
                  </a:txBody>
                  <a:tcPr/>
                </a:tc>
              </a:tr>
            </a:tbl>
          </a:graphicData>
        </a:graphic>
      </p:graphicFrame>
      <p:sp>
        <p:nvSpPr>
          <p:cNvPr id="5"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The military tactical planning processes (BAMCIS, METT-TC) are highly relevant and directly applicable to cyberspace operations.</a:t>
            </a:r>
          </a:p>
          <a:p>
            <a:pPr/>
            <a:r>
              <a:rPr sz="2400"/>
              <a:t>Structured analysis (SALUTE, DRAW-D, OCOKAW) is essential for understanding the complex cyber domain.</a:t>
            </a:r>
          </a:p>
          <a:p>
            <a:pPr/>
            <a:r>
              <a:rPr sz="2400"/>
              <a:t>The goal of planning is to move beyond reaction and proactively impose costs on the adversary.</a:t>
            </a:r>
          </a:p>
          <a:p>
            <a:pPr/>
            <a:r>
              <a:rPr sz="2400"/>
              <a:t>This is accomplished by identifying the enemy’s Center of Gravity, targeting their Critical Vulnerability, and executing a well-defined Exploitation Plan.</a:t>
            </a:r>
          </a:p>
        </p:txBody>
      </p:sp>
      <p:sp>
        <p:nvSpPr>
          <p:cNvPr id="3" name="Title 2"/>
          <p:cNvSpPr>
            <a:spLocks noGrp="1"/>
          </p:cNvSpPr>
          <p:nvPr>
            <p:ph type="title"/>
          </p:nvPr>
        </p:nvSpPr>
        <p:spPr/>
        <p:txBody>
          <a:bodyPr wrap="square">
            <a:normAutofit/>
          </a:bodyPr>
          <a:lstStyle/>
          <a:p>
            <a:pPr/>
            <a:r>
              <a:rPr sz="2700"/>
              <a:t>Lesson Summary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300"/>
              <a:t>You should now be able to:</a:t>
            </a:r>
          </a:p>
          <a:p>
            <a:pPr>
              <a:buNone/>
            </a:pPr>
            <a:r>
              <a:rPr sz="2300"/>
              <a:t>Understand the process of conducting Tactical Planning, recall and apply each component/process given a scenario.</a:t>
            </a:r>
          </a:p>
          <a:p>
            <a:pPr/>
            <a:r>
              <a:rPr sz="2300"/>
              <a:t>Map Tactical Tasks to cyberspace operations</a:t>
            </a:r>
          </a:p>
          <a:p>
            <a:pPr/>
            <a:r>
              <a:rPr sz="2300"/>
              <a:t>Define METT-TC</a:t>
            </a:r>
          </a:p>
          <a:p>
            <a:pPr/>
            <a:r>
              <a:rPr sz="2300"/>
              <a:t>Create a SALUTE report on an enemy</a:t>
            </a:r>
          </a:p>
          <a:p>
            <a:pPr/>
            <a:r>
              <a:rPr sz="2300"/>
              <a:t>Conduct DRAW-D analysis, implement each step during planning.</a:t>
            </a:r>
          </a:p>
          <a:p>
            <a:pPr/>
            <a:r>
              <a:rPr sz="2300"/>
              <a:t>Conduct friendly and enemy Terrain Analysis applying the components of OCOKAW.</a:t>
            </a:r>
          </a:p>
        </p:txBody>
      </p:sp>
      <p:sp>
        <p:nvSpPr>
          <p:cNvPr id="3" name="Title 2"/>
          <p:cNvSpPr>
            <a:spLocks noGrp="1"/>
          </p:cNvSpPr>
          <p:nvPr>
            <p:ph type="title"/>
          </p:nvPr>
        </p:nvSpPr>
        <p:spPr/>
        <p:txBody>
          <a:bodyPr wrap="square">
            <a:normAutofit/>
          </a:bodyPr>
          <a:lstStyle/>
          <a:p>
            <a:pPr/>
            <a:r>
              <a:rPr sz="2700"/>
              <a:t>Lesson Summary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buNone/>
            </a:pPr>
            <a:r>
              <a:rPr sz="2400"/>
              <a:t>You should now be able to:</a:t>
            </a:r>
          </a:p>
          <a:p>
            <a:pPr/>
            <a:r>
              <a:rPr sz="2400"/>
              <a:t>Identify an adversary Center of Gravity and Critical Vulnerabilities.</a:t>
            </a:r>
          </a:p>
          <a:p>
            <a:pPr/>
            <a:r>
              <a:rPr sz="2400"/>
              <a:t>Determine an adversary’s mission.</a:t>
            </a:r>
          </a:p>
          <a:p>
            <a:pPr/>
            <a:r>
              <a:rPr sz="2400"/>
              <a:t>Determine the Enemy’s Most Likely Course of Action.</a:t>
            </a:r>
          </a:p>
          <a:p>
            <a:pPr/>
            <a:r>
              <a:rPr sz="2400"/>
              <a:t>Recall the components of an effective Exploitation Plan.</a:t>
            </a:r>
          </a:p>
          <a:p>
            <a:pPr/>
            <a:r>
              <a:rPr sz="2400"/>
              <a:t>Develop a Scheme of Maneuver, Fire Support Plan, and Tasks</a:t>
            </a:r>
          </a:p>
        </p:txBody>
      </p:sp>
      <p:sp>
        <p:nvSpPr>
          <p:cNvPr id="3" name="Title 2"/>
          <p:cNvSpPr>
            <a:spLocks noGrp="1"/>
          </p:cNvSpPr>
          <p:nvPr>
            <p:ph type="title"/>
          </p:nvPr>
        </p:nvSpPr>
        <p:spPr/>
        <p:txBody>
          <a:bodyPr wrap="square">
            <a:normAutofit/>
          </a:bodyPr>
          <a:lstStyle/>
          <a:p>
            <a:pPr/>
            <a:r>
              <a:rPr sz="2700"/>
              <a:t>Lesson Summary</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