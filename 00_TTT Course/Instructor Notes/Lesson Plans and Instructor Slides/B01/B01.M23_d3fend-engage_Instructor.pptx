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MITRE D3FEND and ENGAGE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"ATT&amp;CK describes the adversary. D3FEND organizes defensive countermeasures. ENGAGE organizes ways to expose, affect, or elicit adversary behavior. We use all three to build options, not to decorate a brief."</a:t>
            </a:r>
          </a:p>
          <a:p/>
          <a:p>
            <a:r>
              <a:t>Show:</a:t>
            </a:r>
          </a:p>
          <a:p>
            <a:r>
              <a:t>The objectives and framework triangle. The lesson-overview figure from the student deck, the figure on the slide, is the same six-step chain (eyes on, map ATT&amp;CK, build EMLCOA, map D3FEND/ENGAGE, blue-space options, out of blue-space). Keep it with this opening slide.</a:t>
            </a:r>
          </a:p>
          <a:p/>
          <a:p>
            <a:r>
              <a:t>Do:</a:t>
            </a:r>
          </a:p>
          <a:p>
            <a:r>
              <a:t>Have teams reopen the Navigator layer and EMLCOA they already have.</a:t>
            </a:r>
          </a:p>
          <a:p/>
          <a:p>
            <a:r>
              <a:t>Image Prompt:</a:t>
            </a:r>
          </a:p>
          <a:p>
            <a:r>
              <a:t>No image required for this slide.</a:t>
            </a:r>
          </a:p>
          <a:p/>
          <a:p>
            <a:r>
              <a:t>Ask (Q):</a:t>
            </a:r>
          </a:p>
          <a:p>
            <a:r>
              <a:t>What Navigator and EMLCOA products do you already have that this lesson will convert?</a:t>
            </a:r>
          </a:p>
          <a:p/>
          <a:p>
            <a:r>
              <a:t>Expected Response (A):</a:t>
            </a:r>
          </a:p>
          <a:p>
            <a:r>
              <a:t>Evidence-backed Navigator layer and EMLCOA. This lesson converts that into D3FEND and ENGAGE options.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Lesson Overview in the order it is written.</a:t>
            </a:r>
          </a:p>
          <a:p/>
          <a:p>
            <a:r>
              <a:t>Show:</a:t>
            </a:r>
          </a:p>
          <a:p>
            <a:r>
              <a:t>The figure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Avoid the "What If" Game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Step 4: Mapping ATT&amp;CK to D3FEND and ENGAGE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mapping narrows the defensive option space, but it does not make the decision. Terrain, evidence, mission, and risk determine which countermeasure is viable."</a:t>
            </a:r>
          </a:p>
          <a:p/>
          <a:p>
            <a:r>
              <a:t>Show:</a:t>
            </a:r>
          </a:p>
          <a:p>
            <a:r>
              <a:t>The figure on the slide.</a:t>
            </a:r>
          </a:p>
          <a:p/>
          <a:p>
            <a:r>
              <a:t>Do:</a:t>
            </a:r>
          </a:p>
          <a:p>
            <a:r>
              <a:t>Teams map three Navigator techniques to D3FEND options. Timebox: **15 minutes**. Nested drill: B01.M24.</a:t>
            </a:r>
          </a:p>
          <a:p/>
          <a:p>
            <a:r>
              <a:t>Image Prompt:</a:t>
            </a:r>
          </a:p>
          <a:p>
            <a:r>
              <a:t>No image required for this slide.</a:t>
            </a:r>
          </a:p>
          <a:p/>
          <a:p>
            <a:r>
              <a:t>Ask (Q):</a:t>
            </a:r>
          </a:p>
          <a:p>
            <a:r>
              <a:t>Why is a D3FEND mapping not yet a commander's decision?</a:t>
            </a:r>
          </a:p>
          <a:p/>
          <a:p>
            <a:r>
              <a:t>Expected Response (A):</a:t>
            </a:r>
          </a:p>
          <a:p>
            <a:r>
              <a:t>Mapping narrows the option space. Terrain, evidence, mission, and risk determine which countermeasure is viable.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mapping narrows the defensive option space, but it does not make the decision. Terrain, evidence, mission, and risk determine which countermeasure is viable."</a:t>
            </a:r>
          </a:p>
          <a:p/>
          <a:p>
            <a:r>
              <a:t>Show:</a:t>
            </a:r>
          </a:p>
          <a:p>
            <a:r>
              <a:t>The figure on the slide.</a:t>
            </a:r>
          </a:p>
          <a:p/>
          <a:p>
            <a:r>
              <a:t>Do:</a:t>
            </a:r>
          </a:p>
          <a:p>
            <a:r>
              <a:t>Teams map three Navigator techniques to D3FEND options. Timebox: **15 minutes**. Nested drill: B01.M24.</a:t>
            </a:r>
          </a:p>
          <a:p/>
          <a:p>
            <a:r>
              <a:t>Image Prompt:</a:t>
            </a:r>
          </a:p>
          <a:p>
            <a:r>
              <a:t>No image required for this slide.</a:t>
            </a:r>
          </a:p>
          <a:p/>
          <a:p>
            <a:r>
              <a:t>Ask (Q):</a:t>
            </a:r>
          </a:p>
          <a:p>
            <a:r>
              <a:t>Why is a D3FEND mapping not yet a commander's decision?</a:t>
            </a:r>
          </a:p>
          <a:p/>
          <a:p>
            <a:r>
              <a:t>Expected Response (A):</a:t>
            </a:r>
          </a:p>
          <a:p>
            <a:r>
              <a:t>Mapping narrows the option space. Terrain, evidence, mission, and risk determine which countermeasure is viable.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mapping narrows the defensive option space, but it does not make the decision. Terrain, evidence, mission, and risk determine which countermeasure is viable."</a:t>
            </a:r>
          </a:p>
          <a:p/>
          <a:p>
            <a:r>
              <a:t>Show:</a:t>
            </a:r>
          </a:p>
          <a:p>
            <a:r>
              <a:t>The figure on the slide.</a:t>
            </a:r>
          </a:p>
          <a:p/>
          <a:p>
            <a:r>
              <a:t>Do:</a:t>
            </a:r>
          </a:p>
          <a:p>
            <a:r>
              <a:t>Teams map three Navigator techniques to D3FEND options. Timebox: **15 minutes**. Nested drill: B01.M24.</a:t>
            </a:r>
          </a:p>
          <a:p/>
          <a:p>
            <a:r>
              <a:t>Image Prompt:</a:t>
            </a:r>
          </a:p>
          <a:p>
            <a:r>
              <a:t>No image required for this slide.</a:t>
            </a:r>
          </a:p>
          <a:p/>
          <a:p>
            <a:r>
              <a:t>Ask (Q):</a:t>
            </a:r>
          </a:p>
          <a:p>
            <a:r>
              <a:t>Why is a D3FEND mapping not yet a commander's decision?</a:t>
            </a:r>
          </a:p>
          <a:p/>
          <a:p>
            <a:r>
              <a:t>Expected Response (A):</a:t>
            </a:r>
          </a:p>
          <a:p>
            <a:r>
              <a:t>Mapping narrows the option space. Terrain, evidence, mission, and risk determine which countermeasure is viable.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mapping narrows the defensive option space, but it does not make the decision. Terrain, evidence, mission, and risk determine which countermeasure is viable."</a:t>
            </a:r>
          </a:p>
          <a:p/>
          <a:p>
            <a:r>
              <a:t>Show:</a:t>
            </a:r>
          </a:p>
          <a:p>
            <a:r>
              <a:t>The figure on the slide.</a:t>
            </a:r>
          </a:p>
          <a:p/>
          <a:p>
            <a:r>
              <a:t>Do:</a:t>
            </a:r>
          </a:p>
          <a:p>
            <a:r>
              <a:t>Teams map three Navigator techniques to D3FEND options. Timebox: **15 minutes**. Nested drill: B01.M24.</a:t>
            </a:r>
          </a:p>
          <a:p/>
          <a:p>
            <a:r>
              <a:t>Image Prompt:</a:t>
            </a:r>
          </a:p>
          <a:p>
            <a:r>
              <a:t>No image required for this slide.</a:t>
            </a:r>
          </a:p>
          <a:p/>
          <a:p>
            <a:r>
              <a:t>Ask (Q):</a:t>
            </a:r>
          </a:p>
          <a:p>
            <a:r>
              <a:t>Why is a D3FEND mapping not yet a commander's decision?</a:t>
            </a:r>
          </a:p>
          <a:p/>
          <a:p>
            <a:r>
              <a:t>Expected Response (A):</a:t>
            </a:r>
          </a:p>
          <a:p>
            <a:r>
              <a:t>Mapping narrows the option space. Terrain, evidence, mission, and risk determine which countermeasure is viable.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already have ATT&amp;CK and D3FEND in your head. ENGAGE is the third leg. ATT&amp;CK describes what the adversary does. D3FEND is what we do to prevent, detect, or evict them. ENGAGE is what we do to **shape** them — deceive, elicit, direct. Together, the D3 codes and the EAC codes are the bare-minimum menu you bring to the commander. Bare minimum — because the goal is not to recite techniques. The goal is to pick the ones that actually work in this environment against this adversary toward this mission."</a:t>
            </a:r>
          </a:p>
          <a:p/>
          <a:p>
            <a:r>
              <a:t>Show:</a:t>
            </a:r>
          </a:p>
          <a:p>
            <a:r>
              <a:t>The triangle graphic; https://engage.mitre.org/matrix/ on the projector.</a:t>
            </a:r>
          </a:p>
          <a:p/>
          <a:p>
            <a:r>
              <a:t>Do:</a:t>
            </a:r>
          </a:p>
          <a:p>
            <a:r>
              <a:t>Quick poll: "Who has run a honeypot in anger?" "Who has fed fake credentials?" Calibrate depth based on responses. Tell them: "That intuition you already have — ENGAGE is the doctrine that organizes it."</a:t>
            </a:r>
          </a:p>
          <a:p/>
          <a:p>
            <a:r>
              <a:t>Image Prompt:</a:t>
            </a:r>
          </a:p>
          <a:p>
            <a:r>
              <a:t>No image required for this slide.</a:t>
            </a:r>
          </a:p>
          <a:p/>
          <a:p>
            <a:r>
              <a:t>Ask (Q):</a:t>
            </a:r>
          </a:p>
          <a:p>
            <a:r>
              <a:t>Who has run a honeypot in anger? Who has fed fake credentials?</a:t>
            </a:r>
          </a:p>
          <a:p/>
          <a:p>
            <a:r>
              <a:t>Expected Response (A):</a:t>
            </a:r>
          </a:p>
          <a:p>
            <a:r>
              <a:t>Facilitation-only poll. Use responses to calibrate depth. That intuition is what ENGAGE organizes.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"ENGAGE organizes around three goals. Expose finds adversaries we did not see. Affect bends their cost-value math. Elicit pulls out TTPs and intent we could not have gotten any other way. Every time you pick an EAC technique, you owe an answer to this question: which goal does this advance?"</a:t>
            </a:r>
          </a:p>
          <a:p/>
          <a:p>
            <a:r>
              <a:t>Show:</a:t>
            </a:r>
          </a:p>
          <a:p>
            <a:r>
              <a:t>Each tile; link each goal back to how it would plug into a commander's brief.</a:t>
            </a:r>
          </a:p>
          <a:p/>
          <a:p>
            <a:r>
              <a:t>Do:</a:t>
            </a:r>
          </a:p>
          <a:p>
            <a:r>
              <a:t>Ask each team: "From your Block 2 EMLCOA against FSB Center 18 — would Expose, Affect, or Elicit matter **most** for that mission?" Accept three or four answers with one-line justification.</a:t>
            </a:r>
          </a:p>
          <a:p/>
          <a:p>
            <a:r>
              <a:t>Image Prompt:</a:t>
            </a:r>
          </a:p>
          <a:p>
            <a:r>
              <a:t>No image required for this slide.</a:t>
            </a:r>
          </a:p>
          <a:p/>
          <a:p>
            <a:r>
              <a:t>Ask (Q):</a:t>
            </a:r>
          </a:p>
          <a:p>
            <a:r>
              <a:t>From your Block 2 EMLCOA against FSB Center 18, would Expose, Affect, or Elicit matter most?</a:t>
            </a:r>
          </a:p>
          <a:p/>
          <a:p>
            <a:r>
              <a:t>Expected Response (A):</a:t>
            </a:r>
          </a:p>
          <a:p>
            <a:r>
              <a:t>Accept three or four answers with one-line justification. Every EAC must trace to one of the three goals.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Expose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"Affect is the category that moves the adversary's cost-value math. Prevention stops them. Direction steers them — the subtlety here is that you can tighten *some* controls while loosening others, which nudges them toward the terrain you want them in. Disruption degrades the value of what they are getting — throttled exfil, lied-to discovery output, planted misinformation that their analysts have to sort out."</a:t>
            </a:r>
          </a:p>
          <a:p/>
          <a:p>
            <a:r>
              <a:t>Show:</a:t>
            </a:r>
          </a:p>
          <a:p>
            <a:r>
              <a:t>The three approaches; call out that Direction is the most *active* of the three.</a:t>
            </a:r>
          </a:p>
          <a:p/>
          <a:p>
            <a:r>
              <a:t>Do:</a:t>
            </a:r>
          </a:p>
          <a:p>
            <a:r>
              <a:t>Example drill: "Adversary is exfiltrating 10 GB of data over a primary C2 channel. Give me one Prevention, one Direction, and one Disruption option for the commander." Accept answers; refine as needed.</a:t>
            </a:r>
          </a:p>
          <a:p/>
          <a:p>
            <a:r>
              <a:t>Image Prompt:</a:t>
            </a:r>
          </a:p>
          <a:p>
            <a:r>
              <a:t>No image required for this slide.</a:t>
            </a:r>
          </a:p>
          <a:p/>
          <a:p>
            <a:r>
              <a:t>Ask (Q):</a:t>
            </a:r>
          </a:p>
          <a:p>
            <a:r>
              <a:t>Adversary is exfiltrating 10 GB over a primary C2 channel. Give one Prevention, one Direction, and one Disruption option.</a:t>
            </a:r>
          </a:p>
          <a:p/>
          <a:p>
            <a:r>
              <a:t>Expected Response (A):</a:t>
            </a:r>
          </a:p>
          <a:p>
            <a:r>
              <a:t>Facilitation. Refine toward cost-value: stop the channel, steer the adversary, or degrade the value of what they collect.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"Elicit is the deepest form of engagement. Reassurance makes the environment *feel real* — accounts with histories, files with sensible timestamps, system activity that matches a working user. Motivating makes the environment *worth attacking* — unpatched services, weak passwords, juicy-looking data. The goal is the same: get them to reveal more about themselves than they would have otherwise."</a:t>
            </a:r>
          </a:p>
          <a:p/>
          <a:p>
            <a:r>
              <a:t>Show:</a:t>
            </a:r>
          </a:p>
          <a:p>
            <a:r>
              <a:t>The two-panel comparison.</a:t>
            </a:r>
          </a:p>
          <a:p/>
          <a:p>
            <a:r>
              <a:t>Do:</a:t>
            </a:r>
          </a:p>
          <a:p>
            <a:r>
              <a:t>Tie back: "Elicit is how you design an environment so the adversary reveals more than they would on live production terrain."</a:t>
            </a:r>
          </a:p>
          <a:p/>
          <a:p>
            <a:r>
              <a:t>Image Prompt:</a:t>
            </a:r>
          </a:p>
          <a:p>
            <a:r>
              <a:t>No image required for this slide.</a:t>
            </a:r>
          </a:p>
          <a:p/>
          <a:p>
            <a:r>
              <a:t>Ask (Q):</a:t>
            </a:r>
          </a:p>
          <a:p>
            <a:r>
              <a:t>How do reassurance and motivating change what you observe?</a:t>
            </a:r>
          </a:p>
          <a:p/>
          <a:p>
            <a:r>
              <a:t>Expected Response (A):</a:t>
            </a:r>
          </a:p>
          <a:p>
            <a:r>
              <a:t>Steer toward dangles and self-infected environments designed to observe.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"These are the techniques we will actually work with. The codes are opaque at first — EAC0005, EAC0023 — just like ATT&amp;CK T-numbers were the first time you saw them. They become second nature. We are going to group them by primary goal and walk each one."</a:t>
            </a:r>
          </a:p>
          <a:p/>
          <a:p>
            <a:r>
              <a:t>Show:</a:t>
            </a:r>
          </a:p>
          <a:p>
            <a:r>
              <a:t>The figure on the slide.</a:t>
            </a:r>
          </a:p>
          <a:p/>
          <a:p>
            <a:r>
              <a:t>Do:</a:t>
            </a:r>
          </a:p>
          <a:p>
            <a:r>
              <a:t>Tell students to bookmark the matrix. You will reference it throughout this hour.</a:t>
            </a:r>
          </a:p>
          <a:p/>
          <a:p>
            <a:r>
              <a:t>Image Prompt:</a:t>
            </a:r>
          </a:p>
          <a:p>
            <a:r>
              <a:t>No image required for this slide.</a:t>
            </a:r>
          </a:p>
          <a:p/>
          <a:p>
            <a:r>
              <a:t>Ask (Q):</a:t>
            </a:r>
          </a:p>
          <a:p>
            <a:r>
              <a:t>Why bookmark the ENGAGE matrix now?</a:t>
            </a:r>
          </a:p>
          <a:p/>
          <a:p>
            <a:r>
              <a:t>Expected Response (A):</a:t>
            </a:r>
          </a:p>
          <a:p>
            <a:r>
              <a:t>EAC codes in this hour become second nature like T-numbers.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"These four are your deception palette. Lures *elicit a specific action*. Pocket Litter *supports the narrative* — it does not aim to make them do one specific thing. Information Manipulation is the art of concealing and revealing; a revealed fiction that the adversary believes cements the environment, and one they disbelieve erodes it. Introduced Vulnerabilities are the intentional magnets."</a:t>
            </a:r>
          </a:p>
          <a:p/>
          <a:p>
            <a:r>
              <a:t>Show:</a:t>
            </a:r>
          </a:p>
          <a:p>
            <a:r>
              <a:t>the figure on the slide, the labeled mock desktop.</a:t>
            </a:r>
          </a:p>
          <a:p/>
          <a:p>
            <a:r>
              <a:t>Do:</a:t>
            </a:r>
          </a:p>
          <a:p>
            <a:r>
              <a:t>Quick team drill: "Take the EMLCOA you already wrote. Which of these four would have the highest payoff against FSB Center 18?" Capture one answer per team. Nested drill: B01.M25.</a:t>
            </a:r>
          </a:p>
          <a:p/>
          <a:p>
            <a:r>
              <a:t>Image Prompt:</a:t>
            </a:r>
          </a:p>
          <a:p>
            <a:r>
              <a:t>No image required for this slide.</a:t>
            </a:r>
          </a:p>
          <a:p/>
          <a:p>
            <a:r>
              <a:t>Ask (Q):</a:t>
            </a:r>
          </a:p>
          <a:p>
            <a:r>
              <a:t>Take the EMLCOA you already wrote. Which of these four would have the highest payoff against FSB Center 18?</a:t>
            </a:r>
          </a:p>
          <a:p/>
          <a:p>
            <a:r>
              <a:t>Expected Response (A):</a:t>
            </a:r>
          </a:p>
          <a:p>
            <a:r>
              <a:t>Facilitation. One answer per team. Lures elicit a specific action; Pocket Litter supports the narrative.</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"These five are how you reshape the terrain the adversary is operating in. Isolation keeps them boxed in. Attack Vector Migration physically moves their payload into your sandbox. Network Manipulation and Software Manipulation change what they see when they look. Security Controls is where you tighten what should be tight and — selectively — loosen what you want them to walk into. Two-way nuance on Security Controls: completely turning off Windows Defender tips them off; turning it off for a single share may not."</a:t>
            </a:r>
          </a:p>
          <a:p/>
          <a:p>
            <a:r>
              <a:t>Show:</a:t>
            </a:r>
          </a:p>
          <a:p>
            <a:r>
              <a:t>Each technique; linger on the Security Controls nuance.</a:t>
            </a:r>
          </a:p>
          <a:p/>
          <a:p>
            <a:r>
              <a:t>Do:</a:t>
            </a:r>
          </a:p>
          <a:p>
            <a:r>
              <a:t>Ask the room: "If you leave Windows Defender off on an entire host, what does a serious adversary think?" Drive toward "this is a trap" as the likely adversary read.</a:t>
            </a:r>
          </a:p>
          <a:p/>
          <a:p>
            <a:r>
              <a:t>Image Prompt:</a:t>
            </a:r>
          </a:p>
          <a:p>
            <a:r>
              <a:t>No image required for this slide.</a:t>
            </a:r>
          </a:p>
          <a:p/>
          <a:p>
            <a:r>
              <a:t>Ask (Q):</a:t>
            </a:r>
          </a:p>
          <a:p>
            <a:r>
              <a:t>If you leave Windows Defender off on an entire host, what does a serious adversary think?</a:t>
            </a:r>
          </a:p>
          <a:p/>
          <a:p>
            <a:r>
              <a:t>Expected Response (A):</a:t>
            </a:r>
          </a:p>
          <a:p>
            <a:r>
              <a:t>Steer toward "this is a trap." Completely turning off Defender tips them off.</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"Hardware and peripheral techniques get skipped often in pure cloud environments but matter a lot when you are on-prem or when you are running a controlled engagement in a physical space. Hardware Manipulation preserves operational safety — no hot mic, no camera capturing the background. Peripheral Management is how you introduce or deny USBs, Wi-Fi adapters, and other devices as engagement surface."</a:t>
            </a:r>
          </a:p>
          <a:p/>
          <a:p>
            <a:r>
              <a:t>Show:</a:t>
            </a:r>
          </a:p>
          <a:p>
            <a:r>
              <a:t>The figure on the slide.</a:t>
            </a:r>
          </a:p>
          <a:p/>
          <a:p>
            <a:r>
              <a:t>Do:</a:t>
            </a:r>
          </a:p>
          <a:p>
            <a:r>
              <a:t>Prompt: "Your team is running a controlled malware-detonation in a shared SCIF. Which of these two is non-negotiable?" Expected answer: Hardware Manipulation.</a:t>
            </a:r>
          </a:p>
          <a:p/>
          <a:p>
            <a:r>
              <a:t>Image Prompt:</a:t>
            </a:r>
          </a:p>
          <a:p>
            <a:r>
              <a:t>No image required for this slide.</a:t>
            </a:r>
          </a:p>
          <a:p/>
          <a:p>
            <a:r>
              <a:t>Ask (Q):</a:t>
            </a:r>
          </a:p>
          <a:p>
            <a:r>
              <a:t>Your team is running a controlled malware-detonation in a shared SCIF. Which of these two is non-negotiable?</a:t>
            </a:r>
          </a:p>
          <a:p/>
          <a:p>
            <a:r>
              <a:t>Expected Response (A):</a:t>
            </a:r>
          </a:p>
          <a:p>
            <a:r>
              <a:t>Hardware Manipulation. No hot mic, no camera capturing the background.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ENGAGE Matrix in the order it is written.</a:t>
            </a:r>
          </a:p>
          <a:p/>
          <a:p>
            <a:r>
              <a:t>Show:</a:t>
            </a:r>
          </a:p>
          <a:p>
            <a:r>
              <a:t>The figure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Step 5: Providing Blue-Space Options to the Commander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deliverable out of this hour is a paired set — a D3 option and an EAC option — for each technique you already mapped. Think of it as the minimum viable option sheet. The commander may pick neither, but they will always be able to see *both* the harden-side and the engage-side move."</a:t>
            </a:r>
          </a:p>
          <a:p/>
          <a:p>
            <a:r>
              <a:t>Show:</a:t>
            </a:r>
          </a:p>
          <a:p>
            <a:r>
              <a:t>The worksheet template; hand out as a printable. The small mark on that worksheet slide is the figure on the slide.</a:t>
            </a:r>
          </a:p>
          <a:p/>
          <a:p>
            <a:r>
              <a:t>Do:</a:t>
            </a:r>
          </a:p>
          <a:p>
            <a:r>
              <a:t>Reunite teams. Timebox: **30 minutes** to produce the paired option sheet for at least three of their Navigator techniques. Back-brief **one pairing per team**. Nested drill: B01.M26.</a:t>
            </a:r>
          </a:p>
          <a:p/>
          <a:p>
            <a:r>
              <a:t>Image Prompt:</a:t>
            </a:r>
          </a:p>
          <a:p>
            <a:r>
              <a:t>No image required for this slide.</a:t>
            </a:r>
          </a:p>
          <a:p/>
          <a:p>
            <a:r>
              <a:t>Ask (Q):</a:t>
            </a:r>
          </a:p>
          <a:p>
            <a:r>
              <a:t>What is the bare-minimum option set you bring to the commander for each Navigator technique?</a:t>
            </a:r>
          </a:p>
          <a:p/>
          <a:p>
            <a:r>
              <a:t>Expected Response (A):</a:t>
            </a:r>
          </a:p>
          <a:p>
            <a:r>
              <a:t>One D3 option and one EAC option, each with goal, expected effect, risk, and authority. Nested drill: B01.M26.</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deliverable out of this hour is a paired set — a D3 option and an EAC option — for each technique you already mapped. Think of it as the minimum viable option sheet. The commander may pick neither, but they will always be able to see *both* the harden-side and the engage-side move."</a:t>
            </a:r>
          </a:p>
          <a:p/>
          <a:p>
            <a:r>
              <a:t>Show:</a:t>
            </a:r>
          </a:p>
          <a:p>
            <a:r>
              <a:t>The worksheet template; hand out as a printable. The small mark on that worksheet slide is the figure on the slide.</a:t>
            </a:r>
          </a:p>
          <a:p/>
          <a:p>
            <a:r>
              <a:t>Do:</a:t>
            </a:r>
          </a:p>
          <a:p>
            <a:r>
              <a:t>Reunite teams. Timebox: **30 minutes** to produce the paired option sheet for at least three of their Navigator techniques. Back-brief **one pairing per team**. Nested drill: B01.M26.</a:t>
            </a:r>
          </a:p>
          <a:p/>
          <a:p>
            <a:r>
              <a:t>Image Prompt:</a:t>
            </a:r>
          </a:p>
          <a:p>
            <a:r>
              <a:t>No image required for this slide.</a:t>
            </a:r>
          </a:p>
          <a:p/>
          <a:p>
            <a:r>
              <a:t>Ask (Q):</a:t>
            </a:r>
          </a:p>
          <a:p>
            <a:r>
              <a:t>What is the bare-minimum option set you bring to the commander for each Navigator technique?</a:t>
            </a:r>
          </a:p>
          <a:p/>
          <a:p>
            <a:r>
              <a:t>Expected Response (A):</a:t>
            </a:r>
          </a:p>
          <a:p>
            <a:r>
              <a:t>One D3 option and one EAC option, each with goal, expected effect, risk, and authority. Nested drill: B01.M26.</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"The deliverable out of this hour is a paired set — a D3 option and an EAC option — for each technique you already mapped. Think of it as the minimum viable option sheet. The commander may pick neither, but they will always be able to see *both* the harden-side and the engage-side move."</a:t>
            </a:r>
          </a:p>
          <a:p/>
          <a:p>
            <a:r>
              <a:t>Show:</a:t>
            </a:r>
          </a:p>
          <a:p>
            <a:r>
              <a:t>The worksheet template; hand out as a printable. The small mark on that worksheet slide is the figure on the slide.</a:t>
            </a:r>
          </a:p>
          <a:p/>
          <a:p>
            <a:r>
              <a:t>Do:</a:t>
            </a:r>
          </a:p>
          <a:p>
            <a:r>
              <a:t>Reunite teams. Timebox: **30 minutes** to produce the paired option sheet for at least three of their Navigator techniques. Back-brief **one pairing per team**. Nested drill: B01.M26.</a:t>
            </a:r>
          </a:p>
          <a:p/>
          <a:p>
            <a:r>
              <a:t>Image Prompt:</a:t>
            </a:r>
          </a:p>
          <a:p>
            <a:r>
              <a:t>No image required for this slide.</a:t>
            </a:r>
          </a:p>
          <a:p/>
          <a:p>
            <a:r>
              <a:t>Ask (Q):</a:t>
            </a:r>
          </a:p>
          <a:p>
            <a:r>
              <a:t>What is the bare-minimum option set you bring to the commander for each Navigator technique?</a:t>
            </a:r>
          </a:p>
          <a:p/>
          <a:p>
            <a:r>
              <a:t>Expected Response (A):</a:t>
            </a:r>
          </a:p>
          <a:p>
            <a:r>
              <a:t>One D3 option and one EAC option, each with goal, expected effect, risk, and authority. Nested drill: B01.M26.</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"An ENGAGE action can begin as defense and become a collection opportunity. Define the intelligence requirement, staff relationship, and ownership-transition trigger before execution."</a:t>
            </a:r>
          </a:p>
          <a:p/>
          <a:p>
            <a:r>
              <a:t>Show:</a:t>
            </a:r>
          </a:p>
          <a:p>
            <a:r>
              <a:t>The three integration headings and ownership questions.</a:t>
            </a:r>
          </a:p>
          <a:p/>
          <a:p>
            <a:r>
              <a:t>Do:</a:t>
            </a:r>
          </a:p>
          <a:p>
            <a:r>
              <a:t>Open discussion, timebox **15 minutes**. Capture the deconfliction questions students raise on the whiteboard — these become RFIs for the home-unit intel shop. Nested drill: B01.M27.</a:t>
            </a:r>
          </a:p>
          <a:p/>
          <a:p>
            <a:r>
              <a:t>Image Prompt:</a:t>
            </a:r>
          </a:p>
          <a:p>
            <a:r>
              <a:t>No image required for this slide.</a:t>
            </a:r>
          </a:p>
          <a:p/>
          <a:p>
            <a:r>
              <a:t>Ask (Q):</a:t>
            </a:r>
          </a:p>
          <a:p>
            <a:r>
              <a:t>For an ENGAGE option that begins as defense, what three integration questions must you answer before execution?</a:t>
            </a:r>
          </a:p>
          <a:p/>
          <a:p>
            <a:r>
              <a:t>Expected Response (A):</a:t>
            </a:r>
          </a:p>
          <a:p>
            <a:r>
              <a:t>Who owns the data; who exploits and reports it; what trigger changes ownership. Nested drill: B01.M27.</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Step 6: Moving Out of Blue-Space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p>
            <a:r>
              <a:t>Expected Response (A):</a:t>
            </a:r>
          </a:p>
          <a:p>
            <a:r>
              <a:t>A restatement of the on-slide point. Do not require a scored answer.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"When blue-space options cannot achieve the required effect, the output of this lesson becomes a disciplined handoff—not an unsupported leap."</a:t>
            </a:r>
          </a:p>
          <a:p/>
          <a:p>
            <a:r>
              <a:t>Show:</a:t>
            </a:r>
          </a:p>
          <a:p>
            <a:r>
              <a:t>The figure on the slide.</a:t>
            </a:r>
          </a:p>
          <a:p/>
          <a:p>
            <a:r>
              <a:t>Do:</a:t>
            </a:r>
          </a:p>
          <a:p>
            <a:r>
              <a:t>Ask each team which one of its options cannot execute from blue space.</a:t>
            </a:r>
          </a:p>
          <a:p/>
          <a:p>
            <a:r>
              <a:t>Image Prompt:</a:t>
            </a:r>
          </a:p>
          <a:p>
            <a:r>
              <a:t>No image required for this slide.</a:t>
            </a:r>
          </a:p>
          <a:p/>
          <a:p>
            <a:r>
              <a:t>Ask (Q):</a:t>
            </a:r>
          </a:p>
          <a:p>
            <a:r>
              <a:t>Which one of your options cannot execute from blue space, and what capability does it require?</a:t>
            </a:r>
          </a:p>
          <a:p/>
          <a:p>
            <a:r>
              <a:t>Expected Response (A):</a:t>
            </a:r>
          </a:p>
          <a:p>
            <a:r>
              <a:t>Facilitation. State handoff condition, evidence package, risk, and required capability.</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Walk Lesson Summary in the order it is written.</a:t>
            </a:r>
          </a:p>
          <a:p/>
          <a:p>
            <a:r>
              <a:t>Show:</a:t>
            </a:r>
          </a:p>
          <a:p>
            <a:r>
              <a:t>The points on the slide.</a:t>
            </a:r>
          </a:p>
          <a:p/>
          <a:p>
            <a:r>
              <a:t>Do:</a:t>
            </a:r>
          </a:p>
          <a:p>
            <a:r>
              <a:t>Ask one student to restate the point in their own words.</a:t>
            </a:r>
          </a:p>
          <a:p/>
          <a:p>
            <a:r>
              <a:t>Image Prompt:</a:t>
            </a:r>
          </a:p>
          <a:p>
            <a:r>
              <a:t>No image required for this slide.</a:t>
            </a:r>
          </a:p>
          <a:p/>
          <a:p>
            <a:r>
              <a:t>Ask (Q):</a:t>
            </a:r>
          </a:p>
          <a:p>
            <a:r>
              <a:t>What is the operational point of this slide?</a:t>
            </a:r>
          </a:p>
          <a:p>
            <a:r>
              <a:t>What does each of ATT&amp;CK, D3FEND, and ENGAGE contribute to a commander's option set?</a:t>
            </a:r>
          </a:p>
          <a:p>
            <a:r>
              <a:t>What is the bare-minimum pairing you bring for each Navigator technique?</a:t>
            </a:r>
          </a:p>
          <a:p>
            <a:r>
              <a:t>What three questions must you answer before an ENGAGE action that may become collection?</a:t>
            </a:r>
          </a:p>
          <a:p/>
          <a:p>
            <a:r>
              <a:t>Expected Response (A):</a:t>
            </a:r>
          </a:p>
          <a:p>
            <a:r>
              <a:t>A restatement of the on-slide point. Do not require a scored answer.</a:t>
            </a:r>
          </a:p>
          <a:p>
            <a:r>
              <a:t>## Lesson summary</a:t>
            </a:r>
          </a:p>
          <a:p>
            <a:r>
              <a:t>ATT&amp;CK describes the adversary; D3FEND organizes harden/detect/evict options; ENGAGE organizes expose/affect/elicit options.</a:t>
            </a:r>
          </a:p>
          <a:p>
            <a:r>
              <a:t>Mapping to D3FEND or ENGAGE narrows the option space; terrain, evidence, mission, and risk decide what is viable.</a:t>
            </a:r>
          </a:p>
          <a:p>
            <a:r>
              <a:t>Nested `B01.M24` maps ATT&amp;CK to D3FEND; `B01.M25` drills ENGAGE techniques; `B01.M26` produces paired D3+EAC options; `B01.M27` deconflicts 2X/39 ownership.</a:t>
            </a:r>
          </a:p>
          <a:p>
            <a:r>
              <a:t>Graph the same activity, evidence, and selected response in D3FEND CAD.</a:t>
            </a:r>
          </a:p>
          <a:p>
            <a:r>
              <a:t>## Questions and check on learning</a:t>
            </a:r>
          </a:p>
          <a:p>
            <a:r>
              <a:t>ATT&amp;CK describes the adversary. D3FEND organizes harden/detect/evict. ENGAGE organizes expose/affect/elicit.</a:t>
            </a:r>
          </a:p>
          <a:p>
            <a:r>
              <a:t>One D3 option and one EAC option, each with goal, expected effect, risk, and authority.</a:t>
            </a:r>
          </a:p>
          <a:p>
            <a:r>
              <a:t>Who owns the data; who exploits and reports it; what trigger changes ownership.</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8.png"/><Relationship Id="rId4" Type="http://schemas.openxmlformats.org/officeDocument/2006/relationships/image" Target="../media/image3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jpg"/><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0.png"/><Relationship Id="rId4" Type="http://schemas.openxmlformats.org/officeDocument/2006/relationships/image" Target="../media/image4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 Id="rId11" Type="http://schemas.openxmlformats.org/officeDocument/2006/relationships/image" Target="../media/image33.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MITRE D3FEND and ENGAGE</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sz="2400"/>
              <a:t>By the end of this lesson you will be able to:</a:t>
            </a:r>
          </a:p>
          <a:p>
            <a:pPr>
              <a:buNone/>
            </a:pPr>
            <a:r>
              <a:rPr sz="2400"/>
              <a:t>Understand and apply the MITRE frameworks to produce and provide options to a commander.</a:t>
            </a:r>
          </a:p>
          <a:p>
            <a:pPr/>
            <a:r>
              <a:rPr sz="2400"/>
              <a:t>Recall the purpose for which the MITRE D3FEND and ENGAGE models were created</a:t>
            </a:r>
          </a:p>
          <a:p>
            <a:pPr/>
            <a:r>
              <a:rPr sz="2400"/>
              <a:t>Map adversary ATT&amp;CK to D3FEND and Engage options using the respective matrices</a:t>
            </a:r>
          </a:p>
          <a:p>
            <a:pPr/>
            <a:r>
              <a:rPr sz="2400"/>
              <a:t>Define and build paired sets of of options with amplifying information for any ATT&amp;CK-mapped intrusion</a:t>
            </a:r>
          </a:p>
        </p:txBody>
      </p:sp>
      <p:sp>
        <p:nvSpPr>
          <p:cNvPr id="3" name="Title 2"/>
          <p:cNvSpPr>
            <a:spLocks noGrp="1"/>
          </p:cNvSpPr>
          <p:nvPr>
            <p:ph type="title"/>
          </p:nvPr>
        </p:nvSpPr>
        <p:spPr/>
        <p:txBody>
          <a:bodyPr wrap="square">
            <a:normAutofit/>
          </a:bodyPr>
          <a:lstStyle/>
          <a:p>
            <a:pPr/>
            <a:r>
              <a:rPr sz="2700"/>
              <a:t>Lesson Objectives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sz="2400"/>
              <a:t>In this lesson you will be presented with the knowledge highlighted below to develop your analytical skills via the following sections:</a:t>
            </a:r>
          </a:p>
        </p:txBody>
      </p:sp>
      <p:sp>
        <p:nvSpPr>
          <p:cNvPr id="3" name="Title 2"/>
          <p:cNvSpPr>
            <a:spLocks noGrp="1"/>
          </p:cNvSpPr>
          <p:nvPr>
            <p:ph type="title"/>
          </p:nvPr>
        </p:nvSpPr>
        <p:spPr/>
        <p:txBody>
          <a:bodyPr wrap="square">
            <a:normAutofit/>
          </a:bodyPr>
          <a:lstStyle/>
          <a:p>
            <a:pPr/>
            <a:r>
              <a:rPr sz="2700"/>
              <a:t>Lesson Overview</a:t>
            </a:r>
          </a:p>
        </p:txBody>
      </p:sp>
      <p:pic>
        <p:nvPicPr>
          <p:cNvPr id="4" name="Picture 3" descr="M23-s03-0-0c2bc274f756.png"/>
          <p:cNvPicPr>
            <a:picLocks noChangeAspect="1"/>
          </p:cNvPicPr>
          <p:nvPr/>
        </p:nvPicPr>
        <p:blipFill>
          <a:blip r:embed="rId3"/>
          <a:stretch>
            <a:fillRect/>
          </a:stretch>
        </p:blipFill>
        <p:spPr>
          <a:xfrm>
            <a:off x="1748123" y="1062990"/>
            <a:ext cx="9597961" cy="5239512"/>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b="1" sz="2400"/>
              <a:t>Avoid the "What If" Game</a:t>
            </a:r>
          </a:p>
          <a:p>
            <a:pPr/>
            <a:r>
              <a:rPr sz="2400"/>
              <a:t>Once an adversary has root/system, they can theoretically do anything</a:t>
            </a:r>
          </a:p>
          <a:p>
            <a:pPr/>
            <a:r>
              <a:rPr sz="2400"/>
              <a:t>Do </a:t>
            </a:r>
            <a:r>
              <a:rPr b="1" sz="2400"/>
              <a:t>not</a:t>
            </a:r>
            <a:r>
              <a:rPr sz="2400"/>
              <a:t> default to the most destructive EMLCOA</a:t>
            </a:r>
          </a:p>
          <a:p>
            <a:pPr/>
            <a:r>
              <a:rPr sz="2400"/>
              <a:t>Consider the adversary's authority and intent — T10 vs. T50 equivalents</a:t>
            </a:r>
          </a:p>
          <a:p>
            <a:pPr/>
            <a:r>
              <a:rPr sz="2400"/>
              <a:t>Intelligence-collection units rarely destroy; destructive units rarely dwell</a:t>
            </a:r>
          </a:p>
          <a:p>
            <a:pPr>
              <a:buNone/>
            </a:pPr>
            <a:r>
              <a:rPr sz="2400"/>
              <a:t>Revisit</a:t>
            </a:r>
          </a:p>
        </p:txBody>
      </p:sp>
      <p:sp>
        <p:nvSpPr>
          <p:cNvPr id="3" name="Title 2"/>
          <p:cNvSpPr>
            <a:spLocks noGrp="1"/>
          </p:cNvSpPr>
          <p:nvPr>
            <p:ph type="title"/>
          </p:nvPr>
        </p:nvSpPr>
        <p:spPr/>
        <p:txBody>
          <a:bodyPr wrap="square">
            <a:normAutofit/>
          </a:bodyPr>
          <a:lstStyle/>
          <a:p>
            <a:pPr/>
            <a:r>
              <a:rPr sz="2700"/>
              <a:t>Avoid the "What If" Game</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Step 4: Mapping ATT&amp;CK to D3FEND and ENGAGE</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3068067" cy="5063243"/>
          </a:xfrm>
        </p:spPr>
        <p:txBody>
          <a:bodyPr wrap="square" anchor="t">
            <a:normAutofit/>
          </a:bodyPr>
          <a:lstStyle/>
          <a:p>
            <a:pPr/>
            <a:r>
              <a:rPr sz="1800"/>
              <a:t>D3FEND sits on the same ontology as ATT&amp;CK — there is a formal mapping</a:t>
            </a:r>
          </a:p>
          <a:p>
            <a:pPr/>
            <a:r>
              <a:rPr sz="1800"/>
              <a:t>For every technique on your Navigator layer, identify matching D3FEND defensive techniques</a:t>
            </a:r>
          </a:p>
          <a:p>
            <a:pPr/>
            <a:r>
              <a:rPr sz="1800"/>
              <a:t>ENGAGE covers deception and adversary engagement options</a:t>
            </a:r>
          </a:p>
        </p:txBody>
      </p:sp>
      <p:sp>
        <p:nvSpPr>
          <p:cNvPr id="3" name="Title 2"/>
          <p:cNvSpPr>
            <a:spLocks noGrp="1"/>
          </p:cNvSpPr>
          <p:nvPr>
            <p:ph type="title"/>
          </p:nvPr>
        </p:nvSpPr>
        <p:spPr/>
        <p:txBody>
          <a:bodyPr wrap="square">
            <a:normAutofit/>
          </a:bodyPr>
          <a:lstStyle/>
          <a:p>
            <a:pPr/>
            <a:r>
              <a:rPr sz="2700"/>
              <a:t>Mapping ATT&amp;CK to D3FEND and ENGAGE</a:t>
            </a:r>
          </a:p>
        </p:txBody>
      </p:sp>
      <p:pic>
        <p:nvPicPr>
          <p:cNvPr id="4" name="Picture 3" descr="M23-s06-0-16cef25bf302.png"/>
          <p:cNvPicPr>
            <a:picLocks noChangeAspect="1"/>
          </p:cNvPicPr>
          <p:nvPr/>
        </p:nvPicPr>
        <p:blipFill>
          <a:blip r:embed="rId3"/>
          <a:stretch>
            <a:fillRect/>
          </a:stretch>
        </p:blipFill>
        <p:spPr>
          <a:xfrm>
            <a:off x="4669536" y="1703801"/>
            <a:ext cx="7095744" cy="3873555"/>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3068067" cy="5063243"/>
          </a:xfrm>
        </p:spPr>
        <p:txBody>
          <a:bodyPr wrap="square" anchor="t">
            <a:normAutofit/>
          </a:bodyPr>
          <a:lstStyle/>
          <a:p>
            <a:pPr>
              <a:buNone/>
            </a:pPr>
            <a:r>
              <a:rPr sz="1300"/>
              <a:t>D3FEND: describes remedial / defensive techniques against adversary TTPs</a:t>
            </a:r>
          </a:p>
          <a:p>
            <a:pPr/>
            <a:r>
              <a:rPr sz="1300"/>
              <a:t>A framework with an encoded countermeasure knowledge base and graph. The graph contains semantically rigorous types and relations that define both the key concepts in the cybersecurity countermeasure domain and the relations necessary to link those concepts to each other.</a:t>
            </a:r>
          </a:p>
          <a:p>
            <a:pPr>
              <a:buNone/>
            </a:pPr>
            <a:r>
              <a:rPr b="1" sz="1300"/>
              <a:t>D3FEND</a:t>
            </a:r>
          </a:p>
          <a:p>
            <a:pPr>
              <a:buNone/>
            </a:pPr>
            <a:r>
              <a:rPr sz="1300"/>
              <a:t>Remedial &amp; Defensive Actions</a:t>
            </a:r>
          </a:p>
        </p:txBody>
      </p:sp>
      <p:sp>
        <p:nvSpPr>
          <p:cNvPr id="3" name="Title 2"/>
          <p:cNvSpPr>
            <a:spLocks noGrp="1"/>
          </p:cNvSpPr>
          <p:nvPr>
            <p:ph type="title"/>
          </p:nvPr>
        </p:nvSpPr>
        <p:spPr/>
        <p:txBody>
          <a:bodyPr wrap="square">
            <a:normAutofit/>
          </a:bodyPr>
          <a:lstStyle/>
          <a:p>
            <a:pPr/>
            <a:r>
              <a:rPr sz="2700"/>
              <a:t>MITRE D3FEND</a:t>
            </a:r>
          </a:p>
        </p:txBody>
      </p:sp>
      <p:pic>
        <p:nvPicPr>
          <p:cNvPr id="4" name="Picture 3" descr="M23-s07-0-964ccea7b6ab.png"/>
          <p:cNvPicPr>
            <a:picLocks noChangeAspect="1"/>
          </p:cNvPicPr>
          <p:nvPr/>
        </p:nvPicPr>
        <p:blipFill>
          <a:blip r:embed="rId3"/>
          <a:stretch>
            <a:fillRect/>
          </a:stretch>
        </p:blipFill>
        <p:spPr>
          <a:xfrm>
            <a:off x="4669536" y="2274930"/>
            <a:ext cx="7095744" cy="2731297"/>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3068067" cy="5063243"/>
          </a:xfrm>
        </p:spPr>
        <p:txBody>
          <a:bodyPr wrap="square" anchor="t">
            <a:normAutofit/>
          </a:bodyPr>
          <a:lstStyle/>
          <a:p>
            <a:pPr/>
            <a:r>
              <a:rPr sz="1800"/>
              <a:t>https://d3fend.mitre.org/</a:t>
            </a:r>
          </a:p>
        </p:txBody>
      </p:sp>
      <p:sp>
        <p:nvSpPr>
          <p:cNvPr id="3" name="Title 2"/>
          <p:cNvSpPr>
            <a:spLocks noGrp="1"/>
          </p:cNvSpPr>
          <p:nvPr>
            <p:ph type="title"/>
          </p:nvPr>
        </p:nvSpPr>
        <p:spPr/>
        <p:txBody>
          <a:bodyPr wrap="square">
            <a:normAutofit/>
          </a:bodyPr>
          <a:lstStyle/>
          <a:p>
            <a:pPr/>
            <a:r>
              <a:rPr sz="2700"/>
              <a:t>The D3FEND Matrix</a:t>
            </a:r>
          </a:p>
        </p:txBody>
      </p:sp>
      <p:pic>
        <p:nvPicPr>
          <p:cNvPr id="4" name="Picture 3" descr="M23-s08-0-d400203e08c4.png"/>
          <p:cNvPicPr>
            <a:picLocks noChangeAspect="1"/>
          </p:cNvPicPr>
          <p:nvPr/>
        </p:nvPicPr>
        <p:blipFill>
          <a:blip r:embed="rId3"/>
          <a:stretch>
            <a:fillRect/>
          </a:stretch>
        </p:blipFill>
        <p:spPr>
          <a:xfrm>
            <a:off x="4669536" y="1829340"/>
            <a:ext cx="7095744" cy="3622477"/>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27245"/>
            <a:ext cx="10361372" cy="2029968"/>
          </a:xfrm>
        </p:spPr>
        <p:txBody>
          <a:bodyPr wrap="square">
            <a:normAutofit/>
          </a:bodyPr>
          <a:lstStyle/>
          <a:p>
            <a:pPr/>
            <a:r>
              <a:rPr b="1" sz="1400"/>
              <a:t>Practical Application: </a:t>
            </a:r>
            <a:r>
              <a:rPr sz="1400"/>
              <a:t>Map an ATT&amp;CK to D3FEND</a:t>
            </a:r>
          </a:p>
          <a:p>
            <a:pPr/>
            <a:r>
              <a:rPr b="1" sz="1400"/>
              <a:t>Objective: </a:t>
            </a:r>
            <a:r>
              <a:rPr sz="1400"/>
              <a:t>Map an adversaries attack using the defend matrix</a:t>
            </a:r>
          </a:p>
          <a:p>
            <a:pPr/>
            <a:r>
              <a:rPr b="1" sz="1400"/>
              <a:t>Instructions:</a:t>
            </a:r>
          </a:p>
          <a:p>
            <a:pPr>
              <a:buNone/>
            </a:pPr>
            <a:r>
              <a:rPr sz="1400"/>
              <a:t>Take each of your techniques from the earlier ATT&amp;CK Navigator and map it to a D3FEND counterpart.</a:t>
            </a:r>
          </a:p>
          <a:p>
            <a:pPr>
              <a:buNone/>
            </a:pPr>
            <a:r>
              <a:rPr sz="1400"/>
              <a:t>https://d3fend.mitre.org/</a:t>
            </a:r>
          </a:p>
        </p:txBody>
      </p:sp>
      <p:sp>
        <p:nvSpPr>
          <p:cNvPr id="3" name="Title 2"/>
          <p:cNvSpPr>
            <a:spLocks noGrp="1"/>
          </p:cNvSpPr>
          <p:nvPr>
            <p:ph type="title"/>
          </p:nvPr>
        </p:nvSpPr>
        <p:spPr/>
        <p:txBody>
          <a:bodyPr wrap="square">
            <a:normAutofit/>
          </a:bodyPr>
          <a:lstStyle/>
          <a:p>
            <a:pPr/>
            <a:r>
              <a:rPr sz="2700"/>
              <a:t>Let’s start: Mapping ATT&amp;CK to D3FEND</a:t>
            </a:r>
          </a:p>
        </p:txBody>
      </p:sp>
      <p:graphicFrame>
        <p:nvGraphicFramePr>
          <p:cNvPr id="4" name="Table 3"/>
          <p:cNvGraphicFramePr>
            <a:graphicFrameLocks noGrp="1"/>
          </p:cNvGraphicFramePr>
          <p:nvPr/>
        </p:nvGraphicFramePr>
        <p:xfrm>
          <a:off x="1510029" y="3230365"/>
          <a:ext cx="10361372" cy="2813558"/>
        </p:xfrm>
        <a:graphic>
          <a:graphicData uri="http://schemas.openxmlformats.org/drawingml/2006/table">
            <a:tbl>
              <a:tblPr firstRow="1" bandRow="1">
                <a:tableStyleId>{5C22544A-7EE6-4342-B048-85BDC9FD1C3A}</a:tableStyleId>
              </a:tblPr>
              <a:tblGrid>
                <a:gridCol w="3453790"/>
                <a:gridCol w="3453790"/>
                <a:gridCol w="3453792"/>
              </a:tblGrid>
              <a:tr h="237744">
                <a:tc>
                  <a:txBody>
                    <a:bodyPr wrap="square"/>
                    <a:lstStyle/>
                    <a:p>
                      <a:pPr>
                        <a:defRPr sz="1000"/>
                      </a:pPr>
                    </a:p>
                  </a:txBody>
                  <a:tcPr/>
                </a:tc>
                <a:tc>
                  <a:txBody>
                    <a:bodyPr wrap="square"/>
                    <a:lstStyle/>
                    <a:p>
                      <a:pPr>
                        <a:defRPr sz="1000"/>
                      </a:pPr>
                      <a:r>
                        <a:t>Attack</a:t>
                      </a:r>
                    </a:p>
                  </a:txBody>
                  <a:tcPr/>
                </a:tc>
                <a:tc>
                  <a:txBody>
                    <a:bodyPr wrap="square"/>
                    <a:lstStyle/>
                    <a:p>
                      <a:pPr>
                        <a:defRPr sz="1000"/>
                      </a:pPr>
                      <a:r>
                        <a:t>Defend</a:t>
                      </a:r>
                    </a:p>
                  </a:txBody>
                  <a:tcPr/>
                </a:tc>
              </a:tr>
              <a:tr h="408940">
                <a:tc>
                  <a:txBody>
                    <a:bodyPr wrap="square"/>
                    <a:lstStyle/>
                    <a:p>
                      <a:pPr>
                        <a:defRPr sz="1000"/>
                      </a:pPr>
                      <a:r>
                        <a:t>Log 1 (Email Gateway): An email is delivered with a .lnk attachment.</a:t>
                      </a:r>
                    </a:p>
                  </a:txBody>
                  <a:tcPr/>
                </a:tc>
                <a:tc>
                  <a:txBody>
                    <a:bodyPr wrap="square"/>
                    <a:lstStyle/>
                    <a:p>
                      <a:pPr>
                        <a:defRPr sz="1000"/>
                      </a:pPr>
                      <a:r>
                        <a:t>T1091: Replication Through Removable Media</a:t>
                      </a:r>
                    </a:p>
                  </a:txBody>
                  <a:tcPr/>
                </a:tc>
                <a:tc>
                  <a:txBody>
                    <a:bodyPr wrap="square"/>
                    <a:lstStyle/>
                    <a:p>
                      <a:pPr>
                        <a:defRPr sz="1000"/>
                      </a:pPr>
                    </a:p>
                  </a:txBody>
                  <a:tcPr/>
                </a:tc>
              </a:tr>
              <a:tr h="408940">
                <a:tc>
                  <a:txBody>
                    <a:bodyPr wrap="square"/>
                    <a:lstStyle/>
                    <a:p>
                      <a:pPr>
                        <a:defRPr sz="1000"/>
                      </a:pPr>
                      <a:r>
                        <a:t>Log 2 (Sysmon Event 1): mshta.exe is observed executing a URL hosted on a .ru domain.</a:t>
                      </a:r>
                    </a:p>
                  </a:txBody>
                  <a:tcPr/>
                </a:tc>
                <a:tc>
                  <a:txBody>
                    <a:bodyPr wrap="square"/>
                    <a:lstStyle/>
                    <a:p>
                      <a:pPr>
                        <a:defRPr sz="1000"/>
                      </a:pPr>
                      <a:r>
                        <a:t>T1071.001: Web Protocols (HTTP)</a:t>
                      </a:r>
                    </a:p>
                  </a:txBody>
                  <a:tcPr/>
                </a:tc>
                <a:tc>
                  <a:txBody>
                    <a:bodyPr wrap="square"/>
                    <a:lstStyle/>
                    <a:p>
                      <a:pPr>
                        <a:defRPr sz="1000"/>
                      </a:pPr>
                    </a:p>
                  </a:txBody>
                  <a:tcPr/>
                </a:tc>
              </a:tr>
              <a:tr h="585978">
                <a:tc>
                  <a:txBody>
                    <a:bodyPr wrap="square"/>
                    <a:lstStyle/>
                    <a:p>
                      <a:pPr>
                        <a:defRPr sz="1000"/>
                      </a:pPr>
                      <a:r>
                        <a:t>Log 3 (Sysmon Event 1): powershell.exe is observed running a command containing Invoke-Expression and a Base64 encoded string.</a:t>
                      </a:r>
                    </a:p>
                  </a:txBody>
                  <a:tcPr/>
                </a:tc>
                <a:tc>
                  <a:txBody>
                    <a:bodyPr wrap="square"/>
                    <a:lstStyle/>
                    <a:p>
                      <a:pPr>
                        <a:defRPr sz="1000"/>
                      </a:pPr>
                      <a:r>
                        <a:t>T1059.001: PowerShell</a:t>
                      </a:r>
                    </a:p>
                  </a:txBody>
                  <a:tcPr/>
                </a:tc>
                <a:tc>
                  <a:txBody>
                    <a:bodyPr wrap="square"/>
                    <a:lstStyle/>
                    <a:p>
                      <a:pPr>
                        <a:defRPr sz="1000"/>
                      </a:pPr>
                    </a:p>
                  </a:txBody>
                  <a:tcPr/>
                </a:tc>
              </a:tr>
              <a:tr h="408940">
                <a:tc>
                  <a:txBody>
                    <a:bodyPr wrap="square"/>
                    <a:lstStyle/>
                    <a:p>
                      <a:pPr>
                        <a:defRPr sz="1000"/>
                      </a:pPr>
                      <a:r>
                        <a:t>Log 4 (EDR Log): PteroLNK.vbs is observed querying WMI for win32_logicaldisk where mediatype=null.</a:t>
                      </a:r>
                    </a:p>
                  </a:txBody>
                  <a:tcPr/>
                </a:tc>
                <a:tc>
                  <a:txBody>
                    <a:bodyPr wrap="square"/>
                    <a:lstStyle/>
                    <a:p>
                      <a:pPr>
                        <a:defRPr sz="1000"/>
                      </a:pPr>
                      <a:r>
                        <a:t>T1120: Peripheral Device Discovery</a:t>
                      </a:r>
                    </a:p>
                  </a:txBody>
                  <a:tcPr/>
                </a:tc>
                <a:tc>
                  <a:txBody>
                    <a:bodyPr wrap="square"/>
                    <a:lstStyle/>
                    <a:p>
                      <a:pPr>
                        <a:defRPr sz="1000"/>
                      </a:pPr>
                    </a:p>
                  </a:txBody>
                  <a:tcPr/>
                </a:tc>
              </a:tr>
              <a:tr h="763016">
                <a:tc>
                  <a:txBody>
                    <a:bodyPr wrap="square"/>
                    <a:lstStyle/>
                    <a:p>
                      <a:pPr>
                        <a:defRPr sz="1000"/>
                      </a:pPr>
                      <a:r>
                        <a:t>Log 5 (File Auditing): PteroPSDoor.ps1 is observed reading files with extensions .docx, .xlsx, and .pdf from a user's Desktop and writing them to a staging directory in %LOCALAPPDATA%\vector.</a:t>
                      </a:r>
                    </a:p>
                  </a:txBody>
                  <a:tcPr/>
                </a:tc>
                <a:tc>
                  <a:txBody>
                    <a:bodyPr wrap="square"/>
                    <a:lstStyle/>
                    <a:p>
                      <a:pPr>
                        <a:defRPr sz="1000"/>
                      </a:pPr>
                      <a:r>
                        <a:t>T1005: Data from Local System</a:t>
                      </a:r>
                    </a:p>
                  </a:txBody>
                  <a:tcPr/>
                </a:tc>
                <a:tc>
                  <a:txBody>
                    <a:bodyPr wrap="square"/>
                    <a:lstStyle/>
                    <a:p>
                      <a:pPr>
                        <a:defRPr sz="1000"/>
                      </a:pPr>
                    </a:p>
                  </a:txBody>
                  <a:tcPr/>
                </a:tc>
              </a:tr>
            </a:tbl>
          </a:graphicData>
        </a:graphic>
      </p:graphicFrame>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b="1" sz="2100"/>
              <a:t>ENGAGE</a:t>
            </a:r>
          </a:p>
          <a:p>
            <a:pPr>
              <a:buNone/>
            </a:pPr>
            <a:r>
              <a:rPr sz="2100"/>
              <a:t>Active Deception &amp; Shaping</a:t>
            </a:r>
          </a:p>
          <a:p>
            <a:pPr>
              <a:buNone/>
            </a:pPr>
            <a:r>
              <a:rPr sz="2100"/>
              <a:t>ENGAGE: describes </a:t>
            </a:r>
            <a:r>
              <a:rPr b="1" sz="2100"/>
              <a:t>actively interacting</a:t>
            </a:r>
            <a:r>
              <a:rPr sz="2100"/>
              <a:t> with the adversary in blue-space</a:t>
            </a:r>
          </a:p>
          <a:p>
            <a:pPr/>
            <a:r>
              <a:rPr sz="2100"/>
              <a:t>Is a framework for planning and discussing adversary engagement operations that empowers you to engage your adversaries and achieve your cybersecurity goals</a:t>
            </a:r>
          </a:p>
          <a:p>
            <a:pPr/>
            <a:r>
              <a:rPr sz="2100"/>
              <a:t>Three goals</a:t>
            </a:r>
          </a:p>
          <a:p>
            <a:pPr lvl="1"/>
            <a:r>
              <a:rPr sz="2100"/>
              <a:t>Expose</a:t>
            </a:r>
          </a:p>
          <a:p>
            <a:pPr lvl="1"/>
            <a:r>
              <a:rPr sz="2100"/>
              <a:t>Affect</a:t>
            </a:r>
          </a:p>
          <a:p>
            <a:pPr lvl="1"/>
            <a:r>
              <a:rPr sz="2100"/>
              <a:t>Elicit</a:t>
            </a:r>
          </a:p>
        </p:txBody>
      </p:sp>
      <p:sp>
        <p:nvSpPr>
          <p:cNvPr id="3" name="Title 2"/>
          <p:cNvSpPr>
            <a:spLocks noGrp="1"/>
          </p:cNvSpPr>
          <p:nvPr>
            <p:ph type="title"/>
          </p:nvPr>
        </p:nvSpPr>
        <p:spPr/>
        <p:txBody>
          <a:bodyPr wrap="square">
            <a:normAutofit/>
          </a:bodyPr>
          <a:lstStyle/>
          <a:p>
            <a:pPr/>
            <a:r>
              <a:rPr sz="2700"/>
              <a:t>MITRE ENGAGE</a:t>
            </a:r>
          </a:p>
        </p:txBody>
      </p:sp>
      <p:pic>
        <p:nvPicPr>
          <p:cNvPr id="4" name="Picture 3" descr="M23-s10-0-76dea227a811.png"/>
          <p:cNvPicPr>
            <a:picLocks noChangeAspect="1"/>
          </p:cNvPicPr>
          <p:nvPr/>
        </p:nvPicPr>
        <p:blipFill>
          <a:blip r:embed="rId3"/>
          <a:stretch>
            <a:fillRect/>
          </a:stretch>
        </p:blipFill>
        <p:spPr>
          <a:xfrm>
            <a:off x="9420109" y="5534406"/>
            <a:ext cx="2629893" cy="864108"/>
          </a:xfrm>
          <a:prstGeom prst="rect">
            <a:avLst/>
          </a:prstGeom>
        </p:spPr>
      </p:pic>
      <p:pic>
        <p:nvPicPr>
          <p:cNvPr id="5" name="Picture 4" descr="M23-s10-1-50a1c51f17a1.png"/>
          <p:cNvPicPr>
            <a:picLocks noChangeAspect="1"/>
          </p:cNvPicPr>
          <p:nvPr/>
        </p:nvPicPr>
        <p:blipFill>
          <a:blip r:embed="rId4"/>
          <a:stretch>
            <a:fillRect/>
          </a:stretch>
        </p:blipFill>
        <p:spPr>
          <a:xfrm>
            <a:off x="10275289" y="5760720"/>
            <a:ext cx="346509" cy="365760"/>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image.png" id="170" name="Google Shape;170;g3f5d9fbf853_0_22"/>
          <p:cNvPicPr preferRelativeResize="0"/>
          <p:nvPr/>
        </p:nvPicPr>
        <p:blipFill rotWithShape="1">
          <a:blip r:embed="rId2">
            <a:alphaModFix/>
          </a:blip>
          <a:srcRect b="0" l="0" r="0" t="0"/>
          <a:stretch/>
        </p:blipFill>
        <p:spPr>
          <a:xfrm>
            <a:off x="1293025" y="1777600"/>
            <a:ext cx="3417100" cy="3447436"/>
          </a:xfrm>
          <a:prstGeom prst="rect">
            <a:avLst/>
          </a:prstGeom>
          <a:noFill/>
          <a:ln>
            <a:noFill/>
          </a:ln>
        </p:spPr>
      </p:pic>
      <p:pic>
        <p:nvPicPr>
          <p:cNvPr descr="image.png" id="171" name="Google Shape;171;g3f5d9fbf853_0_22"/>
          <p:cNvPicPr preferRelativeResize="0"/>
          <p:nvPr/>
        </p:nvPicPr>
        <p:blipFill rotWithShape="1">
          <a:blip r:embed="rId3">
            <a:alphaModFix/>
          </a:blip>
          <a:srcRect b="0" l="0" r="0" t="0"/>
          <a:stretch/>
        </p:blipFill>
        <p:spPr>
          <a:xfrm>
            <a:off x="4927858" y="1777600"/>
            <a:ext cx="3417242" cy="3447436"/>
          </a:xfrm>
          <a:prstGeom prst="rect">
            <a:avLst/>
          </a:prstGeom>
          <a:noFill/>
          <a:ln>
            <a:noFill/>
          </a:ln>
        </p:spPr>
      </p:pic>
      <p:pic>
        <p:nvPicPr>
          <p:cNvPr descr="image.png" id="172" name="Google Shape;172;g3f5d9fbf853_0_22"/>
          <p:cNvPicPr preferRelativeResize="0"/>
          <p:nvPr/>
        </p:nvPicPr>
        <p:blipFill rotWithShape="1">
          <a:blip r:embed="rId4">
            <a:alphaModFix/>
          </a:blip>
          <a:srcRect b="0" l="0" r="0" t="0"/>
          <a:stretch/>
        </p:blipFill>
        <p:spPr>
          <a:xfrm>
            <a:off x="8562833" y="1777600"/>
            <a:ext cx="3417100" cy="3447436"/>
          </a:xfrm>
          <a:prstGeom prst="rect">
            <a:avLst/>
          </a:prstGeom>
          <a:noFill/>
          <a:ln>
            <a:noFill/>
          </a:ln>
        </p:spPr>
      </p:pic>
      <p:pic>
        <p:nvPicPr>
          <p:cNvPr descr="image.png" id="173" name="Google Shape;173;g3f5d9fbf853_0_22"/>
          <p:cNvPicPr preferRelativeResize="0"/>
          <p:nvPr/>
        </p:nvPicPr>
        <p:blipFill rotWithShape="1">
          <a:blip r:embed="rId5">
            <a:alphaModFix/>
          </a:blip>
          <a:srcRect b="0" l="0" r="0" t="0"/>
          <a:stretch/>
        </p:blipFill>
        <p:spPr>
          <a:xfrm>
            <a:off x="1519830" y="2004405"/>
            <a:ext cx="435466" cy="435466"/>
          </a:xfrm>
          <a:prstGeom prst="rect">
            <a:avLst/>
          </a:prstGeom>
          <a:noFill/>
          <a:ln>
            <a:noFill/>
          </a:ln>
        </p:spPr>
      </p:pic>
      <p:sp>
        <p:nvSpPr>
          <p:cNvPr id="174" name="Google Shape;174;g3f5d9fbf853_0_22"/>
          <p:cNvSpPr txBox="1"/>
          <p:nvPr/>
        </p:nvSpPr>
        <p:spPr>
          <a:xfrm>
            <a:off x="1326892" y="2006475"/>
            <a:ext cx="3373800" cy="48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3129"/>
              <a:buFont typeface="Arial"/>
              <a:buNone/>
            </a:pPr>
            <a:r>
              <a:rPr b="0" i="0" lang="en-US" sz="3129" u="none" cap="none" strike="noStrike">
                <a:solidFill>
                  <a:srgbClr val="F8FAFC"/>
                </a:solidFill>
                <a:latin typeface="Arial"/>
                <a:ea typeface="Arial"/>
                <a:cs typeface="Arial"/>
                <a:sym typeface="Arial"/>
              </a:rPr>
              <a:t>Expose</a:t>
            </a:r>
            <a:endParaRPr b="0" i="0" sz="3033" u="none" cap="none" strike="noStrike">
              <a:solidFill>
                <a:srgbClr val="000000"/>
              </a:solidFill>
              <a:latin typeface="Arial"/>
              <a:ea typeface="Arial"/>
              <a:cs typeface="Arial"/>
              <a:sym typeface="Arial"/>
            </a:endParaRPr>
          </a:p>
        </p:txBody>
      </p:sp>
      <p:sp>
        <p:nvSpPr>
          <p:cNvPr id="175" name="Google Shape;175;g3f5d9fbf853_0_22"/>
          <p:cNvSpPr txBox="1"/>
          <p:nvPr/>
        </p:nvSpPr>
        <p:spPr>
          <a:xfrm>
            <a:off x="1519905" y="2579786"/>
            <a:ext cx="2963400" cy="703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143"/>
              <a:buFont typeface="Arial"/>
              <a:buNone/>
            </a:pPr>
            <a:r>
              <a:rPr b="0" i="0" lang="en-US" sz="1143" u="none" cap="none" strike="noStrike">
                <a:solidFill>
                  <a:srgbClr val="CBD5E1"/>
                </a:solidFill>
                <a:latin typeface="Arial"/>
                <a:ea typeface="Arial"/>
                <a:cs typeface="Arial"/>
                <a:sym typeface="Arial"/>
              </a:rPr>
              <a:t>Discover previously undetected adversaries gaining initial access or actively operating within blue-space.</a:t>
            </a:r>
            <a:endParaRPr b="0" i="0" sz="1333" u="none" cap="none" strike="noStrike">
              <a:solidFill>
                <a:srgbClr val="000000"/>
              </a:solidFill>
              <a:latin typeface="Arial"/>
              <a:ea typeface="Arial"/>
              <a:cs typeface="Arial"/>
              <a:sym typeface="Arial"/>
            </a:endParaRPr>
          </a:p>
        </p:txBody>
      </p:sp>
      <p:sp>
        <p:nvSpPr>
          <p:cNvPr id="176" name="Google Shape;176;g3f5d9fbf853_0_22"/>
          <p:cNvSpPr txBox="1"/>
          <p:nvPr/>
        </p:nvSpPr>
        <p:spPr>
          <a:xfrm>
            <a:off x="1519830" y="4526478"/>
            <a:ext cx="2963400" cy="3849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Focuses on high-fidelity visibility and intelligence collection.</a:t>
            </a:r>
            <a:endParaRPr b="0" i="0" sz="1333" u="none" cap="none" strike="noStrike">
              <a:solidFill>
                <a:srgbClr val="000000"/>
              </a:solidFill>
              <a:latin typeface="Arial"/>
              <a:ea typeface="Arial"/>
              <a:cs typeface="Arial"/>
              <a:sym typeface="Arial"/>
            </a:endParaRPr>
          </a:p>
        </p:txBody>
      </p:sp>
      <p:pic>
        <p:nvPicPr>
          <p:cNvPr descr="image.png" id="177" name="Google Shape;177;g3f5d9fbf853_0_22"/>
          <p:cNvPicPr preferRelativeResize="0"/>
          <p:nvPr/>
        </p:nvPicPr>
        <p:blipFill rotWithShape="1">
          <a:blip r:embed="rId6">
            <a:alphaModFix/>
          </a:blip>
          <a:srcRect b="0" l="0" r="0" t="0"/>
          <a:stretch/>
        </p:blipFill>
        <p:spPr>
          <a:xfrm>
            <a:off x="5154663" y="2004405"/>
            <a:ext cx="435466" cy="435466"/>
          </a:xfrm>
          <a:prstGeom prst="rect">
            <a:avLst/>
          </a:prstGeom>
          <a:noFill/>
          <a:ln>
            <a:noFill/>
          </a:ln>
        </p:spPr>
      </p:pic>
      <p:sp>
        <p:nvSpPr>
          <p:cNvPr id="178" name="Google Shape;178;g3f5d9fbf853_0_22"/>
          <p:cNvSpPr txBox="1"/>
          <p:nvPr/>
        </p:nvSpPr>
        <p:spPr>
          <a:xfrm>
            <a:off x="4938242" y="1990050"/>
            <a:ext cx="3417300" cy="48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3129"/>
              <a:buFont typeface="Arial"/>
              <a:buNone/>
            </a:pPr>
            <a:r>
              <a:rPr b="0" i="0" lang="en-US" sz="3129" u="none" cap="none" strike="noStrike">
                <a:solidFill>
                  <a:srgbClr val="F8FAFC"/>
                </a:solidFill>
                <a:latin typeface="Arial"/>
                <a:ea typeface="Arial"/>
                <a:cs typeface="Arial"/>
                <a:sym typeface="Arial"/>
              </a:rPr>
              <a:t>Affect</a:t>
            </a:r>
            <a:endParaRPr b="0" i="0" sz="3033" u="none" cap="none" strike="noStrike">
              <a:solidFill>
                <a:srgbClr val="000000"/>
              </a:solidFill>
              <a:latin typeface="Arial"/>
              <a:ea typeface="Arial"/>
              <a:cs typeface="Arial"/>
              <a:sym typeface="Arial"/>
            </a:endParaRPr>
          </a:p>
        </p:txBody>
      </p:sp>
      <p:sp>
        <p:nvSpPr>
          <p:cNvPr id="179" name="Google Shape;179;g3f5d9fbf853_0_22"/>
          <p:cNvSpPr txBox="1"/>
          <p:nvPr/>
        </p:nvSpPr>
        <p:spPr>
          <a:xfrm>
            <a:off x="5154663" y="2589319"/>
            <a:ext cx="2963700" cy="703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143"/>
              <a:buFont typeface="Arial"/>
              <a:buNone/>
            </a:pPr>
            <a:r>
              <a:rPr b="0" i="0" lang="en-US" sz="1143" u="none" cap="none" strike="noStrike">
                <a:solidFill>
                  <a:srgbClr val="CBD5E1"/>
                </a:solidFill>
                <a:latin typeface="Arial"/>
                <a:ea typeface="Arial"/>
                <a:cs typeface="Arial"/>
                <a:sym typeface="Arial"/>
              </a:rPr>
              <a:t>Change the adversary's cost-value calculation by raising campaign costs and lowering the value of their collection.</a:t>
            </a:r>
            <a:endParaRPr b="0" i="0" sz="1333" u="none" cap="none" strike="noStrike">
              <a:solidFill>
                <a:srgbClr val="000000"/>
              </a:solidFill>
              <a:latin typeface="Arial"/>
              <a:ea typeface="Arial"/>
              <a:cs typeface="Arial"/>
              <a:sym typeface="Arial"/>
            </a:endParaRPr>
          </a:p>
        </p:txBody>
      </p:sp>
      <p:pic>
        <p:nvPicPr>
          <p:cNvPr descr="image.png" id="180" name="Google Shape;180;g3f5d9fbf853_0_22"/>
          <p:cNvPicPr preferRelativeResize="0"/>
          <p:nvPr/>
        </p:nvPicPr>
        <p:blipFill rotWithShape="1">
          <a:blip r:embed="rId7">
            <a:alphaModFix/>
          </a:blip>
          <a:srcRect b="0" l="0" r="0" t="0"/>
          <a:stretch/>
        </p:blipFill>
        <p:spPr>
          <a:xfrm>
            <a:off x="8789638" y="2004405"/>
            <a:ext cx="435466" cy="435466"/>
          </a:xfrm>
          <a:prstGeom prst="rect">
            <a:avLst/>
          </a:prstGeom>
          <a:noFill/>
          <a:ln>
            <a:noFill/>
          </a:ln>
        </p:spPr>
      </p:pic>
      <p:sp>
        <p:nvSpPr>
          <p:cNvPr id="181" name="Google Shape;181;g3f5d9fbf853_0_22"/>
          <p:cNvSpPr txBox="1"/>
          <p:nvPr/>
        </p:nvSpPr>
        <p:spPr>
          <a:xfrm>
            <a:off x="5154663" y="4526478"/>
            <a:ext cx="2963700" cy="3849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Focuses on friction, direction, and operational disruption.</a:t>
            </a:r>
            <a:endParaRPr b="0" i="0" sz="1333" u="none" cap="none" strike="noStrike">
              <a:solidFill>
                <a:srgbClr val="000000"/>
              </a:solidFill>
              <a:latin typeface="Arial"/>
              <a:ea typeface="Arial"/>
              <a:cs typeface="Arial"/>
              <a:sym typeface="Arial"/>
            </a:endParaRPr>
          </a:p>
        </p:txBody>
      </p:sp>
      <p:sp>
        <p:nvSpPr>
          <p:cNvPr id="182" name="Google Shape;182;g3f5d9fbf853_0_22"/>
          <p:cNvSpPr txBox="1"/>
          <p:nvPr/>
        </p:nvSpPr>
        <p:spPr>
          <a:xfrm>
            <a:off x="8549792" y="1990062"/>
            <a:ext cx="3417300" cy="48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3129"/>
              <a:buFont typeface="Arial"/>
              <a:buNone/>
            </a:pPr>
            <a:r>
              <a:rPr b="0" i="0" lang="en-US" sz="3129" u="none" cap="none" strike="noStrike">
                <a:solidFill>
                  <a:srgbClr val="F8FAFC"/>
                </a:solidFill>
                <a:latin typeface="Arial"/>
                <a:ea typeface="Arial"/>
                <a:cs typeface="Arial"/>
                <a:sym typeface="Arial"/>
              </a:rPr>
              <a:t>Elicit</a:t>
            </a:r>
            <a:endParaRPr b="0" i="0" sz="3033" u="none" cap="none" strike="noStrike">
              <a:solidFill>
                <a:srgbClr val="000000"/>
              </a:solidFill>
              <a:latin typeface="Arial"/>
              <a:ea typeface="Arial"/>
              <a:cs typeface="Arial"/>
              <a:sym typeface="Arial"/>
            </a:endParaRPr>
          </a:p>
        </p:txBody>
      </p:sp>
      <p:sp>
        <p:nvSpPr>
          <p:cNvPr id="183" name="Google Shape;183;g3f5d9fbf853_0_22"/>
          <p:cNvSpPr txBox="1"/>
          <p:nvPr/>
        </p:nvSpPr>
        <p:spPr>
          <a:xfrm>
            <a:off x="8789638" y="2589319"/>
            <a:ext cx="2963400" cy="703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143"/>
              <a:buFont typeface="Arial"/>
              <a:buNone/>
            </a:pPr>
            <a:r>
              <a:rPr b="0" i="0" lang="en-US" sz="1143" u="none" cap="none" strike="noStrike">
                <a:solidFill>
                  <a:srgbClr val="CBD5E1"/>
                </a:solidFill>
                <a:latin typeface="Arial"/>
                <a:ea typeface="Arial"/>
                <a:cs typeface="Arial"/>
                <a:sym typeface="Arial"/>
              </a:rPr>
              <a:t>Draw out advanced TTPs, tooling, and strategic intent by encouraging engagement in defender-controlled environments.</a:t>
            </a:r>
            <a:endParaRPr b="0" i="0" sz="1333" u="none" cap="none" strike="noStrike">
              <a:solidFill>
                <a:srgbClr val="000000"/>
              </a:solidFill>
              <a:latin typeface="Arial"/>
              <a:ea typeface="Arial"/>
              <a:cs typeface="Arial"/>
              <a:sym typeface="Arial"/>
            </a:endParaRPr>
          </a:p>
        </p:txBody>
      </p:sp>
      <p:sp>
        <p:nvSpPr>
          <p:cNvPr id="184" name="Google Shape;184;g3f5d9fbf853_0_22"/>
          <p:cNvSpPr txBox="1"/>
          <p:nvPr/>
        </p:nvSpPr>
        <p:spPr>
          <a:xfrm>
            <a:off x="8789638" y="4526478"/>
            <a:ext cx="2963400" cy="3849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00"/>
              <a:buFont typeface="Arial"/>
              <a:buNone/>
            </a:pPr>
            <a:r>
              <a:rPr b="0" i="0" lang="en-US" sz="1000" u="none" cap="none" strike="noStrike">
                <a:solidFill>
                  <a:srgbClr val="94A3B8"/>
                </a:solidFill>
                <a:latin typeface="Arial"/>
                <a:ea typeface="Arial"/>
                <a:cs typeface="Arial"/>
                <a:sym typeface="Arial"/>
              </a:rPr>
              <a:t>Focuses on deep observation and high-value threat intelligence.</a:t>
            </a:r>
            <a:endParaRPr b="0" i="0" sz="1333" u="none" cap="none" strike="noStrike">
              <a:solidFill>
                <a:srgbClr val="000000"/>
              </a:solidFill>
              <a:latin typeface="Arial"/>
              <a:ea typeface="Arial"/>
              <a:cs typeface="Arial"/>
              <a:sym typeface="Arial"/>
            </a:endParaRPr>
          </a:p>
        </p:txBody>
      </p:sp>
      <p:pic>
        <p:nvPicPr>
          <p:cNvPr descr="image.png" id="185" name="Google Shape;185;g3f5d9fbf853_0_22"/>
          <p:cNvPicPr preferRelativeResize="0"/>
          <p:nvPr/>
        </p:nvPicPr>
        <p:blipFill rotWithShape="1">
          <a:blip r:embed="rId8">
            <a:alphaModFix/>
          </a:blip>
          <a:srcRect b="0" l="0" r="0" t="0"/>
          <a:stretch/>
        </p:blipFill>
        <p:spPr>
          <a:xfrm>
            <a:off x="1615088" y="2113272"/>
            <a:ext cx="244949" cy="217733"/>
          </a:xfrm>
          <a:prstGeom prst="rect">
            <a:avLst/>
          </a:prstGeom>
          <a:noFill/>
          <a:ln>
            <a:noFill/>
          </a:ln>
        </p:spPr>
      </p:pic>
      <p:pic>
        <p:nvPicPr>
          <p:cNvPr descr="image.png" id="186" name="Google Shape;186;g3f5d9fbf853_0_22"/>
          <p:cNvPicPr preferRelativeResize="0"/>
          <p:nvPr/>
        </p:nvPicPr>
        <p:blipFill rotWithShape="1">
          <a:blip r:embed="rId9">
            <a:alphaModFix/>
          </a:blip>
          <a:srcRect b="0" l="0" r="0" t="0"/>
          <a:stretch/>
        </p:blipFill>
        <p:spPr>
          <a:xfrm>
            <a:off x="5236312" y="2113272"/>
            <a:ext cx="272166" cy="217733"/>
          </a:xfrm>
          <a:prstGeom prst="rect">
            <a:avLst/>
          </a:prstGeom>
          <a:noFill/>
          <a:ln>
            <a:noFill/>
          </a:ln>
        </p:spPr>
      </p:pic>
      <p:pic>
        <p:nvPicPr>
          <p:cNvPr descr="a small fishook icon" id="187" name="Google Shape;187;g3f5d9fbf853_0_22"/>
          <p:cNvPicPr preferRelativeResize="0"/>
          <p:nvPr/>
        </p:nvPicPr>
        <p:blipFill rotWithShape="1">
          <a:blip r:embed="rId10">
            <a:alphaModFix/>
          </a:blip>
          <a:srcRect b="0" l="0" r="0" t="0"/>
          <a:stretch/>
        </p:blipFill>
        <p:spPr>
          <a:xfrm>
            <a:off x="8789497" y="2027175"/>
            <a:ext cx="448975" cy="448975"/>
          </a:xfrm>
          <a:prstGeom prst="rect">
            <a:avLst/>
          </a:prstGeom>
          <a:noFill/>
          <a:ln>
            <a:noFill/>
          </a:ln>
        </p:spPr>
      </p:pic>
      <p:sp>
        <p:nvSpPr>
          <p:cNvPr id="188" name="Google Shape;188;g3f5d9fbf853_0_22"/>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The Three ENGAGE Goals</a:t>
            </a:r>
            <a:endParaRPr>
              <a:solidFill>
                <a:srgbClr val="00004C"/>
              </a:solidFill>
            </a:endParaRPr>
          </a:p>
        </p:txBody>
      </p:sp>
      <p:sp>
        <p:nvSpPr>
          <p:cNvPr id="189"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b="1" sz="2200"/>
              <a:t>Two Operational Approaches</a:t>
            </a:r>
          </a:p>
          <a:p>
            <a:pPr/>
            <a:r>
              <a:rPr b="1" sz="2200"/>
              <a:t>Collect</a:t>
            </a:r>
            <a:r>
              <a:rPr sz="2200"/>
              <a:t>: gather logs, traffic, artifacts that expose adversary activity at the intersection of denial, deception, and adversary-engagement tech</a:t>
            </a:r>
          </a:p>
          <a:p>
            <a:pPr/>
            <a:r>
              <a:rPr b="1" sz="2200"/>
              <a:t>Detect</a:t>
            </a:r>
            <a:r>
              <a:rPr sz="2200"/>
              <a:t>: produce </a:t>
            </a:r>
            <a:r>
              <a:rPr b="1" sz="2200"/>
              <a:t>high-fidelity</a:t>
            </a:r>
            <a:r>
              <a:rPr sz="2200"/>
              <a:t> alerts (tripwires, lures, custom decoders, alerts from malware detonation)</a:t>
            </a:r>
          </a:p>
          <a:p>
            <a:pPr>
              <a:buNone/>
            </a:pPr>
            <a:r>
              <a:rPr b="1" sz="2200"/>
              <a:t>Example: Unique Leaked Credentials</a:t>
            </a:r>
          </a:p>
          <a:p>
            <a:pPr>
              <a:buNone/>
            </a:pPr>
            <a:r>
              <a:rPr sz="2200"/>
              <a:t>Planting unique, fake credentials inside or outside the network guarantees that any authentication attempt generates an immediate, 100% confidence signal revealing exactly where and when credentials were stolen.</a:t>
            </a:r>
          </a:p>
        </p:txBody>
      </p:sp>
      <p:sp>
        <p:nvSpPr>
          <p:cNvPr id="3" name="Title 2"/>
          <p:cNvSpPr>
            <a:spLocks noGrp="1"/>
          </p:cNvSpPr>
          <p:nvPr>
            <p:ph type="title"/>
          </p:nvPr>
        </p:nvSpPr>
        <p:spPr/>
        <p:txBody>
          <a:bodyPr wrap="square">
            <a:normAutofit/>
          </a:bodyPr>
          <a:lstStyle/>
          <a:p>
            <a:pPr/>
            <a:r>
              <a:rPr sz="2700"/>
              <a:t>Expose</a:t>
            </a:r>
          </a:p>
        </p:txBody>
      </p:sp>
      <p:pic>
        <p:nvPicPr>
          <p:cNvPr id="4" name="Picture 3" descr="M23-s12-0-74f10fa26889.png"/>
          <p:cNvPicPr>
            <a:picLocks noChangeAspect="1"/>
          </p:cNvPicPr>
          <p:nvPr/>
        </p:nvPicPr>
        <p:blipFill>
          <a:blip r:embed="rId3"/>
          <a:stretch>
            <a:fillRect/>
          </a:stretch>
        </p:blipFill>
        <p:spPr>
          <a:xfrm>
            <a:off x="1304544" y="5049846"/>
            <a:ext cx="10253472" cy="1051415"/>
          </a:xfrm>
          <a:prstGeom prst="rect">
            <a:avLst/>
          </a:prstGeom>
        </p:spPr>
      </p:pic>
      <p:pic>
        <p:nvPicPr>
          <p:cNvPr id="5" name="Picture 4" descr="M23-s12-1-2bc20b94ad28.png"/>
          <p:cNvPicPr>
            <a:picLocks noChangeAspect="1"/>
          </p:cNvPicPr>
          <p:nvPr/>
        </p:nvPicPr>
        <p:blipFill>
          <a:blip r:embed="rId4"/>
          <a:stretch>
            <a:fillRect/>
          </a:stretch>
        </p:blipFill>
        <p:spPr>
          <a:xfrm>
            <a:off x="1530306" y="5452110"/>
            <a:ext cx="353147" cy="365760"/>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3" name="Google Shape;203;g3f5d9fbf853_0_80"/>
          <p:cNvSpPr txBox="1"/>
          <p:nvPr/>
        </p:nvSpPr>
        <p:spPr>
          <a:xfrm>
            <a:off x="1510029" y="1188720"/>
            <a:ext cx="10361400" cy="51315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0"/>
              </a:spcBef>
              <a:spcAft>
                <a:spcPts val="0"/>
              </a:spcAft>
              <a:buClr>
                <a:srgbClr val="000000"/>
              </a:buClr>
              <a:buSzPts val="1100"/>
              <a:buFont typeface="Arial"/>
              <a:buNone/>
            </a:pPr>
            <a:r>
              <a:rPr b="1" lang="en-US" sz="1700">
                <a:solidFill>
                  <a:srgbClr val="00004C"/>
                </a:solidFill>
              </a:rPr>
              <a:t>Three Core Approaches</a:t>
            </a:r>
            <a:endParaRPr b="1" sz="1700">
              <a:solidFill>
                <a:srgbClr val="00004C"/>
              </a:solidFill>
            </a:endParaRPr>
          </a:p>
          <a:p>
            <a:pPr indent="0" lvl="0" marL="0" rtl="0" algn="l">
              <a:lnSpc>
                <a:spcPct val="90000"/>
              </a:lnSpc>
              <a:spcBef>
                <a:spcPts val="0"/>
              </a:spcBef>
              <a:spcAft>
                <a:spcPts val="0"/>
              </a:spcAft>
              <a:buSzPts val="1600"/>
              <a:buNone/>
            </a:pPr>
            <a:r>
              <a:t/>
            </a:r>
            <a:endParaRPr b="1" sz="1700">
              <a:solidFill>
                <a:srgbClr val="00004C"/>
              </a:solidFill>
            </a:endParaRPr>
          </a:p>
          <a:p>
            <a:pPr indent="-336550" lvl="0" marL="457200" rtl="0" algn="l">
              <a:lnSpc>
                <a:spcPct val="115000"/>
              </a:lnSpc>
              <a:spcBef>
                <a:spcPts val="0"/>
              </a:spcBef>
              <a:spcAft>
                <a:spcPts val="0"/>
              </a:spcAft>
              <a:buSzPts val="1700"/>
              <a:buChar char="•"/>
            </a:pPr>
            <a:r>
              <a:rPr b="1" lang="en-US" sz="1700">
                <a:solidFill>
                  <a:schemeClr val="dk1"/>
                </a:solidFill>
              </a:rPr>
              <a:t>Prevent</a:t>
            </a:r>
            <a:r>
              <a:rPr lang="en-US" sz="1700">
                <a:solidFill>
                  <a:schemeClr val="dk1"/>
                </a:solidFill>
              </a:rPr>
              <a:t>: stop or block adversary action (remove resources, tighten controls)</a:t>
            </a:r>
            <a:endParaRPr sz="1700">
              <a:solidFill>
                <a:schemeClr val="dk1"/>
              </a:solidFill>
            </a:endParaRPr>
          </a:p>
          <a:p>
            <a:pPr indent="-336550" lvl="0" marL="457200" rtl="0" algn="l">
              <a:lnSpc>
                <a:spcPct val="115000"/>
              </a:lnSpc>
              <a:spcBef>
                <a:spcPts val="700"/>
              </a:spcBef>
              <a:spcAft>
                <a:spcPts val="0"/>
              </a:spcAft>
              <a:buSzPts val="1700"/>
              <a:buChar char="•"/>
            </a:pPr>
            <a:r>
              <a:rPr b="1" lang="en-US" sz="1700">
                <a:solidFill>
                  <a:schemeClr val="dk1"/>
                </a:solidFill>
              </a:rPr>
              <a:t>Direct</a:t>
            </a:r>
            <a:r>
              <a:rPr lang="en-US" sz="1700">
                <a:solidFill>
                  <a:schemeClr val="dk1"/>
                </a:solidFill>
              </a:rPr>
              <a:t>: move the adversary </a:t>
            </a:r>
            <a:r>
              <a:rPr i="1" lang="en-US" sz="1700">
                <a:solidFill>
                  <a:schemeClr val="dk1"/>
                </a:solidFill>
              </a:rPr>
              <a:t>toward</a:t>
            </a:r>
            <a:r>
              <a:rPr lang="en-US" sz="1700">
                <a:solidFill>
                  <a:schemeClr val="dk1"/>
                </a:solidFill>
              </a:rPr>
              <a:t> or </a:t>
            </a:r>
            <a:r>
              <a:rPr i="1" lang="en-US" sz="1700">
                <a:solidFill>
                  <a:schemeClr val="dk1"/>
                </a:solidFill>
              </a:rPr>
              <a:t>away from</a:t>
            </a:r>
            <a:r>
              <a:rPr lang="en-US" sz="1700">
                <a:solidFill>
                  <a:schemeClr val="dk1"/>
                </a:solidFill>
              </a:rPr>
              <a:t> a path (add/remove lures, selectively weaken controls, physically migrate an attack vector)</a:t>
            </a:r>
            <a:endParaRPr sz="1700">
              <a:solidFill>
                <a:schemeClr val="dk1"/>
              </a:solidFill>
            </a:endParaRPr>
          </a:p>
          <a:p>
            <a:pPr indent="-336550" lvl="0" marL="457200" rtl="0" algn="l">
              <a:lnSpc>
                <a:spcPct val="115000"/>
              </a:lnSpc>
              <a:spcBef>
                <a:spcPts val="700"/>
              </a:spcBef>
              <a:spcAft>
                <a:spcPts val="0"/>
              </a:spcAft>
              <a:buSzPts val="1700"/>
              <a:buChar char="•"/>
            </a:pPr>
            <a:r>
              <a:rPr b="1" lang="en-US" sz="1700">
                <a:solidFill>
                  <a:schemeClr val="dk1"/>
                </a:solidFill>
              </a:rPr>
              <a:t>Disrupt</a:t>
            </a:r>
            <a:r>
              <a:rPr lang="en-US" sz="1700">
                <a:solidFill>
                  <a:schemeClr val="dk1"/>
                </a:solidFill>
              </a:rPr>
              <a:t>: stop or discourage part of the adversary's mission (network throttling, manipulated command output, planted misinformation)</a:t>
            </a:r>
            <a:endParaRPr b="1" sz="1700"/>
          </a:p>
          <a:p>
            <a:pPr indent="0" lvl="0" marL="0" rtl="0" algn="l">
              <a:lnSpc>
                <a:spcPct val="90000"/>
              </a:lnSpc>
              <a:spcBef>
                <a:spcPts val="700"/>
              </a:spcBef>
              <a:spcAft>
                <a:spcPts val="0"/>
              </a:spcAft>
              <a:buSzPts val="1600"/>
              <a:buNone/>
            </a:pPr>
            <a:r>
              <a:t/>
            </a:r>
            <a:endParaRPr/>
          </a:p>
        </p:txBody>
      </p:sp>
      <p:pic>
        <p:nvPicPr>
          <p:cNvPr descr="image.png" id="204" name="Google Shape;204;g3f5d9fbf853_0_80"/>
          <p:cNvPicPr preferRelativeResize="0"/>
          <p:nvPr/>
        </p:nvPicPr>
        <p:blipFill rotWithShape="1">
          <a:blip r:embed="rId2">
            <a:alphaModFix/>
          </a:blip>
          <a:srcRect b="0" l="0" r="0" t="0"/>
          <a:stretch/>
        </p:blipFill>
        <p:spPr>
          <a:xfrm>
            <a:off x="1293025" y="5451843"/>
            <a:ext cx="10687051" cy="585156"/>
          </a:xfrm>
          <a:prstGeom prst="rect">
            <a:avLst/>
          </a:prstGeom>
          <a:noFill/>
          <a:ln>
            <a:noFill/>
          </a:ln>
        </p:spPr>
      </p:pic>
      <p:sp>
        <p:nvSpPr>
          <p:cNvPr id="205" name="Google Shape;205;g3f5d9fbf853_0_80"/>
          <p:cNvSpPr txBox="1"/>
          <p:nvPr/>
        </p:nvSpPr>
        <p:spPr>
          <a:xfrm>
            <a:off x="1510758" y="5596999"/>
            <a:ext cx="10287900" cy="165000"/>
          </a:xfrm>
          <a:prstGeom prst="rect">
            <a:avLst/>
          </a:prstGeom>
          <a:noFill/>
          <a:ln>
            <a:noFill/>
          </a:ln>
        </p:spPr>
        <p:txBody>
          <a:bodyPr anchorCtr="0" anchor="t" bIns="0" lIns="0" spcFirstLastPara="1" rIns="0" wrap="square" tIns="0">
            <a:spAutoFit/>
          </a:bodyPr>
          <a:lstStyle/>
          <a:p>
            <a:pPr indent="0" lvl="0" marL="0" marR="0" rtl="0" algn="l">
              <a:lnSpc>
                <a:spcPct val="149955"/>
              </a:lnSpc>
              <a:spcBef>
                <a:spcPts val="0"/>
              </a:spcBef>
              <a:spcAft>
                <a:spcPts val="0"/>
              </a:spcAft>
              <a:buClr>
                <a:srgbClr val="000000"/>
              </a:buClr>
              <a:buSzPts val="1072"/>
              <a:buFont typeface="Arial"/>
              <a:buNone/>
            </a:pPr>
            <a:r>
              <a:rPr b="1" i="0" lang="en-US" sz="1072" u="none" cap="none" strike="noStrike">
                <a:solidFill>
                  <a:srgbClr val="38BDF8"/>
                </a:solidFill>
                <a:latin typeface="Arial"/>
                <a:ea typeface="Arial"/>
                <a:cs typeface="Arial"/>
                <a:sym typeface="Arial"/>
              </a:rPr>
              <a:t>Which approach is the most active of the three?</a:t>
            </a:r>
            <a:endParaRPr b="0" i="0" sz="1333" u="none" cap="none" strike="noStrike">
              <a:solidFill>
                <a:srgbClr val="000000"/>
              </a:solidFill>
              <a:latin typeface="Arial"/>
              <a:ea typeface="Arial"/>
              <a:cs typeface="Arial"/>
              <a:sym typeface="Arial"/>
            </a:endParaRPr>
          </a:p>
        </p:txBody>
      </p:sp>
      <p:sp>
        <p:nvSpPr>
          <p:cNvPr id="206" name="Google Shape;206;g3f5d9fbf853_0_80"/>
          <p:cNvSpPr txBox="1"/>
          <p:nvPr/>
        </p:nvSpPr>
        <p:spPr>
          <a:xfrm>
            <a:off x="4938550" y="5175925"/>
            <a:ext cx="3000000" cy="1137000"/>
          </a:xfrm>
          <a:prstGeom prst="rect">
            <a:avLst/>
          </a:prstGeom>
          <a:noFill/>
          <a:ln>
            <a:noFill/>
          </a:ln>
        </p:spPr>
        <p:txBody>
          <a:bodyPr anchorCtr="0" anchor="t" bIns="91425" lIns="91425" spcFirstLastPara="1" rIns="91425" wrap="square" tIns="91425">
            <a:spAutoFit/>
          </a:bodyPr>
          <a:lstStyle/>
          <a:p>
            <a:pPr indent="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94A3B8"/>
                </a:solidFill>
                <a:latin typeface="Inter"/>
                <a:ea typeface="Inter"/>
                <a:cs typeface="Inter"/>
                <a:sym typeface="Inter"/>
              </a:rPr>
              <a:t>Direction is the most active lever. By hardening 9 out of 10 paths and leaving 1 path subtly enticing, you dictate the battleground on your terms.</a:t>
            </a:r>
            <a:endParaRPr b="0" i="0" sz="1400" u="none" cap="none" strike="noStrike">
              <a:solidFill>
                <a:schemeClr val="dk1"/>
              </a:solidFill>
              <a:latin typeface="Arial"/>
              <a:ea typeface="Arial"/>
              <a:cs typeface="Arial"/>
              <a:sym typeface="Arial"/>
            </a:endParaRPr>
          </a:p>
        </p:txBody>
      </p:sp>
      <p:sp>
        <p:nvSpPr>
          <p:cNvPr id="207" name="Google Shape;207;g3f5d9fbf853_0_80"/>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Affect</a:t>
            </a:r>
            <a:endParaRPr/>
          </a:p>
        </p:txBody>
      </p:sp>
      <p:sp>
        <p:nvSpPr>
          <p:cNvPr id="208"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2" name="Google Shape;212;g3f5ea7479ca_0_45"/>
          <p:cNvSpPr txBox="1"/>
          <p:nvPr/>
        </p:nvSpPr>
        <p:spPr>
          <a:xfrm>
            <a:off x="1479729" y="1188728"/>
            <a:ext cx="10361400" cy="51315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0"/>
              </a:spcBef>
              <a:spcAft>
                <a:spcPts val="0"/>
              </a:spcAft>
              <a:buSzPts val="1600"/>
              <a:buNone/>
            </a:pPr>
            <a:r>
              <a:rPr b="1" lang="en-US" sz="1700">
                <a:solidFill>
                  <a:srgbClr val="00004C"/>
                </a:solidFill>
              </a:rPr>
              <a:t>Deep Observation Techniques</a:t>
            </a:r>
            <a:endParaRPr b="1" sz="1700">
              <a:solidFill>
                <a:srgbClr val="00004C"/>
              </a:solidFill>
            </a:endParaRPr>
          </a:p>
          <a:p>
            <a:pPr indent="0" lvl="0" marL="0" rtl="0" algn="l">
              <a:lnSpc>
                <a:spcPct val="90000"/>
              </a:lnSpc>
              <a:spcBef>
                <a:spcPts val="0"/>
              </a:spcBef>
              <a:spcAft>
                <a:spcPts val="0"/>
              </a:spcAft>
              <a:buSzPts val="1600"/>
              <a:buNone/>
            </a:pPr>
            <a:r>
              <a:t/>
            </a:r>
            <a:endParaRPr b="1" sz="1700">
              <a:solidFill>
                <a:srgbClr val="00004C"/>
              </a:solidFill>
            </a:endParaRPr>
          </a:p>
          <a:p>
            <a:pPr indent="-336550" lvl="0" marL="457200" rtl="0" algn="l">
              <a:lnSpc>
                <a:spcPct val="115000"/>
              </a:lnSpc>
              <a:spcBef>
                <a:spcPts val="0"/>
              </a:spcBef>
              <a:spcAft>
                <a:spcPts val="0"/>
              </a:spcAft>
              <a:buClr>
                <a:schemeClr val="dk1"/>
              </a:buClr>
              <a:buSzPts val="1700"/>
              <a:buChar char="•"/>
            </a:pPr>
            <a:r>
              <a:rPr b="1" lang="en-US" sz="1700">
                <a:solidFill>
                  <a:srgbClr val="00004C"/>
                </a:solidFill>
              </a:rPr>
              <a:t>Re</a:t>
            </a:r>
            <a:r>
              <a:rPr b="1" lang="en-US" sz="1700">
                <a:solidFill>
                  <a:schemeClr val="dk1"/>
                </a:solidFill>
              </a:rPr>
              <a:t>assu</a:t>
            </a:r>
            <a:r>
              <a:rPr b="1" lang="en-US" sz="1700">
                <a:solidFill>
                  <a:srgbClr val="00004C"/>
                </a:solidFill>
              </a:rPr>
              <a:t>re: </a:t>
            </a:r>
            <a:r>
              <a:rPr lang="en-US" sz="1700">
                <a:solidFill>
                  <a:srgbClr val="00004C"/>
                </a:solidFill>
              </a:rPr>
              <a:t>Activities that add realism to reduce adversary suspicion and confirm they are inside a genuine environment.</a:t>
            </a:r>
            <a:endParaRPr sz="1700">
              <a:solidFill>
                <a:srgbClr val="00004C"/>
              </a:solidFill>
            </a:endParaRPr>
          </a:p>
          <a:p>
            <a:pPr indent="-323850" lvl="1" marL="914400" rtl="0" algn="l">
              <a:lnSpc>
                <a:spcPct val="115000"/>
              </a:lnSpc>
              <a:spcBef>
                <a:spcPts val="0"/>
              </a:spcBef>
              <a:spcAft>
                <a:spcPts val="0"/>
              </a:spcAft>
              <a:buClr>
                <a:schemeClr val="dk1"/>
              </a:buClr>
              <a:buSzPts val="1500"/>
              <a:buChar char="•"/>
            </a:pPr>
            <a:r>
              <a:rPr lang="en-US" sz="1700">
                <a:solidFill>
                  <a:srgbClr val="00004C"/>
                </a:solidFill>
              </a:rPr>
              <a:t>Realistic active user account histories</a:t>
            </a:r>
            <a:endParaRPr sz="1700">
              <a:solidFill>
                <a:srgbClr val="00004C"/>
              </a:solidFill>
            </a:endParaRPr>
          </a:p>
          <a:p>
            <a:pPr indent="-323850" lvl="1" marL="914400" rtl="0" algn="l">
              <a:lnSpc>
                <a:spcPct val="115000"/>
              </a:lnSpc>
              <a:spcBef>
                <a:spcPts val="0"/>
              </a:spcBef>
              <a:spcAft>
                <a:spcPts val="0"/>
              </a:spcAft>
              <a:buClr>
                <a:schemeClr val="dk1"/>
              </a:buClr>
              <a:buSzPts val="1500"/>
              <a:buChar char="•"/>
            </a:pPr>
            <a:r>
              <a:rPr lang="en-US" sz="1700">
                <a:solidFill>
                  <a:srgbClr val="00004C"/>
                </a:solidFill>
              </a:rPr>
              <a:t>Realistic document timestamps &amp; desktop clutter</a:t>
            </a:r>
            <a:endParaRPr sz="1700">
              <a:solidFill>
                <a:srgbClr val="00004C"/>
              </a:solidFill>
            </a:endParaRPr>
          </a:p>
          <a:p>
            <a:pPr indent="-323850" lvl="1" marL="914400" rtl="0" algn="l">
              <a:lnSpc>
                <a:spcPct val="115000"/>
              </a:lnSpc>
              <a:spcBef>
                <a:spcPts val="0"/>
              </a:spcBef>
              <a:spcAft>
                <a:spcPts val="0"/>
              </a:spcAft>
              <a:buClr>
                <a:schemeClr val="dk1"/>
              </a:buClr>
              <a:buSzPts val="1500"/>
              <a:buChar char="•"/>
            </a:pPr>
            <a:r>
              <a:rPr lang="en-US" sz="1700">
                <a:solidFill>
                  <a:srgbClr val="00004C"/>
                </a:solidFill>
              </a:rPr>
              <a:t>Simulated background network traffic &amp; browser history</a:t>
            </a:r>
            <a:endParaRPr sz="1700">
              <a:solidFill>
                <a:srgbClr val="00004C"/>
              </a:solidFill>
            </a:endParaRPr>
          </a:p>
          <a:p>
            <a:pPr indent="0" lvl="0" marL="914400" rtl="0" algn="l">
              <a:lnSpc>
                <a:spcPct val="115000"/>
              </a:lnSpc>
              <a:spcBef>
                <a:spcPts val="700"/>
              </a:spcBef>
              <a:spcAft>
                <a:spcPts val="0"/>
              </a:spcAft>
              <a:buSzPts val="1600"/>
              <a:buNone/>
            </a:pPr>
            <a:r>
              <a:t/>
            </a:r>
            <a:endParaRPr sz="1700">
              <a:solidFill>
                <a:srgbClr val="00004C"/>
              </a:solidFill>
            </a:endParaRPr>
          </a:p>
          <a:p>
            <a:pPr indent="-336550" lvl="0" marL="457200" rtl="0" algn="l">
              <a:lnSpc>
                <a:spcPct val="90000"/>
              </a:lnSpc>
              <a:spcBef>
                <a:spcPts val="700"/>
              </a:spcBef>
              <a:spcAft>
                <a:spcPts val="0"/>
              </a:spcAft>
              <a:buClr>
                <a:srgbClr val="00004C"/>
              </a:buClr>
              <a:buSzPts val="1700"/>
              <a:buChar char="•"/>
            </a:pPr>
            <a:r>
              <a:rPr b="1" lang="en-US" sz="1700">
                <a:solidFill>
                  <a:srgbClr val="00004C"/>
                </a:solidFill>
              </a:rPr>
              <a:t>Motivate:</a:t>
            </a:r>
            <a:r>
              <a:rPr lang="en-US" sz="1700">
                <a:solidFill>
                  <a:srgbClr val="00004C"/>
                </a:solidFill>
              </a:rPr>
              <a:t>Target-rich environment design crafted to draw the adversary further in and entice lateral movement.</a:t>
            </a:r>
            <a:endParaRPr sz="1700">
              <a:solidFill>
                <a:srgbClr val="00004C"/>
              </a:solidFill>
            </a:endParaRPr>
          </a:p>
          <a:p>
            <a:pPr indent="-323850" lvl="1" marL="914400" rtl="0" algn="l">
              <a:lnSpc>
                <a:spcPct val="90000"/>
              </a:lnSpc>
              <a:spcBef>
                <a:spcPts val="0"/>
              </a:spcBef>
              <a:spcAft>
                <a:spcPts val="0"/>
              </a:spcAft>
              <a:buClr>
                <a:schemeClr val="dk1"/>
              </a:buClr>
              <a:buSzPts val="1500"/>
              <a:buChar char="•"/>
            </a:pPr>
            <a:r>
              <a:rPr lang="en-US" sz="1700">
                <a:solidFill>
                  <a:srgbClr val="00004C"/>
                </a:solidFill>
              </a:rPr>
              <a:t>Unpatched OS services and weak credential files</a:t>
            </a:r>
            <a:endParaRPr sz="1700">
              <a:solidFill>
                <a:srgbClr val="00004C"/>
              </a:solidFill>
            </a:endParaRPr>
          </a:p>
          <a:p>
            <a:pPr indent="-323850" lvl="1" marL="914400" rtl="0" algn="l">
              <a:lnSpc>
                <a:spcPct val="90000"/>
              </a:lnSpc>
              <a:spcBef>
                <a:spcPts val="0"/>
              </a:spcBef>
              <a:spcAft>
                <a:spcPts val="0"/>
              </a:spcAft>
              <a:buClr>
                <a:schemeClr val="dk1"/>
              </a:buClr>
              <a:buSzPts val="1500"/>
              <a:buChar char="•"/>
            </a:pPr>
            <a:r>
              <a:rPr lang="en-US" sz="1700">
                <a:solidFill>
                  <a:srgbClr val="00004C"/>
                </a:solidFill>
              </a:rPr>
              <a:t>Enticing filenames (e.g., FINANCIALS_2026.xlsx)</a:t>
            </a:r>
            <a:endParaRPr sz="1700">
              <a:solidFill>
                <a:srgbClr val="00004C"/>
              </a:solidFill>
            </a:endParaRPr>
          </a:p>
          <a:p>
            <a:pPr indent="-323850" lvl="1" marL="914400" rtl="0" algn="l">
              <a:lnSpc>
                <a:spcPct val="90000"/>
              </a:lnSpc>
              <a:spcBef>
                <a:spcPts val="0"/>
              </a:spcBef>
              <a:spcAft>
                <a:spcPts val="0"/>
              </a:spcAft>
              <a:buClr>
                <a:schemeClr val="dk1"/>
              </a:buClr>
              <a:buSzPts val="1500"/>
              <a:buChar char="•"/>
            </a:pPr>
            <a:r>
              <a:rPr lang="en-US" sz="1700">
                <a:solidFill>
                  <a:srgbClr val="00004C"/>
                </a:solidFill>
              </a:rPr>
              <a:t>Promising internal network routes</a:t>
            </a:r>
            <a:endParaRPr sz="1700">
              <a:solidFill>
                <a:srgbClr val="00004C"/>
              </a:solidFill>
            </a:endParaRPr>
          </a:p>
          <a:p>
            <a:pPr indent="0" lvl="0" marL="0" rtl="0" algn="l">
              <a:lnSpc>
                <a:spcPct val="90000"/>
              </a:lnSpc>
              <a:spcBef>
                <a:spcPts val="600"/>
              </a:spcBef>
              <a:spcAft>
                <a:spcPts val="0"/>
              </a:spcAft>
              <a:buSzPts val="1600"/>
              <a:buNone/>
            </a:pPr>
            <a:r>
              <a:t/>
            </a:r>
            <a:endParaRPr/>
          </a:p>
        </p:txBody>
      </p:sp>
      <p:pic>
        <p:nvPicPr>
          <p:cNvPr descr="image.png" id="213" name="Google Shape;213;g3f5ea7479ca_0_45"/>
          <p:cNvPicPr preferRelativeResize="0"/>
          <p:nvPr/>
        </p:nvPicPr>
        <p:blipFill rotWithShape="1">
          <a:blip r:embed="rId2">
            <a:alphaModFix/>
          </a:blip>
          <a:srcRect b="0" l="0" r="0" t="0"/>
          <a:stretch/>
        </p:blipFill>
        <p:spPr>
          <a:xfrm>
            <a:off x="8470312" y="2685667"/>
            <a:ext cx="1104268" cy="220853"/>
          </a:xfrm>
          <a:prstGeom prst="rect">
            <a:avLst/>
          </a:prstGeom>
          <a:noFill/>
          <a:ln>
            <a:noFill/>
          </a:ln>
        </p:spPr>
      </p:pic>
      <p:pic>
        <p:nvPicPr>
          <p:cNvPr descr="image.png" id="214" name="Google Shape;214;g3f5ea7479ca_0_45"/>
          <p:cNvPicPr preferRelativeResize="0"/>
          <p:nvPr/>
        </p:nvPicPr>
        <p:blipFill rotWithShape="1">
          <a:blip r:embed="rId3">
            <a:alphaModFix/>
          </a:blip>
          <a:srcRect b="0" l="0" r="0" t="0"/>
          <a:stretch/>
        </p:blipFill>
        <p:spPr>
          <a:xfrm>
            <a:off x="8602823" y="4424942"/>
            <a:ext cx="839244" cy="220853"/>
          </a:xfrm>
          <a:prstGeom prst="rect">
            <a:avLst/>
          </a:prstGeom>
          <a:noFill/>
          <a:ln>
            <a:noFill/>
          </a:ln>
        </p:spPr>
      </p:pic>
      <p:sp>
        <p:nvSpPr>
          <p:cNvPr id="215" name="Google Shape;215;g3f5ea7479ca_0_45"/>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Elicit</a:t>
            </a:r>
            <a:endParaRPr/>
          </a:p>
        </p:txBody>
      </p:sp>
      <p:sp>
        <p:nvSpPr>
          <p:cNvPr id="21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0" name="Google Shape;220;g3f6128cb99a_0_0"/>
          <p:cNvSpPr/>
          <p:nvPr/>
        </p:nvSpPr>
        <p:spPr>
          <a:xfrm>
            <a:off x="1304594" y="2713608"/>
            <a:ext cx="3444000" cy="666900"/>
          </a:xfrm>
          <a:prstGeom prst="roundRect">
            <a:avLst>
              <a:gd fmla="val 16667" name="adj"/>
            </a:avLst>
          </a:prstGeom>
          <a:gradFill>
            <a:gsLst>
              <a:gs pos="0">
                <a:srgbClr val="ED7D31"/>
              </a:gs>
              <a:gs pos="100000">
                <a:schemeClr val="accent6"/>
              </a:gs>
            </a:gsLst>
            <a:lin ang="10801400" scaled="0"/>
          </a:gra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g3f6128cb99a_0_0"/>
          <p:cNvSpPr txBox="1"/>
          <p:nvPr/>
        </p:nvSpPr>
        <p:spPr>
          <a:xfrm>
            <a:off x="9555725" y="5795858"/>
            <a:ext cx="2430300" cy="184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rgbClr val="94A3B8"/>
                </a:solidFill>
                <a:latin typeface="Inter"/>
                <a:ea typeface="Inter"/>
                <a:cs typeface="Inter"/>
                <a:sym typeface="Inter"/>
              </a:rPr>
              <a:t>Primary Goal Focus:</a:t>
            </a:r>
            <a:endParaRPr b="0" i="0" sz="1400" u="none" cap="none" strike="noStrike">
              <a:solidFill>
                <a:srgbClr val="000000"/>
              </a:solidFill>
              <a:latin typeface="Arial"/>
              <a:ea typeface="Arial"/>
              <a:cs typeface="Arial"/>
              <a:sym typeface="Arial"/>
            </a:endParaRPr>
          </a:p>
        </p:txBody>
      </p:sp>
      <p:pic>
        <p:nvPicPr>
          <p:cNvPr descr="image.png" id="222" name="Google Shape;222;g3f6128cb99a_0_0"/>
          <p:cNvPicPr preferRelativeResize="0"/>
          <p:nvPr/>
        </p:nvPicPr>
        <p:blipFill rotWithShape="1">
          <a:blip r:embed="rId2">
            <a:alphaModFix/>
          </a:blip>
          <a:srcRect b="0" l="0" r="0" t="0"/>
          <a:stretch/>
        </p:blipFill>
        <p:spPr>
          <a:xfrm>
            <a:off x="9555737" y="6014525"/>
            <a:ext cx="723900" cy="238125"/>
          </a:xfrm>
          <a:prstGeom prst="rect">
            <a:avLst/>
          </a:prstGeom>
          <a:noFill/>
          <a:ln>
            <a:noFill/>
          </a:ln>
        </p:spPr>
      </p:pic>
      <p:pic>
        <p:nvPicPr>
          <p:cNvPr descr="image.png" id="223" name="Google Shape;223;g3f6128cb99a_0_0"/>
          <p:cNvPicPr preferRelativeResize="0"/>
          <p:nvPr/>
        </p:nvPicPr>
        <p:blipFill rotWithShape="1">
          <a:blip r:embed="rId3">
            <a:alphaModFix/>
          </a:blip>
          <a:srcRect b="0" l="0" r="0" t="0"/>
          <a:stretch/>
        </p:blipFill>
        <p:spPr>
          <a:xfrm>
            <a:off x="10470137" y="6014525"/>
            <a:ext cx="714375" cy="238125"/>
          </a:xfrm>
          <a:prstGeom prst="rect">
            <a:avLst/>
          </a:prstGeom>
          <a:noFill/>
          <a:ln>
            <a:noFill/>
          </a:ln>
        </p:spPr>
      </p:pic>
      <p:pic>
        <p:nvPicPr>
          <p:cNvPr descr="image.png" id="224" name="Google Shape;224;g3f6128cb99a_0_0"/>
          <p:cNvPicPr preferRelativeResize="0"/>
          <p:nvPr/>
        </p:nvPicPr>
        <p:blipFill rotWithShape="1">
          <a:blip r:embed="rId4">
            <a:alphaModFix/>
          </a:blip>
          <a:srcRect b="0" l="0" r="0" t="0"/>
          <a:stretch/>
        </p:blipFill>
        <p:spPr>
          <a:xfrm>
            <a:off x="11375012" y="6014525"/>
            <a:ext cx="619125" cy="238125"/>
          </a:xfrm>
          <a:prstGeom prst="rect">
            <a:avLst/>
          </a:prstGeom>
          <a:noFill/>
          <a:ln>
            <a:noFill/>
          </a:ln>
        </p:spPr>
      </p:pic>
      <p:sp>
        <p:nvSpPr>
          <p:cNvPr id="225" name="Google Shape;225;g3f6128cb99a_0_0"/>
          <p:cNvSpPr/>
          <p:nvPr/>
        </p:nvSpPr>
        <p:spPr>
          <a:xfrm>
            <a:off x="1304594" y="1904133"/>
            <a:ext cx="3444000" cy="666900"/>
          </a:xfrm>
          <a:prstGeom prst="roundRect">
            <a:avLst>
              <a:gd fmla="val 16667" name="adj"/>
            </a:avLst>
          </a:prstGeom>
          <a:gradFill>
            <a:gsLst>
              <a:gs pos="0">
                <a:srgbClr val="ED7D31"/>
              </a:gs>
              <a:gs pos="100000">
                <a:schemeClr val="accent6"/>
              </a:gs>
            </a:gsLst>
            <a:lin ang="10801400" scaled="0"/>
          </a:gra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g3f6128cb99a_0_0"/>
          <p:cNvSpPr txBox="1"/>
          <p:nvPr/>
        </p:nvSpPr>
        <p:spPr>
          <a:xfrm>
            <a:off x="2288417" y="2036558"/>
            <a:ext cx="24606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Lures</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Decoys &amp; Bait</a:t>
            </a:r>
            <a:endParaRPr b="0" i="0" sz="1400" u="none" cap="none" strike="noStrike">
              <a:solidFill>
                <a:schemeClr val="dk1"/>
              </a:solidFill>
              <a:latin typeface="Arial"/>
              <a:ea typeface="Arial"/>
              <a:cs typeface="Arial"/>
              <a:sym typeface="Arial"/>
            </a:endParaRPr>
          </a:p>
        </p:txBody>
      </p:sp>
      <p:sp>
        <p:nvSpPr>
          <p:cNvPr id="227" name="Google Shape;227;g3f6128cb99a_0_0"/>
          <p:cNvSpPr/>
          <p:nvPr/>
        </p:nvSpPr>
        <p:spPr>
          <a:xfrm>
            <a:off x="1361598" y="1946534"/>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EAC0005</a:t>
            </a:r>
            <a:endParaRPr b="1" i="0" sz="1000" u="none" cap="none" strike="noStrike">
              <a:solidFill>
                <a:schemeClr val="lt1"/>
              </a:solidFill>
              <a:latin typeface="Arial"/>
              <a:ea typeface="Arial"/>
              <a:cs typeface="Arial"/>
              <a:sym typeface="Arial"/>
            </a:endParaRPr>
          </a:p>
        </p:txBody>
      </p:sp>
      <p:grpSp>
        <p:nvGrpSpPr>
          <p:cNvPr id="228" name="Google Shape;228;g3f6128cb99a_0_0"/>
          <p:cNvGrpSpPr/>
          <p:nvPr/>
        </p:nvGrpSpPr>
        <p:grpSpPr>
          <a:xfrm>
            <a:off x="8533894" y="1904124"/>
            <a:ext cx="3460233" cy="666900"/>
            <a:chOff x="1304594" y="2393491"/>
            <a:chExt cx="3460233" cy="666900"/>
          </a:xfrm>
        </p:grpSpPr>
        <p:sp>
          <p:nvSpPr>
            <p:cNvPr id="229" name="Google Shape;229;g3f6128cb99a_0_0"/>
            <p:cNvSpPr/>
            <p:nvPr/>
          </p:nvSpPr>
          <p:spPr>
            <a:xfrm>
              <a:off x="1304594" y="2393491"/>
              <a:ext cx="3444000" cy="666900"/>
            </a:xfrm>
            <a:prstGeom prst="roundRect">
              <a:avLst>
                <a:gd fmla="val 16667" name="adj"/>
              </a:avLst>
            </a:prstGeom>
            <a:solidFill>
              <a:srgbClr val="4D72BB"/>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g3f6128cb99a_0_0"/>
            <p:cNvSpPr txBox="1"/>
            <p:nvPr/>
          </p:nvSpPr>
          <p:spPr>
            <a:xfrm>
              <a:off x="2242127" y="2542309"/>
              <a:ext cx="25227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Pocket Litter</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Environment Realism</a:t>
              </a:r>
              <a:endParaRPr b="0" i="0" sz="1400" u="none" cap="none" strike="noStrike">
                <a:solidFill>
                  <a:schemeClr val="dk1"/>
                </a:solidFill>
                <a:latin typeface="Arial"/>
                <a:ea typeface="Arial"/>
                <a:cs typeface="Arial"/>
                <a:sym typeface="Arial"/>
              </a:endParaRPr>
            </a:p>
          </p:txBody>
        </p:sp>
        <p:sp>
          <p:nvSpPr>
            <p:cNvPr id="231" name="Google Shape;231;g3f6128cb99a_0_0"/>
            <p:cNvSpPr/>
            <p:nvPr/>
          </p:nvSpPr>
          <p:spPr>
            <a:xfrm>
              <a:off x="1361551" y="2452791"/>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EAC0011</a:t>
              </a:r>
              <a:endParaRPr b="1" i="0" sz="1000" u="none" cap="none" strike="noStrike">
                <a:solidFill>
                  <a:schemeClr val="lt1"/>
                </a:solidFill>
                <a:latin typeface="Arial"/>
                <a:ea typeface="Arial"/>
                <a:cs typeface="Arial"/>
                <a:sym typeface="Arial"/>
              </a:endParaRPr>
            </a:p>
          </p:txBody>
        </p:sp>
      </p:grpSp>
      <p:grpSp>
        <p:nvGrpSpPr>
          <p:cNvPr id="232" name="Google Shape;232;g3f6128cb99a_0_0"/>
          <p:cNvGrpSpPr/>
          <p:nvPr/>
        </p:nvGrpSpPr>
        <p:grpSpPr>
          <a:xfrm>
            <a:off x="4881488" y="2713615"/>
            <a:ext cx="3462913" cy="666900"/>
            <a:chOff x="1300950" y="3284807"/>
            <a:chExt cx="3462913" cy="666900"/>
          </a:xfrm>
        </p:grpSpPr>
        <p:sp>
          <p:nvSpPr>
            <p:cNvPr id="233" name="Google Shape;233;g3f6128cb99a_0_0"/>
            <p:cNvSpPr/>
            <p:nvPr/>
          </p:nvSpPr>
          <p:spPr>
            <a:xfrm>
              <a:off x="1300950" y="3284807"/>
              <a:ext cx="3444000" cy="666900"/>
            </a:xfrm>
            <a:prstGeom prst="roundRect">
              <a:avLst>
                <a:gd fmla="val 16667" name="adj"/>
              </a:avLst>
            </a:prstGeom>
            <a:gradFill>
              <a:gsLst>
                <a:gs pos="0">
                  <a:srgbClr val="7698D4"/>
                </a:gs>
                <a:gs pos="100000">
                  <a:srgbClr val="375791"/>
                </a:gs>
              </a:gsLst>
              <a:lin ang="5400012" scaled="0"/>
            </a:gra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g3f6128cb99a_0_0"/>
            <p:cNvSpPr txBox="1"/>
            <p:nvPr/>
          </p:nvSpPr>
          <p:spPr>
            <a:xfrm>
              <a:off x="2241163" y="3402230"/>
              <a:ext cx="25227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Info Manipulation</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Conceal &amp; Reveal</a:t>
              </a:r>
              <a:endParaRPr b="0" i="0" sz="1400" u="none" cap="none" strike="noStrike">
                <a:solidFill>
                  <a:schemeClr val="dk1"/>
                </a:solidFill>
                <a:latin typeface="Arial"/>
                <a:ea typeface="Arial"/>
                <a:cs typeface="Arial"/>
                <a:sym typeface="Arial"/>
              </a:endParaRPr>
            </a:p>
          </p:txBody>
        </p:sp>
        <p:sp>
          <p:nvSpPr>
            <p:cNvPr id="235" name="Google Shape;235;g3f6128cb99a_0_0"/>
            <p:cNvSpPr/>
            <p:nvPr/>
          </p:nvSpPr>
          <p:spPr>
            <a:xfrm>
              <a:off x="1350630" y="3356995"/>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EAC0015</a:t>
              </a:r>
              <a:endParaRPr b="1" i="0" sz="1000" u="none" cap="none" strike="noStrike">
                <a:solidFill>
                  <a:schemeClr val="lt1"/>
                </a:solidFill>
                <a:latin typeface="Arial"/>
                <a:ea typeface="Arial"/>
                <a:cs typeface="Arial"/>
                <a:sym typeface="Arial"/>
              </a:endParaRPr>
            </a:p>
          </p:txBody>
        </p:sp>
      </p:grpSp>
      <p:sp>
        <p:nvSpPr>
          <p:cNvPr id="236" name="Google Shape;236;g3f6128cb99a_0_0"/>
          <p:cNvSpPr/>
          <p:nvPr/>
        </p:nvSpPr>
        <p:spPr>
          <a:xfrm>
            <a:off x="4890958" y="4332564"/>
            <a:ext cx="3444000" cy="666900"/>
          </a:xfrm>
          <a:prstGeom prst="roundRect">
            <a:avLst>
              <a:gd fmla="val 16667" name="adj"/>
            </a:avLst>
          </a:prstGeom>
          <a:gradFill>
            <a:gsLst>
              <a:gs pos="0">
                <a:schemeClr val="accent5"/>
              </a:gs>
              <a:gs pos="46000">
                <a:schemeClr val="accent2"/>
              </a:gs>
              <a:gs pos="100000">
                <a:schemeClr val="accent6"/>
              </a:gs>
            </a:gsLst>
            <a:lin ang="10801400" scaled="0"/>
          </a:gra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g3f6128cb99a_0_0"/>
          <p:cNvSpPr txBox="1"/>
          <p:nvPr/>
        </p:nvSpPr>
        <p:spPr>
          <a:xfrm>
            <a:off x="5833063" y="4480243"/>
            <a:ext cx="25227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Introduced Vulnerabilities</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Intentional Magnet</a:t>
            </a:r>
            <a:endParaRPr b="0" i="0" sz="1400" u="none" cap="none" strike="noStrike">
              <a:solidFill>
                <a:schemeClr val="dk1"/>
              </a:solidFill>
              <a:latin typeface="Arial"/>
              <a:ea typeface="Arial"/>
              <a:cs typeface="Arial"/>
              <a:sym typeface="Arial"/>
            </a:endParaRPr>
          </a:p>
        </p:txBody>
      </p:sp>
      <p:sp>
        <p:nvSpPr>
          <p:cNvPr id="238" name="Google Shape;238;g3f6128cb99a_0_0"/>
          <p:cNvSpPr/>
          <p:nvPr/>
        </p:nvSpPr>
        <p:spPr>
          <a:xfrm>
            <a:off x="4952583" y="4394189"/>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EAC0023</a:t>
            </a:r>
            <a:endParaRPr b="1" i="0" sz="1000" u="none" cap="none" strike="noStrike">
              <a:solidFill>
                <a:schemeClr val="lt1"/>
              </a:solidFill>
              <a:latin typeface="Arial"/>
              <a:ea typeface="Arial"/>
              <a:cs typeface="Arial"/>
              <a:sym typeface="Arial"/>
            </a:endParaRPr>
          </a:p>
        </p:txBody>
      </p:sp>
      <p:grpSp>
        <p:nvGrpSpPr>
          <p:cNvPr id="239" name="Google Shape;239;g3f6128cb99a_0_0"/>
          <p:cNvGrpSpPr/>
          <p:nvPr/>
        </p:nvGrpSpPr>
        <p:grpSpPr>
          <a:xfrm>
            <a:off x="8542032" y="3493483"/>
            <a:ext cx="3444000" cy="666900"/>
            <a:chOff x="4892782" y="1506200"/>
            <a:chExt cx="3444000" cy="666900"/>
          </a:xfrm>
        </p:grpSpPr>
        <p:sp>
          <p:nvSpPr>
            <p:cNvPr id="240" name="Google Shape;240;g3f6128cb99a_0_0"/>
            <p:cNvSpPr/>
            <p:nvPr/>
          </p:nvSpPr>
          <p:spPr>
            <a:xfrm>
              <a:off x="4892782" y="1506200"/>
              <a:ext cx="3444000" cy="666900"/>
            </a:xfrm>
            <a:prstGeom prst="roundRect">
              <a:avLst>
                <a:gd fmla="val 16667" name="adj"/>
              </a:avLst>
            </a:prstGeom>
            <a:solidFill>
              <a:srgbClr val="EE980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g3f6128cb99a_0_0"/>
            <p:cNvSpPr txBox="1"/>
            <p:nvPr/>
          </p:nvSpPr>
          <p:spPr>
            <a:xfrm>
              <a:off x="5795600" y="1642475"/>
              <a:ext cx="25377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Isolation</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Containment</a:t>
              </a:r>
              <a:endParaRPr b="0" i="0" sz="1400" u="none" cap="none" strike="noStrike">
                <a:solidFill>
                  <a:schemeClr val="dk1"/>
                </a:solidFill>
                <a:latin typeface="Arial"/>
                <a:ea typeface="Arial"/>
                <a:cs typeface="Arial"/>
                <a:sym typeface="Arial"/>
              </a:endParaRPr>
            </a:p>
          </p:txBody>
        </p:sp>
        <p:sp>
          <p:nvSpPr>
            <p:cNvPr id="242" name="Google Shape;242;g3f6128cb99a_0_0"/>
            <p:cNvSpPr/>
            <p:nvPr/>
          </p:nvSpPr>
          <p:spPr>
            <a:xfrm>
              <a:off x="4957902" y="1548588"/>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EAC0020</a:t>
              </a:r>
              <a:endParaRPr b="1" i="0" sz="1000" u="none" cap="none" strike="noStrike">
                <a:solidFill>
                  <a:schemeClr val="lt1"/>
                </a:solidFill>
                <a:latin typeface="Arial"/>
                <a:ea typeface="Arial"/>
                <a:cs typeface="Arial"/>
                <a:sym typeface="Arial"/>
              </a:endParaRPr>
            </a:p>
          </p:txBody>
        </p:sp>
      </p:grpSp>
      <p:grpSp>
        <p:nvGrpSpPr>
          <p:cNvPr id="243" name="Google Shape;243;g3f6128cb99a_0_0"/>
          <p:cNvGrpSpPr/>
          <p:nvPr/>
        </p:nvGrpSpPr>
        <p:grpSpPr>
          <a:xfrm>
            <a:off x="1304823" y="4332549"/>
            <a:ext cx="3444000" cy="666900"/>
            <a:chOff x="4892711" y="2393491"/>
            <a:chExt cx="3444000" cy="666900"/>
          </a:xfrm>
        </p:grpSpPr>
        <p:sp>
          <p:nvSpPr>
            <p:cNvPr id="244" name="Google Shape;244;g3f6128cb99a_0_0"/>
            <p:cNvSpPr/>
            <p:nvPr/>
          </p:nvSpPr>
          <p:spPr>
            <a:xfrm>
              <a:off x="4892711" y="2393491"/>
              <a:ext cx="3444000" cy="666900"/>
            </a:xfrm>
            <a:prstGeom prst="roundRect">
              <a:avLst>
                <a:gd fmla="val 16667" name="adj"/>
              </a:avLst>
            </a:prstGeom>
            <a:solidFill>
              <a:srgbClr val="EE980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g3f6128cb99a_0_0"/>
            <p:cNvSpPr txBox="1"/>
            <p:nvPr/>
          </p:nvSpPr>
          <p:spPr>
            <a:xfrm>
              <a:off x="5795600" y="2542300"/>
              <a:ext cx="25410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Attack Vector Migration</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Traffic Redirection</a:t>
              </a:r>
              <a:endParaRPr b="0" i="0" sz="1400" u="none" cap="none" strike="noStrike">
                <a:solidFill>
                  <a:schemeClr val="dk1"/>
                </a:solidFill>
                <a:latin typeface="Arial"/>
                <a:ea typeface="Arial"/>
                <a:cs typeface="Arial"/>
                <a:sym typeface="Arial"/>
              </a:endParaRPr>
            </a:p>
          </p:txBody>
        </p:sp>
        <p:sp>
          <p:nvSpPr>
            <p:cNvPr id="246" name="Google Shape;246;g3f6128cb99a_0_0"/>
            <p:cNvSpPr/>
            <p:nvPr/>
          </p:nvSpPr>
          <p:spPr>
            <a:xfrm>
              <a:off x="4921189" y="2452779"/>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EAC0021</a:t>
              </a:r>
              <a:endParaRPr b="1" i="0" sz="800" u="none" cap="none" strike="noStrike">
                <a:solidFill>
                  <a:schemeClr val="lt1"/>
                </a:solidFill>
                <a:latin typeface="Arial"/>
                <a:ea typeface="Arial"/>
                <a:cs typeface="Arial"/>
                <a:sym typeface="Arial"/>
              </a:endParaRPr>
            </a:p>
          </p:txBody>
        </p:sp>
      </p:grpSp>
      <p:grpSp>
        <p:nvGrpSpPr>
          <p:cNvPr id="247" name="Google Shape;247;g3f6128cb99a_0_0"/>
          <p:cNvGrpSpPr/>
          <p:nvPr/>
        </p:nvGrpSpPr>
        <p:grpSpPr>
          <a:xfrm>
            <a:off x="8542022" y="2713615"/>
            <a:ext cx="3444000" cy="666900"/>
            <a:chOff x="4890960" y="3224382"/>
            <a:chExt cx="3444000" cy="666900"/>
          </a:xfrm>
        </p:grpSpPr>
        <p:sp>
          <p:nvSpPr>
            <p:cNvPr id="248" name="Google Shape;248;g3f6128cb99a_0_0"/>
            <p:cNvSpPr/>
            <p:nvPr/>
          </p:nvSpPr>
          <p:spPr>
            <a:xfrm>
              <a:off x="4890960" y="3224382"/>
              <a:ext cx="3444000" cy="666900"/>
            </a:xfrm>
            <a:prstGeom prst="roundRect">
              <a:avLst>
                <a:gd fmla="val 16667" name="adj"/>
              </a:avLst>
            </a:prstGeom>
            <a:solidFill>
              <a:srgbClr val="EE980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9" name="Google Shape;249;g3f6128cb99a_0_0"/>
            <p:cNvSpPr txBox="1"/>
            <p:nvPr/>
          </p:nvSpPr>
          <p:spPr>
            <a:xfrm>
              <a:off x="5873125" y="3339113"/>
              <a:ext cx="24606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Network Manipulation</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Throttling &amp; Filtering</a:t>
              </a:r>
              <a:endParaRPr b="0" i="0" sz="1400" u="none" cap="none" strike="noStrike">
                <a:solidFill>
                  <a:schemeClr val="dk1"/>
                </a:solidFill>
                <a:latin typeface="Arial"/>
                <a:ea typeface="Arial"/>
                <a:cs typeface="Arial"/>
                <a:sym typeface="Arial"/>
              </a:endParaRPr>
            </a:p>
          </p:txBody>
        </p:sp>
        <p:sp>
          <p:nvSpPr>
            <p:cNvPr id="250" name="Google Shape;250;g3f6128cb99a_0_0"/>
            <p:cNvSpPr/>
            <p:nvPr/>
          </p:nvSpPr>
          <p:spPr>
            <a:xfrm>
              <a:off x="4952306" y="3314444"/>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EAC0016</a:t>
              </a:r>
              <a:endParaRPr b="1" i="0" sz="1000" u="none" cap="none" strike="noStrike">
                <a:solidFill>
                  <a:schemeClr val="lt1"/>
                </a:solidFill>
                <a:latin typeface="Arial"/>
                <a:ea typeface="Arial"/>
                <a:cs typeface="Arial"/>
                <a:sym typeface="Arial"/>
              </a:endParaRPr>
            </a:p>
          </p:txBody>
        </p:sp>
      </p:grpSp>
      <p:grpSp>
        <p:nvGrpSpPr>
          <p:cNvPr id="251" name="Google Shape;251;g3f6128cb99a_0_0"/>
          <p:cNvGrpSpPr/>
          <p:nvPr/>
        </p:nvGrpSpPr>
        <p:grpSpPr>
          <a:xfrm>
            <a:off x="4901859" y="3523094"/>
            <a:ext cx="3444000" cy="666900"/>
            <a:chOff x="4892782" y="3987134"/>
            <a:chExt cx="3444000" cy="666900"/>
          </a:xfrm>
        </p:grpSpPr>
        <p:sp>
          <p:nvSpPr>
            <p:cNvPr id="252" name="Google Shape;252;g3f6128cb99a_0_0"/>
            <p:cNvSpPr/>
            <p:nvPr/>
          </p:nvSpPr>
          <p:spPr>
            <a:xfrm>
              <a:off x="4892782" y="3987134"/>
              <a:ext cx="3444000" cy="666900"/>
            </a:xfrm>
            <a:prstGeom prst="roundRect">
              <a:avLst>
                <a:gd fmla="val 16667" name="adj"/>
              </a:avLst>
            </a:prstGeom>
            <a:solidFill>
              <a:srgbClr val="EE980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g3f6128cb99a_0_0"/>
            <p:cNvSpPr txBox="1"/>
            <p:nvPr/>
          </p:nvSpPr>
          <p:spPr>
            <a:xfrm>
              <a:off x="5846750" y="4099925"/>
              <a:ext cx="24606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Security Controls</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Selective Tightening / Loosening</a:t>
              </a:r>
              <a:endParaRPr b="0" i="0" sz="1400" u="none" cap="none" strike="noStrike">
                <a:solidFill>
                  <a:schemeClr val="dk1"/>
                </a:solidFill>
                <a:latin typeface="Arial"/>
                <a:ea typeface="Arial"/>
                <a:cs typeface="Arial"/>
                <a:sym typeface="Arial"/>
              </a:endParaRPr>
            </a:p>
          </p:txBody>
        </p:sp>
        <p:sp>
          <p:nvSpPr>
            <p:cNvPr id="254" name="Google Shape;254;g3f6128cb99a_0_0"/>
            <p:cNvSpPr/>
            <p:nvPr/>
          </p:nvSpPr>
          <p:spPr>
            <a:xfrm>
              <a:off x="4941385" y="4065072"/>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EAC0018</a:t>
              </a:r>
              <a:endParaRPr b="1" i="0" sz="1000" u="none" cap="none" strike="noStrike">
                <a:solidFill>
                  <a:schemeClr val="lt1"/>
                </a:solidFill>
                <a:latin typeface="Arial"/>
                <a:ea typeface="Arial"/>
                <a:cs typeface="Arial"/>
                <a:sym typeface="Arial"/>
              </a:endParaRPr>
            </a:p>
          </p:txBody>
        </p:sp>
      </p:grpSp>
      <p:grpSp>
        <p:nvGrpSpPr>
          <p:cNvPr id="255" name="Google Shape;255;g3f6128cb99a_0_0"/>
          <p:cNvGrpSpPr/>
          <p:nvPr/>
        </p:nvGrpSpPr>
        <p:grpSpPr>
          <a:xfrm>
            <a:off x="1304807" y="3523084"/>
            <a:ext cx="3444000" cy="666900"/>
            <a:chOff x="8480969" y="1544300"/>
            <a:chExt cx="3444000" cy="666900"/>
          </a:xfrm>
        </p:grpSpPr>
        <p:sp>
          <p:nvSpPr>
            <p:cNvPr id="256" name="Google Shape;256;g3f6128cb99a_0_0"/>
            <p:cNvSpPr/>
            <p:nvPr/>
          </p:nvSpPr>
          <p:spPr>
            <a:xfrm>
              <a:off x="8480969" y="1544300"/>
              <a:ext cx="3444000" cy="666900"/>
            </a:xfrm>
            <a:prstGeom prst="roundRect">
              <a:avLst>
                <a:gd fmla="val 16667" name="adj"/>
              </a:avLst>
            </a:prstGeom>
            <a:solidFill>
              <a:srgbClr val="EE980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g3f6128cb99a_0_0"/>
            <p:cNvSpPr txBox="1"/>
            <p:nvPr/>
          </p:nvSpPr>
          <p:spPr>
            <a:xfrm>
              <a:off x="9372825" y="1609725"/>
              <a:ext cx="25227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Hardware Manipulation</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Physical Control</a:t>
              </a:r>
              <a:endParaRPr b="0" i="0" sz="1400" u="none" cap="none" strike="noStrike">
                <a:solidFill>
                  <a:schemeClr val="dk1"/>
                </a:solidFill>
                <a:latin typeface="Arial"/>
                <a:ea typeface="Arial"/>
                <a:cs typeface="Arial"/>
                <a:sym typeface="Arial"/>
              </a:endParaRPr>
            </a:p>
          </p:txBody>
        </p:sp>
        <p:sp>
          <p:nvSpPr>
            <p:cNvPr id="258" name="Google Shape;258;g3f6128cb99a_0_0"/>
            <p:cNvSpPr/>
            <p:nvPr/>
          </p:nvSpPr>
          <p:spPr>
            <a:xfrm>
              <a:off x="8537926" y="1649851"/>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EAC0017</a:t>
              </a:r>
              <a:endParaRPr b="1" i="0" sz="1000" u="none" cap="none" strike="noStrike">
                <a:solidFill>
                  <a:schemeClr val="lt1"/>
                </a:solidFill>
                <a:latin typeface="Arial"/>
                <a:ea typeface="Arial"/>
                <a:cs typeface="Arial"/>
                <a:sym typeface="Arial"/>
              </a:endParaRPr>
            </a:p>
          </p:txBody>
        </p:sp>
      </p:grpSp>
      <p:grpSp>
        <p:nvGrpSpPr>
          <p:cNvPr id="259" name="Google Shape;259;g3f6128cb99a_0_0"/>
          <p:cNvGrpSpPr/>
          <p:nvPr/>
        </p:nvGrpSpPr>
        <p:grpSpPr>
          <a:xfrm>
            <a:off x="4890958" y="1904141"/>
            <a:ext cx="3444000" cy="666900"/>
            <a:chOff x="8480908" y="2320245"/>
            <a:chExt cx="3444000" cy="666900"/>
          </a:xfrm>
        </p:grpSpPr>
        <p:sp>
          <p:nvSpPr>
            <p:cNvPr id="260" name="Google Shape;260;g3f6128cb99a_0_0"/>
            <p:cNvSpPr/>
            <p:nvPr/>
          </p:nvSpPr>
          <p:spPr>
            <a:xfrm>
              <a:off x="8480908" y="2320245"/>
              <a:ext cx="3444000" cy="666900"/>
            </a:xfrm>
            <a:prstGeom prst="roundRect">
              <a:avLst>
                <a:gd fmla="val 16667" name="adj"/>
              </a:avLst>
            </a:prstGeom>
            <a:gradFill>
              <a:gsLst>
                <a:gs pos="0">
                  <a:schemeClr val="accent5"/>
                </a:gs>
                <a:gs pos="100000">
                  <a:schemeClr val="accent2"/>
                </a:gs>
              </a:gsLst>
              <a:lin ang="10800025" scaled="0"/>
            </a:gra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g3f6128cb99a_0_0"/>
            <p:cNvSpPr txBox="1"/>
            <p:nvPr/>
          </p:nvSpPr>
          <p:spPr>
            <a:xfrm>
              <a:off x="9340900" y="2372275"/>
              <a:ext cx="25410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Peripheral Management</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USB / Wi-Fi Shaping</a:t>
              </a:r>
              <a:endParaRPr b="0" i="0" sz="1400" u="none" cap="none" strike="noStrike">
                <a:solidFill>
                  <a:schemeClr val="dk1"/>
                </a:solidFill>
                <a:latin typeface="Arial"/>
                <a:ea typeface="Arial"/>
                <a:cs typeface="Arial"/>
                <a:sym typeface="Arial"/>
              </a:endParaRPr>
            </a:p>
          </p:txBody>
        </p:sp>
        <p:sp>
          <p:nvSpPr>
            <p:cNvPr id="262" name="Google Shape;262;g3f6128cb99a_0_0"/>
            <p:cNvSpPr/>
            <p:nvPr/>
          </p:nvSpPr>
          <p:spPr>
            <a:xfrm>
              <a:off x="8506478" y="2391066"/>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EAC0010</a:t>
              </a:r>
              <a:endParaRPr b="1" i="0" sz="1000" u="none" cap="none" strike="noStrike">
                <a:solidFill>
                  <a:schemeClr val="lt1"/>
                </a:solidFill>
                <a:latin typeface="Arial"/>
                <a:ea typeface="Arial"/>
                <a:cs typeface="Arial"/>
                <a:sym typeface="Arial"/>
              </a:endParaRPr>
            </a:p>
          </p:txBody>
        </p:sp>
      </p:grpSp>
      <p:sp>
        <p:nvSpPr>
          <p:cNvPr id="263" name="Google Shape;263;g3f6128cb99a_0_0"/>
          <p:cNvSpPr/>
          <p:nvPr/>
        </p:nvSpPr>
        <p:spPr>
          <a:xfrm>
            <a:off x="1304807" y="2713619"/>
            <a:ext cx="3444000" cy="666900"/>
          </a:xfrm>
          <a:prstGeom prst="roundRect">
            <a:avLst>
              <a:gd fmla="val 16667" name="adj"/>
            </a:avLst>
          </a:prstGeom>
          <a:gradFill>
            <a:gsLst>
              <a:gs pos="0">
                <a:srgbClr val="ED7D31">
                  <a:alpha val="0"/>
                </a:srgbClr>
              </a:gs>
              <a:gs pos="52000">
                <a:srgbClr val="6F8E61">
                  <a:alpha val="0"/>
                </a:srgbClr>
              </a:gs>
              <a:gs pos="100000">
                <a:srgbClr val="70AD47">
                  <a:alpha val="0"/>
                </a:srgbClr>
              </a:gs>
            </a:gsLst>
            <a:lin ang="10801400" scaled="0"/>
          </a:gra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g3f6128cb99a_0_0"/>
          <p:cNvSpPr txBox="1"/>
          <p:nvPr/>
        </p:nvSpPr>
        <p:spPr>
          <a:xfrm>
            <a:off x="2205338" y="2775533"/>
            <a:ext cx="25410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chemeClr val="dk1"/>
                </a:solidFill>
                <a:latin typeface="Inter"/>
                <a:ea typeface="Inter"/>
                <a:cs typeface="Inter"/>
                <a:sym typeface="Inter"/>
              </a:rPr>
              <a:t>Software Manipulation</a:t>
            </a:r>
            <a:br>
              <a:rPr b="0" i="0" lang="en-US" sz="1800" u="none" cap="none" strike="noStrike">
                <a:solidFill>
                  <a:schemeClr val="dk1"/>
                </a:solidFill>
                <a:latin typeface="Calibri"/>
                <a:ea typeface="Calibri"/>
                <a:cs typeface="Calibri"/>
                <a:sym typeface="Calibri"/>
              </a:rPr>
            </a:br>
            <a:r>
              <a:rPr b="0" i="0" lang="en-US" sz="1200" u="none" cap="none" strike="noStrike">
                <a:solidFill>
                  <a:schemeClr val="dk1"/>
                </a:solidFill>
                <a:latin typeface="Inter"/>
                <a:ea typeface="Inter"/>
                <a:cs typeface="Inter"/>
                <a:sym typeface="Inter"/>
              </a:rPr>
              <a:t>Altered OS Output</a:t>
            </a:r>
            <a:endParaRPr b="0" i="0" sz="1400" u="none" cap="none" strike="noStrike">
              <a:solidFill>
                <a:schemeClr val="dk1"/>
              </a:solidFill>
              <a:latin typeface="Arial"/>
              <a:ea typeface="Arial"/>
              <a:cs typeface="Arial"/>
              <a:sym typeface="Arial"/>
            </a:endParaRPr>
          </a:p>
        </p:txBody>
      </p:sp>
      <p:sp>
        <p:nvSpPr>
          <p:cNvPr id="265" name="Google Shape;265;g3f6128cb99a_0_0"/>
          <p:cNvSpPr/>
          <p:nvPr/>
        </p:nvSpPr>
        <p:spPr>
          <a:xfrm>
            <a:off x="1361763" y="2805677"/>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EAC0014</a:t>
            </a:r>
            <a:endParaRPr b="1" i="0" sz="1000" u="none" cap="none" strike="noStrike">
              <a:solidFill>
                <a:schemeClr val="lt1"/>
              </a:solidFill>
              <a:latin typeface="Arial"/>
              <a:ea typeface="Arial"/>
              <a:cs typeface="Arial"/>
              <a:sym typeface="Arial"/>
            </a:endParaRPr>
          </a:p>
        </p:txBody>
      </p:sp>
      <p:sp>
        <p:nvSpPr>
          <p:cNvPr id="266" name="Google Shape;266;g3f6128cb99a_0_0"/>
          <p:cNvSpPr txBox="1"/>
          <p:nvPr/>
        </p:nvSpPr>
        <p:spPr>
          <a:xfrm>
            <a:off x="1510025" y="1188720"/>
            <a:ext cx="10361400" cy="3174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0"/>
              </a:spcBef>
              <a:spcAft>
                <a:spcPts val="0"/>
              </a:spcAft>
              <a:buSzPts val="1600"/>
              <a:buNone/>
            </a:pPr>
            <a:r>
              <a:rPr b="1" lang="en-US" sz="1700">
                <a:solidFill>
                  <a:srgbClr val="00004C"/>
                </a:solidFill>
              </a:rPr>
              <a:t>The EAC codes</a:t>
            </a:r>
            <a:endParaRPr/>
          </a:p>
        </p:txBody>
      </p:sp>
      <p:sp>
        <p:nvSpPr>
          <p:cNvPr id="267" name="Google Shape;267;g3f6128cb99a_0_0"/>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ENGAGE Techniques</a:t>
            </a:r>
            <a:endParaRPr/>
          </a:p>
        </p:txBody>
      </p:sp>
      <p:sp>
        <p:nvSpPr>
          <p:cNvPr id="268"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2" name="Google Shape;272;g3f5d9fbf853_0_178"/>
          <p:cNvPicPr preferRelativeResize="0"/>
          <p:nvPr/>
        </p:nvPicPr>
        <p:blipFill rotWithShape="1">
          <a:blip r:embed="rId2">
            <a:alphaModFix/>
          </a:blip>
          <a:srcRect b="0" l="0" r="0" t="0"/>
          <a:stretch/>
        </p:blipFill>
        <p:spPr>
          <a:xfrm>
            <a:off x="1359650" y="1060109"/>
            <a:ext cx="9962125" cy="5438300"/>
          </a:xfrm>
          <a:prstGeom prst="rect">
            <a:avLst/>
          </a:prstGeom>
          <a:noFill/>
          <a:ln>
            <a:noFill/>
          </a:ln>
        </p:spPr>
      </p:pic>
      <p:sp>
        <p:nvSpPr>
          <p:cNvPr id="273" name="Google Shape;273;g3f5d9fbf853_0_178"/>
          <p:cNvSpPr/>
          <p:nvPr/>
        </p:nvSpPr>
        <p:spPr>
          <a:xfrm>
            <a:off x="5571793" y="3469580"/>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EAC0005</a:t>
            </a:r>
            <a:endParaRPr b="1" i="0" sz="1000" u="none" cap="none" strike="noStrike">
              <a:solidFill>
                <a:schemeClr val="lt1"/>
              </a:solidFill>
              <a:latin typeface="Arial"/>
              <a:ea typeface="Arial"/>
              <a:cs typeface="Arial"/>
              <a:sym typeface="Arial"/>
            </a:endParaRPr>
          </a:p>
        </p:txBody>
      </p:sp>
      <p:sp>
        <p:nvSpPr>
          <p:cNvPr id="274" name="Google Shape;274;g3f5d9fbf853_0_178"/>
          <p:cNvSpPr/>
          <p:nvPr/>
        </p:nvSpPr>
        <p:spPr>
          <a:xfrm>
            <a:off x="6402193" y="5664680"/>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EAC0015</a:t>
            </a:r>
            <a:endParaRPr b="1" i="0" sz="1000" u="none" cap="none" strike="noStrike">
              <a:solidFill>
                <a:schemeClr val="lt1"/>
              </a:solidFill>
              <a:latin typeface="Arial"/>
              <a:ea typeface="Arial"/>
              <a:cs typeface="Arial"/>
              <a:sym typeface="Arial"/>
            </a:endParaRPr>
          </a:p>
        </p:txBody>
      </p:sp>
      <p:sp>
        <p:nvSpPr>
          <p:cNvPr id="275" name="Google Shape;275;g3f5d9fbf853_0_178"/>
          <p:cNvSpPr/>
          <p:nvPr/>
        </p:nvSpPr>
        <p:spPr>
          <a:xfrm>
            <a:off x="10490818" y="6233045"/>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EAC0023</a:t>
            </a:r>
            <a:endParaRPr b="1" i="0" sz="1000" u="none" cap="none" strike="noStrike">
              <a:solidFill>
                <a:schemeClr val="lt1"/>
              </a:solidFill>
              <a:latin typeface="Arial"/>
              <a:ea typeface="Arial"/>
              <a:cs typeface="Arial"/>
              <a:sym typeface="Arial"/>
            </a:endParaRPr>
          </a:p>
        </p:txBody>
      </p:sp>
      <p:sp>
        <p:nvSpPr>
          <p:cNvPr id="276" name="Google Shape;276;g3f5d9fbf853_0_178"/>
          <p:cNvSpPr/>
          <p:nvPr/>
        </p:nvSpPr>
        <p:spPr>
          <a:xfrm>
            <a:off x="10264751" y="3756791"/>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EAC0011</a:t>
            </a:r>
            <a:endParaRPr b="1" i="0" sz="1000" u="none" cap="none" strike="noStrike">
              <a:solidFill>
                <a:schemeClr val="lt1"/>
              </a:solidFill>
              <a:latin typeface="Arial"/>
              <a:ea typeface="Arial"/>
              <a:cs typeface="Arial"/>
              <a:sym typeface="Arial"/>
            </a:endParaRPr>
          </a:p>
        </p:txBody>
      </p:sp>
      <p:sp>
        <p:nvSpPr>
          <p:cNvPr id="277" name="Google Shape;277;g3f5d9fbf853_0_178"/>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Deception-Heavy Techniques</a:t>
            </a:r>
            <a:endParaRPr sz="3400">
              <a:solidFill>
                <a:srgbClr val="00004C"/>
              </a:solidFill>
            </a:endParaRPr>
          </a:p>
        </p:txBody>
      </p:sp>
      <p:sp>
        <p:nvSpPr>
          <p:cNvPr id="278"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282" name="Google Shape;282;g3f5d9fbf853_0_200"/>
          <p:cNvGrpSpPr/>
          <p:nvPr/>
        </p:nvGrpSpPr>
        <p:grpSpPr>
          <a:xfrm>
            <a:off x="1428325" y="4013238"/>
            <a:ext cx="10278051" cy="626060"/>
            <a:chOff x="1428325" y="1720475"/>
            <a:chExt cx="10278051" cy="626060"/>
          </a:xfrm>
        </p:grpSpPr>
        <p:pic>
          <p:nvPicPr>
            <p:cNvPr descr="image.png" id="283" name="Google Shape;283;g3f5d9fbf853_0_200"/>
            <p:cNvPicPr preferRelativeResize="0"/>
            <p:nvPr/>
          </p:nvPicPr>
          <p:blipFill rotWithShape="1">
            <a:blip r:embed="rId2">
              <a:alphaModFix/>
            </a:blip>
            <a:srcRect b="0" l="0" r="0" t="0"/>
            <a:stretch/>
          </p:blipFill>
          <p:spPr>
            <a:xfrm>
              <a:off x="1428325" y="1720475"/>
              <a:ext cx="10278051" cy="626060"/>
            </a:xfrm>
            <a:prstGeom prst="rect">
              <a:avLst/>
            </a:prstGeom>
            <a:noFill/>
            <a:ln>
              <a:noFill/>
            </a:ln>
          </p:spPr>
        </p:pic>
        <p:sp>
          <p:nvSpPr>
            <p:cNvPr id="284" name="Google Shape;284;g3f5d9fbf853_0_200"/>
            <p:cNvSpPr txBox="1"/>
            <p:nvPr/>
          </p:nvSpPr>
          <p:spPr>
            <a:xfrm>
              <a:off x="2571300" y="1917568"/>
              <a:ext cx="19194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8FAFC"/>
                  </a:solidFill>
                  <a:latin typeface="Inter"/>
                  <a:ea typeface="Inter"/>
                  <a:cs typeface="Inter"/>
                  <a:sym typeface="Inter"/>
                </a:rPr>
                <a:t>Isolation</a:t>
              </a:r>
              <a:endParaRPr b="0" i="0" sz="1400" u="none" cap="none" strike="noStrike">
                <a:solidFill>
                  <a:srgbClr val="000000"/>
                </a:solidFill>
                <a:latin typeface="Arial"/>
                <a:ea typeface="Arial"/>
                <a:cs typeface="Arial"/>
                <a:sym typeface="Arial"/>
              </a:endParaRPr>
            </a:p>
          </p:txBody>
        </p:sp>
        <p:sp>
          <p:nvSpPr>
            <p:cNvPr id="285" name="Google Shape;285;g3f5d9fbf853_0_200"/>
            <p:cNvSpPr txBox="1"/>
            <p:nvPr/>
          </p:nvSpPr>
          <p:spPr>
            <a:xfrm>
              <a:off x="4665300" y="1911771"/>
              <a:ext cx="6858000" cy="1617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CBD5E1"/>
                  </a:solidFill>
                  <a:latin typeface="Inter"/>
                  <a:ea typeface="Inter"/>
                  <a:cs typeface="Inter"/>
                  <a:sym typeface="Inter"/>
                </a:rPr>
                <a:t>Contain activity &amp; data so engagements do not spill over; detonation rooms, decoy subnets.</a:t>
              </a:r>
              <a:endParaRPr b="0" i="0" sz="1400" u="none" cap="none" strike="noStrike">
                <a:solidFill>
                  <a:srgbClr val="000000"/>
                </a:solidFill>
                <a:latin typeface="Arial"/>
                <a:ea typeface="Arial"/>
                <a:cs typeface="Arial"/>
                <a:sym typeface="Arial"/>
              </a:endParaRPr>
            </a:p>
          </p:txBody>
        </p:sp>
        <p:sp>
          <p:nvSpPr>
            <p:cNvPr id="286" name="Google Shape;286;g3f5d9fbf853_0_200"/>
            <p:cNvSpPr/>
            <p:nvPr/>
          </p:nvSpPr>
          <p:spPr>
            <a:xfrm>
              <a:off x="1608001" y="1934416"/>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EAC0020</a:t>
              </a:r>
              <a:endParaRPr b="1" i="0" sz="1000" u="none" cap="none" strike="noStrike">
                <a:solidFill>
                  <a:schemeClr val="lt1"/>
                </a:solidFill>
                <a:latin typeface="Arial"/>
                <a:ea typeface="Arial"/>
                <a:cs typeface="Arial"/>
                <a:sym typeface="Arial"/>
              </a:endParaRPr>
            </a:p>
          </p:txBody>
        </p:sp>
      </p:grpSp>
      <p:grpSp>
        <p:nvGrpSpPr>
          <p:cNvPr id="287" name="Google Shape;287;g3f5d9fbf853_0_200"/>
          <p:cNvGrpSpPr/>
          <p:nvPr/>
        </p:nvGrpSpPr>
        <p:grpSpPr>
          <a:xfrm>
            <a:off x="1428325" y="4788568"/>
            <a:ext cx="10278051" cy="626060"/>
            <a:chOff x="1428325" y="2485660"/>
            <a:chExt cx="10278051" cy="626060"/>
          </a:xfrm>
        </p:grpSpPr>
        <p:pic>
          <p:nvPicPr>
            <p:cNvPr descr="image.png" id="288" name="Google Shape;288;g3f5d9fbf853_0_200"/>
            <p:cNvPicPr preferRelativeResize="0"/>
            <p:nvPr/>
          </p:nvPicPr>
          <p:blipFill rotWithShape="1">
            <a:blip r:embed="rId3">
              <a:alphaModFix/>
            </a:blip>
            <a:srcRect b="0" l="0" r="0" t="0"/>
            <a:stretch/>
          </p:blipFill>
          <p:spPr>
            <a:xfrm>
              <a:off x="1428325" y="2485660"/>
              <a:ext cx="10278051" cy="626060"/>
            </a:xfrm>
            <a:prstGeom prst="rect">
              <a:avLst/>
            </a:prstGeom>
            <a:noFill/>
            <a:ln>
              <a:noFill/>
            </a:ln>
          </p:spPr>
        </p:pic>
        <p:sp>
          <p:nvSpPr>
            <p:cNvPr id="289" name="Google Shape;289;g3f5d9fbf853_0_200"/>
            <p:cNvSpPr txBox="1"/>
            <p:nvPr/>
          </p:nvSpPr>
          <p:spPr>
            <a:xfrm>
              <a:off x="2571300" y="2682753"/>
              <a:ext cx="19194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8FAFC"/>
                  </a:solidFill>
                  <a:latin typeface="Inter"/>
                  <a:ea typeface="Inter"/>
                  <a:cs typeface="Inter"/>
                  <a:sym typeface="Inter"/>
                </a:rPr>
                <a:t>Attack Vector Migration</a:t>
              </a:r>
              <a:endParaRPr b="0" i="0" sz="1400" u="none" cap="none" strike="noStrike">
                <a:solidFill>
                  <a:srgbClr val="000000"/>
                </a:solidFill>
                <a:latin typeface="Arial"/>
                <a:ea typeface="Arial"/>
                <a:cs typeface="Arial"/>
                <a:sym typeface="Arial"/>
              </a:endParaRPr>
            </a:p>
          </p:txBody>
        </p:sp>
        <p:sp>
          <p:nvSpPr>
            <p:cNvPr id="290" name="Google Shape;290;g3f5d9fbf853_0_200"/>
            <p:cNvSpPr txBox="1"/>
            <p:nvPr/>
          </p:nvSpPr>
          <p:spPr>
            <a:xfrm>
              <a:off x="4665300" y="2676956"/>
              <a:ext cx="6858000" cy="4041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CBD5E1"/>
                  </a:solidFill>
                  <a:latin typeface="Inter"/>
                  <a:ea typeface="Inter"/>
                  <a:cs typeface="Inter"/>
                  <a:sym typeface="Inter"/>
                </a:rPr>
                <a:t>Intercept malicious elements and physically move them to a safe environment (e.g., phishing payload into decoy inbox).</a:t>
              </a:r>
              <a:endParaRPr b="0" i="0" sz="1400" u="none" cap="none" strike="noStrike">
                <a:solidFill>
                  <a:srgbClr val="000000"/>
                </a:solidFill>
                <a:latin typeface="Arial"/>
                <a:ea typeface="Arial"/>
                <a:cs typeface="Arial"/>
                <a:sym typeface="Arial"/>
              </a:endParaRPr>
            </a:p>
          </p:txBody>
        </p:sp>
        <p:sp>
          <p:nvSpPr>
            <p:cNvPr id="291" name="Google Shape;291;g3f5d9fbf853_0_200"/>
            <p:cNvSpPr/>
            <p:nvPr/>
          </p:nvSpPr>
          <p:spPr>
            <a:xfrm>
              <a:off x="1608001" y="2679579"/>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EAC0021</a:t>
              </a:r>
              <a:endParaRPr b="1" i="0" sz="1000" u="none" cap="none" strike="noStrike">
                <a:solidFill>
                  <a:schemeClr val="lt1"/>
                </a:solidFill>
                <a:latin typeface="Arial"/>
                <a:ea typeface="Arial"/>
                <a:cs typeface="Arial"/>
                <a:sym typeface="Arial"/>
              </a:endParaRPr>
            </a:p>
          </p:txBody>
        </p:sp>
      </p:grpSp>
      <p:grpSp>
        <p:nvGrpSpPr>
          <p:cNvPr id="292" name="Google Shape;292;g3f5d9fbf853_0_200"/>
          <p:cNvGrpSpPr/>
          <p:nvPr/>
        </p:nvGrpSpPr>
        <p:grpSpPr>
          <a:xfrm>
            <a:off x="1428325" y="2491488"/>
            <a:ext cx="10278051" cy="626060"/>
            <a:chOff x="1428325" y="3250845"/>
            <a:chExt cx="10278051" cy="626060"/>
          </a:xfrm>
        </p:grpSpPr>
        <p:pic>
          <p:nvPicPr>
            <p:cNvPr descr="image.png" id="293" name="Google Shape;293;g3f5d9fbf853_0_200"/>
            <p:cNvPicPr preferRelativeResize="0"/>
            <p:nvPr/>
          </p:nvPicPr>
          <p:blipFill rotWithShape="1">
            <a:blip r:embed="rId4">
              <a:alphaModFix/>
            </a:blip>
            <a:srcRect b="0" l="0" r="0" t="0"/>
            <a:stretch/>
          </p:blipFill>
          <p:spPr>
            <a:xfrm>
              <a:off x="1428325" y="3250845"/>
              <a:ext cx="10278051" cy="626060"/>
            </a:xfrm>
            <a:prstGeom prst="rect">
              <a:avLst/>
            </a:prstGeom>
            <a:noFill/>
            <a:ln>
              <a:noFill/>
            </a:ln>
          </p:spPr>
        </p:pic>
        <p:sp>
          <p:nvSpPr>
            <p:cNvPr id="294" name="Google Shape;294;g3f5d9fbf853_0_200"/>
            <p:cNvSpPr txBox="1"/>
            <p:nvPr/>
          </p:nvSpPr>
          <p:spPr>
            <a:xfrm>
              <a:off x="2571300" y="3447938"/>
              <a:ext cx="19194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8FAFC"/>
                  </a:solidFill>
                  <a:latin typeface="Inter"/>
                  <a:ea typeface="Inter"/>
                  <a:cs typeface="Inter"/>
                  <a:sym typeface="Inter"/>
                </a:rPr>
                <a:t>Network Manipulation</a:t>
              </a:r>
              <a:endParaRPr b="0" i="0" sz="1400" u="none" cap="none" strike="noStrike">
                <a:solidFill>
                  <a:srgbClr val="000000"/>
                </a:solidFill>
                <a:latin typeface="Arial"/>
                <a:ea typeface="Arial"/>
                <a:cs typeface="Arial"/>
                <a:sym typeface="Arial"/>
              </a:endParaRPr>
            </a:p>
          </p:txBody>
        </p:sp>
        <p:sp>
          <p:nvSpPr>
            <p:cNvPr id="295" name="Google Shape;295;g3f5d9fbf853_0_200"/>
            <p:cNvSpPr txBox="1"/>
            <p:nvPr/>
          </p:nvSpPr>
          <p:spPr>
            <a:xfrm>
              <a:off x="4665300" y="3442140"/>
              <a:ext cx="6858000" cy="1617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CBD5E1"/>
                  </a:solidFill>
                  <a:latin typeface="Inter"/>
                  <a:ea typeface="Inter"/>
                  <a:cs typeface="Inter"/>
                  <a:sym typeface="Inter"/>
                </a:rPr>
                <a:t>Throttle bandwidth, segment traffic, implement kill-switches, or apply selective allow/deny rules.</a:t>
              </a:r>
              <a:endParaRPr b="0" i="0" sz="1400" u="none" cap="none" strike="noStrike">
                <a:solidFill>
                  <a:srgbClr val="000000"/>
                </a:solidFill>
                <a:latin typeface="Arial"/>
                <a:ea typeface="Arial"/>
                <a:cs typeface="Arial"/>
                <a:sym typeface="Arial"/>
              </a:endParaRPr>
            </a:p>
          </p:txBody>
        </p:sp>
        <p:sp>
          <p:nvSpPr>
            <p:cNvPr id="296" name="Google Shape;296;g3f5d9fbf853_0_200"/>
            <p:cNvSpPr/>
            <p:nvPr/>
          </p:nvSpPr>
          <p:spPr>
            <a:xfrm>
              <a:off x="1608001" y="3444766"/>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EAC0016</a:t>
              </a:r>
              <a:endParaRPr b="1" i="0" sz="1000" u="none" cap="none" strike="noStrike">
                <a:solidFill>
                  <a:schemeClr val="lt1"/>
                </a:solidFill>
                <a:latin typeface="Arial"/>
                <a:ea typeface="Arial"/>
                <a:cs typeface="Arial"/>
                <a:sym typeface="Arial"/>
              </a:endParaRPr>
            </a:p>
          </p:txBody>
        </p:sp>
      </p:grpSp>
      <p:grpSp>
        <p:nvGrpSpPr>
          <p:cNvPr id="297" name="Google Shape;297;g3f5d9fbf853_0_200"/>
          <p:cNvGrpSpPr/>
          <p:nvPr/>
        </p:nvGrpSpPr>
        <p:grpSpPr>
          <a:xfrm>
            <a:off x="1428325" y="1734927"/>
            <a:ext cx="10278051" cy="626060"/>
            <a:chOff x="1428325" y="4016030"/>
            <a:chExt cx="10278051" cy="626060"/>
          </a:xfrm>
        </p:grpSpPr>
        <p:pic>
          <p:nvPicPr>
            <p:cNvPr descr="image.png" id="298" name="Google Shape;298;g3f5d9fbf853_0_200"/>
            <p:cNvPicPr preferRelativeResize="0"/>
            <p:nvPr/>
          </p:nvPicPr>
          <p:blipFill rotWithShape="1">
            <a:blip r:embed="rId4">
              <a:alphaModFix/>
            </a:blip>
            <a:srcRect b="0" l="0" r="0" t="0"/>
            <a:stretch/>
          </p:blipFill>
          <p:spPr>
            <a:xfrm>
              <a:off x="1428325" y="4016030"/>
              <a:ext cx="10278051" cy="626060"/>
            </a:xfrm>
            <a:prstGeom prst="rect">
              <a:avLst/>
            </a:prstGeom>
            <a:noFill/>
            <a:ln>
              <a:noFill/>
            </a:ln>
          </p:spPr>
        </p:pic>
        <p:sp>
          <p:nvSpPr>
            <p:cNvPr id="299" name="Google Shape;299;g3f5d9fbf853_0_200"/>
            <p:cNvSpPr txBox="1"/>
            <p:nvPr/>
          </p:nvSpPr>
          <p:spPr>
            <a:xfrm>
              <a:off x="2571300" y="4213123"/>
              <a:ext cx="19194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8FAFC"/>
                  </a:solidFill>
                  <a:latin typeface="Inter"/>
                  <a:ea typeface="Inter"/>
                  <a:cs typeface="Inter"/>
                  <a:sym typeface="Inter"/>
                </a:rPr>
                <a:t>Software Manipulation</a:t>
              </a:r>
              <a:endParaRPr b="0" i="0" sz="1400" u="none" cap="none" strike="noStrike">
                <a:solidFill>
                  <a:srgbClr val="000000"/>
                </a:solidFill>
                <a:latin typeface="Arial"/>
                <a:ea typeface="Arial"/>
                <a:cs typeface="Arial"/>
                <a:sym typeface="Arial"/>
              </a:endParaRPr>
            </a:p>
          </p:txBody>
        </p:sp>
        <p:sp>
          <p:nvSpPr>
            <p:cNvPr id="300" name="Google Shape;300;g3f5d9fbf853_0_200"/>
            <p:cNvSpPr txBox="1"/>
            <p:nvPr/>
          </p:nvSpPr>
          <p:spPr>
            <a:xfrm>
              <a:off x="4665300" y="4207325"/>
              <a:ext cx="6858000" cy="1617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CBD5E1"/>
                  </a:solidFill>
                  <a:latin typeface="Inter"/>
                  <a:ea typeface="Inter"/>
                  <a:cs typeface="Inter"/>
                  <a:sym typeface="Inter"/>
                </a:rPr>
                <a:t>Alter OS/filesystem output to degrade, mislead, or induce failure in adversary workflows.</a:t>
              </a:r>
              <a:endParaRPr b="0" i="0" sz="1400" u="none" cap="none" strike="noStrike">
                <a:solidFill>
                  <a:srgbClr val="000000"/>
                </a:solidFill>
                <a:latin typeface="Arial"/>
                <a:ea typeface="Arial"/>
                <a:cs typeface="Arial"/>
                <a:sym typeface="Arial"/>
              </a:endParaRPr>
            </a:p>
          </p:txBody>
        </p:sp>
        <p:sp>
          <p:nvSpPr>
            <p:cNvPr id="301" name="Google Shape;301;g3f5d9fbf853_0_200"/>
            <p:cNvSpPr/>
            <p:nvPr/>
          </p:nvSpPr>
          <p:spPr>
            <a:xfrm>
              <a:off x="1608001" y="4209966"/>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EAC0014</a:t>
              </a:r>
              <a:endParaRPr b="1" i="0" sz="1000" u="none" cap="none" strike="noStrike">
                <a:solidFill>
                  <a:schemeClr val="lt1"/>
                </a:solidFill>
                <a:latin typeface="Arial"/>
                <a:ea typeface="Arial"/>
                <a:cs typeface="Arial"/>
                <a:sym typeface="Arial"/>
              </a:endParaRPr>
            </a:p>
          </p:txBody>
        </p:sp>
      </p:grpSp>
      <p:grpSp>
        <p:nvGrpSpPr>
          <p:cNvPr id="302" name="Google Shape;302;g3f5d9fbf853_0_200"/>
          <p:cNvGrpSpPr/>
          <p:nvPr/>
        </p:nvGrpSpPr>
        <p:grpSpPr>
          <a:xfrm>
            <a:off x="1428325" y="3249324"/>
            <a:ext cx="10278051" cy="626060"/>
            <a:chOff x="1428325" y="4781215"/>
            <a:chExt cx="10278051" cy="626060"/>
          </a:xfrm>
        </p:grpSpPr>
        <p:pic>
          <p:nvPicPr>
            <p:cNvPr descr="image.png" id="303" name="Google Shape;303;g3f5d9fbf853_0_200"/>
            <p:cNvPicPr preferRelativeResize="0"/>
            <p:nvPr/>
          </p:nvPicPr>
          <p:blipFill rotWithShape="1">
            <a:blip r:embed="rId4">
              <a:alphaModFix/>
            </a:blip>
            <a:srcRect b="0" l="0" r="0" t="0"/>
            <a:stretch/>
          </p:blipFill>
          <p:spPr>
            <a:xfrm>
              <a:off x="1428325" y="4781215"/>
              <a:ext cx="10278051" cy="626060"/>
            </a:xfrm>
            <a:prstGeom prst="rect">
              <a:avLst/>
            </a:prstGeom>
            <a:noFill/>
            <a:ln>
              <a:noFill/>
            </a:ln>
          </p:spPr>
        </p:pic>
        <p:sp>
          <p:nvSpPr>
            <p:cNvPr id="304" name="Google Shape;304;g3f5d9fbf853_0_200"/>
            <p:cNvSpPr txBox="1"/>
            <p:nvPr/>
          </p:nvSpPr>
          <p:spPr>
            <a:xfrm>
              <a:off x="2571300" y="4978308"/>
              <a:ext cx="1919400" cy="184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F8FAFC"/>
                  </a:solidFill>
                  <a:latin typeface="Inter"/>
                  <a:ea typeface="Inter"/>
                  <a:cs typeface="Inter"/>
                  <a:sym typeface="Inter"/>
                </a:rPr>
                <a:t>Security Controls</a:t>
              </a:r>
              <a:endParaRPr b="0" i="0" sz="1400" u="none" cap="none" strike="noStrike">
                <a:solidFill>
                  <a:srgbClr val="000000"/>
                </a:solidFill>
                <a:latin typeface="Arial"/>
                <a:ea typeface="Arial"/>
                <a:cs typeface="Arial"/>
                <a:sym typeface="Arial"/>
              </a:endParaRPr>
            </a:p>
          </p:txBody>
        </p:sp>
        <p:sp>
          <p:nvSpPr>
            <p:cNvPr id="305" name="Google Shape;305;g3f5d9fbf853_0_200"/>
            <p:cNvSpPr txBox="1"/>
            <p:nvPr/>
          </p:nvSpPr>
          <p:spPr>
            <a:xfrm>
              <a:off x="4665300" y="4972510"/>
              <a:ext cx="6858000" cy="1617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CBD5E1"/>
                  </a:solidFill>
                  <a:latin typeface="Inter"/>
                  <a:ea typeface="Inter"/>
                  <a:cs typeface="Inter"/>
                  <a:sym typeface="Inter"/>
                </a:rPr>
                <a:t>Tighten or loosen settings — </a:t>
              </a:r>
              <a:r>
                <a:rPr b="0" i="1" lang="en-US" sz="1050" u="none" cap="none" strike="noStrike">
                  <a:solidFill>
                    <a:srgbClr val="CBD5E1"/>
                  </a:solidFill>
                  <a:latin typeface="Inter"/>
                  <a:ea typeface="Inter"/>
                  <a:cs typeface="Inter"/>
                  <a:sym typeface="Inter"/>
                </a:rPr>
                <a:t>Nuance:</a:t>
              </a:r>
              <a:r>
                <a:rPr b="0" i="0" lang="en-US" sz="1050" u="none" cap="none" strike="noStrike">
                  <a:solidFill>
                    <a:srgbClr val="CBD5E1"/>
                  </a:solidFill>
                  <a:latin typeface="Inter"/>
                  <a:ea typeface="Inter"/>
                  <a:cs typeface="Inter"/>
                  <a:sym typeface="Inter"/>
                </a:rPr>
                <a:t> completely disabling controls tips off advanced threat actors.</a:t>
              </a:r>
              <a:endParaRPr b="0" i="0" sz="1400" u="none" cap="none" strike="noStrike">
                <a:solidFill>
                  <a:srgbClr val="000000"/>
                </a:solidFill>
                <a:latin typeface="Arial"/>
                <a:ea typeface="Arial"/>
                <a:cs typeface="Arial"/>
                <a:sym typeface="Arial"/>
              </a:endParaRPr>
            </a:p>
          </p:txBody>
        </p:sp>
        <p:sp>
          <p:nvSpPr>
            <p:cNvPr id="306" name="Google Shape;306;g3f5d9fbf853_0_200"/>
            <p:cNvSpPr/>
            <p:nvPr/>
          </p:nvSpPr>
          <p:spPr>
            <a:xfrm>
              <a:off x="1608001" y="4975141"/>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EAC0018</a:t>
              </a:r>
              <a:endParaRPr b="1" i="0" sz="1000" u="none" cap="none" strike="noStrike">
                <a:solidFill>
                  <a:schemeClr val="lt1"/>
                </a:solidFill>
                <a:latin typeface="Arial"/>
                <a:ea typeface="Arial"/>
                <a:cs typeface="Arial"/>
                <a:sym typeface="Arial"/>
              </a:endParaRPr>
            </a:p>
          </p:txBody>
        </p:sp>
      </p:grpSp>
      <p:sp>
        <p:nvSpPr>
          <p:cNvPr id="307" name="Google Shape;307;g3f5d9fbf853_0_200"/>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Environment-Shaping Techniques</a:t>
            </a:r>
            <a:endParaRPr sz="3400">
              <a:solidFill>
                <a:srgbClr val="00004C"/>
              </a:solidFill>
            </a:endParaRPr>
          </a:p>
        </p:txBody>
      </p:sp>
      <p:sp>
        <p:nvSpPr>
          <p:cNvPr id="308"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12" name="Google Shape;312;g3f5d9fbf853_0_226"/>
          <p:cNvPicPr preferRelativeResize="0"/>
          <p:nvPr/>
        </p:nvPicPr>
        <p:blipFill rotWithShape="1">
          <a:blip r:embed="rId2">
            <a:alphaModFix/>
          </a:blip>
          <a:srcRect b="0" l="0" r="0" t="0"/>
          <a:stretch/>
        </p:blipFill>
        <p:spPr>
          <a:xfrm>
            <a:off x="1359650" y="1102225"/>
            <a:ext cx="9761951" cy="5329025"/>
          </a:xfrm>
          <a:prstGeom prst="rect">
            <a:avLst/>
          </a:prstGeom>
          <a:noFill/>
          <a:ln>
            <a:noFill/>
          </a:ln>
        </p:spPr>
      </p:pic>
      <p:sp>
        <p:nvSpPr>
          <p:cNvPr id="313" name="Google Shape;313;g3f5d9fbf853_0_226"/>
          <p:cNvSpPr/>
          <p:nvPr/>
        </p:nvSpPr>
        <p:spPr>
          <a:xfrm>
            <a:off x="5307301" y="1624663"/>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EAC0017</a:t>
            </a:r>
            <a:endParaRPr b="1" i="0" sz="1000" u="none" cap="none" strike="noStrike">
              <a:solidFill>
                <a:schemeClr val="lt1"/>
              </a:solidFill>
              <a:latin typeface="Arial"/>
              <a:ea typeface="Arial"/>
              <a:cs typeface="Arial"/>
              <a:sym typeface="Arial"/>
            </a:endParaRPr>
          </a:p>
        </p:txBody>
      </p:sp>
      <p:sp>
        <p:nvSpPr>
          <p:cNvPr id="314" name="Google Shape;314;g3f5d9fbf853_0_226"/>
          <p:cNvSpPr/>
          <p:nvPr/>
        </p:nvSpPr>
        <p:spPr>
          <a:xfrm>
            <a:off x="10332901" y="1624663"/>
            <a:ext cx="788700" cy="238200"/>
          </a:xfrm>
          <a:prstGeom prst="roundRect">
            <a:avLst>
              <a:gd fmla="val 16667" name="adj"/>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i="0" lang="en-US" sz="1000" u="none" cap="none" strike="noStrike">
                <a:solidFill>
                  <a:schemeClr val="lt1"/>
                </a:solidFill>
                <a:latin typeface="Arial"/>
                <a:ea typeface="Arial"/>
                <a:cs typeface="Arial"/>
                <a:sym typeface="Arial"/>
              </a:rPr>
              <a:t>EAC0010</a:t>
            </a:r>
            <a:endParaRPr b="1" i="0" sz="1000" u="none" cap="none" strike="noStrike">
              <a:solidFill>
                <a:schemeClr val="lt1"/>
              </a:solidFill>
              <a:latin typeface="Arial"/>
              <a:ea typeface="Arial"/>
              <a:cs typeface="Arial"/>
              <a:sym typeface="Arial"/>
            </a:endParaRPr>
          </a:p>
        </p:txBody>
      </p:sp>
      <p:sp>
        <p:nvSpPr>
          <p:cNvPr id="315" name="Google Shape;315;g3f5d9fbf853_0_226"/>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Hardware &amp; Peripheral Techniques</a:t>
            </a:r>
            <a:endParaRPr sz="3400">
              <a:solidFill>
                <a:srgbClr val="00004C"/>
              </a:solidFill>
            </a:endParaRPr>
          </a:p>
        </p:txBody>
      </p:sp>
      <p:sp>
        <p:nvSpPr>
          <p:cNvPr id="31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3068067" cy="5063243"/>
          </a:xfrm>
        </p:spPr>
        <p:txBody>
          <a:bodyPr wrap="square" anchor="t">
            <a:normAutofit/>
          </a:bodyPr>
          <a:lstStyle/>
          <a:p>
            <a:pPr/>
            <a:r>
              <a:rPr sz="1800"/>
              <a:t>https://engage.mitre.org/matrix/?</a:t>
            </a:r>
          </a:p>
        </p:txBody>
      </p:sp>
      <p:sp>
        <p:nvSpPr>
          <p:cNvPr id="3" name="Title 2"/>
          <p:cNvSpPr>
            <a:spLocks noGrp="1"/>
          </p:cNvSpPr>
          <p:nvPr>
            <p:ph type="title"/>
          </p:nvPr>
        </p:nvSpPr>
        <p:spPr/>
        <p:txBody>
          <a:bodyPr wrap="square">
            <a:normAutofit/>
          </a:bodyPr>
          <a:lstStyle/>
          <a:p>
            <a:pPr/>
            <a:r>
              <a:rPr sz="2700"/>
              <a:t>The ENGAGE Matrix</a:t>
            </a:r>
          </a:p>
        </p:txBody>
      </p:sp>
      <p:pic>
        <p:nvPicPr>
          <p:cNvPr id="4" name="Picture 3" descr="M23-s19-0-32a220cfdcef.png"/>
          <p:cNvPicPr>
            <a:picLocks noChangeAspect="1"/>
          </p:cNvPicPr>
          <p:nvPr/>
        </p:nvPicPr>
        <p:blipFill>
          <a:blip r:embed="rId3"/>
          <a:stretch>
            <a:fillRect/>
          </a:stretch>
        </p:blipFill>
        <p:spPr>
          <a:xfrm>
            <a:off x="4669536" y="2633541"/>
            <a:ext cx="7095744" cy="2014075"/>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Step 5: Providing Blue-Space Options to the Commander</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r>
              <a:rPr sz="2400"/>
              <a:t>Your commander wants options, not just analysis</a:t>
            </a:r>
          </a:p>
          <a:p>
            <a:pPr/>
            <a:r>
              <a:rPr sz="2400"/>
              <a:t>Each option states:</a:t>
            </a:r>
          </a:p>
          <a:p>
            <a:pPr lvl="1"/>
            <a:r>
              <a:rPr sz="2400"/>
              <a:t>The D3FEND Action and ENGAGE Action (</a:t>
            </a:r>
            <a:r>
              <a:rPr b="1" sz="2400"/>
              <a:t>paired set</a:t>
            </a:r>
            <a:r>
              <a:rPr sz="2400"/>
              <a:t>)</a:t>
            </a:r>
          </a:p>
          <a:p>
            <a:pPr lvl="1"/>
            <a:r>
              <a:rPr sz="2400"/>
              <a:t>The expected effect on the adversary's CoG / CV</a:t>
            </a:r>
          </a:p>
          <a:p>
            <a:pPr lvl="1"/>
            <a:r>
              <a:rPr sz="2400"/>
              <a:t>The risk (operational, legal, civil)</a:t>
            </a:r>
          </a:p>
          <a:p>
            <a:pPr lvl="1"/>
            <a:r>
              <a:rPr sz="2400"/>
              <a:t>The authority required</a:t>
            </a:r>
          </a:p>
          <a:p>
            <a:pPr/>
            <a:r>
              <a:rPr sz="2400"/>
              <a:t>If every option says "install more logging," you did not think hard enough</a:t>
            </a:r>
          </a:p>
        </p:txBody>
      </p:sp>
      <p:sp>
        <p:nvSpPr>
          <p:cNvPr id="3" name="Title 2"/>
          <p:cNvSpPr>
            <a:spLocks noGrp="1"/>
          </p:cNvSpPr>
          <p:nvPr>
            <p:ph type="title"/>
          </p:nvPr>
        </p:nvSpPr>
        <p:spPr/>
        <p:txBody>
          <a:bodyPr wrap="square">
            <a:normAutofit/>
          </a:bodyPr>
          <a:lstStyle/>
          <a:p>
            <a:pPr/>
            <a:r>
              <a:rPr sz="2700"/>
              <a:t>Providing Blue-Space Options to the Commander</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338" name="Google Shape;338;g3f5f97cdd91_0_0"/>
          <p:cNvGraphicFramePr/>
          <p:nvPr/>
        </p:nvGraphicFramePr>
        <p:xfrm>
          <a:off x="1257300" y="1775925"/>
          <a:ext cx="3000000" cy="3000000"/>
        </p:xfrm>
        <a:graphic>
          <a:graphicData uri="http://schemas.openxmlformats.org/drawingml/2006/table">
            <a:tbl>
              <a:tblPr>
                <a:noFill/>
                <a:tableStyleId>{DC057EB8-28B8-4860-8C7F-998FA157CC4B}</a:tableStyleId>
              </a:tblPr>
              <a:tblGrid>
                <a:gridCol w="2588675"/>
                <a:gridCol w="2588675"/>
                <a:gridCol w="2588675"/>
                <a:gridCol w="2588675"/>
              </a:tblGrid>
              <a:tr h="516800">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solidFill>
                            <a:schemeClr val="lt1"/>
                          </a:solidFill>
                        </a:rPr>
                        <a:t>Attack Technique</a:t>
                      </a:r>
                      <a:endParaRPr b="1" sz="1400" u="none" cap="none" strike="noStrike">
                        <a:solidFill>
                          <a:schemeClr val="lt1"/>
                        </a:solidFill>
                        <a:highlight>
                          <a:srgbClr val="0F172A"/>
                        </a:highlight>
                      </a:endParaRPr>
                    </a:p>
                  </a:txBody>
                  <a:tcPr marT="91425" marB="91425" marR="91425" marL="91425" anchor="ctr">
                    <a:lnB cap="flat" cmpd="sng" w="9525">
                      <a:solidFill>
                        <a:srgbClr val="9E9E9E"/>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solidFill>
                            <a:schemeClr val="lt1"/>
                          </a:solidFill>
                        </a:rPr>
                        <a:t>D3FEND Option (D3)</a:t>
                      </a:r>
                      <a:endParaRPr b="1" sz="1400" u="none" cap="none" strike="noStrike">
                        <a:solidFill>
                          <a:schemeClr val="lt1"/>
                        </a:solidFill>
                      </a:endParaRPr>
                    </a:p>
                  </a:txBody>
                  <a:tcPr marT="91425" marB="91425" marR="91425" marL="91425" anchor="ctr">
                    <a:lnB cap="flat" cmpd="sng" w="9525">
                      <a:solidFill>
                        <a:srgbClr val="9E9E9E"/>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solidFill>
                            <a:schemeClr val="lt1"/>
                          </a:solidFill>
                        </a:rPr>
                        <a:t>Engage Option (EAC)</a:t>
                      </a:r>
                      <a:endParaRPr b="1" sz="1400" u="none" cap="none" strike="noStrike">
                        <a:solidFill>
                          <a:schemeClr val="lt1"/>
                        </a:solidFill>
                      </a:endParaRPr>
                    </a:p>
                  </a:txBody>
                  <a:tcPr marT="91425" marB="91425" marR="91425" marL="91425" anchor="ctr">
                    <a:lnB cap="flat" cmpd="sng" w="9525">
                      <a:solidFill>
                        <a:srgbClr val="9E9E9E"/>
                      </a:solidFill>
                      <a:prstDash val="solid"/>
                      <a:round/>
                      <a:headEnd len="sm" w="sm" type="none"/>
                      <a:tailEnd len="sm" w="sm" type="none"/>
                    </a:lnB>
                    <a:solidFill>
                      <a:srgbClr val="0F172A"/>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lang="en-US" sz="1400" u="none" cap="none" strike="noStrike">
                          <a:solidFill>
                            <a:schemeClr val="lt1"/>
                          </a:solidFill>
                        </a:rPr>
                        <a:t>Required Analysis</a:t>
                      </a:r>
                      <a:endParaRPr b="1" sz="1400" u="none" cap="none" strike="noStrike">
                        <a:solidFill>
                          <a:schemeClr val="lt1"/>
                        </a:solidFill>
                      </a:endParaRPr>
                    </a:p>
                  </a:txBody>
                  <a:tcPr marT="91425" marB="91425" marR="91425" marL="91425" anchor="ctr">
                    <a:lnB cap="flat" cmpd="sng" w="9525">
                      <a:solidFill>
                        <a:srgbClr val="9E9E9E"/>
                      </a:solidFill>
                      <a:prstDash val="solid"/>
                      <a:round/>
                      <a:headEnd len="sm" w="sm" type="none"/>
                      <a:tailEnd len="sm" w="sm" type="none"/>
                    </a:lnB>
                    <a:solidFill>
                      <a:srgbClr val="0F172A"/>
                    </a:solidFill>
                  </a:tcPr>
                </a:tc>
              </a:tr>
              <a:tr h="733100">
                <a:tc>
                  <a:txBody>
                    <a:bodyPr/>
                    <a:lstStyle/>
                    <a:p>
                      <a:pPr indent="0" lvl="0" marL="0" marR="0" rtl="0" algn="l">
                        <a:lnSpc>
                          <a:spcPct val="100000"/>
                        </a:lnSpc>
                        <a:spcBef>
                          <a:spcPts val="0"/>
                        </a:spcBef>
                        <a:spcAft>
                          <a:spcPts val="0"/>
                        </a:spcAft>
                        <a:buClr>
                          <a:srgbClr val="000000"/>
                        </a:buClr>
                        <a:buSzPts val="1050"/>
                        <a:buFont typeface="Arial"/>
                        <a:buNone/>
                      </a:pPr>
                      <a:r>
                        <a:rPr b="1" lang="en-US" sz="1050" u="none" cap="none" strike="noStrike">
                          <a:solidFill>
                            <a:srgbClr val="CBD5E1"/>
                          </a:solidFill>
                          <a:latin typeface="Inter"/>
                          <a:ea typeface="Inter"/>
                          <a:cs typeface="Inter"/>
                          <a:sym typeface="Inter"/>
                        </a:rPr>
                        <a:t>T1078</a:t>
                      </a:r>
                      <a:r>
                        <a:rPr lang="en-US" sz="1050" u="none" cap="none" strike="noStrike">
                          <a:solidFill>
                            <a:srgbClr val="CBD5E1"/>
                          </a:solidFill>
                          <a:latin typeface="Inter"/>
                          <a:ea typeface="Inter"/>
                          <a:cs typeface="Inter"/>
                          <a:sym typeface="Inter"/>
                        </a:rPr>
                        <a:t> Valid Accounts</a:t>
                      </a:r>
                      <a:endParaRPr sz="14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50"/>
                        <a:buFont typeface="Arial"/>
                        <a:buNone/>
                      </a:pPr>
                      <a:r>
                        <a:t/>
                      </a:r>
                      <a:endParaRPr b="1" sz="1050" u="none" cap="none" strike="noStrike">
                        <a:solidFill>
                          <a:srgbClr val="CBD5E1"/>
                        </a:solidFill>
                      </a:endParaRPr>
                    </a:p>
                    <a:p>
                      <a:pPr indent="0" lvl="0" marL="0" marR="0" rtl="0" algn="l">
                        <a:lnSpc>
                          <a:spcPct val="100000"/>
                        </a:lnSpc>
                        <a:spcBef>
                          <a:spcPts val="0"/>
                        </a:spcBef>
                        <a:spcAft>
                          <a:spcPts val="0"/>
                        </a:spcAft>
                        <a:buClr>
                          <a:srgbClr val="000000"/>
                        </a:buClr>
                        <a:buSzPts val="1050"/>
                        <a:buFont typeface="Arial"/>
                        <a:buNone/>
                      </a:pPr>
                      <a:r>
                        <a:t/>
                      </a:r>
                      <a:endParaRPr b="1" sz="1050" u="none" cap="none" strike="noStrike">
                        <a:solidFill>
                          <a:srgbClr val="CBD5E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rgbClr val="1E293B"/>
                    </a:solidFill>
                  </a:tcPr>
                </a:tc>
                <a:tc>
                  <a:txBody>
                    <a:bodyPr/>
                    <a:lstStyle/>
                    <a:p>
                      <a:pPr indent="0" lvl="0" marL="0" marR="0" rtl="0" algn="l">
                        <a:lnSpc>
                          <a:spcPct val="100000"/>
                        </a:lnSpc>
                        <a:spcBef>
                          <a:spcPts val="0"/>
                        </a:spcBef>
                        <a:spcAft>
                          <a:spcPts val="0"/>
                        </a:spcAft>
                        <a:buClr>
                          <a:srgbClr val="000000"/>
                        </a:buClr>
                        <a:buSzPts val="1050"/>
                        <a:buFont typeface="Arial"/>
                        <a:buNone/>
                      </a:pPr>
                      <a:r>
                        <a:rPr lang="en-US" sz="1050" u="none" cap="none" strike="noStrike">
                          <a:solidFill>
                            <a:srgbClr val="CBD5E1"/>
                          </a:solidFill>
                        </a:rPr>
                        <a:t>D3-SCA Script Analysis</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050"/>
                        <a:buFont typeface="Arial"/>
                        <a:buNone/>
                      </a:pPr>
                      <a:r>
                        <a:t/>
                      </a:r>
                      <a:endParaRPr sz="1050" u="none" cap="none" strike="noStrike">
                        <a:solidFill>
                          <a:srgbClr val="CBD5E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rgbClr val="1E293B"/>
                    </a:solidFill>
                  </a:tcPr>
                </a:tc>
                <a:tc>
                  <a:txBody>
                    <a:bodyPr/>
                    <a:lstStyle/>
                    <a:p>
                      <a:pPr indent="0" lvl="0" marL="0" marR="0" rtl="0" algn="l">
                        <a:lnSpc>
                          <a:spcPct val="100000"/>
                        </a:lnSpc>
                        <a:spcBef>
                          <a:spcPts val="0"/>
                        </a:spcBef>
                        <a:spcAft>
                          <a:spcPts val="0"/>
                        </a:spcAft>
                        <a:buClr>
                          <a:srgbClr val="000000"/>
                        </a:buClr>
                        <a:buSzPts val="1050"/>
                        <a:buFont typeface="Arial"/>
                        <a:buNone/>
                      </a:pPr>
                      <a:r>
                        <a:rPr lang="en-US" sz="1050" u="none" cap="none" strike="noStrike">
                          <a:solidFill>
                            <a:srgbClr val="CBD5E1"/>
                          </a:solidFill>
                        </a:rPr>
                        <a:t>EAC0005 Lures (Honey Creds)</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050"/>
                        <a:buFont typeface="Arial"/>
                        <a:buNone/>
                      </a:pPr>
                      <a:r>
                        <a:t/>
                      </a:r>
                      <a:endParaRPr sz="1050" u="none" cap="none" strike="noStrike">
                        <a:solidFill>
                          <a:srgbClr val="CBD5E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rgbClr val="1E293B"/>
                    </a:solidFill>
                  </a:tcPr>
                </a:tc>
                <a:tc>
                  <a:txBody>
                    <a:bodyPr/>
                    <a:lstStyle/>
                    <a:p>
                      <a:pPr indent="0" lvl="0" marL="0" marR="0" rtl="0" algn="l">
                        <a:lnSpc>
                          <a:spcPct val="100000"/>
                        </a:lnSpc>
                        <a:spcBef>
                          <a:spcPts val="0"/>
                        </a:spcBef>
                        <a:spcAft>
                          <a:spcPts val="0"/>
                        </a:spcAft>
                        <a:buClr>
                          <a:srgbClr val="000000"/>
                        </a:buClr>
                        <a:buSzPts val="1050"/>
                        <a:buFont typeface="Arial"/>
                        <a:buNone/>
                      </a:pPr>
                      <a:r>
                        <a:rPr lang="en-US" sz="1050" u="none" cap="none" strike="noStrike">
                          <a:solidFill>
                            <a:srgbClr val="CBD5E1"/>
                          </a:solidFill>
                        </a:rPr>
                        <a:t>Goal: Expose</a:t>
                      </a:r>
                      <a:br>
                        <a:rPr lang="en-US" sz="1800" u="none" cap="none" strike="noStrike">
                          <a:solidFill>
                            <a:schemeClr val="dk1"/>
                          </a:solidFill>
                        </a:rPr>
                      </a:br>
                      <a:r>
                        <a:rPr lang="en-US" sz="1050" u="none" cap="none" strike="noStrike">
                          <a:solidFill>
                            <a:srgbClr val="CBD5E1"/>
                          </a:solidFill>
                        </a:rPr>
                        <a:t>Expected Effect: High-fidelity alert</a:t>
                      </a:r>
                      <a:br>
                        <a:rPr lang="en-US" sz="1800" u="none" cap="none" strike="noStrike">
                          <a:solidFill>
                            <a:schemeClr val="dk1"/>
                          </a:solidFill>
                        </a:rPr>
                      </a:br>
                      <a:r>
                        <a:rPr lang="en-US" sz="1050" u="none" cap="none" strike="noStrike">
                          <a:solidFill>
                            <a:srgbClr val="CBD5E1"/>
                          </a:solidFill>
                        </a:rPr>
                        <a:t>Risk: Very Low</a:t>
                      </a:r>
                      <a:endParaRPr sz="1050" u="none" cap="none" strike="noStrike">
                        <a:solidFill>
                          <a:srgbClr val="CBD5E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rgbClr val="1E293B"/>
                    </a:solidFill>
                  </a:tcPr>
                </a:tc>
              </a:tr>
              <a:tr h="733100">
                <a:tc>
                  <a:txBody>
                    <a:bodyPr/>
                    <a:lstStyle/>
                    <a:p>
                      <a:pPr indent="0" lvl="0" marL="0" marR="0" rtl="0" algn="l">
                        <a:lnSpc>
                          <a:spcPct val="100000"/>
                        </a:lnSpc>
                        <a:spcBef>
                          <a:spcPts val="0"/>
                        </a:spcBef>
                        <a:spcAft>
                          <a:spcPts val="0"/>
                        </a:spcAft>
                        <a:buClr>
                          <a:schemeClr val="dk1"/>
                        </a:buClr>
                        <a:buSzPts val="1050"/>
                        <a:buFont typeface="Arial"/>
                        <a:buNone/>
                      </a:pPr>
                      <a:r>
                        <a:rPr b="1" lang="en-US" sz="1050" u="none" cap="none" strike="noStrike">
                          <a:solidFill>
                            <a:srgbClr val="CBD5E1"/>
                          </a:solidFill>
                        </a:rPr>
                        <a:t>T1059</a:t>
                      </a:r>
                      <a:r>
                        <a:rPr lang="en-US" sz="1050" u="none" cap="none" strike="noStrike">
                          <a:solidFill>
                            <a:srgbClr val="CBD5E1"/>
                          </a:solidFill>
                        </a:rPr>
                        <a:t> Command &amp; Script Interpreter</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lnT cap="flat" cmpd="sng" w="9525">
                      <a:solidFill>
                        <a:srgbClr val="9E9E9E"/>
                      </a:solidFill>
                      <a:prstDash val="solid"/>
                      <a:round/>
                      <a:headEnd len="sm" w="sm" type="none"/>
                      <a:tailEnd len="sm" w="sm" type="none"/>
                    </a:lnT>
                    <a:solidFill>
                      <a:srgbClr val="1E293B"/>
                    </a:solidFill>
                  </a:tcPr>
                </a:tc>
                <a:tc>
                  <a:txBody>
                    <a:bodyPr/>
                    <a:lstStyle/>
                    <a:p>
                      <a:pPr indent="0" lvl="0" marL="0" marR="0" rtl="0" algn="l">
                        <a:lnSpc>
                          <a:spcPct val="100000"/>
                        </a:lnSpc>
                        <a:spcBef>
                          <a:spcPts val="0"/>
                        </a:spcBef>
                        <a:spcAft>
                          <a:spcPts val="0"/>
                        </a:spcAft>
                        <a:buClr>
                          <a:schemeClr val="dk1"/>
                        </a:buClr>
                        <a:buSzPts val="1050"/>
                        <a:buFont typeface="Arial"/>
                        <a:buNone/>
                      </a:pPr>
                      <a:r>
                        <a:rPr lang="en-US" sz="1050" u="none" cap="none" strike="noStrike">
                          <a:solidFill>
                            <a:srgbClr val="CBD5E1"/>
                          </a:solidFill>
                        </a:rPr>
                        <a:t>D3-SCA Script Analysis</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lnT cap="flat" cmpd="sng" w="9525">
                      <a:solidFill>
                        <a:srgbClr val="9E9E9E"/>
                      </a:solidFill>
                      <a:prstDash val="solid"/>
                      <a:round/>
                      <a:headEnd len="sm" w="sm" type="none"/>
                      <a:tailEnd len="sm" w="sm" type="none"/>
                    </a:lnT>
                    <a:solidFill>
                      <a:srgbClr val="1E293B"/>
                    </a:solidFill>
                  </a:tcPr>
                </a:tc>
                <a:tc>
                  <a:txBody>
                    <a:bodyPr/>
                    <a:lstStyle/>
                    <a:p>
                      <a:pPr indent="0" lvl="0" marL="0" marR="0" rtl="0" algn="l">
                        <a:lnSpc>
                          <a:spcPct val="100000"/>
                        </a:lnSpc>
                        <a:spcBef>
                          <a:spcPts val="0"/>
                        </a:spcBef>
                        <a:spcAft>
                          <a:spcPts val="0"/>
                        </a:spcAft>
                        <a:buClr>
                          <a:schemeClr val="dk1"/>
                        </a:buClr>
                        <a:buSzPts val="1050"/>
                        <a:buFont typeface="Arial"/>
                        <a:buNone/>
                      </a:pPr>
                      <a:r>
                        <a:rPr lang="en-US" sz="1050" u="none" cap="none" strike="noStrike">
                          <a:solidFill>
                            <a:srgbClr val="CBD5E1"/>
                          </a:solidFill>
                        </a:rPr>
                        <a:t>EAC0014 Software Manipulation</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lnT cap="flat" cmpd="sng" w="9525">
                      <a:solidFill>
                        <a:srgbClr val="9E9E9E"/>
                      </a:solidFill>
                      <a:prstDash val="solid"/>
                      <a:round/>
                      <a:headEnd len="sm" w="sm" type="none"/>
                      <a:tailEnd len="sm" w="sm" type="none"/>
                    </a:lnT>
                    <a:solidFill>
                      <a:srgbClr val="1E293B"/>
                    </a:solidFill>
                  </a:tcPr>
                </a:tc>
                <a:tc>
                  <a:txBody>
                    <a:bodyPr/>
                    <a:lstStyle/>
                    <a:p>
                      <a:pPr indent="0" lvl="0" marL="0" marR="0" rtl="0" algn="l">
                        <a:lnSpc>
                          <a:spcPct val="100000"/>
                        </a:lnSpc>
                        <a:spcBef>
                          <a:spcPts val="0"/>
                        </a:spcBef>
                        <a:spcAft>
                          <a:spcPts val="0"/>
                        </a:spcAft>
                        <a:buClr>
                          <a:srgbClr val="000000"/>
                        </a:buClr>
                        <a:buSzPts val="1050"/>
                        <a:buFont typeface="Arial"/>
                        <a:buNone/>
                      </a:pPr>
                      <a:r>
                        <a:rPr lang="en-US" sz="1050" u="none" cap="none" strike="noStrike">
                          <a:solidFill>
                            <a:srgbClr val="CBD5E1"/>
                          </a:solidFill>
                        </a:rPr>
                        <a:t>Goal: Affect</a:t>
                      </a:r>
                      <a:endParaRPr sz="1800" u="none" cap="none" strike="noStrike">
                        <a:solidFill>
                          <a:schemeClr val="dk1"/>
                        </a:solidFill>
                      </a:endParaRPr>
                    </a:p>
                    <a:p>
                      <a:pPr indent="0" lvl="0" marL="0" marR="0" rtl="0" algn="l">
                        <a:lnSpc>
                          <a:spcPct val="100000"/>
                        </a:lnSpc>
                        <a:spcBef>
                          <a:spcPts val="0"/>
                        </a:spcBef>
                        <a:spcAft>
                          <a:spcPts val="0"/>
                        </a:spcAft>
                        <a:buClr>
                          <a:schemeClr val="dk1"/>
                        </a:buClr>
                        <a:buSzPts val="1050"/>
                        <a:buFont typeface="Arial"/>
                        <a:buNone/>
                      </a:pPr>
                      <a:r>
                        <a:rPr lang="en-US" sz="1050" u="none" cap="none" strike="noStrike">
                          <a:solidFill>
                            <a:srgbClr val="CBD5E1"/>
                          </a:solidFill>
                        </a:rPr>
                        <a:t>Expected Effect: Degrade workflow</a:t>
                      </a:r>
                      <a:br>
                        <a:rPr lang="en-US" sz="1800" u="none" cap="none" strike="noStrike">
                          <a:solidFill>
                            <a:schemeClr val="dk1"/>
                          </a:solidFill>
                        </a:rPr>
                      </a:br>
                      <a:r>
                        <a:rPr lang="en-US" sz="1050" u="none" cap="none" strike="noStrike">
                          <a:solidFill>
                            <a:srgbClr val="CBD5E1"/>
                          </a:solidFill>
                        </a:rPr>
                        <a:t>Risk: Low</a:t>
                      </a:r>
                      <a:endParaRPr sz="1400" u="none" cap="none" strike="noStrike"/>
                    </a:p>
                  </a:txBody>
                  <a:tcPr marT="91425" marB="91425" marR="91425" marL="91425">
                    <a:lnT cap="flat" cmpd="sng" w="9525">
                      <a:solidFill>
                        <a:srgbClr val="9E9E9E"/>
                      </a:solidFill>
                      <a:prstDash val="solid"/>
                      <a:round/>
                      <a:headEnd len="sm" w="sm" type="none"/>
                      <a:tailEnd len="sm" w="sm" type="none"/>
                    </a:lnT>
                    <a:solidFill>
                      <a:srgbClr val="1E293B"/>
                    </a:solidFill>
                  </a:tcPr>
                </a:tc>
              </a:tr>
              <a:tr h="733100">
                <a:tc>
                  <a:txBody>
                    <a:bodyPr/>
                    <a:lstStyle/>
                    <a:p>
                      <a:pPr indent="0" lvl="0" marL="0" marR="0" rtl="0" algn="l">
                        <a:lnSpc>
                          <a:spcPct val="100000"/>
                        </a:lnSpc>
                        <a:spcBef>
                          <a:spcPts val="0"/>
                        </a:spcBef>
                        <a:spcAft>
                          <a:spcPts val="0"/>
                        </a:spcAft>
                        <a:buClr>
                          <a:schemeClr val="dk1"/>
                        </a:buClr>
                        <a:buSzPts val="1050"/>
                        <a:buFont typeface="Arial"/>
                        <a:buNone/>
                      </a:pPr>
                      <a:r>
                        <a:rPr b="1" lang="en-US" sz="1050" u="none" cap="none" strike="noStrike">
                          <a:solidFill>
                            <a:srgbClr val="CBD5E1"/>
                          </a:solidFill>
                        </a:rPr>
                        <a:t>T1021</a:t>
                      </a:r>
                      <a:r>
                        <a:rPr lang="en-US" sz="1050" u="none" cap="none" strike="noStrike">
                          <a:solidFill>
                            <a:srgbClr val="CBD5E1"/>
                          </a:solidFill>
                        </a:rPr>
                        <a:t> Remote Services</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rgbClr val="1E293B"/>
                    </a:solidFill>
                  </a:tcPr>
                </a:tc>
                <a:tc>
                  <a:txBody>
                    <a:bodyPr/>
                    <a:lstStyle/>
                    <a:p>
                      <a:pPr indent="0" lvl="0" marL="0" marR="0" rtl="0" algn="l">
                        <a:lnSpc>
                          <a:spcPct val="100000"/>
                        </a:lnSpc>
                        <a:spcBef>
                          <a:spcPts val="0"/>
                        </a:spcBef>
                        <a:spcAft>
                          <a:spcPts val="0"/>
                        </a:spcAft>
                        <a:buClr>
                          <a:schemeClr val="dk1"/>
                        </a:buClr>
                        <a:buSzPts val="1050"/>
                        <a:buFont typeface="Arial"/>
                        <a:buNone/>
                      </a:pPr>
                      <a:r>
                        <a:rPr lang="en-US" sz="1050" u="none" cap="none" strike="noStrike">
                          <a:solidFill>
                            <a:srgbClr val="CBD5E1"/>
                          </a:solidFill>
                        </a:rPr>
                        <a:t>D3-NI Network Isolation</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rgbClr val="1E293B"/>
                    </a:solidFill>
                  </a:tcPr>
                </a:tc>
                <a:tc>
                  <a:txBody>
                    <a:bodyPr/>
                    <a:lstStyle/>
                    <a:p>
                      <a:pPr indent="0" lvl="0" marL="0" marR="0" rtl="0" algn="l">
                        <a:lnSpc>
                          <a:spcPct val="100000"/>
                        </a:lnSpc>
                        <a:spcBef>
                          <a:spcPts val="0"/>
                        </a:spcBef>
                        <a:spcAft>
                          <a:spcPts val="0"/>
                        </a:spcAft>
                        <a:buClr>
                          <a:schemeClr val="dk1"/>
                        </a:buClr>
                        <a:buSzPts val="1050"/>
                        <a:buFont typeface="Arial"/>
                        <a:buNone/>
                      </a:pPr>
                      <a:r>
                        <a:rPr lang="en-US" sz="1050" u="none" cap="none" strike="noStrike">
                          <a:solidFill>
                            <a:srgbClr val="CBD5E1"/>
                          </a:solidFill>
                        </a:rPr>
                        <a:t>EAC0020 Isolation (Decoy Subnet)</a:t>
                      </a:r>
                      <a:endParaRPr sz="1400" u="none" cap="none" strike="noStrike">
                        <a:solidFill>
                          <a:schemeClr val="dk1"/>
                        </a:solidFill>
                      </a:endParaRPr>
                    </a:p>
                    <a:p>
                      <a:pPr indent="0" lvl="0" marL="0" marR="0" rtl="0" algn="l">
                        <a:lnSpc>
                          <a:spcPct val="100000"/>
                        </a:lnSpc>
                        <a:spcBef>
                          <a:spcPts val="0"/>
                        </a:spcBef>
                        <a:spcAft>
                          <a:spcPts val="0"/>
                        </a:spcAft>
                        <a:buClr>
                          <a:srgbClr val="000000"/>
                        </a:buClr>
                        <a:buSzPts val="1400"/>
                        <a:buFont typeface="Arial"/>
                        <a:buNone/>
                      </a:pPr>
                      <a:r>
                        <a:t/>
                      </a:r>
                      <a:endParaRPr sz="1400" u="none" cap="none" strike="noStrike"/>
                    </a:p>
                  </a:txBody>
                  <a:tcPr marT="91425" marB="91425" marR="91425" marL="91425">
                    <a:solidFill>
                      <a:srgbClr val="1E293B"/>
                    </a:solidFill>
                  </a:tcPr>
                </a:tc>
                <a:tc>
                  <a:txBody>
                    <a:bodyPr/>
                    <a:lstStyle/>
                    <a:p>
                      <a:pPr indent="0" lvl="0" marL="0" marR="0" rtl="0" algn="l">
                        <a:lnSpc>
                          <a:spcPct val="100000"/>
                        </a:lnSpc>
                        <a:spcBef>
                          <a:spcPts val="0"/>
                        </a:spcBef>
                        <a:spcAft>
                          <a:spcPts val="0"/>
                        </a:spcAft>
                        <a:buClr>
                          <a:schemeClr val="dk1"/>
                        </a:buClr>
                        <a:buSzPts val="1050"/>
                        <a:buFont typeface="Arial"/>
                        <a:buNone/>
                      </a:pPr>
                      <a:r>
                        <a:rPr lang="en-US" sz="1050" u="none" cap="none" strike="noStrike">
                          <a:solidFill>
                            <a:srgbClr val="CBD5E1"/>
                          </a:solidFill>
                        </a:rPr>
                        <a:t>Goal: Elicit</a:t>
                      </a:r>
                      <a:br>
                        <a:rPr lang="en-US" sz="1800" u="none" cap="none" strike="noStrike">
                          <a:solidFill>
                            <a:schemeClr val="dk1"/>
                          </a:solidFill>
                        </a:rPr>
                      </a:br>
                      <a:r>
                        <a:rPr lang="en-US" sz="1050" u="none" cap="none" strike="noStrike">
                          <a:solidFill>
                            <a:srgbClr val="CBD5E1"/>
                          </a:solidFill>
                        </a:rPr>
                        <a:t>Expected Effect: Capture TTPs</a:t>
                      </a:r>
                      <a:br>
                        <a:rPr lang="en-US" sz="1800" u="none" cap="none" strike="noStrike">
                          <a:solidFill>
                            <a:schemeClr val="dk1"/>
                          </a:solidFill>
                        </a:rPr>
                      </a:br>
                      <a:r>
                        <a:rPr lang="en-US" sz="1050" u="none" cap="none" strike="noStrike">
                          <a:solidFill>
                            <a:srgbClr val="CBD5E1"/>
                          </a:solidFill>
                        </a:rPr>
                        <a:t>Risk: Moderate (Spillover)</a:t>
                      </a:r>
                      <a:endParaRPr sz="1400" u="none" cap="none" strike="noStrike"/>
                    </a:p>
                  </a:txBody>
                  <a:tcPr marT="91425" marB="91425" marR="91425" marL="91425">
                    <a:solidFill>
                      <a:srgbClr val="1E293B"/>
                    </a:solidFill>
                  </a:tcPr>
                </a:tc>
              </a:tr>
            </a:tbl>
          </a:graphicData>
        </a:graphic>
      </p:graphicFrame>
      <p:pic>
        <p:nvPicPr>
          <p:cNvPr descr="image.png" id="339" name="Google Shape;339;g3f5f97cdd91_0_0"/>
          <p:cNvPicPr preferRelativeResize="0"/>
          <p:nvPr/>
        </p:nvPicPr>
        <p:blipFill rotWithShape="1">
          <a:blip r:embed="rId2">
            <a:alphaModFix/>
          </a:blip>
          <a:srcRect b="0" l="0" r="0" t="0"/>
          <a:stretch/>
        </p:blipFill>
        <p:spPr>
          <a:xfrm>
            <a:off x="1293025" y="5451843"/>
            <a:ext cx="10687051" cy="585156"/>
          </a:xfrm>
          <a:prstGeom prst="rect">
            <a:avLst/>
          </a:prstGeom>
          <a:noFill/>
          <a:ln>
            <a:noFill/>
          </a:ln>
        </p:spPr>
      </p:pic>
      <p:sp>
        <p:nvSpPr>
          <p:cNvPr id="340" name="Google Shape;340;g3f5f97cdd91_0_0"/>
          <p:cNvSpPr txBox="1"/>
          <p:nvPr/>
        </p:nvSpPr>
        <p:spPr>
          <a:xfrm>
            <a:off x="1510758" y="5596999"/>
            <a:ext cx="10287900" cy="1539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Clr>
                <a:srgbClr val="000000"/>
              </a:buClr>
              <a:buSzPts val="1100"/>
              <a:buFont typeface="Arial"/>
              <a:buNone/>
            </a:pPr>
            <a:r>
              <a:rPr b="1" i="0" lang="en-US" sz="1000" u="none" cap="none" strike="noStrike">
                <a:solidFill>
                  <a:srgbClr val="38BDF8"/>
                </a:solidFill>
                <a:latin typeface="Arial"/>
                <a:ea typeface="Arial"/>
                <a:cs typeface="Arial"/>
                <a:sym typeface="Arial"/>
              </a:rPr>
              <a:t>For each option state: Goal (Expose/Affect/Elicit), expected effect on CoG/CV, Risk</a:t>
            </a:r>
            <a:endParaRPr b="1" i="0" sz="1000" u="none" cap="none" strike="noStrike">
              <a:solidFill>
                <a:srgbClr val="38BDF8"/>
              </a:solidFill>
              <a:latin typeface="Arial"/>
              <a:ea typeface="Arial"/>
              <a:cs typeface="Arial"/>
              <a:sym typeface="Arial"/>
            </a:endParaRPr>
          </a:p>
        </p:txBody>
      </p:sp>
      <p:sp>
        <p:nvSpPr>
          <p:cNvPr id="341" name="Google Shape;341;g3f5f97cdd91_0_0"/>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Mapping ENGAGE into an Option Set</a:t>
            </a:r>
            <a:endParaRPr sz="3400">
              <a:solidFill>
                <a:srgbClr val="00004C"/>
              </a:solidFill>
            </a:endParaRPr>
          </a:p>
        </p:txBody>
      </p:sp>
      <p:sp>
        <p:nvSpPr>
          <p:cNvPr id="342"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27245"/>
            <a:ext cx="10361372" cy="2194560"/>
          </a:xfrm>
        </p:spPr>
        <p:txBody>
          <a:bodyPr wrap="square">
            <a:normAutofit/>
          </a:bodyPr>
          <a:lstStyle/>
          <a:p>
            <a:pPr/>
            <a:r>
              <a:rPr b="1" sz="1500"/>
              <a:t>Practical Application:</a:t>
            </a:r>
            <a:r>
              <a:rPr sz="1500"/>
              <a:t> Add ENGAGE options into our DEFEND options and conduct additional analysis</a:t>
            </a:r>
          </a:p>
          <a:p>
            <a:pPr/>
            <a:r>
              <a:rPr b="1" sz="1500"/>
              <a:t>Objective: </a:t>
            </a:r>
            <a:r>
              <a:rPr sz="1500"/>
              <a:t>Use an adversaries ATT&amp;CK and provide a paired set (a D3 option and an EAC option)</a:t>
            </a:r>
          </a:p>
          <a:p>
            <a:pPr/>
            <a:r>
              <a:rPr b="1" sz="1500"/>
              <a:t>Instructions:</a:t>
            </a:r>
          </a:p>
          <a:p>
            <a:pPr>
              <a:buNone/>
            </a:pPr>
            <a:r>
              <a:rPr sz="1500"/>
              <a:t>Take each of your techniques from the D3FEND Exercise and add an Engage option. For each option pair also state: Goal (Expose/Affect/Elicit), expected effect on CoG/CV, Risk</a:t>
            </a:r>
          </a:p>
        </p:txBody>
      </p:sp>
      <p:sp>
        <p:nvSpPr>
          <p:cNvPr id="3" name="Title 2"/>
          <p:cNvSpPr>
            <a:spLocks noGrp="1"/>
          </p:cNvSpPr>
          <p:nvPr>
            <p:ph type="title"/>
          </p:nvPr>
        </p:nvSpPr>
        <p:spPr/>
        <p:txBody>
          <a:bodyPr wrap="square">
            <a:normAutofit/>
          </a:bodyPr>
          <a:lstStyle/>
          <a:p>
            <a:pPr/>
            <a:r>
              <a:rPr sz="2700"/>
              <a:t>Let’s start: Mapping ENGAGE into an Option Set</a:t>
            </a:r>
          </a:p>
        </p:txBody>
      </p:sp>
      <p:graphicFrame>
        <p:nvGraphicFramePr>
          <p:cNvPr id="4" name="Table 3"/>
          <p:cNvGraphicFramePr>
            <a:graphicFrameLocks noGrp="1"/>
          </p:cNvGraphicFramePr>
          <p:nvPr/>
        </p:nvGraphicFramePr>
        <p:xfrm>
          <a:off x="1510029" y="3394957"/>
          <a:ext cx="10361372" cy="2625852"/>
        </p:xfrm>
        <a:graphic>
          <a:graphicData uri="http://schemas.openxmlformats.org/drawingml/2006/table">
            <a:tbl>
              <a:tblPr firstRow="1" bandRow="1">
                <a:tableStyleId>{5C22544A-7EE6-4342-B048-85BDC9FD1C3A}</a:tableStyleId>
              </a:tblPr>
              <a:tblGrid>
                <a:gridCol w="2072274"/>
                <a:gridCol w="2072274"/>
                <a:gridCol w="2072274"/>
                <a:gridCol w="2072274"/>
                <a:gridCol w="2072276"/>
              </a:tblGrid>
              <a:tr h="263652">
                <a:tc>
                  <a:txBody>
                    <a:bodyPr wrap="square"/>
                    <a:lstStyle/>
                    <a:p>
                      <a:pPr>
                        <a:defRPr sz="1200"/>
                      </a:pPr>
                    </a:p>
                  </a:txBody>
                  <a:tcPr/>
                </a:tc>
                <a:tc>
                  <a:txBody>
                    <a:bodyPr wrap="square"/>
                    <a:lstStyle/>
                    <a:p>
                      <a:pPr>
                        <a:defRPr sz="1200"/>
                      </a:pPr>
                      <a:r>
                        <a:t>Attack</a:t>
                      </a:r>
                    </a:p>
                  </a:txBody>
                  <a:tcPr/>
                </a:tc>
                <a:tc>
                  <a:txBody>
                    <a:bodyPr wrap="square"/>
                    <a:lstStyle/>
                    <a:p>
                      <a:pPr>
                        <a:defRPr sz="1200"/>
                      </a:pPr>
                      <a:r>
                        <a:t>Defend</a:t>
                      </a:r>
                    </a:p>
                  </a:txBody>
                  <a:tcPr/>
                </a:tc>
                <a:tc>
                  <a:txBody>
                    <a:bodyPr wrap="square"/>
                    <a:lstStyle/>
                    <a:p>
                      <a:pPr>
                        <a:defRPr sz="1200"/>
                      </a:pPr>
                      <a:r>
                        <a:t>Engage</a:t>
                      </a:r>
                    </a:p>
                  </a:txBody>
                  <a:tcPr/>
                </a:tc>
                <a:tc>
                  <a:txBody>
                    <a:bodyPr wrap="square"/>
                    <a:lstStyle/>
                    <a:p>
                      <a:pPr>
                        <a:defRPr sz="1200"/>
                      </a:pPr>
                    </a:p>
                  </a:txBody>
                  <a:tcPr/>
                </a:tc>
              </a:tr>
              <a:tr h="472440">
                <a:tc>
                  <a:txBody>
                    <a:bodyPr wrap="square"/>
                    <a:lstStyle/>
                    <a:p>
                      <a:pPr>
                        <a:defRPr sz="1200"/>
                      </a:pPr>
                      <a:r>
                        <a:t>Log 1 (Email Gateway)</a:t>
                      </a:r>
                    </a:p>
                  </a:txBody>
                  <a:tcPr/>
                </a:tc>
                <a:tc>
                  <a:txBody>
                    <a:bodyPr wrap="square"/>
                    <a:lstStyle/>
                    <a:p>
                      <a:pPr>
                        <a:defRPr sz="1200"/>
                      </a:pPr>
                      <a:r>
                        <a:t>T1091</a:t>
                      </a:r>
                    </a:p>
                  </a:txBody>
                  <a:tcPr/>
                </a:tc>
                <a:tc>
                  <a:txBody>
                    <a:bodyPr wrap="square"/>
                    <a:lstStyle/>
                    <a:p>
                      <a:pPr>
                        <a:defRPr sz="1200"/>
                      </a:pPr>
                      <a:r>
                        <a:t>D3-HCI D3-IOPR D3-PFV</a:t>
                      </a:r>
                    </a:p>
                  </a:txBody>
                  <a:tcPr/>
                </a:tc>
                <a:tc>
                  <a:txBody>
                    <a:bodyPr wrap="square"/>
                    <a:lstStyle/>
                    <a:p>
                      <a:pPr>
                        <a:defRPr sz="1200"/>
                      </a:pPr>
                    </a:p>
                  </a:txBody>
                  <a:tcPr/>
                </a:tc>
                <a:tc>
                  <a:txBody>
                    <a:bodyPr wrap="square"/>
                    <a:lstStyle/>
                    <a:p>
                      <a:pPr>
                        <a:defRPr sz="1200"/>
                      </a:pPr>
                      <a:r>
                        <a:t>Goal: Expected Effect: Risk:</a:t>
                      </a:r>
                    </a:p>
                  </a:txBody>
                  <a:tcPr/>
                </a:tc>
              </a:tr>
              <a:tr h="472440">
                <a:tc>
                  <a:txBody>
                    <a:bodyPr wrap="square"/>
                    <a:lstStyle/>
                    <a:p>
                      <a:pPr>
                        <a:defRPr sz="1200"/>
                      </a:pPr>
                      <a:r>
                        <a:t>Log 2 (Sysmon Event 1)</a:t>
                      </a:r>
                    </a:p>
                  </a:txBody>
                  <a:tcPr/>
                </a:tc>
                <a:tc>
                  <a:txBody>
                    <a:bodyPr wrap="square"/>
                    <a:lstStyle/>
                    <a:p>
                      <a:pPr>
                        <a:defRPr sz="1200"/>
                      </a:pPr>
                      <a:r>
                        <a:t>T1071.001</a:t>
                      </a:r>
                    </a:p>
                  </a:txBody>
                  <a:tcPr/>
                </a:tc>
                <a:tc>
                  <a:txBody>
                    <a:bodyPr wrap="square"/>
                    <a:lstStyle/>
                    <a:p>
                      <a:pPr>
                        <a:defRPr sz="1200"/>
                      </a:pPr>
                    </a:p>
                  </a:txBody>
                  <a:tcPr/>
                </a:tc>
                <a:tc>
                  <a:txBody>
                    <a:bodyPr wrap="square"/>
                    <a:lstStyle/>
                    <a:p>
                      <a:pPr>
                        <a:defRPr sz="1200"/>
                      </a:pPr>
                    </a:p>
                  </a:txBody>
                  <a:tcPr/>
                </a:tc>
                <a:tc>
                  <a:txBody>
                    <a:bodyPr wrap="square"/>
                    <a:lstStyle/>
                    <a:p>
                      <a:pPr>
                        <a:defRPr sz="1200"/>
                      </a:pPr>
                      <a:r>
                        <a:t>Goal: Expected Effect: Risk:</a:t>
                      </a:r>
                    </a:p>
                  </a:txBody>
                  <a:tcPr/>
                </a:tc>
              </a:tr>
              <a:tr h="472440">
                <a:tc>
                  <a:txBody>
                    <a:bodyPr wrap="square"/>
                    <a:lstStyle/>
                    <a:p>
                      <a:pPr>
                        <a:defRPr sz="1200"/>
                      </a:pPr>
                      <a:r>
                        <a:t>Log 3 (Sysmon Event 1):</a:t>
                      </a:r>
                    </a:p>
                  </a:txBody>
                  <a:tcPr/>
                </a:tc>
                <a:tc>
                  <a:txBody>
                    <a:bodyPr wrap="square"/>
                    <a:lstStyle/>
                    <a:p>
                      <a:pPr>
                        <a:defRPr sz="1200"/>
                      </a:pPr>
                      <a:r>
                        <a:t>T1059.001</a:t>
                      </a:r>
                    </a:p>
                  </a:txBody>
                  <a:tcPr/>
                </a:tc>
                <a:tc>
                  <a:txBody>
                    <a:bodyPr wrap="square"/>
                    <a:lstStyle/>
                    <a:p>
                      <a:pPr>
                        <a:defRPr sz="1200"/>
                      </a:pPr>
                      <a:r>
                        <a:t>D3-PSA D3-SEA</a:t>
                      </a:r>
                    </a:p>
                  </a:txBody>
                  <a:tcPr/>
                </a:tc>
                <a:tc>
                  <a:txBody>
                    <a:bodyPr wrap="square"/>
                    <a:lstStyle/>
                    <a:p>
                      <a:pPr>
                        <a:defRPr sz="1200"/>
                      </a:pPr>
                    </a:p>
                  </a:txBody>
                  <a:tcPr/>
                </a:tc>
                <a:tc>
                  <a:txBody>
                    <a:bodyPr wrap="square"/>
                    <a:lstStyle/>
                    <a:p>
                      <a:pPr>
                        <a:defRPr sz="1200"/>
                      </a:pPr>
                      <a:r>
                        <a:t>Goal: Expected Effect: Risk:</a:t>
                      </a:r>
                    </a:p>
                  </a:txBody>
                  <a:tcPr/>
                </a:tc>
              </a:tr>
              <a:tr h="472440">
                <a:tc>
                  <a:txBody>
                    <a:bodyPr wrap="square"/>
                    <a:lstStyle/>
                    <a:p>
                      <a:pPr>
                        <a:defRPr sz="1200"/>
                      </a:pPr>
                      <a:r>
                        <a:t>Log 4 (EDR Log):</a:t>
                      </a:r>
                    </a:p>
                  </a:txBody>
                  <a:tcPr/>
                </a:tc>
                <a:tc>
                  <a:txBody>
                    <a:bodyPr wrap="square"/>
                    <a:lstStyle/>
                    <a:p>
                      <a:pPr>
                        <a:defRPr sz="1200"/>
                      </a:pPr>
                      <a:r>
                        <a:t>T1120</a:t>
                      </a:r>
                    </a:p>
                  </a:txBody>
                  <a:tcPr/>
                </a:tc>
                <a:tc>
                  <a:txBody>
                    <a:bodyPr wrap="square"/>
                    <a:lstStyle/>
                    <a:p>
                      <a:pPr>
                        <a:defRPr sz="1200"/>
                      </a:pPr>
                    </a:p>
                  </a:txBody>
                  <a:tcPr/>
                </a:tc>
                <a:tc>
                  <a:txBody>
                    <a:bodyPr wrap="square"/>
                    <a:lstStyle/>
                    <a:p>
                      <a:pPr>
                        <a:defRPr sz="1200"/>
                      </a:pPr>
                    </a:p>
                  </a:txBody>
                  <a:tcPr/>
                </a:tc>
                <a:tc>
                  <a:txBody>
                    <a:bodyPr wrap="square"/>
                    <a:lstStyle/>
                    <a:p>
                      <a:pPr>
                        <a:defRPr sz="1200"/>
                      </a:pPr>
                      <a:r>
                        <a:t>Goal: Expected Effect: Risk:</a:t>
                      </a:r>
                    </a:p>
                  </a:txBody>
                  <a:tcPr/>
                </a:tc>
              </a:tr>
              <a:tr h="472440">
                <a:tc>
                  <a:txBody>
                    <a:bodyPr wrap="square"/>
                    <a:lstStyle/>
                    <a:p>
                      <a:pPr>
                        <a:defRPr sz="1200"/>
                      </a:pPr>
                      <a:r>
                        <a:t>Log 5 (File Auditing):</a:t>
                      </a:r>
                    </a:p>
                  </a:txBody>
                  <a:tcPr/>
                </a:tc>
                <a:tc>
                  <a:txBody>
                    <a:bodyPr wrap="square"/>
                    <a:lstStyle/>
                    <a:p>
                      <a:pPr>
                        <a:defRPr sz="1200"/>
                      </a:pPr>
                      <a:r>
                        <a:t>T1005</a:t>
                      </a:r>
                    </a:p>
                  </a:txBody>
                  <a:tcPr/>
                </a:tc>
                <a:tc>
                  <a:txBody>
                    <a:bodyPr wrap="square"/>
                    <a:lstStyle/>
                    <a:p>
                      <a:pPr>
                        <a:defRPr sz="1200"/>
                      </a:pPr>
                      <a:r>
                        <a:t>D3-FPA</a:t>
                      </a:r>
                    </a:p>
                  </a:txBody>
                  <a:tcPr/>
                </a:tc>
                <a:tc>
                  <a:txBody>
                    <a:bodyPr wrap="square"/>
                    <a:lstStyle/>
                    <a:p>
                      <a:pPr>
                        <a:defRPr sz="1200"/>
                      </a:pPr>
                    </a:p>
                  </a:txBody>
                  <a:tcPr/>
                </a:tc>
                <a:tc>
                  <a:txBody>
                    <a:bodyPr wrap="square"/>
                    <a:lstStyle/>
                    <a:p>
                      <a:pPr>
                        <a:defRPr sz="1200"/>
                      </a:pPr>
                      <a:r>
                        <a:t>Goal: Expected Effect: Risk:</a:t>
                      </a:r>
                    </a:p>
                  </a:txBody>
                  <a:tcPr/>
                </a:tc>
              </a:tr>
            </a:tbl>
          </a:graphicData>
        </a:graphic>
      </p:graphicFrame>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image.png" id="353" name="Google Shape;353;g3f5d9fbf853_0_272"/>
          <p:cNvPicPr preferRelativeResize="0"/>
          <p:nvPr/>
        </p:nvPicPr>
        <p:blipFill rotWithShape="1">
          <a:blip r:embed="rId2">
            <a:alphaModFix/>
          </a:blip>
          <a:srcRect b="0" l="0" r="0" t="0"/>
          <a:stretch/>
        </p:blipFill>
        <p:spPr>
          <a:xfrm>
            <a:off x="1420425" y="4788350"/>
            <a:ext cx="10465801" cy="1261925"/>
          </a:xfrm>
          <a:prstGeom prst="rect">
            <a:avLst/>
          </a:prstGeom>
          <a:noFill/>
          <a:ln>
            <a:noFill/>
          </a:ln>
        </p:spPr>
      </p:pic>
      <p:pic>
        <p:nvPicPr>
          <p:cNvPr descr="image.png" id="354" name="Google Shape;354;g3f5d9fbf853_0_272"/>
          <p:cNvPicPr preferRelativeResize="0"/>
          <p:nvPr/>
        </p:nvPicPr>
        <p:blipFill rotWithShape="1">
          <a:blip r:embed="rId3">
            <a:alphaModFix/>
          </a:blip>
          <a:srcRect b="0" l="0" r="0" t="0"/>
          <a:stretch/>
        </p:blipFill>
        <p:spPr>
          <a:xfrm>
            <a:off x="1239000" y="1544963"/>
            <a:ext cx="3346905" cy="2476500"/>
          </a:xfrm>
          <a:prstGeom prst="rect">
            <a:avLst/>
          </a:prstGeom>
          <a:noFill/>
          <a:ln>
            <a:noFill/>
          </a:ln>
        </p:spPr>
      </p:pic>
      <p:pic>
        <p:nvPicPr>
          <p:cNvPr descr="image.png" id="355" name="Google Shape;355;g3f5d9fbf853_0_272"/>
          <p:cNvPicPr preferRelativeResize="0"/>
          <p:nvPr/>
        </p:nvPicPr>
        <p:blipFill rotWithShape="1">
          <a:blip r:embed="rId4">
            <a:alphaModFix/>
          </a:blip>
          <a:srcRect b="0" l="0" r="0" t="0"/>
          <a:stretch/>
        </p:blipFill>
        <p:spPr>
          <a:xfrm>
            <a:off x="4799165" y="1544963"/>
            <a:ext cx="3347044" cy="2476500"/>
          </a:xfrm>
          <a:prstGeom prst="rect">
            <a:avLst/>
          </a:prstGeom>
          <a:noFill/>
          <a:ln>
            <a:noFill/>
          </a:ln>
        </p:spPr>
      </p:pic>
      <p:pic>
        <p:nvPicPr>
          <p:cNvPr descr="image.png" id="356" name="Google Shape;356;g3f5d9fbf853_0_272"/>
          <p:cNvPicPr preferRelativeResize="0"/>
          <p:nvPr/>
        </p:nvPicPr>
        <p:blipFill rotWithShape="1">
          <a:blip r:embed="rId5">
            <a:alphaModFix/>
          </a:blip>
          <a:srcRect b="0" l="0" r="0" t="0"/>
          <a:stretch/>
        </p:blipFill>
        <p:spPr>
          <a:xfrm>
            <a:off x="8359470" y="1544963"/>
            <a:ext cx="3346905" cy="2476500"/>
          </a:xfrm>
          <a:prstGeom prst="rect">
            <a:avLst/>
          </a:prstGeom>
          <a:noFill/>
          <a:ln>
            <a:noFill/>
          </a:ln>
        </p:spPr>
      </p:pic>
      <p:sp>
        <p:nvSpPr>
          <p:cNvPr id="357" name="Google Shape;357;g3f5d9fbf853_0_272"/>
          <p:cNvSpPr txBox="1"/>
          <p:nvPr/>
        </p:nvSpPr>
        <p:spPr>
          <a:xfrm>
            <a:off x="1633650" y="4940750"/>
            <a:ext cx="10074900" cy="952200"/>
          </a:xfrm>
          <a:prstGeom prst="rect">
            <a:avLst/>
          </a:prstGeom>
          <a:noFill/>
          <a:ln>
            <a:noFill/>
          </a:ln>
        </p:spPr>
        <p:txBody>
          <a:bodyPr anchorCtr="0" anchor="t" bIns="0" lIns="0" spcFirstLastPara="1" rIns="0" wrap="square" tIns="0">
            <a:spAutoFit/>
          </a:bodyPr>
          <a:lstStyle/>
          <a:p>
            <a:pPr indent="0" lvl="0" marL="0" marR="0" rtl="0" algn="l">
              <a:lnSpc>
                <a:spcPct val="149955"/>
              </a:lnSpc>
              <a:spcBef>
                <a:spcPts val="0"/>
              </a:spcBef>
              <a:spcAft>
                <a:spcPts val="0"/>
              </a:spcAft>
              <a:buClr>
                <a:srgbClr val="000000"/>
              </a:buClr>
              <a:buSzPts val="1125"/>
              <a:buFont typeface="Arial"/>
              <a:buNone/>
            </a:pPr>
            <a:r>
              <a:rPr b="1" i="0" lang="en-US" sz="1125" u="none" cap="none" strike="noStrike">
                <a:solidFill>
                  <a:srgbClr val="38BDF8"/>
                </a:solidFill>
                <a:latin typeface="Inter"/>
                <a:ea typeface="Inter"/>
                <a:cs typeface="Inter"/>
                <a:sym typeface="Inter"/>
              </a:rPr>
              <a:t>Key Operational Question:</a:t>
            </a:r>
            <a:r>
              <a:rPr b="0" i="0" lang="en-US" sz="1125" u="none" cap="none" strike="noStrike">
                <a:solidFill>
                  <a:srgbClr val="94A3B8"/>
                </a:solidFill>
                <a:latin typeface="Inter"/>
                <a:ea typeface="Inter"/>
                <a:cs typeface="Inter"/>
                <a:sym typeface="Inter"/>
              </a:rPr>
              <a:t> When does active engagement stop being a defensive action and become an off-node intelligence collection operation?</a:t>
            </a:r>
            <a:endParaRPr b="0" i="0" sz="1125" u="none" cap="none" strike="noStrike">
              <a:solidFill>
                <a:srgbClr val="94A3B8"/>
              </a:solidFill>
              <a:latin typeface="Inter"/>
              <a:ea typeface="Inter"/>
              <a:cs typeface="Inter"/>
              <a:sym typeface="Inter"/>
            </a:endParaRPr>
          </a:p>
          <a:p>
            <a:pPr indent="45720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94A3B8"/>
                </a:solidFill>
                <a:latin typeface="Inter"/>
                <a:ea typeface="Inter"/>
                <a:cs typeface="Inter"/>
                <a:sym typeface="Inter"/>
              </a:rPr>
              <a:t>Who owns the data?</a:t>
            </a:r>
            <a:endParaRPr b="0" i="0" sz="1125" u="none" cap="none" strike="noStrike">
              <a:solidFill>
                <a:srgbClr val="94A3B8"/>
              </a:solidFill>
              <a:latin typeface="Inter"/>
              <a:ea typeface="Inter"/>
              <a:cs typeface="Inter"/>
              <a:sym typeface="Inter"/>
            </a:endParaRPr>
          </a:p>
          <a:p>
            <a:pPr indent="45720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94A3B8"/>
                </a:solidFill>
                <a:latin typeface="Inter"/>
                <a:ea typeface="Inter"/>
                <a:cs typeface="Inter"/>
                <a:sym typeface="Inter"/>
              </a:rPr>
              <a:t>Who owns the exploitation of that data?</a:t>
            </a:r>
            <a:endParaRPr b="0" i="0" sz="1125" u="none" cap="none" strike="noStrike">
              <a:solidFill>
                <a:srgbClr val="94A3B8"/>
              </a:solidFill>
              <a:latin typeface="Inter"/>
              <a:ea typeface="Inter"/>
              <a:cs typeface="Inter"/>
              <a:sym typeface="Inter"/>
            </a:endParaRPr>
          </a:p>
          <a:p>
            <a:pPr indent="45720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94A3B8"/>
                </a:solidFill>
                <a:latin typeface="Inter"/>
                <a:ea typeface="Inter"/>
                <a:cs typeface="Inter"/>
                <a:sym typeface="Inter"/>
              </a:rPr>
              <a:t>When does the engagement stop being a defensive action and start being a collection operation? </a:t>
            </a:r>
            <a:endParaRPr b="0" i="0" sz="1125" u="none" cap="none" strike="noStrike">
              <a:solidFill>
                <a:srgbClr val="94A3B8"/>
              </a:solidFill>
              <a:latin typeface="Inter"/>
              <a:ea typeface="Inter"/>
              <a:cs typeface="Inter"/>
              <a:sym typeface="Inter"/>
            </a:endParaRPr>
          </a:p>
        </p:txBody>
      </p:sp>
      <p:pic>
        <p:nvPicPr>
          <p:cNvPr descr="image.png" id="358" name="Google Shape;358;g3f5d9fbf853_0_272"/>
          <p:cNvPicPr preferRelativeResize="0"/>
          <p:nvPr/>
        </p:nvPicPr>
        <p:blipFill rotWithShape="1">
          <a:blip r:embed="rId6">
            <a:alphaModFix/>
          </a:blip>
          <a:srcRect b="0" l="0" r="0" t="0"/>
          <a:stretch/>
        </p:blipFill>
        <p:spPr>
          <a:xfrm>
            <a:off x="1461146" y="1783088"/>
            <a:ext cx="426520" cy="457200"/>
          </a:xfrm>
          <a:prstGeom prst="rect">
            <a:avLst/>
          </a:prstGeom>
          <a:noFill/>
          <a:ln>
            <a:noFill/>
          </a:ln>
        </p:spPr>
      </p:pic>
      <p:sp>
        <p:nvSpPr>
          <p:cNvPr id="359" name="Google Shape;359;g3f5d9fbf853_0_272"/>
          <p:cNvSpPr txBox="1"/>
          <p:nvPr/>
        </p:nvSpPr>
        <p:spPr>
          <a:xfrm>
            <a:off x="1461146" y="2392688"/>
            <a:ext cx="3048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F8FAFC"/>
                </a:solidFill>
                <a:latin typeface="Poppins SemiBold"/>
                <a:ea typeface="Poppins SemiBold"/>
                <a:cs typeface="Poppins SemiBold"/>
                <a:sym typeface="Poppins SemiBold"/>
              </a:rPr>
              <a:t>Intel Requirements</a:t>
            </a:r>
            <a:endParaRPr b="0" i="0" sz="1400" u="none" cap="none" strike="noStrike">
              <a:solidFill>
                <a:srgbClr val="000000"/>
              </a:solidFill>
              <a:latin typeface="Arial"/>
              <a:ea typeface="Arial"/>
              <a:cs typeface="Arial"/>
              <a:sym typeface="Arial"/>
            </a:endParaRPr>
          </a:p>
        </p:txBody>
      </p:sp>
      <p:sp>
        <p:nvSpPr>
          <p:cNvPr id="360" name="Google Shape;360;g3f5d9fbf853_0_272"/>
          <p:cNvSpPr txBox="1"/>
          <p:nvPr/>
        </p:nvSpPr>
        <p:spPr>
          <a:xfrm>
            <a:off x="1461146" y="2773688"/>
            <a:ext cx="2902500" cy="1015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200"/>
              <a:buFont typeface="Arial"/>
              <a:buNone/>
            </a:pPr>
            <a:r>
              <a:rPr b="0" i="0" lang="en-US" sz="1200" u="none" cap="none" strike="noStrike">
                <a:solidFill>
                  <a:srgbClr val="CBD5E1"/>
                </a:solidFill>
                <a:latin typeface="Inter"/>
                <a:ea typeface="Inter"/>
                <a:cs typeface="Inter"/>
                <a:sym typeface="Inter"/>
              </a:rPr>
              <a:t>Framing ENGAGE operations as Priority Intelligence Requirements (PIRs) rather than purely defensive remediation actions.</a:t>
            </a:r>
            <a:endParaRPr b="0" i="0" sz="1400" u="none" cap="none" strike="noStrike">
              <a:solidFill>
                <a:srgbClr val="000000"/>
              </a:solidFill>
              <a:latin typeface="Arial"/>
              <a:ea typeface="Arial"/>
              <a:cs typeface="Arial"/>
              <a:sym typeface="Arial"/>
            </a:endParaRPr>
          </a:p>
        </p:txBody>
      </p:sp>
      <p:pic>
        <p:nvPicPr>
          <p:cNvPr descr="image.png" id="361" name="Google Shape;361;g3f5d9fbf853_0_272"/>
          <p:cNvPicPr preferRelativeResize="0"/>
          <p:nvPr/>
        </p:nvPicPr>
        <p:blipFill rotWithShape="1">
          <a:blip r:embed="rId7">
            <a:alphaModFix/>
          </a:blip>
          <a:srcRect b="0" l="0" r="0" t="0"/>
          <a:stretch/>
        </p:blipFill>
        <p:spPr>
          <a:xfrm>
            <a:off x="5021311" y="1783088"/>
            <a:ext cx="426520" cy="457200"/>
          </a:xfrm>
          <a:prstGeom prst="rect">
            <a:avLst/>
          </a:prstGeom>
          <a:noFill/>
          <a:ln>
            <a:noFill/>
          </a:ln>
        </p:spPr>
      </p:pic>
      <p:sp>
        <p:nvSpPr>
          <p:cNvPr id="362" name="Google Shape;362;g3f5d9fbf853_0_272"/>
          <p:cNvSpPr txBox="1"/>
          <p:nvPr/>
        </p:nvSpPr>
        <p:spPr>
          <a:xfrm>
            <a:off x="5021311" y="2392688"/>
            <a:ext cx="3048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F8FAFC"/>
                </a:solidFill>
                <a:latin typeface="Poppins SemiBold"/>
                <a:ea typeface="Poppins SemiBold"/>
                <a:cs typeface="Poppins SemiBold"/>
                <a:sym typeface="Poppins SemiBold"/>
              </a:rPr>
              <a:t>Staff Integration</a:t>
            </a:r>
            <a:endParaRPr b="0" i="0" sz="1400" u="none" cap="none" strike="noStrike">
              <a:solidFill>
                <a:srgbClr val="000000"/>
              </a:solidFill>
              <a:latin typeface="Arial"/>
              <a:ea typeface="Arial"/>
              <a:cs typeface="Arial"/>
              <a:sym typeface="Arial"/>
            </a:endParaRPr>
          </a:p>
        </p:txBody>
      </p:sp>
      <p:sp>
        <p:nvSpPr>
          <p:cNvPr id="363" name="Google Shape;363;g3f5d9fbf853_0_272"/>
          <p:cNvSpPr txBox="1"/>
          <p:nvPr/>
        </p:nvSpPr>
        <p:spPr>
          <a:xfrm>
            <a:off x="5021311" y="2773688"/>
            <a:ext cx="2902800" cy="1015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200"/>
              <a:buFont typeface="Arial"/>
              <a:buNone/>
            </a:pPr>
            <a:r>
              <a:rPr b="0" i="0" lang="en-US" sz="1200" u="none" cap="none" strike="noStrike">
                <a:solidFill>
                  <a:srgbClr val="CBD5E1"/>
                </a:solidFill>
                <a:latin typeface="Inter"/>
                <a:ea typeface="Inter"/>
                <a:cs typeface="Inter"/>
                <a:sym typeface="Inter"/>
              </a:rPr>
              <a:t>Establishing clear deconfliction processes between supporting intelligence staff (2X) and signals/cyber operations staff (39-series).</a:t>
            </a:r>
            <a:endParaRPr b="0" i="0" sz="1400" u="none" cap="none" strike="noStrike">
              <a:solidFill>
                <a:srgbClr val="000000"/>
              </a:solidFill>
              <a:latin typeface="Arial"/>
              <a:ea typeface="Arial"/>
              <a:cs typeface="Arial"/>
              <a:sym typeface="Arial"/>
            </a:endParaRPr>
          </a:p>
        </p:txBody>
      </p:sp>
      <p:pic>
        <p:nvPicPr>
          <p:cNvPr descr="image.png" id="364" name="Google Shape;364;g3f5d9fbf853_0_272"/>
          <p:cNvPicPr preferRelativeResize="0"/>
          <p:nvPr/>
        </p:nvPicPr>
        <p:blipFill rotWithShape="1">
          <a:blip r:embed="rId8">
            <a:alphaModFix/>
          </a:blip>
          <a:srcRect b="0" l="0" r="0" t="0"/>
          <a:stretch/>
        </p:blipFill>
        <p:spPr>
          <a:xfrm>
            <a:off x="8581616" y="1783088"/>
            <a:ext cx="426520" cy="457200"/>
          </a:xfrm>
          <a:prstGeom prst="rect">
            <a:avLst/>
          </a:prstGeom>
          <a:noFill/>
          <a:ln>
            <a:noFill/>
          </a:ln>
        </p:spPr>
      </p:pic>
      <p:sp>
        <p:nvSpPr>
          <p:cNvPr id="365" name="Google Shape;365;g3f5d9fbf853_0_272"/>
          <p:cNvSpPr txBox="1"/>
          <p:nvPr/>
        </p:nvSpPr>
        <p:spPr>
          <a:xfrm>
            <a:off x="8581616" y="2392688"/>
            <a:ext cx="3048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F8FAFC"/>
                </a:solidFill>
                <a:latin typeface="Poppins SemiBold"/>
                <a:ea typeface="Poppins SemiBold"/>
                <a:cs typeface="Poppins SemiBold"/>
                <a:sym typeface="Poppins SemiBold"/>
              </a:rPr>
              <a:t>Ownership Transition</a:t>
            </a:r>
            <a:endParaRPr b="0" i="0" sz="1400" u="none" cap="none" strike="noStrike">
              <a:solidFill>
                <a:srgbClr val="000000"/>
              </a:solidFill>
              <a:latin typeface="Arial"/>
              <a:ea typeface="Arial"/>
              <a:cs typeface="Arial"/>
              <a:sym typeface="Arial"/>
            </a:endParaRPr>
          </a:p>
        </p:txBody>
      </p:sp>
      <p:sp>
        <p:nvSpPr>
          <p:cNvPr id="366" name="Google Shape;366;g3f5d9fbf853_0_272"/>
          <p:cNvSpPr txBox="1"/>
          <p:nvPr/>
        </p:nvSpPr>
        <p:spPr>
          <a:xfrm>
            <a:off x="8581616" y="2773688"/>
            <a:ext cx="2902500" cy="1015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200"/>
              <a:buFont typeface="Arial"/>
              <a:buNone/>
            </a:pPr>
            <a:r>
              <a:rPr b="0" i="0" lang="en-US" sz="1200" u="none" cap="none" strike="noStrike">
                <a:solidFill>
                  <a:srgbClr val="CBD5E1"/>
                </a:solidFill>
                <a:latin typeface="Inter"/>
                <a:ea typeface="Inter"/>
                <a:cs typeface="Inter"/>
                <a:sym typeface="Inter"/>
              </a:rPr>
              <a:t>Defining exact operational criteria for when an ongoing engagement transitions from CPT-owned defense to intel-owned collection.</a:t>
            </a:r>
            <a:endParaRPr b="0" i="0" sz="1400" u="none" cap="none" strike="noStrike">
              <a:solidFill>
                <a:srgbClr val="000000"/>
              </a:solidFill>
              <a:latin typeface="Arial"/>
              <a:ea typeface="Arial"/>
              <a:cs typeface="Arial"/>
              <a:sym typeface="Arial"/>
            </a:endParaRPr>
          </a:p>
        </p:txBody>
      </p:sp>
      <p:pic>
        <p:nvPicPr>
          <p:cNvPr descr="image.png" id="367" name="Google Shape;367;g3f5d9fbf853_0_272"/>
          <p:cNvPicPr preferRelativeResize="0"/>
          <p:nvPr/>
        </p:nvPicPr>
        <p:blipFill rotWithShape="1">
          <a:blip r:embed="rId9">
            <a:alphaModFix/>
          </a:blip>
          <a:srcRect b="0" l="0" r="0" t="0"/>
          <a:stretch/>
        </p:blipFill>
        <p:spPr>
          <a:xfrm>
            <a:off x="1594433" y="1897388"/>
            <a:ext cx="159945" cy="228600"/>
          </a:xfrm>
          <a:prstGeom prst="rect">
            <a:avLst/>
          </a:prstGeom>
          <a:noFill/>
          <a:ln>
            <a:noFill/>
          </a:ln>
        </p:spPr>
      </p:pic>
      <p:pic>
        <p:nvPicPr>
          <p:cNvPr descr="image.png" id="368" name="Google Shape;368;g3f5d9fbf853_0_272"/>
          <p:cNvPicPr preferRelativeResize="0"/>
          <p:nvPr/>
        </p:nvPicPr>
        <p:blipFill rotWithShape="1">
          <a:blip r:embed="rId10">
            <a:alphaModFix/>
          </a:blip>
          <a:srcRect b="0" l="0" r="0" t="0"/>
          <a:stretch/>
        </p:blipFill>
        <p:spPr>
          <a:xfrm>
            <a:off x="5101284" y="1897388"/>
            <a:ext cx="266575" cy="228600"/>
          </a:xfrm>
          <a:prstGeom prst="rect">
            <a:avLst/>
          </a:prstGeom>
          <a:noFill/>
          <a:ln>
            <a:noFill/>
          </a:ln>
        </p:spPr>
      </p:pic>
      <p:pic>
        <p:nvPicPr>
          <p:cNvPr descr="image.png" id="369" name="Google Shape;369;g3f5d9fbf853_0_272"/>
          <p:cNvPicPr preferRelativeResize="0"/>
          <p:nvPr/>
        </p:nvPicPr>
        <p:blipFill rotWithShape="1">
          <a:blip r:embed="rId11">
            <a:alphaModFix/>
          </a:blip>
          <a:srcRect b="0" l="0" r="0" t="0"/>
          <a:stretch/>
        </p:blipFill>
        <p:spPr>
          <a:xfrm>
            <a:off x="8688246" y="1897388"/>
            <a:ext cx="213260" cy="228600"/>
          </a:xfrm>
          <a:prstGeom prst="rect">
            <a:avLst/>
          </a:prstGeom>
          <a:noFill/>
          <a:ln>
            <a:noFill/>
          </a:ln>
        </p:spPr>
      </p:pic>
      <p:sp>
        <p:nvSpPr>
          <p:cNvPr id="370" name="Google Shape;370;g3f5d9fbf853_0_272"/>
          <p:cNvSpPr txBox="1"/>
          <p:nvPr/>
        </p:nvSpPr>
        <p:spPr>
          <a:xfrm>
            <a:off x="1510028" y="519084"/>
            <a:ext cx="10361400" cy="641100"/>
          </a:xfrm>
          <a:prstGeom prst="rect">
            <a:avLst/>
          </a:prstGeom>
          <a:noFill/>
          <a:ln>
            <a:noFill/>
          </a:ln>
        </p:spPr>
        <p:txBody>
          <a:bodyPr anchorCtr="0" anchor="ctr" bIns="91425" lIns="91425" spcFirstLastPara="1" rIns="91425" wrap="square" tIns="91425">
            <a:noAutofit/>
          </a:bodyPr>
          <a:lstStyle/>
          <a:p>
            <a:pPr indent="0" lvl="0" marL="0" rtl="0" algn="l">
              <a:lnSpc>
                <a:spcPct val="90000"/>
              </a:lnSpc>
              <a:spcBef>
                <a:spcPts val="0"/>
              </a:spcBef>
              <a:spcAft>
                <a:spcPts val="0"/>
              </a:spcAft>
              <a:buClr>
                <a:schemeClr val="dk1"/>
              </a:buClr>
              <a:buSzPts val="1100"/>
              <a:buFont typeface="Arial"/>
              <a:buNone/>
            </a:pPr>
            <a:r>
              <a:rPr lang="en-US" sz="3400">
                <a:solidFill>
                  <a:srgbClr val="00004C"/>
                </a:solidFill>
              </a:rPr>
              <a:t>The 2X / 39 Conversation</a:t>
            </a:r>
            <a:endParaRPr sz="3400">
              <a:solidFill>
                <a:srgbClr val="00004C"/>
              </a:solidFill>
            </a:endParaRPr>
          </a:p>
        </p:txBody>
      </p:sp>
      <p:sp>
        <p:nvSpPr>
          <p:cNvPr id="371"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pPr/>
            <a:r>
              <a:rPr sz="4000"/>
              <a:t>Step 6: Moving Out of Blue-Space</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a:xfrm>
            <a:off x="1510029" y="1108957"/>
            <a:ext cx="3068067" cy="5063243"/>
          </a:xfrm>
        </p:spPr>
        <p:txBody>
          <a:bodyPr wrap="square" anchor="t">
            <a:normAutofit/>
          </a:bodyPr>
          <a:lstStyle/>
          <a:p>
            <a:pPr/>
            <a:r>
              <a:rPr sz="1600"/>
              <a:t>If the commander picks an option that blue-space cannot execute — now what?</a:t>
            </a:r>
          </a:p>
          <a:p>
            <a:pPr/>
            <a:r>
              <a:rPr sz="1600"/>
              <a:t>This is the DCO-RA hand-off point</a:t>
            </a:r>
          </a:p>
          <a:p>
            <a:pPr/>
            <a:r>
              <a:rPr sz="1600"/>
              <a:t>Course roadmap: Week 2-3 build the tradecraft you need to actually execute out-of-blue-space options</a:t>
            </a:r>
          </a:p>
          <a:p>
            <a:pPr/>
            <a:r>
              <a:rPr sz="1600"/>
              <a:t>You will revisit this block after Week 2 tradecraft and again after Week 3</a:t>
            </a:r>
          </a:p>
        </p:txBody>
      </p:sp>
      <p:sp>
        <p:nvSpPr>
          <p:cNvPr id="3" name="Title 2"/>
          <p:cNvSpPr>
            <a:spLocks noGrp="1"/>
          </p:cNvSpPr>
          <p:nvPr>
            <p:ph type="title"/>
          </p:nvPr>
        </p:nvSpPr>
        <p:spPr/>
        <p:txBody>
          <a:bodyPr wrap="square">
            <a:normAutofit/>
          </a:bodyPr>
          <a:lstStyle/>
          <a:p>
            <a:pPr/>
            <a:r>
              <a:rPr sz="2700"/>
              <a:t>Moving Out of Blue-Space</a:t>
            </a:r>
          </a:p>
        </p:txBody>
      </p:sp>
      <p:pic>
        <p:nvPicPr>
          <p:cNvPr id="4" name="Picture 3" descr="M23-s26-0-8cc41059e1a2.png"/>
          <p:cNvPicPr>
            <a:picLocks noChangeAspect="1"/>
          </p:cNvPicPr>
          <p:nvPr/>
        </p:nvPicPr>
        <p:blipFill>
          <a:blip r:embed="rId3"/>
          <a:stretch>
            <a:fillRect/>
          </a:stretch>
        </p:blipFill>
        <p:spPr>
          <a:xfrm>
            <a:off x="4669536" y="1703800"/>
            <a:ext cx="7095744" cy="3873556"/>
          </a:xfrm>
          <a:prstGeom prst="rect">
            <a:avLst/>
          </a:prstGeom>
        </p:spPr>
      </p:pic>
      <p:sp>
        <p:nvSpPr>
          <p:cNvPr id="5"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normAutofit/>
          </a:bodyPr>
          <a:lstStyle/>
          <a:p>
            <a:pPr>
              <a:buNone/>
            </a:pPr>
            <a:r>
              <a:rPr sz="2400"/>
              <a:t>You should now be able to:</a:t>
            </a:r>
          </a:p>
          <a:p>
            <a:pPr>
              <a:buNone/>
            </a:pPr>
            <a:r>
              <a:rPr sz="2400"/>
              <a:t>Understand and apply the MITRE frameworks to produce and provide options to a commander.</a:t>
            </a:r>
          </a:p>
          <a:p>
            <a:pPr/>
            <a:r>
              <a:rPr sz="2400"/>
              <a:t>Recall the purpose for which the MITRE D3FEND and ENGAGE models were created</a:t>
            </a:r>
          </a:p>
          <a:p>
            <a:pPr/>
            <a:r>
              <a:rPr sz="2400"/>
              <a:t>Map adversary ATT&amp;CK to D3FEND and Engage options using the respective matrices</a:t>
            </a:r>
          </a:p>
          <a:p>
            <a:pPr/>
            <a:r>
              <a:rPr sz="2400"/>
              <a:t>Define and build paired sets of of options with amplifying information for any ATT&amp;CK-mapped intrusion</a:t>
            </a:r>
          </a:p>
        </p:txBody>
      </p:sp>
      <p:sp>
        <p:nvSpPr>
          <p:cNvPr id="3" name="Title 2"/>
          <p:cNvSpPr>
            <a:spLocks noGrp="1"/>
          </p:cNvSpPr>
          <p:nvPr>
            <p:ph type="title"/>
          </p:nvPr>
        </p:nvSpPr>
        <p:spPr/>
        <p:txBody>
          <a:bodyPr wrap="square">
            <a:normAutofit/>
          </a:bodyPr>
          <a:lstStyle/>
          <a:p>
            <a:pPr/>
            <a:r>
              <a:rPr sz="2700"/>
              <a:t>Lesson Summary</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