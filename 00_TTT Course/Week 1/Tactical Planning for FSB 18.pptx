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B078CE-C51C-4455-BED7-7336D32003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19343D-24D6-4224-9192-95C19C178B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7DDF5ED-E77E-41DC-8E51-C9B04069F0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B03808A-6895-48D4-882B-8FD89F90FBA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3FF46A-9113-4E56-9F5F-C435309098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5BA1AC-80EA-4C49-8E8C-934E78E8EE1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CBF30B-3682-452F-8B23-D1C63F156D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1AAF7E-DB6E-4D22-9E1F-2F0275F965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8C9C7C-C938-4F24-A867-5A41E6A419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31BBF7-DC0A-437C-961D-D7997F0447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8383712-B8F6-4811-9D32-3D544C4C3F0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5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Tactical Planning Part 2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1371600" y="3454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561"/>
              </a:spcBef>
              <a:buNone/>
              <a:tabLst>
                <a:tab pos="0" algn="l"/>
              </a:tabLst>
            </a:pPr>
            <a:r>
              <a:rPr lang="en-US" sz="2800" b="0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Applying the Tactical Planning Process Against a Real-World Adversary: FSB Center 18</a:t>
            </a:r>
            <a:endParaRPr lang="en-US" sz="28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Agenda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Introduction to the Tactical Engagement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The Planning Process: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METT-TC to TASKS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Mission and Enemy Analysis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Friendly Forces and Terrain Assessment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Developing the Plan: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EMLCOA, CG/CV, SOM, FSP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Tasking Organic Assets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Introduction: Shifting the Mindset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Objective: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Apply the tactical planning process against a real-world adversary: the Russian FSB Center 18.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Key Mindset Shift: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We are not hunting decoupled "hacker groups" like "Gamaredon." We are conducting tactical engagements against a state intelligence entity—the Russian FSB.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Primary References: 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The Tactical Planning Process student handout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ESET reports on FSB Center 18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1828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The Tactical Planning Framework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914400" y="22860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METT-TC -&gt; EMLCOA -&gt; CG/CV/EXP. PLAN -&gt; SOM -&gt; FSP -&gt; TASKS</a:t>
            </a:r>
            <a:br>
              <a:rPr sz="3200"/>
            </a:br>
            <a:br>
              <a:rPr sz="3200"/>
            </a:br>
            <a:r>
              <a:rPr lang="en-US" sz="32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This is our roadmap for developing a comprehensive and actionable tactical plan.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57200" y="1828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Mission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914400" y="2286000"/>
            <a:ext cx="7314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en-US" sz="32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Deny or degrade the FSB Center 18's ability to collect intelligence from network X in order to preserve friendly freedom of maneuver in cyberspace.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Enemy Analysis: FSB Center 18 (SALUTE Report)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Size: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Assumed to be well-funded and well-resourced as part of the FSB.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Activity: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Cyberespionage, focused on data theft.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Location: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Physically based in occupied Crimea; operates globally with infrastructure and within Ukrainian networks.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Unit: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18th Center of Information Security of the FSB (Military Unit 64829).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Time: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Operations are ongoing.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Equipment: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Heavily obfuscated script-based tools (PowerShell, VBScript), droppers, stealers, and backdoors designed to bypass endpoint protection.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Enemy Capabilities: How They Operate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Initial Access: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Spearphishing (malicious LNK/HTA attachments) and weaponized USB drives (PteroLNK).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Data Exfiltration: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Stealing documents, browser credentials (PteroSteal), cookies (PteroCookie), and data from Signal (PteroSig) and Telegram (PteroGram).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Persistence &amp; Lateral Movement: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Weaponized Office templates (PteroDoc, PteroTemplate) and extensive use of scheduled tasks.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Enemy Capabilities &amp; Limitations (DRAWD)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Defend: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Defends access by deploying multiple, simple backdoors simultaneously and using third-party services like Telegram and Cloudflare to thwart blocking.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Reinforce: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Reinforces positions by deploying more backdoors or handing off high-value access to more sophisticated actors like Center 16 (InvisiMole).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Attack: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Capable of destructive attacks, but their mission is collection, not destruction. No destructive attacks observed.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Withdraw: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Some malware can self-delete, but their pseudo-worm-like propagation makes a full, clean withdrawal difficult.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Delay: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Uses heavy obfuscation and high-volume activity to overwhelm and delay defenders.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Troops and Fire Support Available (Organic)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Analysts: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3 Host Analysts, 3 Network Analysts, 1 All-Source Analyst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Operators: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1 Certified Counter-Strike Operator, 1 Certified Malware Analyst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Fire Support: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1 SBO ME in Direct Support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Equipment: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Standard complement of tools (network taps, forensic workstations, etc.)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Attachments: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None.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"/>
          <p:cNvSpPr/>
          <p:nvPr/>
        </p:nvSpPr>
        <p:spPr>
          <a:xfrm>
            <a:off x="457200" y="1828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Terrain Analysis (OCOKAW)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" name="Table 3"/>
          <p:cNvGraphicFramePr/>
          <p:nvPr/>
        </p:nvGraphicFramePr>
        <p:xfrm>
          <a:off x="457200" y="1528200"/>
          <a:ext cx="7543800" cy="3272400"/>
        </p:xfrm>
        <a:graphic>
          <a:graphicData uri="http://schemas.openxmlformats.org/drawingml/2006/table">
            <a:tbl>
              <a:tblPr/>
              <a:tblGrid>
                <a:gridCol w="1543320"/>
                <a:gridCol w="3000600"/>
                <a:gridCol w="2999880"/>
              </a:tblGrid>
              <a:tr h="3052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Factor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Friendly Perspective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Enemy Perspective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4575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Observation &amp; Fields of Fire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Full physical and logical access to network traffic and logs.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Logical access to compromised hosts only; can view host-based logs.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575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Cover &amp; Concealment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Conceal tools as normal processes; use normal user accounts.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Heavy obfuscation, use of LOLBAS, and fast-flux C2 infrastructure.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575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Obstacles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Sheer volume of data to analyze.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Windows Defender, Crowdstrike EDR, network firewall, and an active hunt team.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64044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Key Terrain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Blue core router, NTDS.dit file, and access to user workstations/servers.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User workstations/servers containing target documents; persistence locations (Registry, Startup).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4575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Avenues of Approach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N/A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Spearphishing and removable media (USB drives).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45756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Weather (Cyber)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Potential power outages in Kyiv due to kinetic strikes.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Ongoing conflict in Ukraine may impact their operations.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Enemy's Most Likely Course of Action (EMLCOA)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Mission: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To conduct cyberespionage by continuously collecting sensitive data from Ukrainian government networks to satisfy Russian intelligence requirements.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Current Action: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FSB Center 18 will continue its high-tempo operation, gaining access via spearphishing/USBs, deploying PowerShell/VBScript stealers, and exfiltrating data using a resilient C2 network. In our network, they have infected it-wks-01 and it-wks-02 and are actively stealing documents.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On Contact: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Upon detection (e.g., a blocked C2), they will not withdraw. They will rely on their other backdoors, deploy new ones, and may escalate by handing off access to a more sophisticated actor (InvisiMole).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The Exploitation Plan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Center of Gravity (CG):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The speed at which they exfiltrate data. They prioritize rapid theft over long-term stealth.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Critical Vulnerability (CV):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Their reliance on script-based malware and Live-off-the-Land (LOLBAS) techniques, which are easier to deobfuscate and detect with the right analytics.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Exploitation Plan: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Outpace the adversary by reducing detection time to near-real-time. We will create SIEM dashboards with "allow-list" logic for high-fidelity alerts on process creation and persistence changes, enabling immediate host quarantine.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Scheme of Maneuver (SOM)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Phase 1: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Preparation &amp; Baselining**: Set the defense. Identify critical data sources and establish a baseline of "known good" activity.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Phase 2: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Near-Real-Time Detection**: Ambush. Deploy "allow-list" SIEM dashboards to alert on any deviation from the baseline.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Phase 3: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Isolation &amp; Triage**: Fix the Enemy. Immediately quarantine alerted hosts and conduct live forensics.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Phase 4: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Scoping &amp; Hunt**: Exploit and Eradicate. Extract IoCs, hunt for other compromised hosts enterprise-wide, and repeat Phase 3.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•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Phase 5: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Information Dissemination**: Share IoCs and findings with higher echelons.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457200" y="1828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Fire Support Plan (FSP)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1" name="Table 3"/>
          <p:cNvGraphicFramePr/>
          <p:nvPr/>
        </p:nvGraphicFramePr>
        <p:xfrm>
          <a:off x="457200" y="1371600"/>
          <a:ext cx="8046360" cy="2926080"/>
        </p:xfrm>
        <a:graphic>
          <a:graphicData uri="http://schemas.openxmlformats.org/drawingml/2006/table">
            <a:tbl>
              <a:tblPr/>
              <a:tblGrid>
                <a:gridCol w="1371600"/>
                <a:gridCol w="1828800"/>
                <a:gridCol w="1828800"/>
                <a:gridCol w="1828800"/>
                <a:gridCol w="1188720"/>
              </a:tblGrid>
              <a:tr h="7315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Target Category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Trigger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Organic Action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Rear Echelon Action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Desired Effects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Adversary C2 Infrastructure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Confirmed beaconing from isolated host.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Block outbound traffic; submit RFF.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Conduct active recon &amp; exploit C2 node.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Degrade, Disrupt, Exploit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Adversary Staging Server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Novel payload URL extracted from memory.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Block downloads; submit RFF with URL.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Enumerate/download full toolkit; neutralize server.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Deny, Intelligence Gain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Compromised 3rd-Party Relay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Traffic identified routing through a known proxy.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Null-route traffic; submit RFF.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Coordinate with law enforcement or execute authorized DCORA.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Disrupt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457200" y="18288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Organic Asset Tasking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Table 3"/>
          <p:cNvGraphicFramePr/>
          <p:nvPr/>
        </p:nvGraphicFramePr>
        <p:xfrm>
          <a:off x="457200" y="1371600"/>
          <a:ext cx="804636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5760720"/>
              </a:tblGrid>
              <a:tr h="7315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Role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Key Responsibilities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Mission Commander (MC)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Authorize key actions (quarantine, RFF submission), manage risk.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Threat Intel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Provide initial TTPs, analyze extracted tools, update EMLCOA.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Network Analyst (NetOps)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Build/monitor SIEM dashboards, trigger alerts, block C2 IPs locally.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315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Host Analyst (HostOps)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Deploy EDR, execute immediate host quarantine, conduct live triage.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Conclusion &amp; Key Takeaways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Tempo is Everything: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Our plan is designed to outpace the adversary's "speed-over-stealth" methodology.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Vulnerability Exploitation: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We are directly targeting their reliance on script-based tools and LOLBAS.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Integrated Defense: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Success requires a seamless flow of information and action between NetOps, HostOps, and Intel.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Unity of Effort: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Clear roles and responsibilities prevent overlap and ensure we can execute the plan under pressure.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1" u="none" strike="noStrike">
                <a:solidFill>
                  <a:srgbClr val="002060"/>
                </a:solidFill>
                <a:effectLst/>
                <a:uFillTx/>
                <a:latin typeface="Calibri"/>
              </a:rPr>
              <a:t>Sources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</a:pP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UK NCSC: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Russia's FSB Malign Cyber Activity Factsheet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Palo Alto Unit 42: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Gamaredon/Primitive Bear Ukraine Update 2021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360"/>
              </a:spcBef>
              <a:buClr>
                <a:srgbClr val="323232"/>
              </a:buClr>
              <a:buFont typeface="Arial"/>
              <a:buChar char="–"/>
            </a:pPr>
            <a:r>
              <a:rPr lang="en-US" sz="1800" b="1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ESET Whitepaper: </a:t>
            </a:r>
            <a:r>
              <a:rPr lang="en-US" sz="1800" b="0" u="none" strike="noStrike">
                <a:solidFill>
                  <a:srgbClr val="323232"/>
                </a:solidFill>
                <a:effectLst/>
                <a:uFillTx/>
                <a:latin typeface="Calibri"/>
              </a:rPr>
              <a:t>The Gamaredon way of Cyberespionage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LibreOffice/26.8.1.1$Windows_X86_64 LibreOffice_project/bf6ef2662401c7d6dce671ab4deb26ee0af3a7c1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2026-10-13T15:07:10Z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