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9144000" cy="51435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 name="PlaceHolder 2"/>
          <p:cNvSpPr>
            <a:spLocks noGrp="1"/>
          </p:cNvSpPr>
          <p:nvPr>
            <p:ph type="ftr" idx="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 name="PlaceHolder 3"/>
          <p:cNvSpPr>
            <a:spLocks noGrp="1"/>
          </p:cNvSpPr>
          <p:nvPr>
            <p:ph type="sldNum" idx="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0C6C65C7-5AD7-4F28-814C-FA5CF5E97B7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2880"/>
            <a:ext cx="3007440" cy="11613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6" name="PlaceHolder 2"/>
          <p:cNvSpPr>
            <a:spLocks noGrp="1"/>
          </p:cNvSpPr>
          <p:nvPr>
            <p:ph type="body"/>
          </p:nvPr>
        </p:nvSpPr>
        <p:spPr>
          <a:xfrm>
            <a:off x="3575160" y="272880"/>
            <a:ext cx="5110920" cy="585252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7" name="PlaceHolder 3"/>
          <p:cNvSpPr>
            <a:spLocks noGrp="1"/>
          </p:cNvSpPr>
          <p:nvPr>
            <p:ph type="body"/>
          </p:nvPr>
        </p:nvSpPr>
        <p:spPr>
          <a:xfrm>
            <a:off x="457200" y="1434960"/>
            <a:ext cx="3007440" cy="46904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8" name="PlaceHolder 4"/>
          <p:cNvSpPr>
            <a:spLocks noGrp="1"/>
          </p:cNvSpPr>
          <p:nvPr>
            <p:ph type="dt" idx="4"/>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5"/>
          <p:cNvSpPr>
            <a:spLocks noGrp="1"/>
          </p:cNvSpPr>
          <p:nvPr>
            <p:ph type="ftr" idx="5"/>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6"/>
          <p:cNvSpPr>
            <a:spLocks noGrp="1"/>
          </p:cNvSpPr>
          <p:nvPr>
            <p:ph type="sldNum" idx="6"/>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CF136E90-CADE-4F86-9D11-10C758084FB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1792440" y="4800600"/>
            <a:ext cx="5485680" cy="56592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12" name="PlaceHolder 2"/>
          <p:cNvSpPr>
            <a:spLocks noGrp="1"/>
          </p:cNvSpPr>
          <p:nvPr>
            <p:ph type="body"/>
          </p:nvPr>
        </p:nvSpPr>
        <p:spPr>
          <a:xfrm>
            <a:off x="1792440" y="612720"/>
            <a:ext cx="5485680" cy="4114080"/>
          </a:xfrm>
          <a:prstGeom prst="rect">
            <a:avLst/>
          </a:prstGeom>
          <a:noFill/>
          <a:ln w="0">
            <a:noFill/>
          </a:ln>
        </p:spPr>
        <p:txBody>
          <a:bodyPr lIns="90000" tIns="45000" rIns="90000" bIns="45000" anchor="t">
            <a:noAutofit/>
          </a:bodyPr>
          <a:lstStyle>
            <a:lvl1pPr algn="l" defTabSz="457200">
              <a:lnSpc>
                <a:spcPct val="100000"/>
              </a:lnSpc>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7pPr>
          </a:lstStyle>
          <a:p>
            <a:pPr marL="432000" indent="-324000" algn="l" defTabSz="457200">
              <a:lnSpc>
                <a:spcPct val="100000"/>
              </a:lnSpc>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indent="-324000" algn="l" defTabSz="457200">
              <a:lnSpc>
                <a:spcPct val="100000"/>
              </a:lnSpc>
              <a:spcBef>
                <a:spcPts val="561"/>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indent="-288000" algn="l" defTabSz="457200">
              <a:lnSpc>
                <a:spcPct val="100000"/>
              </a:lnSpc>
              <a:spcBef>
                <a:spcPts val="479"/>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indent="-216000" algn="l" defTabSz="457200">
              <a:lnSpc>
                <a:spcPct val="100000"/>
              </a:lnSpc>
              <a:spcBef>
                <a:spcPts val="400"/>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indent="-216000" algn="l" defTabSz="457200">
              <a:lnSpc>
                <a:spcPct val="100000"/>
              </a:lnSpc>
              <a:spcBef>
                <a:spcPts val="400"/>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13" name="PlaceHolder 3"/>
          <p:cNvSpPr>
            <a:spLocks noGrp="1"/>
          </p:cNvSpPr>
          <p:nvPr>
            <p:ph type="body"/>
          </p:nvPr>
        </p:nvSpPr>
        <p:spPr>
          <a:xfrm>
            <a:off x="1792440" y="5367240"/>
            <a:ext cx="5485680" cy="8042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14" name="PlaceHolder 4"/>
          <p:cNvSpPr>
            <a:spLocks noGrp="1"/>
          </p:cNvSpPr>
          <p:nvPr>
            <p:ph type="dt" idx="7"/>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5" name="PlaceHolder 5"/>
          <p:cNvSpPr>
            <a:spLocks noGrp="1"/>
          </p:cNvSpPr>
          <p:nvPr>
            <p:ph type="ftr" idx="8"/>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 name="PlaceHolder 6"/>
          <p:cNvSpPr>
            <a:spLocks noGrp="1"/>
          </p:cNvSpPr>
          <p:nvPr>
            <p:ph type="sldNum" idx="9"/>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1C817F69-C4B7-4BDE-9BA2-4D137ED09C53}"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685800" y="2130480"/>
            <a:ext cx="7771680" cy="14691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8" name="PlaceHolder 2"/>
          <p:cNvSpPr>
            <a:spLocks noGrp="1"/>
          </p:cNvSpPr>
          <p:nvPr>
            <p:ph type="dt" idx="10"/>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3"/>
          <p:cNvSpPr>
            <a:spLocks noGrp="1"/>
          </p:cNvSpPr>
          <p:nvPr>
            <p:ph type="ftr" idx="11"/>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4"/>
          <p:cNvSpPr>
            <a:spLocks noGrp="1"/>
          </p:cNvSpPr>
          <p:nvPr>
            <p:ph type="sldNum" idx="12"/>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C5665AB9-8C9A-485F-8540-5219014AFBD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1" name="PlaceHolder 5"/>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3"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24" name="PlaceHolder 3"/>
          <p:cNvSpPr>
            <a:spLocks noGrp="1"/>
          </p:cNvSpPr>
          <p:nvPr>
            <p:ph type="dt" idx="13"/>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5D9F6185-DDCF-46E1-8628-269FC7CF3EFF}"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6629400" y="274680"/>
            <a:ext cx="2056680" cy="5850720"/>
          </a:xfrm>
          <a:prstGeom prst="rect">
            <a:avLst/>
          </a:prstGeom>
          <a:noFill/>
          <a:ln w="0">
            <a:noFill/>
          </a:ln>
        </p:spPr>
        <p:txBody>
          <a:bodyPr lIns="91440" tIns="45720" rIns="91440" bIns="45720" anchor="ctr" vert="eaVert">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8" name="PlaceHolder 2"/>
          <p:cNvSpPr>
            <a:spLocks noGrp="1"/>
          </p:cNvSpPr>
          <p:nvPr>
            <p:ph type="body"/>
          </p:nvPr>
        </p:nvSpPr>
        <p:spPr>
          <a:xfrm>
            <a:off x="457200" y="274680"/>
            <a:ext cx="6019200" cy="585072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29" name="PlaceHolder 3"/>
          <p:cNvSpPr>
            <a:spLocks noGrp="1"/>
          </p:cNvSpPr>
          <p:nvPr>
            <p:ph type="dt" idx="16"/>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4"/>
          <p:cNvSpPr>
            <a:spLocks noGrp="1"/>
          </p:cNvSpPr>
          <p:nvPr>
            <p:ph type="ftr" idx="17"/>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5"/>
          <p:cNvSpPr>
            <a:spLocks noGrp="1"/>
          </p:cNvSpPr>
          <p:nvPr>
            <p:ph type="sldNum" idx="18"/>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65EBCDAC-8DE7-4ACD-A712-3B8D8F26D89E}"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34" name="PlaceHolder 3"/>
          <p:cNvSpPr>
            <a:spLocks noGrp="1"/>
          </p:cNvSpPr>
          <p:nvPr>
            <p:ph type="dt" idx="19"/>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5" name="PlaceHolder 4"/>
          <p:cNvSpPr>
            <a:spLocks noGrp="1"/>
          </p:cNvSpPr>
          <p:nvPr>
            <p:ph type="ftr" idx="20"/>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6" name="PlaceHolder 5"/>
          <p:cNvSpPr>
            <a:spLocks noGrp="1"/>
          </p:cNvSpPr>
          <p:nvPr>
            <p:ph type="sldNum" idx="21"/>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99B2C44B-AA2F-4615-AC50-BCF0DF1482F8}"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722160" y="4406760"/>
            <a:ext cx="7771680" cy="13615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000" b="1" u="none" strike="noStrike" cap="all">
                <a:solidFill>
                  <a:schemeClr val="dk1"/>
                </a:solidFill>
                <a:effectLst/>
                <a:uFillTx/>
                <a:latin typeface="Calibri"/>
              </a:defRPr>
            </a:lvl1pPr>
          </a:lstStyle>
          <a:p>
            <a:pPr indent="0" algn="l" defTabSz="457200">
              <a:lnSpc>
                <a:spcPct val="100000"/>
              </a:lnSpc>
              <a:buNone/>
              <a:tabLst>
                <a:tab pos="0" algn="l"/>
              </a:tabLst>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38" name="PlaceHolder 2"/>
          <p:cNvSpPr>
            <a:spLocks noGrp="1"/>
          </p:cNvSpPr>
          <p:nvPr>
            <p:ph type="body"/>
          </p:nvPr>
        </p:nvSpPr>
        <p:spPr>
          <a:xfrm>
            <a:off x="722160" y="2906640"/>
            <a:ext cx="7771680" cy="149940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39" name="PlaceHolder 3"/>
          <p:cNvSpPr>
            <a:spLocks noGrp="1"/>
          </p:cNvSpPr>
          <p:nvPr>
            <p:ph type="dt" idx="22"/>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0" name="PlaceHolder 4"/>
          <p:cNvSpPr>
            <a:spLocks noGrp="1"/>
          </p:cNvSpPr>
          <p:nvPr>
            <p:ph type="ftr" idx="23"/>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1" name="PlaceHolder 5"/>
          <p:cNvSpPr>
            <a:spLocks noGrp="1"/>
          </p:cNvSpPr>
          <p:nvPr>
            <p:ph type="sldNum" idx="24"/>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ABE05A3C-4546-47FA-8F2D-3F648571C40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3" name="PlaceHolder 2"/>
          <p:cNvSpPr>
            <a:spLocks noGrp="1"/>
          </p:cNvSpPr>
          <p:nvPr>
            <p:ph type="body"/>
          </p:nvPr>
        </p:nvSpPr>
        <p:spPr>
          <a:xfrm>
            <a:off x="457200" y="1600200"/>
            <a:ext cx="4037760" cy="45252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4" name="PlaceHolder 3"/>
          <p:cNvSpPr>
            <a:spLocks noGrp="1"/>
          </p:cNvSpPr>
          <p:nvPr>
            <p:ph type="body"/>
          </p:nvPr>
        </p:nvSpPr>
        <p:spPr>
          <a:xfrm>
            <a:off x="4648320" y="1600200"/>
            <a:ext cx="4037760" cy="45252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5" name="PlaceHolder 4"/>
          <p:cNvSpPr>
            <a:spLocks noGrp="1"/>
          </p:cNvSpPr>
          <p:nvPr>
            <p:ph type="dt" idx="25"/>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6" name="PlaceHolder 5"/>
          <p:cNvSpPr>
            <a:spLocks noGrp="1"/>
          </p:cNvSpPr>
          <p:nvPr>
            <p:ph type="ftr" idx="26"/>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7" name="PlaceHolder 6"/>
          <p:cNvSpPr>
            <a:spLocks noGrp="1"/>
          </p:cNvSpPr>
          <p:nvPr>
            <p:ph type="sldNum" idx="27"/>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86955141-CC73-4F47-98E9-52D6D95BDF3F}"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9" name="PlaceHolder 2"/>
          <p:cNvSpPr>
            <a:spLocks noGrp="1"/>
          </p:cNvSpPr>
          <p:nvPr>
            <p:ph type="body"/>
          </p:nvPr>
        </p:nvSpPr>
        <p:spPr>
          <a:xfrm>
            <a:off x="457200" y="1535040"/>
            <a:ext cx="4039560" cy="6390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0" name="PlaceHolder 3"/>
          <p:cNvSpPr>
            <a:spLocks noGrp="1"/>
          </p:cNvSpPr>
          <p:nvPr>
            <p:ph type="body"/>
          </p:nvPr>
        </p:nvSpPr>
        <p:spPr>
          <a:xfrm>
            <a:off x="457200" y="2174760"/>
            <a:ext cx="4039560" cy="39506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1" name="PlaceHolder 4"/>
          <p:cNvSpPr>
            <a:spLocks noGrp="1"/>
          </p:cNvSpPr>
          <p:nvPr>
            <p:ph type="body"/>
          </p:nvPr>
        </p:nvSpPr>
        <p:spPr>
          <a:xfrm>
            <a:off x="4645080" y="1535040"/>
            <a:ext cx="4041000" cy="6390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2" name="PlaceHolder 5"/>
          <p:cNvSpPr>
            <a:spLocks noGrp="1"/>
          </p:cNvSpPr>
          <p:nvPr>
            <p:ph type="body"/>
          </p:nvPr>
        </p:nvSpPr>
        <p:spPr>
          <a:xfrm>
            <a:off x="4645080" y="2174760"/>
            <a:ext cx="4041000" cy="39506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3" name="PlaceHolder 6"/>
          <p:cNvSpPr>
            <a:spLocks noGrp="1"/>
          </p:cNvSpPr>
          <p:nvPr>
            <p:ph type="dt" idx="28"/>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4" name="PlaceHolder 7"/>
          <p:cNvSpPr>
            <a:spLocks noGrp="1"/>
          </p:cNvSpPr>
          <p:nvPr>
            <p:ph type="ftr" idx="29"/>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5" name="PlaceHolder 8"/>
          <p:cNvSpPr>
            <a:spLocks noGrp="1"/>
          </p:cNvSpPr>
          <p:nvPr>
            <p:ph type="sldNum" idx="30"/>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B96F1F8C-7DD2-44B7-A080-B75D727D94B0}"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7" name="PlaceHolder 2"/>
          <p:cNvSpPr>
            <a:spLocks noGrp="1"/>
          </p:cNvSpPr>
          <p:nvPr>
            <p:ph type="dt" idx="3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8" name="PlaceHolder 3"/>
          <p:cNvSpPr>
            <a:spLocks noGrp="1"/>
          </p:cNvSpPr>
          <p:nvPr>
            <p:ph type="ftr" idx="3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9" name="PlaceHolder 4"/>
          <p:cNvSpPr>
            <a:spLocks noGrp="1"/>
          </p:cNvSpPr>
          <p:nvPr>
            <p:ph type="sldNum" idx="3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B8BF87BB-8598-4554-AB71-6DF236376B89}"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60" name="PlaceHolder 5"/>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61" name="TextBox 2"/>
          <p:cNvSpPr/>
          <p:nvPr/>
        </p:nvSpPr>
        <p:spPr>
          <a:xfrm>
            <a:off x="3659760" y="182880"/>
            <a:ext cx="1823760" cy="9734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endParaRPr lang="en-US" sz="1800" b="0" u="none" strike="noStrike">
              <a:solidFill>
                <a:srgbClr val="000000"/>
              </a:solidFill>
              <a:effectLst/>
              <a:uFillTx/>
              <a:latin typeface="Arial"/>
            </a:endParaRPr>
          </a:p>
          <a:p>
            <a:pPr algn="ctr" defTabSz="457200">
              <a:lnSpc>
                <a:spcPct val="100000"/>
              </a:lnSpc>
            </a:pPr>
            <a:r>
              <a:rPr lang="en-US" sz="4000" b="1" u="none" strike="noStrike">
                <a:solidFill>
                  <a:srgbClr val="002060"/>
                </a:solidFill>
                <a:effectLst/>
                <a:uFillTx/>
                <a:latin typeface="Calibri"/>
              </a:rPr>
              <a:t>Mission</a:t>
            </a:r>
            <a:endParaRPr lang="en-US" sz="4000" b="0" u="none" strike="noStrike">
              <a:solidFill>
                <a:srgbClr val="000000"/>
              </a:solidFill>
              <a:effectLst/>
              <a:uFillTx/>
              <a:latin typeface="Arial"/>
            </a:endParaRPr>
          </a:p>
        </p:txBody>
      </p:sp>
      <p:sp>
        <p:nvSpPr>
          <p:cNvPr id="62" name="TextBox 3"/>
          <p:cNvSpPr/>
          <p:nvPr/>
        </p:nvSpPr>
        <p:spPr>
          <a:xfrm>
            <a:off x="914400" y="1859400"/>
            <a:ext cx="7314480" cy="2069280"/>
          </a:xfrm>
          <a:prstGeom prst="rect">
            <a:avLst/>
          </a:prstGeom>
          <a:noFill/>
          <a:ln w="0">
            <a:noFill/>
          </a:ln>
        </p:spPr>
        <p:style>
          <a:lnRef idx="0"/>
          <a:fillRef idx="0"/>
          <a:effectRef idx="0"/>
          <a:fontRef idx="minor"/>
        </p:style>
        <p:txBody>
          <a:bodyPr lIns="90000" tIns="45000" rIns="90000" bIns="45000" anchor="ctr">
            <a:spAutoFit/>
          </a:bodyPr>
          <a:p>
            <a:pPr defTabSz="457200">
              <a:lnSpc>
                <a:spcPct val="100000"/>
              </a:lnSpc>
            </a:pPr>
            <a:r>
              <a:rPr lang="en-US" sz="2600" b="0" u="none" strike="noStrike">
                <a:solidFill>
                  <a:srgbClr val="323232"/>
                </a:solidFill>
                <a:effectLst/>
                <a:uFillTx/>
                <a:latin typeface="Calibri"/>
              </a:rPr>
              <a:t>Deny or degrade the Varenskian actor’s ability to collect intelligence from the defended Lunovian government network in order to preserve friendly freedom of maneuver in cyberspace and generate options for pursuit.</a:t>
            </a:r>
            <a:endParaRPr lang="en-US" sz="2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320"/>
            <a:ext cx="8228880" cy="1143000"/>
          </a:xfrm>
          <a:prstGeom prst="rect">
            <a:avLst/>
          </a:prstGeom>
          <a:noFill/>
          <a:ln w="0">
            <a:noFill/>
          </a:ln>
        </p:spPr>
        <p:txBody>
          <a:bodyPr lIns="0" tIns="0" rIns="0" bIns="0" anchor="ctr">
            <a:spAutoFit/>
          </a:bodyPr>
          <a:p>
            <a:pPr indent="0" algn="ctr" defTabSz="457200">
              <a:lnSpc>
                <a:spcPct val="100000"/>
              </a:lnSpc>
              <a:buNone/>
              <a:tabLst>
                <a:tab pos="0" algn="l"/>
              </a:tabLst>
            </a:pPr>
            <a:r>
              <a:rPr lang="en-US" sz="4400" b="0" u="none" strike="noStrike">
                <a:solidFill>
                  <a:schemeClr val="dk1"/>
                </a:solidFill>
                <a:effectLst/>
                <a:uFillTx/>
                <a:latin typeface="Calibri"/>
              </a:rPr>
              <a:t>Tasks and Constraints  </a:t>
            </a:r>
            <a:endParaRPr lang="en-US" sz="4400" b="0" u="none" strike="noStrike">
              <a:solidFill>
                <a:schemeClr val="dk1"/>
              </a:solidFill>
              <a:effectLst/>
              <a:uFillTx/>
              <a:latin typeface="Calibri"/>
            </a:endParaRPr>
          </a:p>
        </p:txBody>
      </p:sp>
      <p:sp>
        <p:nvSpPr>
          <p:cNvPr id="64" name=""/>
          <p:cNvSpPr/>
          <p:nvPr/>
        </p:nvSpPr>
        <p:spPr>
          <a:xfrm>
            <a:off x="685800" y="1600200"/>
            <a:ext cx="7772040" cy="3200040"/>
          </a:xfrm>
          <a:prstGeom prst="rect">
            <a:avLst/>
          </a:prstGeom>
          <a:noFill/>
          <a:ln w="0">
            <a:noFill/>
          </a:ln>
        </p:spPr>
        <p:style>
          <a:lnRef idx="0"/>
          <a:fillRef idx="0"/>
          <a:effectRef idx="0"/>
          <a:fontRef idx="minor"/>
        </p:style>
        <p:txBody>
          <a:bodyPr lIns="90000" tIns="45000" rIns="90000" bIns="45000" anchor="t">
            <a:spAutoFit/>
          </a:bodyPr>
          <a:p>
            <a:endParaRPr lang="en-US" sz="1800" b="0" u="none" strike="noStrike">
              <a:solidFill>
                <a:srgbClr val="000000"/>
              </a:solidFill>
              <a:effectLst/>
              <a:uFillTx/>
              <a:latin typeface="Arial"/>
            </a:endParaRPr>
          </a:p>
        </p:txBody>
      </p:sp>
      <p:sp>
        <p:nvSpPr>
          <p:cNvPr id="65" name=""/>
          <p:cNvSpPr/>
          <p:nvPr/>
        </p:nvSpPr>
        <p:spPr>
          <a:xfrm>
            <a:off x="35280" y="1177200"/>
            <a:ext cx="8193960" cy="35658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endParaRPr lang="en-US" sz="2000" b="0" u="none" strike="noStrike">
              <a:solidFill>
                <a:srgbClr val="000000"/>
              </a:solidFill>
              <a:effectLst/>
              <a:uFillTx/>
              <a:latin typeface="Arial"/>
            </a:endParaRPr>
          </a:p>
          <a:p>
            <a:pPr>
              <a:lnSpc>
                <a:spcPct val="100000"/>
              </a:lnSpc>
            </a:pPr>
            <a:r>
              <a:rPr lang="en-US" sz="2000" b="0" u="none" strike="noStrike">
                <a:solidFill>
                  <a:srgbClr val="000000"/>
                </a:solidFill>
                <a:effectLst/>
                <a:uFillTx/>
                <a:latin typeface="Arial"/>
              </a:rPr>
              <a:t>Explicit Tasks- deny or degrade, Generate options for pursuit  </a:t>
            </a:r>
            <a:endParaRPr lang="en-US" sz="2000" b="0" u="none" strike="noStrike">
              <a:solidFill>
                <a:srgbClr val="000000"/>
              </a:solidFill>
              <a:effectLst/>
              <a:uFillTx/>
              <a:latin typeface="Arial"/>
            </a:endParaRPr>
          </a:p>
          <a:p>
            <a:pPr>
              <a:lnSpc>
                <a:spcPct val="100000"/>
              </a:lnSpc>
            </a:pPr>
            <a:endParaRPr lang="en-US" sz="2000" b="0" u="none" strike="noStrike">
              <a:solidFill>
                <a:srgbClr val="000000"/>
              </a:solidFill>
              <a:effectLst/>
              <a:uFillTx/>
              <a:latin typeface="Arial"/>
            </a:endParaRPr>
          </a:p>
          <a:p>
            <a:pPr>
              <a:lnSpc>
                <a:spcPct val="100000"/>
              </a:lnSpc>
            </a:pPr>
            <a:r>
              <a:rPr lang="en-US" sz="2000" b="0" u="none" strike="noStrike">
                <a:solidFill>
                  <a:srgbClr val="000000"/>
                </a:solidFill>
                <a:effectLst/>
                <a:uFillTx/>
                <a:latin typeface="Arial"/>
              </a:rPr>
              <a:t>Implied Tasks: METT-TC packet completed. One-paragraph EMLCOA with actions-on-contact reasoning.</a:t>
            </a:r>
            <a:endParaRPr lang="en-US" sz="2000" b="0" u="none" strike="noStrike">
              <a:solidFill>
                <a:srgbClr val="000000"/>
              </a:solidFill>
              <a:effectLst/>
              <a:uFillTx/>
              <a:latin typeface="Arial"/>
            </a:endParaRPr>
          </a:p>
          <a:p>
            <a:pPr>
              <a:lnSpc>
                <a:spcPct val="100000"/>
              </a:lnSpc>
            </a:pPr>
            <a:r>
              <a:rPr lang="en-US" sz="2000" b="0" u="none" strike="noStrike">
                <a:solidFill>
                  <a:srgbClr val="000000"/>
                </a:solidFill>
                <a:effectLst/>
                <a:uFillTx/>
                <a:latin typeface="Arial"/>
              </a:rPr>
              <a:t>Candidate CG/CV pair with exploitation-framing question, confidence statement, and RFIs.</a:t>
            </a:r>
            <a:endParaRPr lang="en-US" sz="2000" b="0" u="none" strike="noStrike">
              <a:solidFill>
                <a:srgbClr val="000000"/>
              </a:solidFill>
              <a:effectLst/>
              <a:uFillTx/>
              <a:latin typeface="Arial"/>
            </a:endParaRPr>
          </a:p>
          <a:p>
            <a:pPr>
              <a:lnSpc>
                <a:spcPct val="100000"/>
              </a:lnSpc>
              <a:spcBef>
                <a:spcPts val="1191"/>
              </a:spcBef>
              <a:spcAft>
                <a:spcPts val="992"/>
              </a:spcAft>
            </a:pPr>
            <a:r>
              <a:rPr lang="en-US" sz="2000" b="0" u="none" strike="noStrike">
                <a:solidFill>
                  <a:srgbClr val="000000"/>
                </a:solidFill>
                <a:effectLst/>
                <a:uFillTx/>
                <a:latin typeface="Arial"/>
                <a:ea typeface="Microsoft YaHei"/>
              </a:rPr>
              <a:t>Constraints: Preserve friendly freedoms, Avoid unnecessary disruption to government services </a:t>
            </a:r>
            <a:endParaRPr lang="en-US" sz="2000" b="0" u="none" strike="noStrike">
              <a:solidFill>
                <a:srgbClr val="000000"/>
              </a:solidFill>
              <a:effectLst/>
              <a:uFillTx/>
              <a:latin typeface="Arial"/>
            </a:endParaRPr>
          </a:p>
          <a:p>
            <a:pPr>
              <a:lnSpc>
                <a:spcPct val="100000"/>
              </a:lnSpc>
            </a:pPr>
            <a:endParaRPr lang="en-US" sz="1000" b="0" u="none" strike="noStrike">
              <a:solidFill>
                <a:srgbClr val="000000"/>
              </a:solidFill>
              <a:effectLst/>
              <a:uFillTx/>
              <a:latin typeface="Arial"/>
            </a:endParaRPr>
          </a:p>
          <a:p>
            <a:pPr>
              <a:lnSpc>
                <a:spcPct val="100000"/>
              </a:lnSpc>
            </a:pPr>
            <a:endParaRPr lang="en-US" sz="1000" b="0" u="none" strike="noStrike">
              <a:solidFill>
                <a:srgbClr val="000000"/>
              </a:solidFill>
              <a:effectLst/>
              <a:uFillTx/>
              <a:latin typeface="Arial"/>
            </a:endParaRPr>
          </a:p>
          <a:p>
            <a:pPr>
              <a:lnSpc>
                <a:spcPct val="100000"/>
              </a:lnSpc>
            </a:pP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p>
            <a:pPr indent="0" algn="ctr" defTabSz="457200">
              <a:lnSpc>
                <a:spcPct val="100000"/>
              </a:lnSpc>
              <a:buNone/>
              <a:tabLst>
                <a:tab pos="0" algn="l"/>
              </a:tabLst>
            </a:pPr>
            <a:r>
              <a:rPr lang="en-US" sz="4400" b="1" u="none" strike="noStrike">
                <a:solidFill>
                  <a:srgbClr val="002060"/>
                </a:solidFill>
                <a:effectLst/>
                <a:uFillTx/>
                <a:latin typeface="Calibri"/>
              </a:rPr>
              <a:t>Enemy Analysis: FSB Center 18 (SALUTE Report)</a:t>
            </a:r>
            <a:endParaRPr lang="en-US" sz="4400" b="0" u="none" strike="noStrike">
              <a:solidFill>
                <a:schemeClr val="dk1"/>
              </a:solidFill>
              <a:effectLst/>
              <a:uFillTx/>
              <a:latin typeface="Calibri"/>
            </a:endParaRPr>
          </a:p>
        </p:txBody>
      </p:sp>
      <p:sp>
        <p:nvSpPr>
          <p:cNvPr id="67" name="PlaceHolder 2"/>
          <p:cNvSpPr>
            <a:spLocks noGrp="1"/>
          </p:cNvSpPr>
          <p:nvPr>
            <p:ph/>
          </p:nvPr>
        </p:nvSpPr>
        <p:spPr>
          <a:xfrm>
            <a:off x="457200" y="1600200"/>
            <a:ext cx="8228880" cy="4525200"/>
          </a:xfrm>
          <a:prstGeom prst="rect">
            <a:avLst/>
          </a:prstGeom>
          <a:noFill/>
          <a:ln w="0">
            <a:noFill/>
          </a:ln>
        </p:spPr>
        <p:txBody>
          <a:bodyPr lIns="91440" tIns="45720" rIns="91440" bIns="45720" anchor="t">
            <a:noAutofit/>
          </a:bodyPr>
          <a:p>
            <a:pPr indent="0" algn="l" defTabSz="457200">
              <a:lnSpc>
                <a:spcPct val="100000"/>
              </a:lnSpc>
              <a:spcBef>
                <a:spcPts val="641"/>
              </a:spcBef>
              <a:buNone/>
              <a:tabLst>
                <a:tab pos="0" algn="l"/>
              </a:tabLst>
            </a:pPr>
            <a:endParaRPr lang="en-US" sz="32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Size: </a:t>
            </a:r>
            <a:r>
              <a:rPr lang="en-US" sz="1800" b="0" u="none" strike="noStrike">
                <a:solidFill>
                  <a:srgbClr val="323232"/>
                </a:solidFill>
                <a:effectLst/>
                <a:uFillTx/>
                <a:latin typeface="Calibri"/>
              </a:rPr>
              <a:t>Assumed to be well-funded and well-resourced as part of the Varesk ISB.</a:t>
            </a:r>
            <a:endParaRPr lang="en-US" sz="18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Activity: </a:t>
            </a:r>
            <a:r>
              <a:rPr lang="en-US" sz="1800" b="0" u="none" strike="noStrike">
                <a:solidFill>
                  <a:srgbClr val="323232"/>
                </a:solidFill>
                <a:effectLst/>
                <a:uFillTx/>
                <a:latin typeface="Calibri"/>
              </a:rPr>
              <a:t>Cyberespionage, focused on data theft.</a:t>
            </a:r>
            <a:endParaRPr lang="en-US" sz="1800" b="0" u="none" strike="noStrike">
              <a:solidFill>
                <a:schemeClr val="dk1"/>
              </a:solidFill>
              <a:effectLst/>
              <a:uFillTx/>
              <a:latin typeface="Calibri"/>
            </a:endParaRPr>
          </a:p>
          <a:p>
            <a:pPr marL="343080" indent="-343080" algn="l" defTabSz="457200">
              <a:lnSpc>
                <a:spcPct val="100000"/>
              </a:lnSpc>
              <a:spcBef>
                <a:spcPts val="641"/>
              </a:spcBef>
              <a:buClr>
                <a:srgbClr val="000000"/>
              </a:buClr>
              <a:buFont typeface="Arial"/>
              <a:buChar char="•"/>
              <a:tabLst>
                <a:tab pos="0" algn="l"/>
              </a:tabLst>
            </a:pPr>
            <a:r>
              <a:rPr lang="en-US" sz="1800" b="1" u="none" strike="noStrike">
                <a:solidFill>
                  <a:srgbClr val="323232"/>
                </a:solidFill>
                <a:effectLst/>
                <a:uFillTx/>
                <a:latin typeface="Calibri"/>
                <a:ea typeface="Microsoft YaHei"/>
              </a:rPr>
              <a:t>Location: </a:t>
            </a:r>
            <a:r>
              <a:rPr lang="en-US" sz="1800" b="0" u="none" strike="noStrike">
                <a:solidFill>
                  <a:srgbClr val="323232"/>
                </a:solidFill>
                <a:effectLst/>
                <a:uFillTx/>
                <a:latin typeface="Calibri"/>
                <a:ea typeface="Microsoft YaHei"/>
              </a:rPr>
              <a:t>Physically based in Varesk; operates within Lunovian networks.</a:t>
            </a:r>
            <a:endParaRPr lang="en-US" sz="18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ea typeface="Microsoft YaHei"/>
              </a:rPr>
              <a:t>Unit:</a:t>
            </a:r>
            <a:r>
              <a:rPr lang="en-US" sz="1800" b="0" u="none" strike="noStrike">
                <a:solidFill>
                  <a:srgbClr val="323232"/>
                </a:solidFill>
                <a:effectLst/>
                <a:uFillTx/>
                <a:latin typeface="Calibri"/>
                <a:ea typeface="Microsoft YaHei"/>
              </a:rPr>
              <a:t> Unit 18 “Amber Tide” is a Varensk-aligned advanced persistent threat (APT)</a:t>
            </a:r>
            <a:endParaRPr lang="en-US" sz="18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ea typeface="Microsoft YaHei"/>
              </a:rPr>
              <a:t>Time: </a:t>
            </a:r>
            <a:r>
              <a:rPr lang="en-US" sz="1800" b="0" u="none" strike="noStrike">
                <a:solidFill>
                  <a:srgbClr val="323232"/>
                </a:solidFill>
                <a:effectLst/>
                <a:uFillTx/>
                <a:latin typeface="Calibri"/>
                <a:ea typeface="Microsoft YaHei"/>
              </a:rPr>
              <a:t>Currently and Since 2013 </a:t>
            </a:r>
            <a:endParaRPr lang="en-US" sz="18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ea typeface="Microsoft YaHei"/>
              </a:rPr>
              <a:t>Equipment: </a:t>
            </a:r>
            <a:r>
              <a:rPr lang="en-US" sz="1800" b="0" u="none" strike="noStrike">
                <a:solidFill>
                  <a:srgbClr val="323232"/>
                </a:solidFill>
                <a:effectLst/>
                <a:uFillTx/>
                <a:latin typeface="Calibri"/>
                <a:ea typeface="Microsoft YaHei"/>
              </a:rPr>
              <a:t>Script-based tools (PowerShell, VBScript), droppers, stealers, and backdoors designed to bypass endpoint protection.</a:t>
            </a: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p>
            <a:pPr indent="0" algn="ctr" defTabSz="457200">
              <a:lnSpc>
                <a:spcPct val="100000"/>
              </a:lnSpc>
              <a:buNone/>
              <a:tabLst>
                <a:tab pos="0" algn="l"/>
              </a:tabLst>
            </a:pPr>
            <a:r>
              <a:rPr lang="en-US" sz="4400" b="1" u="none" strike="noStrike">
                <a:solidFill>
                  <a:srgbClr val="002060"/>
                </a:solidFill>
                <a:effectLst/>
                <a:uFillTx/>
                <a:latin typeface="Calibri"/>
              </a:rPr>
              <a:t>Enemy Capabilities &amp; Limitations (DRAWD)</a:t>
            </a:r>
            <a:endParaRPr lang="en-US" sz="4400" b="0" u="none" strike="noStrike">
              <a:solidFill>
                <a:schemeClr val="dk1"/>
              </a:solidFill>
              <a:effectLst/>
              <a:uFillTx/>
              <a:latin typeface="Calibri"/>
            </a:endParaRPr>
          </a:p>
        </p:txBody>
      </p:sp>
      <p:sp>
        <p:nvSpPr>
          <p:cNvPr id="69" name="PlaceHolder 2"/>
          <p:cNvSpPr>
            <a:spLocks noGrp="1"/>
          </p:cNvSpPr>
          <p:nvPr>
            <p:ph/>
          </p:nvPr>
        </p:nvSpPr>
        <p:spPr>
          <a:xfrm>
            <a:off x="228600" y="914400"/>
            <a:ext cx="8228880" cy="4525200"/>
          </a:xfrm>
          <a:prstGeom prst="rect">
            <a:avLst/>
          </a:prstGeom>
          <a:noFill/>
          <a:ln w="0">
            <a:noFill/>
          </a:ln>
        </p:spPr>
        <p:txBody>
          <a:bodyPr lIns="91440" tIns="45720" rIns="91440" bIns="45720" anchor="t">
            <a:noAutofit/>
          </a:bodyPr>
          <a:p>
            <a:pPr indent="0" algn="l" defTabSz="457200">
              <a:lnSpc>
                <a:spcPct val="100000"/>
              </a:lnSpc>
              <a:spcBef>
                <a:spcPts val="641"/>
              </a:spcBef>
              <a:buNone/>
              <a:tabLst>
                <a:tab pos="0" algn="l"/>
              </a:tabLst>
            </a:pPr>
            <a:endParaRPr lang="en-US" sz="32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200" b="1" u="none" strike="noStrike">
                <a:solidFill>
                  <a:srgbClr val="323232"/>
                </a:solidFill>
                <a:effectLst/>
                <a:uFillTx/>
                <a:latin typeface="Calibri"/>
              </a:rPr>
              <a:t>Defend: </a:t>
            </a:r>
            <a:r>
              <a:rPr lang="en-US" sz="1200" b="0" u="none" strike="noStrike">
                <a:solidFill>
                  <a:srgbClr val="323232"/>
                </a:solidFill>
                <a:effectLst/>
                <a:uFillTx/>
                <a:latin typeface="Calibri"/>
              </a:rPr>
              <a:t>Persistence mechanisms were deployed. Multi-layer string splitting/concatenation, base64, random variable/function names, registry-based fileless storage, and environmental keying.</a:t>
            </a:r>
            <a:endParaRPr lang="en-US" sz="1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1200" b="0" u="none" strike="noStrike">
                <a:solidFill>
                  <a:srgbClr val="323232"/>
                </a:solidFill>
                <a:effectLst/>
                <a:uFillTx/>
                <a:latin typeface="Calibri"/>
              </a:rPr>
              <a:t>RFI- Conditions, </a:t>
            </a:r>
            <a:endParaRPr lang="en-US" sz="1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1200" b="0" u="none" strike="noStrike">
                <a:solidFill>
                  <a:srgbClr val="323232"/>
                </a:solidFill>
                <a:effectLst/>
                <a:uFillTx/>
                <a:latin typeface="Calibri"/>
              </a:rPr>
              <a:t>Limitation – easier to analyze  </a:t>
            </a:r>
            <a:endParaRPr lang="en-US" sz="12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200" b="1" u="none" strike="noStrike">
                <a:solidFill>
                  <a:srgbClr val="323232"/>
                </a:solidFill>
                <a:effectLst/>
                <a:uFillTx/>
                <a:latin typeface="Calibri"/>
              </a:rPr>
              <a:t>Reinforce: </a:t>
            </a:r>
            <a:r>
              <a:rPr lang="en-US" sz="1200" b="0" u="none" strike="noStrike">
                <a:solidFill>
                  <a:srgbClr val="323232"/>
                </a:solidFill>
                <a:effectLst/>
                <a:uFillTx/>
                <a:latin typeface="Calibri"/>
              </a:rPr>
              <a:t>Metasploit Framework integration, utilities for cloud transfers, and additional payload delivery.</a:t>
            </a:r>
            <a:endParaRPr lang="en-US" sz="1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1200" b="0" u="none" strike="noStrike">
                <a:solidFill>
                  <a:srgbClr val="323232"/>
                </a:solidFill>
                <a:effectLst/>
                <a:uFillTx/>
                <a:latin typeface="Calibri"/>
              </a:rPr>
              <a:t>RFI- Conditions, limitations </a:t>
            </a:r>
            <a:endParaRPr lang="en-US" sz="12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200" b="1" u="none" strike="noStrike">
                <a:solidFill>
                  <a:srgbClr val="323232"/>
                </a:solidFill>
                <a:effectLst/>
                <a:uFillTx/>
                <a:latin typeface="Calibri"/>
              </a:rPr>
              <a:t>Attack: </a:t>
            </a:r>
            <a:r>
              <a:rPr lang="en-US" sz="1200" b="0" u="none" strike="noStrike">
                <a:solidFill>
                  <a:srgbClr val="323232"/>
                </a:solidFill>
                <a:effectLst/>
                <a:uFillTx/>
                <a:latin typeface="Calibri"/>
              </a:rPr>
              <a:t>Capable of destructive attacks, but their mission is collection, not destruction. No destructive attacks observed.</a:t>
            </a:r>
            <a:endParaRPr lang="en-US" sz="1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1200" b="0" u="none" strike="noStrike">
                <a:solidFill>
                  <a:srgbClr val="323232"/>
                </a:solidFill>
                <a:effectLst/>
                <a:uFillTx/>
                <a:latin typeface="Calibri"/>
              </a:rPr>
              <a:t>RFI- Conditions, limitations </a:t>
            </a:r>
            <a:endParaRPr lang="en-US" sz="12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200" b="1" u="none" strike="noStrike">
                <a:solidFill>
                  <a:srgbClr val="323232"/>
                </a:solidFill>
                <a:effectLst/>
                <a:uFillTx/>
                <a:latin typeface="Calibri"/>
              </a:rPr>
              <a:t>Withdraw: </a:t>
            </a:r>
            <a:r>
              <a:rPr lang="en-US" sz="1200" b="0" u="none" strike="noStrike">
                <a:solidFill>
                  <a:srgbClr val="323232"/>
                </a:solidFill>
                <a:effectLst/>
                <a:uFillTx/>
                <a:latin typeface="Calibri"/>
              </a:rPr>
              <a:t>Document exfiltration occurred before detection.</a:t>
            </a:r>
            <a:endParaRPr lang="en-US" sz="1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1200" b="0" u="none" strike="noStrike">
                <a:solidFill>
                  <a:srgbClr val="323232"/>
                </a:solidFill>
                <a:effectLst/>
                <a:uFillTx/>
                <a:latin typeface="Calibri"/>
              </a:rPr>
              <a:t>RFI- Conditions, limitations </a:t>
            </a:r>
            <a:endParaRPr lang="en-US" sz="12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200" b="1" u="none" strike="noStrike">
                <a:solidFill>
                  <a:srgbClr val="323232"/>
                </a:solidFill>
                <a:effectLst/>
                <a:uFillTx/>
                <a:latin typeface="Calibri"/>
                <a:ea typeface="Microsoft YaHei"/>
              </a:rPr>
              <a:t>Delay: </a:t>
            </a:r>
            <a:r>
              <a:rPr lang="en-US" sz="1200" b="0" u="none" strike="noStrike">
                <a:solidFill>
                  <a:srgbClr val="323232"/>
                </a:solidFill>
                <a:effectLst/>
                <a:uFillTx/>
                <a:latin typeface="Calibri"/>
                <a:ea typeface="Microsoft YaHei"/>
              </a:rPr>
              <a:t>Uses heavy obfuscation and high-volume activity to overwhelm and delay defenders. Multi-layer string splitting/concatenation, base64, random variable/function names, registry-based fileless storage, and environmental keying.</a:t>
            </a:r>
            <a:endParaRPr lang="en-US" sz="1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1200" b="0" u="none" strike="noStrike">
                <a:solidFill>
                  <a:srgbClr val="323232"/>
                </a:solidFill>
                <a:effectLst/>
                <a:uFillTx/>
                <a:latin typeface="Calibri"/>
                <a:ea typeface="Microsoft YaHei"/>
              </a:rPr>
              <a:t>RFI- Conditions, limitations </a:t>
            </a:r>
            <a:endParaRPr lang="en-US" sz="12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p>
            <a:pPr indent="0" algn="ctr" defTabSz="457200">
              <a:lnSpc>
                <a:spcPct val="100000"/>
              </a:lnSpc>
              <a:buNone/>
              <a:tabLst>
                <a:tab pos="0" algn="l"/>
              </a:tabLst>
            </a:pPr>
            <a:r>
              <a:rPr lang="en-US" sz="4400" b="1" u="none" strike="noStrike">
                <a:solidFill>
                  <a:srgbClr val="002060"/>
                </a:solidFill>
                <a:effectLst/>
                <a:uFillTx/>
                <a:latin typeface="Calibri"/>
              </a:rPr>
              <a:t>Troops and Fire Support Available (Organic)</a:t>
            </a:r>
            <a:endParaRPr lang="en-US" sz="4400" b="0" u="none" strike="noStrike">
              <a:solidFill>
                <a:schemeClr val="dk1"/>
              </a:solidFill>
              <a:effectLst/>
              <a:uFillTx/>
              <a:latin typeface="Calibri"/>
            </a:endParaRPr>
          </a:p>
        </p:txBody>
      </p:sp>
      <p:sp>
        <p:nvSpPr>
          <p:cNvPr id="71" name="PlaceHolder 2"/>
          <p:cNvSpPr>
            <a:spLocks noGrp="1"/>
          </p:cNvSpPr>
          <p:nvPr>
            <p:ph/>
          </p:nvPr>
        </p:nvSpPr>
        <p:spPr>
          <a:xfrm>
            <a:off x="228600" y="1418400"/>
            <a:ext cx="8228880" cy="4525200"/>
          </a:xfrm>
          <a:prstGeom prst="rect">
            <a:avLst/>
          </a:prstGeom>
          <a:noFill/>
          <a:ln w="0">
            <a:noFill/>
          </a:ln>
        </p:spPr>
        <p:txBody>
          <a:bodyPr lIns="91440" tIns="45720" rIns="91440" bIns="45720" anchor="t">
            <a:noAutofit/>
          </a:bodyPr>
          <a:p>
            <a:pPr indent="0" algn="l" defTabSz="457200">
              <a:lnSpc>
                <a:spcPct val="100000"/>
              </a:lnSpc>
              <a:spcBef>
                <a:spcPts val="641"/>
              </a:spcBef>
              <a:buNone/>
              <a:tabLst>
                <a:tab pos="0" algn="l"/>
              </a:tabLst>
            </a:pPr>
            <a:endParaRPr lang="en-US" sz="32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Analysts: </a:t>
            </a:r>
            <a:r>
              <a:rPr lang="en-US" sz="1800" b="0" u="none" strike="noStrike">
                <a:solidFill>
                  <a:srgbClr val="323232"/>
                </a:solidFill>
                <a:effectLst/>
                <a:uFillTx/>
                <a:latin typeface="Calibri"/>
              </a:rPr>
              <a:t>3 Host Analysts, 3 Network Analysts, 1 All-Source Analyst</a:t>
            </a:r>
            <a:endParaRPr lang="en-US" sz="18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Operators: </a:t>
            </a:r>
            <a:r>
              <a:rPr lang="en-US" sz="1800" b="0" u="none" strike="noStrike">
                <a:solidFill>
                  <a:srgbClr val="323232"/>
                </a:solidFill>
                <a:effectLst/>
                <a:uFillTx/>
                <a:latin typeface="Calibri"/>
              </a:rPr>
              <a:t>1 Certified Counter-Strike Operator, 1 Certified Malware Analyst</a:t>
            </a:r>
            <a:endParaRPr lang="en-US" sz="18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Fire Support: </a:t>
            </a:r>
            <a:r>
              <a:rPr lang="en-US" sz="1800" b="0" u="none" strike="noStrike">
                <a:solidFill>
                  <a:srgbClr val="323232"/>
                </a:solidFill>
                <a:effectLst/>
                <a:uFillTx/>
                <a:latin typeface="Calibri"/>
              </a:rPr>
              <a:t>1 SBO ME in Direct Support</a:t>
            </a:r>
            <a:endParaRPr lang="en-US" sz="18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Equipment: </a:t>
            </a:r>
            <a:r>
              <a:rPr lang="en-US" sz="1800" b="0" u="none" strike="noStrike">
                <a:solidFill>
                  <a:srgbClr val="323232"/>
                </a:solidFill>
                <a:effectLst/>
                <a:uFillTx/>
                <a:latin typeface="Calibri"/>
              </a:rPr>
              <a:t>Standard complement of tools (network taps, forensic workstations, etc.)</a:t>
            </a:r>
            <a:endParaRPr lang="en-US" sz="18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Attachments: </a:t>
            </a:r>
            <a:r>
              <a:rPr lang="en-US" sz="1800" b="0" u="none" strike="noStrike">
                <a:solidFill>
                  <a:srgbClr val="323232"/>
                </a:solidFill>
                <a:effectLst/>
                <a:uFillTx/>
                <a:latin typeface="Calibri"/>
              </a:rPr>
              <a:t>None.</a:t>
            </a: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72" name="TextBox 2"/>
          <p:cNvSpPr/>
          <p:nvPr/>
        </p:nvSpPr>
        <p:spPr>
          <a:xfrm>
            <a:off x="457200" y="182880"/>
            <a:ext cx="8228880" cy="9136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endParaRPr lang="en-US" sz="1800" b="0" u="none" strike="noStrike">
              <a:solidFill>
                <a:srgbClr val="000000"/>
              </a:solidFill>
              <a:effectLst/>
              <a:uFillTx/>
              <a:latin typeface="Arial"/>
            </a:endParaRPr>
          </a:p>
          <a:p>
            <a:pPr defTabSz="457200">
              <a:lnSpc>
                <a:spcPct val="100000"/>
              </a:lnSpc>
            </a:pPr>
            <a:r>
              <a:rPr lang="en-US" sz="4000" b="1" u="none" strike="noStrike">
                <a:solidFill>
                  <a:srgbClr val="002060"/>
                </a:solidFill>
                <a:effectLst/>
                <a:uFillTx/>
                <a:latin typeface="Calibri"/>
              </a:rPr>
              <a:t>Terrain Analysis (OCOKAW)</a:t>
            </a:r>
            <a:endParaRPr lang="en-US" sz="4000" b="0" u="none" strike="noStrike">
              <a:solidFill>
                <a:srgbClr val="000000"/>
              </a:solidFill>
              <a:effectLst/>
              <a:uFillTx/>
              <a:latin typeface="Arial"/>
            </a:endParaRPr>
          </a:p>
        </p:txBody>
      </p:sp>
      <p:graphicFrame>
        <p:nvGraphicFramePr>
          <p:cNvPr id="73" name="Table 3"/>
          <p:cNvGraphicFramePr/>
          <p:nvPr/>
        </p:nvGraphicFramePr>
        <p:xfrm>
          <a:off x="457200" y="1371600"/>
          <a:ext cx="8046360" cy="5120640"/>
        </p:xfrm>
        <a:graphic>
          <a:graphicData uri="http://schemas.openxmlformats.org/drawingml/2006/table">
            <a:tbl>
              <a:tblPr/>
              <a:tblGrid>
                <a:gridCol w="1645920"/>
                <a:gridCol w="3200400"/>
                <a:gridCol w="3200400"/>
              </a:tblGrid>
              <a:tr h="731520">
                <a:tc>
                  <a:txBody>
                    <a:bodyPr anchor="ctr">
                      <a:noAutofit/>
                    </a:bodyPr>
                    <a:p>
                      <a:pPr defTabSz="457200">
                        <a:lnSpc>
                          <a:spcPct val="100000"/>
                        </a:lnSpc>
                      </a:pPr>
                      <a:r>
                        <a:rPr lang="en-US" sz="1400" b="1" u="none" strike="noStrike">
                          <a:solidFill>
                            <a:srgbClr val="FFFFFF"/>
                          </a:solidFill>
                          <a:effectLst/>
                          <a:uFillTx/>
                          <a:latin typeface="Calibri"/>
                        </a:rPr>
                        <a:t>Factor</a:t>
                      </a:r>
                      <a:endParaRPr lang="en-US" sz="14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ctr">
                      <a:noAutofit/>
                    </a:bodyPr>
                    <a:p>
                      <a:pPr defTabSz="457200">
                        <a:lnSpc>
                          <a:spcPct val="100000"/>
                        </a:lnSpc>
                      </a:pPr>
                      <a:r>
                        <a:rPr lang="en-US" sz="1400" b="1" u="none" strike="noStrike">
                          <a:solidFill>
                            <a:srgbClr val="FFFFFF"/>
                          </a:solidFill>
                          <a:effectLst/>
                          <a:uFillTx/>
                          <a:latin typeface="Calibri"/>
                        </a:rPr>
                        <a:t>Friendly Perspective</a:t>
                      </a:r>
                      <a:endParaRPr lang="en-US" sz="14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ctr">
                      <a:noAutofit/>
                    </a:bodyPr>
                    <a:p>
                      <a:pPr defTabSz="457200">
                        <a:lnSpc>
                          <a:spcPct val="100000"/>
                        </a:lnSpc>
                      </a:pPr>
                      <a:r>
                        <a:rPr lang="en-US" sz="1400" b="1" u="none" strike="noStrike">
                          <a:solidFill>
                            <a:srgbClr val="FFFFFF"/>
                          </a:solidFill>
                          <a:effectLst/>
                          <a:uFillTx/>
                          <a:latin typeface="Calibri"/>
                        </a:rPr>
                        <a:t>Enemy Perspective</a:t>
                      </a:r>
                      <a:endParaRPr lang="en-US" sz="14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r>
              <a:tr h="731520">
                <a:tc>
                  <a:txBody>
                    <a:bodyPr anchor="ctr">
                      <a:noAutofit/>
                    </a:bodyPr>
                    <a:p>
                      <a:pPr defTabSz="457200">
                        <a:lnSpc>
                          <a:spcPct val="100000"/>
                        </a:lnSpc>
                      </a:pPr>
                      <a:r>
                        <a:rPr lang="en-US" sz="1200" b="0" u="none" strike="noStrike">
                          <a:solidFill>
                            <a:srgbClr val="000000"/>
                          </a:solidFill>
                          <a:effectLst/>
                          <a:uFillTx/>
                          <a:latin typeface="Calibri"/>
                        </a:rPr>
                        <a:t>Observation &amp; Fields of Fire</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ctr">
                      <a:noAutofit/>
                    </a:bodyPr>
                    <a:p>
                      <a:pPr defTabSz="457200">
                        <a:lnSpc>
                          <a:spcPct val="100000"/>
                        </a:lnSpc>
                      </a:pPr>
                      <a:r>
                        <a:rPr lang="en-US" sz="1200" b="0" u="none" strike="noStrike">
                          <a:solidFill>
                            <a:srgbClr val="000000"/>
                          </a:solidFill>
                          <a:effectLst/>
                          <a:uFillTx/>
                          <a:latin typeface="Calibri"/>
                        </a:rPr>
                        <a:t>Full physical and logical access to network traffic and logs.</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ctr">
                      <a:noAutofit/>
                    </a:bodyPr>
                    <a:p>
                      <a:pPr defTabSz="457200">
                        <a:lnSpc>
                          <a:spcPct val="100000"/>
                        </a:lnSpc>
                      </a:pPr>
                      <a:r>
                        <a:rPr lang="en-US" sz="1200" b="0" u="none" strike="noStrike">
                          <a:solidFill>
                            <a:srgbClr val="000000"/>
                          </a:solidFill>
                          <a:effectLst/>
                          <a:uFillTx/>
                          <a:latin typeface="Calibri"/>
                        </a:rPr>
                        <a:t>Logical access to compromised hosts only; can view host-based logs. </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731520">
                <a:tc>
                  <a:txBody>
                    <a:bodyPr anchor="ctr">
                      <a:noAutofit/>
                    </a:bodyPr>
                    <a:p>
                      <a:pPr defTabSz="457200">
                        <a:lnSpc>
                          <a:spcPct val="100000"/>
                        </a:lnSpc>
                      </a:pPr>
                      <a:r>
                        <a:rPr lang="en-US" sz="1200" b="0" u="none" strike="noStrike">
                          <a:solidFill>
                            <a:srgbClr val="000000"/>
                          </a:solidFill>
                          <a:effectLst/>
                          <a:uFillTx/>
                          <a:latin typeface="Calibri"/>
                        </a:rPr>
                        <a:t>Cover &amp; Concealment</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ctr">
                      <a:noAutofit/>
                    </a:bodyPr>
                    <a:p>
                      <a:pPr defTabSz="457200">
                        <a:lnSpc>
                          <a:spcPct val="100000"/>
                        </a:lnSpc>
                      </a:pPr>
                      <a:r>
                        <a:rPr lang="en-US" sz="1200" b="0" u="none" strike="noStrike">
                          <a:solidFill>
                            <a:srgbClr val="000000"/>
                          </a:solidFill>
                          <a:effectLst/>
                          <a:uFillTx/>
                          <a:latin typeface="Calibri"/>
                        </a:rPr>
                        <a:t>Conceal tools as normal processes; use normal user accounts.</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ctr">
                      <a:noAutofit/>
                    </a:bodyPr>
                    <a:p>
                      <a:pPr defTabSz="457200">
                        <a:lnSpc>
                          <a:spcPct val="100000"/>
                        </a:lnSpc>
                      </a:pPr>
                      <a:r>
                        <a:rPr lang="en-US" sz="1200" b="0" u="none" strike="noStrike">
                          <a:solidFill>
                            <a:srgbClr val="000000"/>
                          </a:solidFill>
                          <a:effectLst/>
                          <a:uFillTx/>
                          <a:latin typeface="Calibri"/>
                        </a:rPr>
                        <a:t>Heavy obfuscation, use of LOLBAS, Web based C2.</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731520">
                <a:tc>
                  <a:txBody>
                    <a:bodyPr anchor="ctr">
                      <a:noAutofit/>
                    </a:bodyPr>
                    <a:p>
                      <a:pPr defTabSz="457200">
                        <a:lnSpc>
                          <a:spcPct val="100000"/>
                        </a:lnSpc>
                      </a:pPr>
                      <a:r>
                        <a:rPr lang="en-US" sz="1200" b="0" u="none" strike="noStrike">
                          <a:solidFill>
                            <a:srgbClr val="000000"/>
                          </a:solidFill>
                          <a:effectLst/>
                          <a:uFillTx/>
                          <a:latin typeface="Calibri"/>
                        </a:rPr>
                        <a:t>Obstacles</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ctr">
                      <a:noAutofit/>
                    </a:bodyPr>
                    <a:p>
                      <a:pPr defTabSz="457200">
                        <a:lnSpc>
                          <a:spcPct val="100000"/>
                        </a:lnSpc>
                        <a:spcBef>
                          <a:spcPts val="1191"/>
                        </a:spcBef>
                        <a:spcAft>
                          <a:spcPts val="992"/>
                        </a:spcAft>
                      </a:pPr>
                      <a:r>
                        <a:rPr lang="en-US" sz="1200" b="0" u="none" strike="noStrike">
                          <a:solidFill>
                            <a:srgbClr val="000000"/>
                          </a:solidFill>
                          <a:effectLst/>
                          <a:uFillTx/>
                          <a:latin typeface="Calibri"/>
                        </a:rPr>
                        <a:t>Limited netflow. They do not have full packet capture across every segment. </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ctr">
                      <a:noAutofit/>
                    </a:bodyPr>
                    <a:p>
                      <a:pPr defTabSz="457200">
                        <a:lnSpc>
                          <a:spcPct val="100000"/>
                        </a:lnSpc>
                      </a:pPr>
                      <a:r>
                        <a:rPr lang="en-US" sz="1200" b="0" u="none" strike="noStrike">
                          <a:solidFill>
                            <a:srgbClr val="000000"/>
                          </a:solidFill>
                          <a:effectLst/>
                          <a:uFillTx/>
                          <a:latin typeface="Calibri"/>
                        </a:rPr>
                        <a:t> EDR, network firewall, and an active hunt team.</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731520">
                <a:tc>
                  <a:txBody>
                    <a:bodyPr anchor="ctr">
                      <a:noAutofit/>
                    </a:bodyPr>
                    <a:p>
                      <a:pPr defTabSz="457200">
                        <a:lnSpc>
                          <a:spcPct val="100000"/>
                        </a:lnSpc>
                      </a:pPr>
                      <a:r>
                        <a:rPr lang="en-US" sz="1200" b="0" u="none" strike="noStrike">
                          <a:solidFill>
                            <a:srgbClr val="000000"/>
                          </a:solidFill>
                          <a:effectLst/>
                          <a:uFillTx/>
                          <a:latin typeface="Calibri"/>
                        </a:rPr>
                        <a:t>Key Terrain</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ctr">
                      <a:noAutofit/>
                    </a:bodyPr>
                    <a:p>
                      <a:pPr defTabSz="457200">
                        <a:lnSpc>
                          <a:spcPct val="100000"/>
                        </a:lnSpc>
                      </a:pPr>
                      <a:r>
                        <a:rPr lang="en-US" sz="1200" b="0" u="none" strike="noStrike">
                          <a:solidFill>
                            <a:srgbClr val="000000"/>
                          </a:solidFill>
                          <a:effectLst/>
                          <a:uFillTx/>
                          <a:latin typeface="Calibri"/>
                        </a:rPr>
                        <a:t>Blue core router, and access to user workstations/servers. it-wks-01/02</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ctr">
                      <a:noAutofit/>
                    </a:bodyPr>
                    <a:p>
                      <a:pPr defTabSz="457200">
                        <a:lnSpc>
                          <a:spcPct val="100000"/>
                        </a:lnSpc>
                      </a:pPr>
                      <a:r>
                        <a:rPr lang="en-US" sz="1200" b="0" u="none" strike="noStrike">
                          <a:solidFill>
                            <a:srgbClr val="000000"/>
                          </a:solidFill>
                          <a:effectLst/>
                          <a:uFillTx/>
                          <a:latin typeface="Calibri"/>
                          <a:ea typeface="Microsoft YaHei"/>
                        </a:rPr>
                        <a:t>User workstations (it-wks-01/02)/servers containing target documents; persistence locations (Registry, Startup).</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731520">
                <a:tc>
                  <a:txBody>
                    <a:bodyPr anchor="ctr">
                      <a:noAutofit/>
                    </a:bodyPr>
                    <a:p>
                      <a:pPr defTabSz="457200">
                        <a:lnSpc>
                          <a:spcPct val="100000"/>
                        </a:lnSpc>
                      </a:pPr>
                      <a:r>
                        <a:rPr lang="en-US" sz="1200" b="0" u="none" strike="noStrike">
                          <a:solidFill>
                            <a:srgbClr val="000000"/>
                          </a:solidFill>
                          <a:effectLst/>
                          <a:uFillTx/>
                          <a:latin typeface="Calibri"/>
                        </a:rPr>
                        <a:t>Avenues of Approach</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ctr">
                      <a:noAutofit/>
                    </a:bodyPr>
                    <a:p>
                      <a:pPr defTabSz="457200">
                        <a:lnSpc>
                          <a:spcPct val="100000"/>
                        </a:lnSpc>
                      </a:pPr>
                      <a:r>
                        <a:rPr lang="en-US" sz="1200" b="0" u="none" strike="noStrike">
                          <a:solidFill>
                            <a:srgbClr val="000000"/>
                          </a:solidFill>
                          <a:effectLst/>
                          <a:uFillTx/>
                          <a:latin typeface="Calibri"/>
                        </a:rPr>
                        <a:t>N/A</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ctr">
                      <a:noAutofit/>
                    </a:bodyPr>
                    <a:p>
                      <a:r>
                        <a:rPr lang="en-US" sz="1200" b="0" u="none" strike="noStrike">
                          <a:solidFill>
                            <a:srgbClr val="000000"/>
                          </a:solidFill>
                          <a:effectLst/>
                          <a:uFillTx/>
                          <a:latin typeface="Calibri"/>
                          <a:ea typeface=""/>
                        </a:rPr>
                        <a:t>Spearphishing with LNK/HTA attachments in archives (T1566.001, T1204.001, T1204.002), HTML smuggling, weaponized Microsoft Word documents/templates (T1221), and USB drive weaponization for replication (T1091).</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731520">
                <a:tc>
                  <a:txBody>
                    <a:bodyPr anchor="ctr">
                      <a:noAutofit/>
                    </a:bodyPr>
                    <a:p>
                      <a:pPr defTabSz="457200">
                        <a:lnSpc>
                          <a:spcPct val="100000"/>
                        </a:lnSpc>
                      </a:pPr>
                      <a:r>
                        <a:rPr lang="en-US" sz="1200" b="0" u="none" strike="noStrike">
                          <a:solidFill>
                            <a:srgbClr val="000000"/>
                          </a:solidFill>
                          <a:effectLst/>
                          <a:uFillTx/>
                          <a:latin typeface="Calibri"/>
                        </a:rPr>
                        <a:t>Weather (Cyber)</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ctr">
                      <a:noAutofit/>
                    </a:bodyPr>
                    <a:p>
                      <a:pPr defTabSz="457200">
                        <a:lnSpc>
                          <a:spcPct val="100000"/>
                        </a:lnSpc>
                      </a:pPr>
                      <a:r>
                        <a:rPr lang="en-US" sz="1200" b="0" u="none" strike="noStrike">
                          <a:solidFill>
                            <a:srgbClr val="000000"/>
                          </a:solidFill>
                          <a:effectLst/>
                          <a:uFillTx/>
                          <a:latin typeface="Calibri"/>
                        </a:rPr>
                        <a:t>RFI</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ctr">
                      <a:noAutofit/>
                    </a:bodyPr>
                    <a:p>
                      <a:pPr defTabSz="457200">
                        <a:lnSpc>
                          <a:spcPct val="100000"/>
                        </a:lnSpc>
                      </a:pPr>
                      <a:r>
                        <a:rPr lang="en-US" sz="1200" b="0" u="none" strike="noStrike">
                          <a:solidFill>
                            <a:srgbClr val="000000"/>
                          </a:solidFill>
                          <a:effectLst/>
                          <a:uFillTx/>
                          <a:latin typeface="Calibri"/>
                        </a:rPr>
                        <a:t>Cold Climate</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p>
            <a:pPr indent="0" algn="ctr" defTabSz="457200">
              <a:lnSpc>
                <a:spcPct val="100000"/>
              </a:lnSpc>
              <a:buNone/>
              <a:tabLst>
                <a:tab pos="0" algn="l"/>
              </a:tabLst>
            </a:pPr>
            <a:r>
              <a:rPr lang="en-US" sz="4400" b="1" u="none" strike="noStrike">
                <a:solidFill>
                  <a:srgbClr val="002060"/>
                </a:solidFill>
                <a:effectLst/>
                <a:uFillTx/>
                <a:latin typeface="Calibri"/>
              </a:rPr>
              <a:t>Enemy's Most Likely Course of Action (EMLCOA)</a:t>
            </a:r>
            <a:endParaRPr lang="en-US" sz="4400" b="0" u="none" strike="noStrike">
              <a:solidFill>
                <a:schemeClr val="dk1"/>
              </a:solidFill>
              <a:effectLst/>
              <a:uFillTx/>
              <a:latin typeface="Calibri"/>
            </a:endParaRPr>
          </a:p>
        </p:txBody>
      </p:sp>
      <p:sp>
        <p:nvSpPr>
          <p:cNvPr id="75" name="PlaceHolder 2"/>
          <p:cNvSpPr>
            <a:spLocks noGrp="1"/>
          </p:cNvSpPr>
          <p:nvPr>
            <p:ph/>
          </p:nvPr>
        </p:nvSpPr>
        <p:spPr>
          <a:xfrm>
            <a:off x="457200" y="1600200"/>
            <a:ext cx="8228880" cy="4572000"/>
          </a:xfrm>
          <a:prstGeom prst="rect">
            <a:avLst/>
          </a:prstGeom>
          <a:noFill/>
          <a:ln w="0">
            <a:noFill/>
          </a:ln>
        </p:spPr>
        <p:txBody>
          <a:bodyPr lIns="91440" tIns="45720" rIns="91440" bIns="45720" anchor="t">
            <a:noAutofit/>
          </a:bodyPr>
          <a:p>
            <a:pPr indent="0" algn="l" defTabSz="457200">
              <a:lnSpc>
                <a:spcPct val="100000"/>
              </a:lnSpc>
              <a:spcBef>
                <a:spcPts val="641"/>
              </a:spcBef>
              <a:buNone/>
              <a:tabLst>
                <a:tab pos="0" algn="l"/>
              </a:tabLst>
            </a:pPr>
            <a:endParaRPr lang="en-US" sz="3200" b="0" u="none" strike="noStrike">
              <a:solidFill>
                <a:schemeClr val="dk1"/>
              </a:solidFill>
              <a:effectLst/>
              <a:uFillTx/>
              <a:latin typeface="Calibri"/>
            </a:endParaRPr>
          </a:p>
          <a:p>
            <a:pPr marL="343080" indent="-343080" algn="l" defTabSz="457200">
              <a:lnSpc>
                <a:spcPct val="100000"/>
              </a:lnSpc>
              <a:spcBef>
                <a:spcPts val="1191"/>
              </a:spcBef>
              <a:spcAft>
                <a:spcPts val="992"/>
              </a:spcAft>
              <a:buClr>
                <a:srgbClr val="323232"/>
              </a:buClr>
              <a:buFont typeface="Arial"/>
              <a:buChar char="•"/>
              <a:tabLst>
                <a:tab pos="0" algn="l"/>
              </a:tabLst>
            </a:pPr>
            <a:r>
              <a:rPr lang="en-US" sz="1800" b="1" u="none" strike="noStrike">
                <a:solidFill>
                  <a:srgbClr val="323232"/>
                </a:solidFill>
                <a:effectLst/>
                <a:uFillTx/>
                <a:latin typeface="Calibri"/>
              </a:rPr>
              <a:t>Mission: </a:t>
            </a:r>
            <a:r>
              <a:rPr lang="en-US" sz="1800" b="0" u="none" strike="noStrike">
                <a:solidFill>
                  <a:srgbClr val="323232"/>
                </a:solidFill>
                <a:effectLst/>
                <a:uFillTx/>
                <a:latin typeface="Calibri"/>
              </a:rPr>
              <a:t>To conduct cyber espionage by continuously collecting sensitive data from Lunovia government networks to satisfy Varenskain  intelligence requirements.</a:t>
            </a:r>
            <a:endParaRPr lang="en-US" sz="18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Current Action: </a:t>
            </a:r>
            <a:r>
              <a:rPr lang="en-US" sz="1800" b="0" u="none" strike="noStrike">
                <a:solidFill>
                  <a:srgbClr val="323232"/>
                </a:solidFill>
                <a:effectLst/>
                <a:uFillTx/>
                <a:latin typeface="Calibri"/>
              </a:rPr>
              <a:t> ISB unit 18 amber tide will continue its high-tempo operation, gaining access via spearphishing/USBs, deploying PowerShell/VBScript stealers, and exfiltrating data using a resilient C2 network. In our network, Two government user workstations and one departmental file server show signs of unauthorized activity.</a:t>
            </a:r>
            <a:endParaRPr lang="en-US" sz="18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On Contact: </a:t>
            </a:r>
            <a:r>
              <a:rPr lang="en-US" sz="1800" b="0" u="none" strike="noStrike">
                <a:solidFill>
                  <a:srgbClr val="323232"/>
                </a:solidFill>
                <a:effectLst/>
                <a:uFillTx/>
                <a:latin typeface="Calibri"/>
              </a:rPr>
              <a:t>Upon detection (e.g., a blocked C2), they will not withdraw. They will rely on their other backdoors, deploy new ones.</a:t>
            </a: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p>
            <a:pPr indent="0" algn="ctr" defTabSz="457200">
              <a:lnSpc>
                <a:spcPct val="100000"/>
              </a:lnSpc>
              <a:buNone/>
              <a:tabLst>
                <a:tab pos="0" algn="l"/>
              </a:tabLst>
            </a:pPr>
            <a:r>
              <a:rPr lang="en-US" sz="4400" b="1" u="none" strike="noStrike">
                <a:solidFill>
                  <a:srgbClr val="002060"/>
                </a:solidFill>
                <a:effectLst/>
                <a:uFillTx/>
                <a:latin typeface="Calibri"/>
              </a:rPr>
              <a:t>The Exploitation Plan</a:t>
            </a:r>
            <a:endParaRPr lang="en-US" sz="4400" b="0" u="none" strike="noStrike">
              <a:solidFill>
                <a:schemeClr val="dk1"/>
              </a:solidFill>
              <a:effectLst/>
              <a:uFillTx/>
              <a:latin typeface="Calibri"/>
            </a:endParaRPr>
          </a:p>
        </p:txBody>
      </p:sp>
      <p:sp>
        <p:nvSpPr>
          <p:cNvPr id="77" name="PlaceHolder 2"/>
          <p:cNvSpPr>
            <a:spLocks noGrp="1"/>
          </p:cNvSpPr>
          <p:nvPr>
            <p:ph/>
          </p:nvPr>
        </p:nvSpPr>
        <p:spPr>
          <a:xfrm>
            <a:off x="457200" y="1600200"/>
            <a:ext cx="8228880" cy="4525200"/>
          </a:xfrm>
          <a:prstGeom prst="rect">
            <a:avLst/>
          </a:prstGeom>
          <a:noFill/>
          <a:ln w="0">
            <a:noFill/>
          </a:ln>
        </p:spPr>
        <p:txBody>
          <a:bodyPr lIns="91440" tIns="45720" rIns="91440" bIns="45720" anchor="t">
            <a:noAutofit/>
          </a:bodyPr>
          <a:p>
            <a:pPr indent="0" algn="l" defTabSz="457200">
              <a:lnSpc>
                <a:spcPct val="100000"/>
              </a:lnSpc>
              <a:spcBef>
                <a:spcPts val="641"/>
              </a:spcBef>
              <a:buNone/>
              <a:tabLst>
                <a:tab pos="0" algn="l"/>
              </a:tabLst>
            </a:pPr>
            <a:endParaRPr lang="en-US" sz="32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Center of Gravity (CG): </a:t>
            </a:r>
            <a:r>
              <a:rPr lang="en-US" sz="1800" b="0" u="none" strike="noStrike">
                <a:solidFill>
                  <a:srgbClr val="323232"/>
                </a:solidFill>
                <a:effectLst/>
                <a:uFillTx/>
                <a:latin typeface="Calibri"/>
              </a:rPr>
              <a:t>The speed at which they exfiltrate data. They prioritize rapid theft over long-term stealth.</a:t>
            </a:r>
            <a:endParaRPr lang="en-US" sz="18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Critical Vulnerability (CV): </a:t>
            </a:r>
            <a:r>
              <a:rPr lang="en-US" sz="1800" b="0" u="none" strike="noStrike">
                <a:solidFill>
                  <a:srgbClr val="323232"/>
                </a:solidFill>
                <a:effectLst/>
                <a:uFillTx/>
                <a:latin typeface="Calibri"/>
              </a:rPr>
              <a:t>Their reliance on script-based malware and Live-off-the-Land (LOLBAS) techniques, which are easier to deobfuscate and detect with the right analytics.</a:t>
            </a:r>
            <a:endParaRPr lang="en-US" sz="18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Exploitation Plan: </a:t>
            </a:r>
            <a:r>
              <a:rPr lang="en-US" sz="1800" b="0" u="none" strike="noStrike">
                <a:solidFill>
                  <a:srgbClr val="323232"/>
                </a:solidFill>
                <a:effectLst/>
                <a:uFillTx/>
                <a:latin typeface="Calibri"/>
              </a:rPr>
              <a:t>Outpace the adversary by reducing detection time to near-real-time. We will create SIEM dashboards with "allow-list" logic for high-fidelity alerts on process creation and persistence changes, enabling immediate host quarantine.</a:t>
            </a: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457200" y="274680"/>
            <a:ext cx="8228880" cy="1142280"/>
          </a:xfrm>
          <a:prstGeom prst="rect">
            <a:avLst/>
          </a:prstGeom>
          <a:noFill/>
          <a:ln w="0">
            <a:noFill/>
          </a:ln>
        </p:spPr>
        <p:txBody>
          <a:bodyPr lIns="0" tIns="0" rIns="0" bIns="0" anchor="ctr">
            <a:spAutoFit/>
          </a:bodyPr>
          <a:p>
            <a:pPr indent="0" algn="ctr" defTabSz="457200">
              <a:buNone/>
              <a:tabLst>
                <a:tab pos="0" algn="l"/>
              </a:tabLst>
            </a:pPr>
            <a:r>
              <a:rPr lang="en-US" sz="4400" b="0" u="none" strike="noStrike">
                <a:solidFill>
                  <a:schemeClr val="dk1"/>
                </a:solidFill>
                <a:effectLst/>
                <a:uFillTx/>
                <a:latin typeface="Calibri"/>
              </a:rPr>
              <a:t>RFI’s</a:t>
            </a:r>
            <a:br>
              <a:rPr sz="4400"/>
            </a:br>
            <a:endParaRPr lang="en-US" sz="4400" b="0" u="none" strike="noStrike">
              <a:solidFill>
                <a:schemeClr val="dk1"/>
              </a:solidFill>
              <a:effectLst/>
              <a:uFillTx/>
              <a:latin typeface="Calibri"/>
            </a:endParaRPr>
          </a:p>
        </p:txBody>
      </p:sp>
      <p:sp>
        <p:nvSpPr>
          <p:cNvPr id="79" name=""/>
          <p:cNvSpPr txBox="1"/>
          <p:nvPr/>
        </p:nvSpPr>
        <p:spPr>
          <a:xfrm>
            <a:off x="685800" y="1371600"/>
            <a:ext cx="7772400" cy="3429000"/>
          </a:xfrm>
          <a:prstGeom prst="rect">
            <a:avLst/>
          </a:prstGeom>
          <a:noFill/>
          <a:ln w="0">
            <a:noFill/>
          </a:ln>
        </p:spPr>
        <p:txBody>
          <a:bodyPr lIns="90000" tIns="45000" rIns="90000" bIns="45000" anchor="t">
            <a:spAutoFit/>
          </a:bodyPr>
          <a:p>
            <a:r>
              <a:rPr lang="en-US" sz="1400" b="0" u="none" strike="noStrike">
                <a:solidFill>
                  <a:srgbClr val="000000"/>
                </a:solidFill>
                <a:effectLst/>
                <a:uFillTx/>
                <a:latin typeface="Arial"/>
              </a:rPr>
              <a:t>1. RFI - What are active defense measures currently in place?</a:t>
            </a:r>
            <a:endParaRPr lang="en-US" sz="1400" b="0" u="none" strike="noStrike">
              <a:solidFill>
                <a:srgbClr val="000000"/>
              </a:solidFill>
              <a:effectLst/>
              <a:uFillTx/>
              <a:latin typeface="Arial"/>
            </a:endParaRPr>
          </a:p>
          <a:p>
            <a:r>
              <a:rPr lang="en-US" sz="1400" b="0" u="none" strike="noStrike">
                <a:solidFill>
                  <a:srgbClr val="000000"/>
                </a:solidFill>
                <a:effectLst/>
                <a:uFillTx/>
                <a:latin typeface="Arial"/>
              </a:rPr>
              <a:t>	</a:t>
            </a:r>
            <a:r>
              <a:rPr lang="en-US" sz="1400" b="0" u="none" strike="noStrike">
                <a:solidFill>
                  <a:srgbClr val="000000"/>
                </a:solidFill>
                <a:effectLst/>
                <a:uFillTx/>
                <a:latin typeface="Arial"/>
              </a:rPr>
              <a:t>to determine enemy obstacles </a:t>
            </a:r>
            <a:endParaRPr lang="en-US" sz="1400" b="0" u="none" strike="noStrike">
              <a:solidFill>
                <a:srgbClr val="000000"/>
              </a:solidFill>
              <a:effectLst/>
              <a:uFillTx/>
              <a:latin typeface="Arial"/>
            </a:endParaRPr>
          </a:p>
          <a:p>
            <a:endParaRPr lang="en-US" sz="1400" b="0" u="none" strike="noStrike">
              <a:solidFill>
                <a:srgbClr val="000000"/>
              </a:solidFill>
              <a:effectLst/>
              <a:uFillTx/>
              <a:latin typeface="Arial"/>
            </a:endParaRPr>
          </a:p>
          <a:p>
            <a:r>
              <a:rPr lang="en-US" sz="1400" b="0" u="none" strike="noStrike">
                <a:solidFill>
                  <a:srgbClr val="000000"/>
                </a:solidFill>
                <a:effectLst/>
                <a:uFillTx/>
                <a:latin typeface="Arial"/>
              </a:rPr>
              <a:t>2. RFI – What are some geographical consideration impacting friendly and enemy forces. </a:t>
            </a:r>
            <a:endParaRPr lang="en-US" sz="1400" b="0" u="none" strike="noStrike">
              <a:solidFill>
                <a:srgbClr val="000000"/>
              </a:solidFill>
              <a:effectLst/>
              <a:uFillTx/>
              <a:latin typeface="Arial"/>
            </a:endParaRPr>
          </a:p>
          <a:p>
            <a:r>
              <a:rPr lang="en-US" sz="1400" b="0" u="none" strike="noStrike">
                <a:solidFill>
                  <a:srgbClr val="000000"/>
                </a:solidFill>
                <a:effectLst/>
                <a:uFillTx/>
                <a:latin typeface="Arial"/>
              </a:rPr>
              <a:t>	</a:t>
            </a:r>
            <a:r>
              <a:rPr lang="en-US" sz="1400" b="0" u="none" strike="noStrike">
                <a:solidFill>
                  <a:srgbClr val="000000"/>
                </a:solidFill>
                <a:effectLst/>
                <a:uFillTx/>
                <a:latin typeface="Arial"/>
              </a:rPr>
              <a:t>to identify any weather impacts </a:t>
            </a:r>
            <a:endParaRPr lang="en-US" sz="1400" b="0" u="none" strike="noStrike">
              <a:solidFill>
                <a:srgbClr val="000000"/>
              </a:solidFill>
              <a:effectLst/>
              <a:uFillTx/>
              <a:latin typeface="Arial"/>
            </a:endParaRPr>
          </a:p>
          <a:p>
            <a:endParaRPr lang="en-US" sz="1400" b="0" u="none" strike="noStrike">
              <a:solidFill>
                <a:srgbClr val="000000"/>
              </a:solidFill>
              <a:effectLst/>
              <a:uFillTx/>
              <a:latin typeface="Arial"/>
            </a:endParaRPr>
          </a:p>
          <a:p>
            <a:r>
              <a:rPr lang="en-US" sz="1400" b="0" u="none" strike="noStrike">
                <a:solidFill>
                  <a:srgbClr val="000000"/>
                </a:solidFill>
                <a:effectLst/>
                <a:uFillTx/>
                <a:latin typeface="Arial"/>
              </a:rPr>
              <a:t>3. RFI – Are there any insider threat indicators?</a:t>
            </a:r>
            <a:endParaRPr lang="en-US" sz="1400" b="0" u="none" strike="noStrike">
              <a:solidFill>
                <a:srgbClr val="000000"/>
              </a:solidFill>
              <a:effectLst/>
              <a:uFillTx/>
              <a:latin typeface="Arial"/>
            </a:endParaRPr>
          </a:p>
          <a:p>
            <a:r>
              <a:rPr lang="en-US" sz="1400" b="0" u="none" strike="noStrike">
                <a:solidFill>
                  <a:srgbClr val="000000"/>
                </a:solidFill>
                <a:effectLst/>
                <a:uFillTx/>
                <a:latin typeface="Arial"/>
              </a:rPr>
              <a:t>	</a:t>
            </a:r>
            <a:r>
              <a:rPr lang="en-US" sz="1400" b="0" u="none" strike="noStrike">
                <a:solidFill>
                  <a:srgbClr val="000000"/>
                </a:solidFill>
                <a:effectLst/>
                <a:uFillTx/>
                <a:latin typeface="Arial"/>
              </a:rPr>
              <a:t>to explain movement of USB </a:t>
            </a:r>
            <a:endParaRPr lang="en-US" sz="1400" b="0" u="none" strike="noStrike">
              <a:solidFill>
                <a:srgbClr val="000000"/>
              </a:solidFill>
              <a:effectLst/>
              <a:uFillTx/>
              <a:latin typeface="Arial"/>
            </a:endParaRPr>
          </a:p>
          <a:p>
            <a:endParaRPr lang="en-US" sz="1400" b="0" u="none" strike="noStrike">
              <a:solidFill>
                <a:srgbClr val="000000"/>
              </a:solidFill>
              <a:effectLst/>
              <a:uFillTx/>
              <a:latin typeface="Arial"/>
            </a:endParaRPr>
          </a:p>
          <a:p>
            <a:r>
              <a:rPr lang="en-US" sz="1400" b="0" u="none" strike="noStrike">
                <a:solidFill>
                  <a:srgbClr val="000000"/>
                </a:solidFill>
                <a:effectLst/>
                <a:uFillTx/>
                <a:latin typeface="Arial"/>
              </a:rPr>
              <a:t>4. RFI – Can we broaden sensor placement to illuminate adversary activity? </a:t>
            </a:r>
            <a:endParaRPr lang="en-US" sz="1400" b="0" u="none" strike="noStrike">
              <a:solidFill>
                <a:srgbClr val="000000"/>
              </a:solidFill>
              <a:effectLst/>
              <a:uFillTx/>
              <a:latin typeface="Arial"/>
            </a:endParaRPr>
          </a:p>
          <a:p>
            <a:r>
              <a:rPr lang="en-US" sz="1400" b="0" u="none" strike="noStrike">
                <a:solidFill>
                  <a:srgbClr val="000000"/>
                </a:solidFill>
                <a:effectLst/>
                <a:uFillTx/>
                <a:latin typeface="Arial"/>
              </a:rPr>
              <a:t>	</a:t>
            </a:r>
            <a:r>
              <a:rPr lang="en-US" sz="1400" b="0" u="none" strike="noStrike">
                <a:solidFill>
                  <a:srgbClr val="000000"/>
                </a:solidFill>
                <a:effectLst/>
                <a:uFillTx/>
                <a:latin typeface="Arial"/>
              </a:rPr>
              <a:t>to get a clearer understanding of C2 traffic </a:t>
            </a:r>
            <a:endParaRPr lang="en-US" sz="1400" b="0" u="none" strike="noStrike">
              <a:solidFill>
                <a:srgbClr val="000000"/>
              </a:solidFill>
              <a:effectLst/>
              <a:uFillTx/>
              <a:latin typeface="Arial"/>
            </a:endParaRPr>
          </a:p>
          <a:p>
            <a:endParaRPr lang="en-US" sz="1400" b="0" u="none" strike="noStrike">
              <a:solidFill>
                <a:srgbClr val="000000"/>
              </a:solidFill>
              <a:effectLst/>
              <a:uFillTx/>
              <a:latin typeface="Arial"/>
            </a:endParaRPr>
          </a:p>
          <a:p>
            <a:r>
              <a:rPr lang="en-US" sz="1400" b="0" u="none" strike="noStrike">
                <a:solidFill>
                  <a:srgbClr val="000000"/>
                </a:solidFill>
                <a:effectLst/>
                <a:uFillTx/>
                <a:latin typeface="Arial"/>
              </a:rPr>
              <a:t>5. RFI- Have there been any indicator linked to border disputes and cyber activities?</a:t>
            </a:r>
            <a:endParaRPr lang="en-US" sz="1400" b="0" u="none" strike="noStrike">
              <a:solidFill>
                <a:srgbClr val="000000"/>
              </a:solidFill>
              <a:effectLst/>
              <a:uFillTx/>
              <a:latin typeface="Arial"/>
            </a:endParaRPr>
          </a:p>
          <a:p>
            <a:r>
              <a:rPr lang="en-US" sz="1400" b="0" u="none" strike="noStrike">
                <a:solidFill>
                  <a:srgbClr val="000000"/>
                </a:solidFill>
                <a:effectLst/>
                <a:uFillTx/>
                <a:latin typeface="Arial"/>
              </a:rPr>
              <a:t>	</a:t>
            </a:r>
            <a:r>
              <a:rPr lang="en-US" sz="1400" b="0" u="none" strike="noStrike">
                <a:solidFill>
                  <a:srgbClr val="000000"/>
                </a:solidFill>
                <a:effectLst/>
                <a:uFillTx/>
                <a:latin typeface="Arial"/>
              </a:rPr>
              <a:t>Correlation to understand potential enemy movement </a:t>
            </a:r>
            <a:endParaRPr lang="en-US" sz="1400" b="0" u="none" strike="noStrike">
              <a:solidFill>
                <a:srgbClr val="000000"/>
              </a:solidFill>
              <a:effectLst/>
              <a:uFillTx/>
              <a:latin typeface="Arial"/>
            </a:endParaRPr>
          </a:p>
          <a:p>
            <a:r>
              <a:rPr lang="en-US" sz="1400" b="0" u="none" strike="noStrike">
                <a:solidFill>
                  <a:srgbClr val="000000"/>
                </a:solidFill>
                <a:effectLst/>
                <a:uFillTx/>
                <a:latin typeface="Arial"/>
              </a:rPr>
              <a:t>6. RFI-  </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8F9FA"/>
        </a:solidFill>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p>
            <a:pPr indent="0" algn="ctr" defTabSz="457200">
              <a:lnSpc>
                <a:spcPct val="100000"/>
              </a:lnSpc>
              <a:buNone/>
              <a:tabLst>
                <a:tab pos="0" algn="l"/>
              </a:tabLst>
            </a:pPr>
            <a:r>
              <a:rPr lang="en-US" sz="4400" b="1" u="none" strike="noStrike">
                <a:solidFill>
                  <a:srgbClr val="002060"/>
                </a:solidFill>
                <a:effectLst/>
                <a:uFillTx/>
                <a:latin typeface="Calibri"/>
              </a:rPr>
              <a:t>Scheme of Maneuver (SOM)</a:t>
            </a:r>
            <a:endParaRPr lang="en-US" sz="4400" b="0" u="none" strike="noStrike">
              <a:solidFill>
                <a:schemeClr val="dk1"/>
              </a:solidFill>
              <a:effectLst/>
              <a:uFillTx/>
              <a:latin typeface="Calibri"/>
            </a:endParaRPr>
          </a:p>
        </p:txBody>
      </p:sp>
      <p:sp>
        <p:nvSpPr>
          <p:cNvPr id="81" name="PlaceHolder 2"/>
          <p:cNvSpPr>
            <a:spLocks noGrp="1"/>
          </p:cNvSpPr>
          <p:nvPr>
            <p:ph/>
          </p:nvPr>
        </p:nvSpPr>
        <p:spPr>
          <a:xfrm>
            <a:off x="457200" y="1600200"/>
            <a:ext cx="8228880" cy="4525200"/>
          </a:xfrm>
          <a:prstGeom prst="rect">
            <a:avLst/>
          </a:prstGeom>
          <a:noFill/>
          <a:ln w="0">
            <a:noFill/>
          </a:ln>
        </p:spPr>
        <p:txBody>
          <a:bodyPr lIns="91440" tIns="45720" rIns="91440" bIns="45720" anchor="t">
            <a:noAutofit/>
          </a:bodyPr>
          <a:p>
            <a:pPr indent="0" algn="l" defTabSz="457200">
              <a:lnSpc>
                <a:spcPct val="100000"/>
              </a:lnSpc>
              <a:spcBef>
                <a:spcPts val="641"/>
              </a:spcBef>
              <a:buNone/>
              <a:tabLst>
                <a:tab pos="0" algn="l"/>
              </a:tabLst>
            </a:pPr>
            <a:endParaRPr lang="en-US" sz="32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Phase 1: </a:t>
            </a:r>
            <a:r>
              <a:rPr lang="en-US" sz="1800" b="0" u="none" strike="noStrike">
                <a:solidFill>
                  <a:srgbClr val="323232"/>
                </a:solidFill>
                <a:effectLst/>
                <a:uFillTx/>
                <a:latin typeface="Calibri"/>
              </a:rPr>
              <a:t>Preparation &amp; Baselining**: Set the defense. Identify critical data sources and establish a baseline of "known good" activity.</a:t>
            </a:r>
            <a:endParaRPr lang="en-US" sz="18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Phase 2: </a:t>
            </a:r>
            <a:r>
              <a:rPr lang="en-US" sz="1800" b="0" u="none" strike="noStrike">
                <a:solidFill>
                  <a:srgbClr val="323232"/>
                </a:solidFill>
                <a:effectLst/>
                <a:uFillTx/>
                <a:latin typeface="Calibri"/>
              </a:rPr>
              <a:t>Near-Real-Time Detection**: Ambush. Deploy "allow-list" SIEM dashboards to alert on any deviation from the baseline.</a:t>
            </a:r>
            <a:endParaRPr lang="en-US" sz="18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Phase 3: </a:t>
            </a:r>
            <a:r>
              <a:rPr lang="en-US" sz="1800" b="0" u="none" strike="noStrike">
                <a:solidFill>
                  <a:srgbClr val="323232"/>
                </a:solidFill>
                <a:effectLst/>
                <a:uFillTx/>
                <a:latin typeface="Calibri"/>
              </a:rPr>
              <a:t>Isolation &amp; Triage**: Fix the Enemy. Immediately quarantine alerted hosts and conduct live forensics.</a:t>
            </a:r>
            <a:endParaRPr lang="en-US" sz="18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Phase 4: </a:t>
            </a:r>
            <a:r>
              <a:rPr lang="en-US" sz="1800" b="0" u="none" strike="noStrike">
                <a:solidFill>
                  <a:srgbClr val="323232"/>
                </a:solidFill>
                <a:effectLst/>
                <a:uFillTx/>
                <a:latin typeface="Calibri"/>
              </a:rPr>
              <a:t>Scoping &amp; Hunt**: Exploit and Eradicate. Extract IoCs, hunt for other compromised hosts enterprise-wide, and repeat Phase 3.</a:t>
            </a:r>
            <a:endParaRPr lang="en-US" sz="1800" b="0" u="none" strike="noStrike">
              <a:solidFill>
                <a:schemeClr val="dk1"/>
              </a:solidFill>
              <a:effectLst/>
              <a:uFillTx/>
              <a:latin typeface="Calibri"/>
            </a:endParaRPr>
          </a:p>
          <a:p>
            <a:pPr marL="343080" indent="-34308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Phase 5: </a:t>
            </a:r>
            <a:r>
              <a:rPr lang="en-US" sz="1800" b="0" u="none" strike="noStrike">
                <a:solidFill>
                  <a:srgbClr val="323232"/>
                </a:solidFill>
                <a:effectLst/>
                <a:uFillTx/>
                <a:latin typeface="Calibri"/>
              </a:rPr>
              <a:t>Information Dissemination**: Share IoCs and findings with higher echelons.</a:t>
            </a: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8F9FA"/>
        </a:solidFill>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p>
            <a:pPr indent="0" algn="ctr" defTabSz="457200">
              <a:buNone/>
              <a:tabLst>
                <a:tab pos="0" algn="l"/>
              </a:tabLst>
            </a:pPr>
            <a:endParaRPr lang="en-US" sz="4400" b="0" u="none" strike="noStrike">
              <a:solidFill>
                <a:schemeClr val="dk1"/>
              </a:solidFill>
              <a:effectLst/>
              <a:uFillTx/>
              <a:latin typeface="Calibri"/>
            </a:endParaRPr>
          </a:p>
        </p:txBody>
      </p:sp>
      <p:sp>
        <p:nvSpPr>
          <p:cNvPr id="83" name="TextBox 2"/>
          <p:cNvSpPr/>
          <p:nvPr/>
        </p:nvSpPr>
        <p:spPr>
          <a:xfrm>
            <a:off x="457200" y="182880"/>
            <a:ext cx="8228880" cy="9136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endParaRPr lang="en-US" sz="1800" b="0" u="none" strike="noStrike">
              <a:solidFill>
                <a:srgbClr val="000000"/>
              </a:solidFill>
              <a:effectLst/>
              <a:uFillTx/>
              <a:latin typeface="Arial"/>
            </a:endParaRPr>
          </a:p>
          <a:p>
            <a:pPr defTabSz="457200">
              <a:lnSpc>
                <a:spcPct val="100000"/>
              </a:lnSpc>
            </a:pPr>
            <a:r>
              <a:rPr lang="en-US" sz="4000" b="1" u="none" strike="noStrike">
                <a:solidFill>
                  <a:srgbClr val="002060"/>
                </a:solidFill>
                <a:effectLst/>
                <a:uFillTx/>
                <a:latin typeface="Calibri"/>
              </a:rPr>
              <a:t>Fire Support Plan (FSP)</a:t>
            </a:r>
            <a:endParaRPr lang="en-US" sz="4000" b="0" u="none" strike="noStrike">
              <a:solidFill>
                <a:srgbClr val="000000"/>
              </a:solidFill>
              <a:effectLst/>
              <a:uFillTx/>
              <a:latin typeface="Arial"/>
            </a:endParaRPr>
          </a:p>
        </p:txBody>
      </p:sp>
      <p:graphicFrame>
        <p:nvGraphicFramePr>
          <p:cNvPr id="84" name="Table 3"/>
          <p:cNvGraphicFramePr/>
          <p:nvPr/>
        </p:nvGraphicFramePr>
        <p:xfrm>
          <a:off x="457200" y="1371600"/>
          <a:ext cx="8046360" cy="2926080"/>
        </p:xfrm>
        <a:graphic>
          <a:graphicData uri="http://schemas.openxmlformats.org/drawingml/2006/table">
            <a:tbl>
              <a:tblPr/>
              <a:tblGrid>
                <a:gridCol w="1371600"/>
                <a:gridCol w="1828800"/>
                <a:gridCol w="1828800"/>
                <a:gridCol w="1828800"/>
                <a:gridCol w="1188720"/>
              </a:tblGrid>
              <a:tr h="731520">
                <a:tc>
                  <a:txBody>
                    <a:bodyPr anchor="ctr">
                      <a:noAutofit/>
                    </a:bodyPr>
                    <a:p>
                      <a:pPr defTabSz="457200">
                        <a:lnSpc>
                          <a:spcPct val="100000"/>
                        </a:lnSpc>
                      </a:pPr>
                      <a:r>
                        <a:rPr lang="en-US" sz="1400" b="1" u="none" strike="noStrike">
                          <a:solidFill>
                            <a:srgbClr val="FFFFFF"/>
                          </a:solidFill>
                          <a:effectLst/>
                          <a:uFillTx/>
                          <a:latin typeface="Calibri"/>
                        </a:rPr>
                        <a:t>Target Category</a:t>
                      </a:r>
                      <a:endParaRPr lang="en-US" sz="14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ctr">
                      <a:noAutofit/>
                    </a:bodyPr>
                    <a:p>
                      <a:pPr defTabSz="457200">
                        <a:lnSpc>
                          <a:spcPct val="100000"/>
                        </a:lnSpc>
                      </a:pPr>
                      <a:r>
                        <a:rPr lang="en-US" sz="1400" b="1" u="none" strike="noStrike">
                          <a:solidFill>
                            <a:srgbClr val="FFFFFF"/>
                          </a:solidFill>
                          <a:effectLst/>
                          <a:uFillTx/>
                          <a:latin typeface="Calibri"/>
                        </a:rPr>
                        <a:t>Trigger</a:t>
                      </a:r>
                      <a:endParaRPr lang="en-US" sz="14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ctr">
                      <a:noAutofit/>
                    </a:bodyPr>
                    <a:p>
                      <a:pPr defTabSz="457200">
                        <a:lnSpc>
                          <a:spcPct val="100000"/>
                        </a:lnSpc>
                      </a:pPr>
                      <a:r>
                        <a:rPr lang="en-US" sz="1400" b="1" u="none" strike="noStrike">
                          <a:solidFill>
                            <a:srgbClr val="FFFFFF"/>
                          </a:solidFill>
                          <a:effectLst/>
                          <a:uFillTx/>
                          <a:latin typeface="Calibri"/>
                        </a:rPr>
                        <a:t>Organic Action</a:t>
                      </a:r>
                      <a:endParaRPr lang="en-US" sz="14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ctr">
                      <a:noAutofit/>
                    </a:bodyPr>
                    <a:p>
                      <a:pPr defTabSz="457200">
                        <a:lnSpc>
                          <a:spcPct val="100000"/>
                        </a:lnSpc>
                      </a:pPr>
                      <a:r>
                        <a:rPr lang="en-US" sz="1400" b="1" u="none" strike="noStrike">
                          <a:solidFill>
                            <a:srgbClr val="FFFFFF"/>
                          </a:solidFill>
                          <a:effectLst/>
                          <a:uFillTx/>
                          <a:latin typeface="Calibri"/>
                        </a:rPr>
                        <a:t>Rear Echelon Action</a:t>
                      </a:r>
                      <a:endParaRPr lang="en-US" sz="14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ctr">
                      <a:noAutofit/>
                    </a:bodyPr>
                    <a:p>
                      <a:pPr defTabSz="457200">
                        <a:lnSpc>
                          <a:spcPct val="100000"/>
                        </a:lnSpc>
                      </a:pPr>
                      <a:r>
                        <a:rPr lang="en-US" sz="1400" b="1" u="none" strike="noStrike">
                          <a:solidFill>
                            <a:srgbClr val="FFFFFF"/>
                          </a:solidFill>
                          <a:effectLst/>
                          <a:uFillTx/>
                          <a:latin typeface="Calibri"/>
                        </a:rPr>
                        <a:t>Desired Effects</a:t>
                      </a:r>
                      <a:endParaRPr lang="en-US" sz="14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r>
              <a:tr h="731520">
                <a:tc>
                  <a:txBody>
                    <a:bodyPr anchor="ctr">
                      <a:noAutofit/>
                    </a:bodyPr>
                    <a:p>
                      <a:pPr defTabSz="457200">
                        <a:lnSpc>
                          <a:spcPct val="100000"/>
                        </a:lnSpc>
                      </a:pPr>
                      <a:r>
                        <a:rPr lang="en-US" sz="1200" b="0" u="none" strike="noStrike">
                          <a:solidFill>
                            <a:srgbClr val="000000"/>
                          </a:solidFill>
                          <a:effectLst/>
                          <a:uFillTx/>
                          <a:latin typeface="Calibri"/>
                        </a:rPr>
                        <a:t>Adversary C2 Infrastructure</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ctr">
                      <a:noAutofit/>
                    </a:bodyPr>
                    <a:p>
                      <a:pPr defTabSz="457200">
                        <a:lnSpc>
                          <a:spcPct val="100000"/>
                        </a:lnSpc>
                      </a:pPr>
                      <a:r>
                        <a:rPr lang="en-US" sz="1200" b="0" u="none" strike="noStrike">
                          <a:solidFill>
                            <a:srgbClr val="000000"/>
                          </a:solidFill>
                          <a:effectLst/>
                          <a:uFillTx/>
                          <a:latin typeface="Calibri"/>
                        </a:rPr>
                        <a:t>Confirmed beaconing from isolated host.</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ctr">
                      <a:noAutofit/>
                    </a:bodyPr>
                    <a:p>
                      <a:pPr defTabSz="457200">
                        <a:lnSpc>
                          <a:spcPct val="100000"/>
                        </a:lnSpc>
                      </a:pPr>
                      <a:r>
                        <a:rPr lang="en-US" sz="1200" b="0" u="none" strike="noStrike">
                          <a:solidFill>
                            <a:srgbClr val="000000"/>
                          </a:solidFill>
                          <a:effectLst/>
                          <a:uFillTx/>
                          <a:latin typeface="Calibri"/>
                        </a:rPr>
                        <a:t>Block outbound traffic; submit RFF.</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ctr">
                      <a:noAutofit/>
                    </a:bodyPr>
                    <a:p>
                      <a:pPr defTabSz="457200">
                        <a:lnSpc>
                          <a:spcPct val="100000"/>
                        </a:lnSpc>
                      </a:pPr>
                      <a:r>
                        <a:rPr lang="en-US" sz="1200" b="0" u="none" strike="noStrike">
                          <a:solidFill>
                            <a:srgbClr val="000000"/>
                          </a:solidFill>
                          <a:effectLst/>
                          <a:uFillTx/>
                          <a:latin typeface="Calibri"/>
                        </a:rPr>
                        <a:t>Conduct active recon &amp; exploit C2 node.</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ctr">
                      <a:noAutofit/>
                    </a:bodyPr>
                    <a:p>
                      <a:pPr defTabSz="457200">
                        <a:lnSpc>
                          <a:spcPct val="100000"/>
                        </a:lnSpc>
                      </a:pPr>
                      <a:r>
                        <a:rPr lang="en-US" sz="1200" b="0" u="none" strike="noStrike">
                          <a:solidFill>
                            <a:srgbClr val="000000"/>
                          </a:solidFill>
                          <a:effectLst/>
                          <a:uFillTx/>
                          <a:latin typeface="Calibri"/>
                        </a:rPr>
                        <a:t>Degrade, Disrupt, Exploit</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731520">
                <a:tc>
                  <a:txBody>
                    <a:bodyPr anchor="ctr">
                      <a:noAutofit/>
                    </a:bodyPr>
                    <a:p>
                      <a:pPr defTabSz="457200">
                        <a:lnSpc>
                          <a:spcPct val="100000"/>
                        </a:lnSpc>
                      </a:pPr>
                      <a:r>
                        <a:rPr lang="en-US" sz="1200" b="0" u="none" strike="noStrike">
                          <a:solidFill>
                            <a:srgbClr val="000000"/>
                          </a:solidFill>
                          <a:effectLst/>
                          <a:uFillTx/>
                          <a:latin typeface="Calibri"/>
                        </a:rPr>
                        <a:t>Adversary Staging Server</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ctr">
                      <a:noAutofit/>
                    </a:bodyPr>
                    <a:p>
                      <a:pPr defTabSz="457200">
                        <a:lnSpc>
                          <a:spcPct val="100000"/>
                        </a:lnSpc>
                      </a:pPr>
                      <a:r>
                        <a:rPr lang="en-US" sz="1200" b="0" u="none" strike="noStrike">
                          <a:solidFill>
                            <a:srgbClr val="000000"/>
                          </a:solidFill>
                          <a:effectLst/>
                          <a:uFillTx/>
                          <a:latin typeface="Calibri"/>
                        </a:rPr>
                        <a:t>Novel payload URL extracted from memory.</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ctr">
                      <a:noAutofit/>
                    </a:bodyPr>
                    <a:p>
                      <a:pPr defTabSz="457200">
                        <a:lnSpc>
                          <a:spcPct val="100000"/>
                        </a:lnSpc>
                      </a:pPr>
                      <a:r>
                        <a:rPr lang="en-US" sz="1200" b="0" u="none" strike="noStrike">
                          <a:solidFill>
                            <a:srgbClr val="000000"/>
                          </a:solidFill>
                          <a:effectLst/>
                          <a:uFillTx/>
                          <a:latin typeface="Calibri"/>
                        </a:rPr>
                        <a:t>Block downloads; submit RFF with URL.</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ctr">
                      <a:noAutofit/>
                    </a:bodyPr>
                    <a:p>
                      <a:pPr defTabSz="457200">
                        <a:lnSpc>
                          <a:spcPct val="100000"/>
                        </a:lnSpc>
                      </a:pPr>
                      <a:r>
                        <a:rPr lang="en-US" sz="1200" b="0" u="none" strike="noStrike">
                          <a:solidFill>
                            <a:srgbClr val="000000"/>
                          </a:solidFill>
                          <a:effectLst/>
                          <a:uFillTx/>
                          <a:latin typeface="Calibri"/>
                        </a:rPr>
                        <a:t>Enumerate/download full toolkit; neutralize server.</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ctr">
                      <a:noAutofit/>
                    </a:bodyPr>
                    <a:p>
                      <a:pPr defTabSz="457200">
                        <a:lnSpc>
                          <a:spcPct val="100000"/>
                        </a:lnSpc>
                      </a:pPr>
                      <a:r>
                        <a:rPr lang="en-US" sz="1200" b="0" u="none" strike="noStrike">
                          <a:solidFill>
                            <a:srgbClr val="000000"/>
                          </a:solidFill>
                          <a:effectLst/>
                          <a:uFillTx/>
                          <a:latin typeface="Calibri"/>
                        </a:rPr>
                        <a:t>Deny, Intelligence Gain</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731520">
                <a:tc>
                  <a:txBody>
                    <a:bodyPr anchor="ctr">
                      <a:noAutofit/>
                    </a:bodyPr>
                    <a:p>
                      <a:pPr defTabSz="457200">
                        <a:lnSpc>
                          <a:spcPct val="100000"/>
                        </a:lnSpc>
                      </a:pPr>
                      <a:r>
                        <a:rPr lang="en-US" sz="1200" b="0" u="none" strike="noStrike">
                          <a:solidFill>
                            <a:srgbClr val="000000"/>
                          </a:solidFill>
                          <a:effectLst/>
                          <a:uFillTx/>
                          <a:latin typeface="Calibri"/>
                        </a:rPr>
                        <a:t>Compromised 3rd-Party Relay</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ctr">
                      <a:noAutofit/>
                    </a:bodyPr>
                    <a:p>
                      <a:pPr defTabSz="457200">
                        <a:lnSpc>
                          <a:spcPct val="100000"/>
                        </a:lnSpc>
                      </a:pPr>
                      <a:r>
                        <a:rPr lang="en-US" sz="1200" b="0" u="none" strike="noStrike">
                          <a:solidFill>
                            <a:srgbClr val="000000"/>
                          </a:solidFill>
                          <a:effectLst/>
                          <a:uFillTx/>
                          <a:latin typeface="Calibri"/>
                        </a:rPr>
                        <a:t>Traffic identified routing through a known proxy.</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ctr">
                      <a:noAutofit/>
                    </a:bodyPr>
                    <a:p>
                      <a:pPr defTabSz="457200">
                        <a:lnSpc>
                          <a:spcPct val="100000"/>
                        </a:lnSpc>
                      </a:pPr>
                      <a:r>
                        <a:rPr lang="en-US" sz="1200" b="0" u="none" strike="noStrike">
                          <a:solidFill>
                            <a:srgbClr val="000000"/>
                          </a:solidFill>
                          <a:effectLst/>
                          <a:uFillTx/>
                          <a:latin typeface="Calibri"/>
                        </a:rPr>
                        <a:t>Null-route traffic; submit RFF.</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ctr">
                      <a:noAutofit/>
                    </a:bodyPr>
                    <a:p>
                      <a:pPr defTabSz="457200">
                        <a:lnSpc>
                          <a:spcPct val="100000"/>
                        </a:lnSpc>
                      </a:pPr>
                      <a:r>
                        <a:rPr lang="en-US" sz="1200" b="0" u="none" strike="noStrike">
                          <a:solidFill>
                            <a:srgbClr val="000000"/>
                          </a:solidFill>
                          <a:effectLst/>
                          <a:uFillTx/>
                          <a:latin typeface="Calibri"/>
                        </a:rPr>
                        <a:t>Coordinate with law enforcement or execute authorized DCORA.</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ctr">
                      <a:noAutofit/>
                    </a:bodyPr>
                    <a:p>
                      <a:pPr defTabSz="457200">
                        <a:lnSpc>
                          <a:spcPct val="100000"/>
                        </a:lnSpc>
                      </a:pPr>
                      <a:r>
                        <a:rPr lang="en-US" sz="1200" b="0" u="none" strike="noStrike">
                          <a:solidFill>
                            <a:srgbClr val="000000"/>
                          </a:solidFill>
                          <a:effectLst/>
                          <a:uFillTx/>
                          <a:latin typeface="Calibri"/>
                        </a:rPr>
                        <a:t>Disrupt</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bl>
          </a:graphicData>
        </a:graphic>
      </p:graphicFrame>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8F9FA"/>
        </a:solidFill>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p>
            <a:pPr indent="0" algn="ctr" defTabSz="457200">
              <a:buNone/>
              <a:tabLst>
                <a:tab pos="0" algn="l"/>
              </a:tabLst>
            </a:pPr>
            <a:endParaRPr lang="en-US" sz="4400" b="0" u="none" strike="noStrike">
              <a:solidFill>
                <a:schemeClr val="dk1"/>
              </a:solidFill>
              <a:effectLst/>
              <a:uFillTx/>
              <a:latin typeface="Calibri"/>
            </a:endParaRPr>
          </a:p>
        </p:txBody>
      </p:sp>
      <p:sp>
        <p:nvSpPr>
          <p:cNvPr id="86" name="TextBox 2"/>
          <p:cNvSpPr/>
          <p:nvPr/>
        </p:nvSpPr>
        <p:spPr>
          <a:xfrm>
            <a:off x="457200" y="182880"/>
            <a:ext cx="8228880" cy="9136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endParaRPr lang="en-US" sz="1800" b="0" u="none" strike="noStrike">
              <a:solidFill>
                <a:srgbClr val="000000"/>
              </a:solidFill>
              <a:effectLst/>
              <a:uFillTx/>
              <a:latin typeface="Arial"/>
            </a:endParaRPr>
          </a:p>
          <a:p>
            <a:pPr defTabSz="457200">
              <a:lnSpc>
                <a:spcPct val="100000"/>
              </a:lnSpc>
            </a:pPr>
            <a:r>
              <a:rPr lang="en-US" sz="4000" b="1" u="none" strike="noStrike">
                <a:solidFill>
                  <a:srgbClr val="002060"/>
                </a:solidFill>
                <a:effectLst/>
                <a:uFillTx/>
                <a:latin typeface="Calibri"/>
              </a:rPr>
              <a:t>Organic Asset Tasking</a:t>
            </a:r>
            <a:endParaRPr lang="en-US" sz="4000" b="0" u="none" strike="noStrike">
              <a:solidFill>
                <a:srgbClr val="000000"/>
              </a:solidFill>
              <a:effectLst/>
              <a:uFillTx/>
              <a:latin typeface="Arial"/>
            </a:endParaRPr>
          </a:p>
        </p:txBody>
      </p:sp>
      <p:graphicFrame>
        <p:nvGraphicFramePr>
          <p:cNvPr id="87" name="Table 3"/>
          <p:cNvGraphicFramePr/>
          <p:nvPr/>
        </p:nvGraphicFramePr>
        <p:xfrm>
          <a:off x="457200" y="1371600"/>
          <a:ext cx="8046360" cy="3657600"/>
        </p:xfrm>
        <a:graphic>
          <a:graphicData uri="http://schemas.openxmlformats.org/drawingml/2006/table">
            <a:tbl>
              <a:tblPr/>
              <a:tblGrid>
                <a:gridCol w="2286000"/>
                <a:gridCol w="5760720"/>
              </a:tblGrid>
              <a:tr h="731520">
                <a:tc>
                  <a:txBody>
                    <a:bodyPr anchor="ctr">
                      <a:noAutofit/>
                    </a:bodyPr>
                    <a:p>
                      <a:pPr defTabSz="457200">
                        <a:lnSpc>
                          <a:spcPct val="100000"/>
                        </a:lnSpc>
                      </a:pPr>
                      <a:r>
                        <a:rPr lang="en-US" sz="1400" b="1" u="none" strike="noStrike">
                          <a:solidFill>
                            <a:srgbClr val="FFFFFF"/>
                          </a:solidFill>
                          <a:effectLst/>
                          <a:uFillTx/>
                          <a:latin typeface="Calibri"/>
                        </a:rPr>
                        <a:t>Role</a:t>
                      </a:r>
                      <a:endParaRPr lang="en-US" sz="14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ctr">
                      <a:noAutofit/>
                    </a:bodyPr>
                    <a:p>
                      <a:pPr defTabSz="457200">
                        <a:lnSpc>
                          <a:spcPct val="100000"/>
                        </a:lnSpc>
                      </a:pPr>
                      <a:r>
                        <a:rPr lang="en-US" sz="1400" b="1" u="none" strike="noStrike">
                          <a:solidFill>
                            <a:srgbClr val="FFFFFF"/>
                          </a:solidFill>
                          <a:effectLst/>
                          <a:uFillTx/>
                          <a:latin typeface="Calibri"/>
                        </a:rPr>
                        <a:t>Key Responsibilities</a:t>
                      </a:r>
                      <a:endParaRPr lang="en-US" sz="14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r>
              <a:tr h="731520">
                <a:tc>
                  <a:txBody>
                    <a:bodyPr anchor="ctr">
                      <a:noAutofit/>
                    </a:bodyPr>
                    <a:p>
                      <a:pPr defTabSz="457200">
                        <a:lnSpc>
                          <a:spcPct val="100000"/>
                        </a:lnSpc>
                      </a:pPr>
                      <a:r>
                        <a:rPr lang="en-US" sz="1200" b="0" u="none" strike="noStrike">
                          <a:solidFill>
                            <a:srgbClr val="000000"/>
                          </a:solidFill>
                          <a:effectLst/>
                          <a:uFillTx/>
                          <a:latin typeface="Calibri"/>
                        </a:rPr>
                        <a:t>Mission Commander (MC)</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ctr">
                      <a:noAutofit/>
                    </a:bodyPr>
                    <a:p>
                      <a:pPr defTabSz="457200">
                        <a:lnSpc>
                          <a:spcPct val="100000"/>
                        </a:lnSpc>
                      </a:pPr>
                      <a:r>
                        <a:rPr lang="en-US" sz="1200" b="0" u="none" strike="noStrike">
                          <a:solidFill>
                            <a:srgbClr val="000000"/>
                          </a:solidFill>
                          <a:effectLst/>
                          <a:uFillTx/>
                          <a:latin typeface="Calibri"/>
                        </a:rPr>
                        <a:t>Authorize key actions (quarantine, RFF submission), manage risk.</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731520">
                <a:tc>
                  <a:txBody>
                    <a:bodyPr anchor="ctr">
                      <a:noAutofit/>
                    </a:bodyPr>
                    <a:p>
                      <a:pPr defTabSz="457200">
                        <a:lnSpc>
                          <a:spcPct val="100000"/>
                        </a:lnSpc>
                      </a:pPr>
                      <a:r>
                        <a:rPr lang="en-US" sz="1200" b="0" u="none" strike="noStrike">
                          <a:solidFill>
                            <a:srgbClr val="000000"/>
                          </a:solidFill>
                          <a:effectLst/>
                          <a:uFillTx/>
                          <a:latin typeface="Calibri"/>
                        </a:rPr>
                        <a:t>Threat Intel</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ctr">
                      <a:noAutofit/>
                    </a:bodyPr>
                    <a:p>
                      <a:pPr defTabSz="457200">
                        <a:lnSpc>
                          <a:spcPct val="100000"/>
                        </a:lnSpc>
                      </a:pPr>
                      <a:r>
                        <a:rPr lang="en-US" sz="1200" b="0" u="none" strike="noStrike">
                          <a:solidFill>
                            <a:srgbClr val="000000"/>
                          </a:solidFill>
                          <a:effectLst/>
                          <a:uFillTx/>
                          <a:latin typeface="Calibri"/>
                        </a:rPr>
                        <a:t>Provide initial TTPs, analyze extracted tools, update EMLCOA.</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731520">
                <a:tc>
                  <a:txBody>
                    <a:bodyPr anchor="ctr">
                      <a:noAutofit/>
                    </a:bodyPr>
                    <a:p>
                      <a:pPr defTabSz="457200">
                        <a:lnSpc>
                          <a:spcPct val="100000"/>
                        </a:lnSpc>
                      </a:pPr>
                      <a:r>
                        <a:rPr lang="en-US" sz="1200" b="0" u="none" strike="noStrike">
                          <a:solidFill>
                            <a:srgbClr val="000000"/>
                          </a:solidFill>
                          <a:effectLst/>
                          <a:uFillTx/>
                          <a:latin typeface="Calibri"/>
                        </a:rPr>
                        <a:t>Network Analyst (NetOps)</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ctr">
                      <a:noAutofit/>
                    </a:bodyPr>
                    <a:p>
                      <a:pPr defTabSz="457200">
                        <a:lnSpc>
                          <a:spcPct val="100000"/>
                        </a:lnSpc>
                      </a:pPr>
                      <a:r>
                        <a:rPr lang="en-US" sz="1200" b="0" u="none" strike="noStrike">
                          <a:solidFill>
                            <a:srgbClr val="000000"/>
                          </a:solidFill>
                          <a:effectLst/>
                          <a:uFillTx/>
                          <a:latin typeface="Calibri"/>
                        </a:rPr>
                        <a:t>Build/monitor SIEM dashboards, trigger alerts, block C2 IPs locally.</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731520">
                <a:tc>
                  <a:txBody>
                    <a:bodyPr anchor="ctr">
                      <a:noAutofit/>
                    </a:bodyPr>
                    <a:p>
                      <a:pPr defTabSz="457200">
                        <a:lnSpc>
                          <a:spcPct val="100000"/>
                        </a:lnSpc>
                      </a:pPr>
                      <a:r>
                        <a:rPr lang="en-US" sz="1200" b="0" u="none" strike="noStrike">
                          <a:solidFill>
                            <a:srgbClr val="000000"/>
                          </a:solidFill>
                          <a:effectLst/>
                          <a:uFillTx/>
                          <a:latin typeface="Calibri"/>
                        </a:rPr>
                        <a:t>Host Analyst (HostOps)</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ctr">
                      <a:noAutofit/>
                    </a:bodyPr>
                    <a:p>
                      <a:pPr defTabSz="457200">
                        <a:lnSpc>
                          <a:spcPct val="100000"/>
                        </a:lnSpc>
                      </a:pPr>
                      <a:r>
                        <a:rPr lang="en-US" sz="1200" b="0" u="none" strike="noStrike">
                          <a:solidFill>
                            <a:srgbClr val="000000"/>
                          </a:solidFill>
                          <a:effectLst/>
                          <a:uFillTx/>
                          <a:latin typeface="Calibri"/>
                        </a:rPr>
                        <a:t>Deploy EDR, execute immediate host quarantine, conduct live triage.</a:t>
                      </a:r>
                      <a:endParaRPr lang="en-US" sz="12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8F9FA"/>
        </a:solidFill>
      </p:bgPr>
    </p:bg>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p>
            <a:pPr indent="0" algn="ctr" defTabSz="457200">
              <a:lnSpc>
                <a:spcPct val="100000"/>
              </a:lnSpc>
              <a:buNone/>
              <a:tabLst>
                <a:tab pos="0" algn="l"/>
              </a:tabLst>
            </a:pPr>
            <a:r>
              <a:rPr lang="en-US" sz="4400" b="1" u="none" strike="noStrike">
                <a:solidFill>
                  <a:srgbClr val="002060"/>
                </a:solidFill>
                <a:effectLst/>
                <a:uFillTx/>
                <a:latin typeface="Calibri"/>
              </a:rPr>
              <a:t>Conclusion &amp; Key Takeaways</a:t>
            </a:r>
            <a:endParaRPr lang="en-US" sz="4400" b="0" u="none" strike="noStrike">
              <a:solidFill>
                <a:schemeClr val="dk1"/>
              </a:solidFill>
              <a:effectLst/>
              <a:uFillTx/>
              <a:latin typeface="Calibri"/>
            </a:endParaRPr>
          </a:p>
        </p:txBody>
      </p:sp>
      <p:sp>
        <p:nvSpPr>
          <p:cNvPr id="89" name="PlaceHolder 2"/>
          <p:cNvSpPr>
            <a:spLocks noGrp="1"/>
          </p:cNvSpPr>
          <p:nvPr>
            <p:ph/>
          </p:nvPr>
        </p:nvSpPr>
        <p:spPr>
          <a:xfrm>
            <a:off x="457200" y="1600200"/>
            <a:ext cx="8228880" cy="4525200"/>
          </a:xfrm>
          <a:prstGeom prst="rect">
            <a:avLst/>
          </a:prstGeom>
          <a:noFill/>
          <a:ln w="0">
            <a:noFill/>
          </a:ln>
        </p:spPr>
        <p:txBody>
          <a:bodyPr lIns="91440" tIns="45720" rIns="91440" bIns="45720" anchor="t">
            <a:noAutofit/>
          </a:bodyPr>
          <a:p>
            <a:pPr indent="0" algn="l" defTabSz="457200">
              <a:lnSpc>
                <a:spcPct val="100000"/>
              </a:lnSpc>
              <a:spcBef>
                <a:spcPts val="641"/>
              </a:spcBef>
              <a:buNone/>
              <a:tabLst>
                <a:tab pos="0" algn="l"/>
              </a:tabLst>
            </a:pPr>
            <a:endParaRPr lang="en-US" sz="3200" b="0" u="none" strike="noStrike">
              <a:solidFill>
                <a:schemeClr val="dk1"/>
              </a:solidFill>
              <a:effectLst/>
              <a:uFillTx/>
              <a:latin typeface="Calibri"/>
            </a:endParaRPr>
          </a:p>
          <a:p>
            <a:pPr marL="743040" lvl="1" indent="-28584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Tempo is Everything: </a:t>
            </a:r>
            <a:r>
              <a:rPr lang="en-US" sz="1800" b="0" u="none" strike="noStrike">
                <a:solidFill>
                  <a:srgbClr val="323232"/>
                </a:solidFill>
                <a:effectLst/>
                <a:uFillTx/>
                <a:latin typeface="Calibri"/>
              </a:rPr>
              <a:t>Our plan is designed to outpace the adversary's "speed-over-stealth" methodology.</a:t>
            </a:r>
            <a:endParaRPr lang="en-US" sz="1800" b="0" u="none" strike="noStrike">
              <a:solidFill>
                <a:schemeClr val="dk1"/>
              </a:solidFill>
              <a:effectLst/>
              <a:uFillTx/>
              <a:latin typeface="Calibri"/>
            </a:endParaRPr>
          </a:p>
          <a:p>
            <a:pPr marL="743040" lvl="1" indent="-28584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Vulnerability Exploitation: </a:t>
            </a:r>
            <a:r>
              <a:rPr lang="en-US" sz="1800" b="0" u="none" strike="noStrike">
                <a:solidFill>
                  <a:srgbClr val="323232"/>
                </a:solidFill>
                <a:effectLst/>
                <a:uFillTx/>
                <a:latin typeface="Calibri"/>
              </a:rPr>
              <a:t>We are directly targeting their reliance on script-based tools and LOLBAS.</a:t>
            </a:r>
            <a:endParaRPr lang="en-US" sz="1800" b="0" u="none" strike="noStrike">
              <a:solidFill>
                <a:schemeClr val="dk1"/>
              </a:solidFill>
              <a:effectLst/>
              <a:uFillTx/>
              <a:latin typeface="Calibri"/>
            </a:endParaRPr>
          </a:p>
          <a:p>
            <a:pPr marL="743040" lvl="1" indent="-28584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Integrated Defense: </a:t>
            </a:r>
            <a:r>
              <a:rPr lang="en-US" sz="1800" b="0" u="none" strike="noStrike">
                <a:solidFill>
                  <a:srgbClr val="323232"/>
                </a:solidFill>
                <a:effectLst/>
                <a:uFillTx/>
                <a:latin typeface="Calibri"/>
              </a:rPr>
              <a:t>Success requires a seamless flow of information and action between NetOps, HostOps, and Intel.</a:t>
            </a:r>
            <a:endParaRPr lang="en-US" sz="1800" b="0" u="none" strike="noStrike">
              <a:solidFill>
                <a:schemeClr val="dk1"/>
              </a:solidFill>
              <a:effectLst/>
              <a:uFillTx/>
              <a:latin typeface="Calibri"/>
            </a:endParaRPr>
          </a:p>
          <a:p>
            <a:pPr marL="743040" lvl="1" indent="-28584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Unity of Effort: </a:t>
            </a:r>
            <a:r>
              <a:rPr lang="en-US" sz="1800" b="0" u="none" strike="noStrike">
                <a:solidFill>
                  <a:srgbClr val="323232"/>
                </a:solidFill>
                <a:effectLst/>
                <a:uFillTx/>
                <a:latin typeface="Calibri"/>
              </a:rPr>
              <a:t>Clear roles and responsibilities prevent overlap and ensure we can execute the plan under pressure.</a:t>
            </a: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8F9FA"/>
        </a:solidFill>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p>
            <a:pPr indent="0" algn="ctr" defTabSz="457200">
              <a:lnSpc>
                <a:spcPct val="100000"/>
              </a:lnSpc>
              <a:buNone/>
              <a:tabLst>
                <a:tab pos="0" algn="l"/>
              </a:tabLst>
            </a:pPr>
            <a:r>
              <a:rPr lang="en-US" sz="4400" b="1" u="none" strike="noStrike">
                <a:solidFill>
                  <a:srgbClr val="002060"/>
                </a:solidFill>
                <a:effectLst/>
                <a:uFillTx/>
                <a:latin typeface="Calibri"/>
              </a:rPr>
              <a:t>Sources</a:t>
            </a:r>
            <a:endParaRPr lang="en-US" sz="4400" b="0" u="none" strike="noStrike">
              <a:solidFill>
                <a:schemeClr val="dk1"/>
              </a:solidFill>
              <a:effectLst/>
              <a:uFillTx/>
              <a:latin typeface="Calibri"/>
            </a:endParaRPr>
          </a:p>
        </p:txBody>
      </p:sp>
      <p:sp>
        <p:nvSpPr>
          <p:cNvPr id="91" name="PlaceHolder 2"/>
          <p:cNvSpPr>
            <a:spLocks noGrp="1"/>
          </p:cNvSpPr>
          <p:nvPr>
            <p:ph/>
          </p:nvPr>
        </p:nvSpPr>
        <p:spPr>
          <a:xfrm>
            <a:off x="457200" y="1600200"/>
            <a:ext cx="8228880" cy="4525200"/>
          </a:xfrm>
          <a:prstGeom prst="rect">
            <a:avLst/>
          </a:prstGeom>
          <a:noFill/>
          <a:ln w="0">
            <a:noFill/>
          </a:ln>
        </p:spPr>
        <p:txBody>
          <a:bodyPr lIns="91440" tIns="45720" rIns="91440" bIns="45720" anchor="t">
            <a:noAutofit/>
          </a:bodyPr>
          <a:p>
            <a:pPr indent="0" algn="l" defTabSz="457200">
              <a:lnSpc>
                <a:spcPct val="100000"/>
              </a:lnSpc>
              <a:spcBef>
                <a:spcPts val="641"/>
              </a:spcBef>
              <a:buNone/>
              <a:tabLst>
                <a:tab pos="0" algn="l"/>
              </a:tabLst>
            </a:pPr>
            <a:endParaRPr lang="en-US" sz="3200" b="0" u="none" strike="noStrike">
              <a:solidFill>
                <a:schemeClr val="dk1"/>
              </a:solidFill>
              <a:effectLst/>
              <a:uFillTx/>
              <a:latin typeface="Calibri"/>
            </a:endParaRPr>
          </a:p>
          <a:p>
            <a:pPr marL="743040" lvl="1" indent="-28584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UK NCSC: </a:t>
            </a:r>
            <a:r>
              <a:rPr lang="en-US" sz="1800" b="0" u="none" strike="noStrike">
                <a:solidFill>
                  <a:srgbClr val="323232"/>
                </a:solidFill>
                <a:effectLst/>
                <a:uFillTx/>
                <a:latin typeface="Calibri"/>
              </a:rPr>
              <a:t>Russia's FSB Malign Cyber Activity Factsheet</a:t>
            </a:r>
            <a:endParaRPr lang="en-US" sz="1800" b="0" u="none" strike="noStrike">
              <a:solidFill>
                <a:schemeClr val="dk1"/>
              </a:solidFill>
              <a:effectLst/>
              <a:uFillTx/>
              <a:latin typeface="Calibri"/>
            </a:endParaRPr>
          </a:p>
          <a:p>
            <a:pPr marL="743040" lvl="1" indent="-28584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Palo Alto Unit 42: </a:t>
            </a:r>
            <a:r>
              <a:rPr lang="en-US" sz="1800" b="0" u="none" strike="noStrike">
                <a:solidFill>
                  <a:srgbClr val="323232"/>
                </a:solidFill>
                <a:effectLst/>
                <a:uFillTx/>
                <a:latin typeface="Calibri"/>
              </a:rPr>
              <a:t>Gamaredon/Primitive Bear Ukraine Update 2021</a:t>
            </a:r>
            <a:endParaRPr lang="en-US" sz="1800" b="0" u="none" strike="noStrike">
              <a:solidFill>
                <a:schemeClr val="dk1"/>
              </a:solidFill>
              <a:effectLst/>
              <a:uFillTx/>
              <a:latin typeface="Calibri"/>
            </a:endParaRPr>
          </a:p>
          <a:p>
            <a:pPr marL="743040" lvl="1" indent="-285840" algn="l" defTabSz="457200">
              <a:lnSpc>
                <a:spcPct val="100000"/>
              </a:lnSpc>
              <a:spcBef>
                <a:spcPts val="360"/>
              </a:spcBef>
              <a:buClr>
                <a:srgbClr val="323232"/>
              </a:buClr>
              <a:buFont typeface="Arial"/>
              <a:buChar char="–"/>
              <a:tabLst>
                <a:tab pos="0" algn="l"/>
              </a:tabLst>
            </a:pPr>
            <a:r>
              <a:rPr lang="en-US" sz="1800" b="1" u="none" strike="noStrike">
                <a:solidFill>
                  <a:srgbClr val="323232"/>
                </a:solidFill>
                <a:effectLst/>
                <a:uFillTx/>
                <a:latin typeface="Calibri"/>
              </a:rPr>
              <a:t>ESET Whitepaper: </a:t>
            </a:r>
            <a:r>
              <a:rPr lang="en-US" sz="1800" b="0" u="none" strike="noStrike">
                <a:solidFill>
                  <a:srgbClr val="323232"/>
                </a:solidFill>
                <a:effectLst/>
                <a:uFillTx/>
                <a:latin typeface="Calibri"/>
              </a:rPr>
              <a:t>The Gamaredon way of Cyberespionage</a:t>
            </a: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LibreOffice/26.2.3.2$Windows_X86_64 LibreOffice_project/70e089b17412e4cb7773e41413306b17a2328c34</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2026-05-19T09:01:02Z</dcterms:modified>
  <cp:revision>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