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7" r:id="rId2"/>
    <p:sldId id="256" r:id="rId3"/>
    <p:sldId id="258" r:id="rId4"/>
    <p:sldId id="259" r:id="rId5"/>
    <p:sldId id="260" r:id="rId6"/>
    <p:sldId id="276" r:id="rId7"/>
    <p:sldId id="261" r:id="rId8"/>
    <p:sldId id="262" r:id="rId9"/>
    <p:sldId id="277" r:id="rId10"/>
    <p:sldId id="279" r:id="rId11"/>
    <p:sldId id="280" r:id="rId12"/>
    <p:sldId id="278" r:id="rId13"/>
    <p:sldId id="282" r:id="rId14"/>
    <p:sldId id="281" r:id="rId15"/>
    <p:sldId id="283" r:id="rId16"/>
    <p:sldId id="284" r:id="rId17"/>
    <p:sldId id="285" r:id="rId18"/>
    <p:sldId id="286" r:id="rId19"/>
    <p:sldId id="263" r:id="rId20"/>
    <p:sldId id="264" r:id="rId21"/>
    <p:sldId id="287" r:id="rId22"/>
    <p:sldId id="265" r:id="rId23"/>
    <p:sldId id="266" r:id="rId24"/>
    <p:sldId id="267" r:id="rId25"/>
    <p:sldId id="268" r:id="rId26"/>
    <p:sldId id="289" r:id="rId27"/>
    <p:sldId id="290" r:id="rId28"/>
    <p:sldId id="270" r:id="rId29"/>
    <p:sldId id="291" r:id="rId30"/>
    <p:sldId id="271" r:id="rId31"/>
    <p:sldId id="272" r:id="rId32"/>
    <p:sldId id="273" r:id="rId33"/>
    <p:sldId id="274"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27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4C"/>
    <a:srgbClr val="49C000"/>
    <a:srgbClr val="4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80742" autoAdjust="0"/>
  </p:normalViewPr>
  <p:slideViewPr>
    <p:cSldViewPr snapToGrid="0">
      <p:cViewPr varScale="1">
        <p:scale>
          <a:sx n="70" d="100"/>
          <a:sy n="70" d="100"/>
        </p:scale>
        <p:origin x="96" y="144"/>
      </p:cViewPr>
      <p:guideLst/>
    </p:cSldViewPr>
  </p:slideViewPr>
  <p:notesTextViewPr>
    <p:cViewPr>
      <p:scale>
        <a:sx n="1" d="1"/>
        <a:sy n="1" d="1"/>
      </p:scale>
      <p:origin x="0" y="0"/>
    </p:cViewPr>
  </p:notesTextViewPr>
  <p:notesViewPr>
    <p:cSldViewPr snapToGrid="0">
      <p:cViewPr varScale="1">
        <p:scale>
          <a:sx n="57" d="100"/>
          <a:sy n="57" d="100"/>
        </p:scale>
        <p:origin x="1554"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8CBF2-17C0-49A7-9A50-E94BC48D0DE3}"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EF4C1A-577C-4483-A7A8-32240562407F}" type="slidenum">
              <a:rPr lang="en-US" smtClean="0"/>
              <a:t>‹#›</a:t>
            </a:fld>
            <a:endParaRPr lang="en-US"/>
          </a:p>
        </p:txBody>
      </p:sp>
    </p:spTree>
    <p:extLst>
      <p:ext uri="{BB962C8B-B14F-4D97-AF65-F5344CB8AC3E}">
        <p14:creationId xmlns:p14="http://schemas.microsoft.com/office/powerpoint/2010/main" val="2239135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Additional Details:</a:t>
            </a:r>
          </a:p>
          <a:p>
            <a:r>
              <a:rPr lang="en-US" dirty="0"/>
              <a:t>What we're not going to do is we're not going to lean on industry digital forensics and incident response models and ways of doing things, there's definitely going to be some overlap but we're going to steal from them only when it's applicable. In other words, when we can't find an answer within the military mindset.</a:t>
            </a:r>
          </a:p>
        </p:txBody>
      </p:sp>
      <p:sp>
        <p:nvSpPr>
          <p:cNvPr id="4" name="Slide Number Placeholder 3"/>
          <p:cNvSpPr>
            <a:spLocks noGrp="1"/>
          </p:cNvSpPr>
          <p:nvPr>
            <p:ph type="sldNum" sz="quarter" idx="5"/>
          </p:nvPr>
        </p:nvSpPr>
        <p:spPr/>
        <p:txBody>
          <a:bodyPr/>
          <a:lstStyle/>
          <a:p>
            <a:fld id="{8CEF4C1A-577C-4483-A7A8-32240562407F}" type="slidenum">
              <a:rPr lang="en-US" smtClean="0"/>
              <a:t>6</a:t>
            </a:fld>
            <a:endParaRPr lang="en-US"/>
          </a:p>
        </p:txBody>
      </p:sp>
    </p:spTree>
    <p:extLst>
      <p:ext uri="{BB962C8B-B14F-4D97-AF65-F5344CB8AC3E}">
        <p14:creationId xmlns:p14="http://schemas.microsoft.com/office/powerpoint/2010/main" val="3250432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not every tactical task will have a smooth transition into cyberspace. The point of this lesson is not to shoehorn each task into a cyberspace capacity, but to utilize the construct of the tactical task orientation as much as possible. </a:t>
            </a:r>
          </a:p>
        </p:txBody>
      </p:sp>
      <p:sp>
        <p:nvSpPr>
          <p:cNvPr id="4" name="Slide Number Placeholder 3"/>
          <p:cNvSpPr>
            <a:spLocks noGrp="1"/>
          </p:cNvSpPr>
          <p:nvPr>
            <p:ph type="sldNum" sz="quarter" idx="5"/>
          </p:nvPr>
        </p:nvSpPr>
        <p:spPr/>
        <p:txBody>
          <a:bodyPr/>
          <a:lstStyle/>
          <a:p>
            <a:fld id="{8CEF4C1A-577C-4483-A7A8-32240562407F}" type="slidenum">
              <a:rPr lang="en-US" smtClean="0"/>
              <a:t>17</a:t>
            </a:fld>
            <a:endParaRPr lang="en-US"/>
          </a:p>
        </p:txBody>
      </p:sp>
    </p:spTree>
    <p:extLst>
      <p:ext uri="{BB962C8B-B14F-4D97-AF65-F5344CB8AC3E}">
        <p14:creationId xmlns:p14="http://schemas.microsoft.com/office/powerpoint/2010/main" val="336417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20</a:t>
            </a:fld>
            <a:endParaRPr lang="en-US"/>
          </a:p>
        </p:txBody>
      </p:sp>
    </p:spTree>
    <p:extLst>
      <p:ext uri="{BB962C8B-B14F-4D97-AF65-F5344CB8AC3E}">
        <p14:creationId xmlns:p14="http://schemas.microsoft.com/office/powerpoint/2010/main" val="3493334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21</a:t>
            </a:fld>
            <a:endParaRPr lang="en-US"/>
          </a:p>
        </p:txBody>
      </p:sp>
    </p:spTree>
    <p:extLst>
      <p:ext uri="{BB962C8B-B14F-4D97-AF65-F5344CB8AC3E}">
        <p14:creationId xmlns:p14="http://schemas.microsoft.com/office/powerpoint/2010/main" val="428470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Instructor Talking Points: </a:t>
            </a:r>
            <a:r>
              <a:rPr lang="en-US" sz="1800" dirty="0">
                <a:latin typeface="Courier New" panose="02070309020205020404" pitchFamily="49" charset="0"/>
              </a:rPr>
              <a:t>Diving right into the first part of METT-TC is where we conduct our mission analysis: what are we doing here? You’re going to presumably receive a mission from somebody. From a tasking statement issued to you from a higher echelon, and that's going to include hopefully one or more of those tactical tasks we discussed. We can usually extrapolate the tactical task even if the tasking statement doesn’t include them.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ourier New" panose="02070309020205020404" pitchFamily="49" charset="0"/>
              </a:rPr>
              <a:t>There's going to be explicit tasks and implied tasks and your goal here in mission analysis is just to make sure you understand what the task is, and then also to conduct purpose analysis. Understand the why. Why am I doing this? What is the commander's intent? And in our context here, we're really focusing on cost imposition of the adversary as well as generating options for pursuit. Our adversaries have gone unopposed for too long in cyberspace. Its time to start making this risky business for them and forcing them to have to burn time, money, and manpower.</a:t>
            </a:r>
          </a:p>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23</a:t>
            </a:fld>
            <a:endParaRPr lang="en-US"/>
          </a:p>
        </p:txBody>
      </p:sp>
    </p:spTree>
    <p:extLst>
      <p:ext uri="{BB962C8B-B14F-4D97-AF65-F5344CB8AC3E}">
        <p14:creationId xmlns:p14="http://schemas.microsoft.com/office/powerpoint/2010/main" val="2934281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31</a:t>
            </a:fld>
            <a:endParaRPr lang="en-US"/>
          </a:p>
        </p:txBody>
      </p:sp>
    </p:spTree>
    <p:extLst>
      <p:ext uri="{BB962C8B-B14F-4D97-AF65-F5344CB8AC3E}">
        <p14:creationId xmlns:p14="http://schemas.microsoft.com/office/powerpoint/2010/main" val="475443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2"/>
        <p:cNvGrpSpPr/>
        <p:nvPr/>
      </p:nvGrpSpPr>
      <p:grpSpPr>
        <a:xfrm>
          <a:off x="0" y="0"/>
          <a:ext cx="0" cy="0"/>
          <a:chOff x="0" y="0"/>
          <a:chExt cx="0" cy="0"/>
        </a:xfrm>
      </p:grpSpPr>
      <p:sp>
        <p:nvSpPr>
          <p:cNvPr id="13" name="Google Shape;13;p11"/>
          <p:cNvSpPr txBox="1">
            <a:spLocks noGrp="1"/>
          </p:cNvSpPr>
          <p:nvPr>
            <p:ph type="ctrTitle" hasCustomPrompt="1"/>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Title</a:t>
            </a:r>
            <a:endParaRPr dirty="0"/>
          </a:p>
        </p:txBody>
      </p:sp>
    </p:spTree>
    <p:extLst>
      <p:ext uri="{BB962C8B-B14F-4D97-AF65-F5344CB8AC3E}">
        <p14:creationId xmlns:p14="http://schemas.microsoft.com/office/powerpoint/2010/main" val="2441138660"/>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ELOs and the TLOs they support</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Objectives</a:t>
            </a:r>
            <a:endParaRPr dirty="0"/>
          </a:p>
        </p:txBody>
      </p:sp>
    </p:spTree>
    <p:extLst>
      <p:ext uri="{BB962C8B-B14F-4D97-AF65-F5344CB8AC3E}">
        <p14:creationId xmlns:p14="http://schemas.microsoft.com/office/powerpoint/2010/main" val="1499153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Explanation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Overview</a:t>
            </a:r>
            <a:endParaRPr dirty="0"/>
          </a:p>
        </p:txBody>
      </p:sp>
    </p:spTree>
    <p:extLst>
      <p:ext uri="{BB962C8B-B14F-4D97-AF65-F5344CB8AC3E}">
        <p14:creationId xmlns:p14="http://schemas.microsoft.com/office/powerpoint/2010/main" val="3432734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
        <p:nvSpPr>
          <p:cNvPr id="17" name="Google Shape;17;p1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609585" marR="0" lvl="0" indent="-304792"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mn-lt"/>
                <a:ea typeface="Calibri"/>
                <a:cs typeface="Calibri"/>
                <a:sym typeface="Calibri"/>
              </a:defRPr>
            </a:lvl1pPr>
            <a:lvl2pPr marL="1219170" marR="0" lvl="1" indent="-304792"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828754" marR="0" lvl="2" indent="-304792"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2438339" marR="0" lvl="3"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3047924" marR="0" lvl="4"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3657509" marR="0" lvl="5"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4267093" marR="0" lvl="6"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4876678" marR="0" lvl="7"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5486263" marR="0" lvl="8"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pPr lvl="0"/>
            <a:r>
              <a:rPr lang="en-US" dirty="0"/>
              <a:t>Edit Master text styles</a:t>
            </a:r>
          </a:p>
        </p:txBody>
      </p:sp>
    </p:spTree>
    <p:extLst>
      <p:ext uri="{BB962C8B-B14F-4D97-AF65-F5344CB8AC3E}">
        <p14:creationId xmlns:p14="http://schemas.microsoft.com/office/powerpoint/2010/main" val="1686506699"/>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rgbClr val="00004C"/>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rgbClr val="00004C"/>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rgbClr val="00004C"/>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Tree>
    <p:extLst>
      <p:ext uri="{BB962C8B-B14F-4D97-AF65-F5344CB8AC3E}">
        <p14:creationId xmlns:p14="http://schemas.microsoft.com/office/powerpoint/2010/main" val="384602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Comparison">
    <p:spTree>
      <p:nvGrpSpPr>
        <p:cNvPr id="1" name="Shape 33"/>
        <p:cNvGrpSpPr/>
        <p:nvPr/>
      </p:nvGrpSpPr>
      <p:grpSpPr>
        <a:xfrm>
          <a:off x="0" y="0"/>
          <a:ext cx="0" cy="0"/>
          <a:chOff x="0" y="0"/>
          <a:chExt cx="0" cy="0"/>
        </a:xfrm>
      </p:grpSpPr>
      <p:sp>
        <p:nvSpPr>
          <p:cNvPr id="34" name="Google Shape;34;p17"/>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dirty="0"/>
              <a:t>Edit Master text styles</a:t>
            </a:r>
          </a:p>
        </p:txBody>
      </p:sp>
      <p:sp>
        <p:nvSpPr>
          <p:cNvPr id="35" name="Google Shape;35;p17"/>
          <p:cNvSpPr txBox="1">
            <a:spLocks noGrp="1"/>
          </p:cNvSpPr>
          <p:nvPr>
            <p:ph type="body" idx="2" hasCustomPrompt="1"/>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sp>
        <p:nvSpPr>
          <p:cNvPr id="36" name="Google Shape;36;p17"/>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dirty="0"/>
              <a:t>Edit Master text styles</a:t>
            </a:r>
          </a:p>
        </p:txBody>
      </p:sp>
      <p:sp>
        <p:nvSpPr>
          <p:cNvPr id="37" name="Google Shape;37;p17"/>
          <p:cNvSpPr txBox="1">
            <a:spLocks noGrp="1"/>
          </p:cNvSpPr>
          <p:nvPr>
            <p:ph type="body" idx="4" hasCustomPrompt="1"/>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pPr lvl="0"/>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cxnSp>
        <p:nvCxnSpPr>
          <p:cNvPr id="38" name="Google Shape;38;p17"/>
          <p:cNvCxnSpPr>
            <a:cxnSpLocks/>
          </p:cNvCxnSpPr>
          <p:nvPr/>
        </p:nvCxnSpPr>
        <p:spPr>
          <a:xfrm>
            <a:off x="1141622" y="974035"/>
            <a:ext cx="10830241" cy="0"/>
          </a:xfrm>
          <a:prstGeom prst="straightConnector1">
            <a:avLst/>
          </a:prstGeom>
          <a:noFill/>
          <a:ln w="9525" cap="flat" cmpd="sng">
            <a:solidFill>
              <a:srgbClr val="BFBFBF"/>
            </a:solidFill>
            <a:prstDash val="solid"/>
            <a:miter lim="8000"/>
            <a:headEnd type="none" w="sm" len="sm"/>
            <a:tailEnd type="none" w="sm" len="sm"/>
          </a:ln>
        </p:spPr>
      </p:cxnSp>
      <p:cxnSp>
        <p:nvCxnSpPr>
          <p:cNvPr id="39" name="Google Shape;39;p17"/>
          <p:cNvCxnSpPr/>
          <p:nvPr/>
        </p:nvCxnSpPr>
        <p:spPr>
          <a:xfrm>
            <a:off x="6095137" y="974035"/>
            <a:ext cx="800" cy="5382400"/>
          </a:xfrm>
          <a:prstGeom prst="straightConnector1">
            <a:avLst/>
          </a:prstGeom>
          <a:noFill/>
          <a:ln w="9525" cap="flat" cmpd="sng">
            <a:solidFill>
              <a:srgbClr val="BFBFBF"/>
            </a:solidFill>
            <a:prstDash val="solid"/>
            <a:miter lim="8000"/>
            <a:headEnd type="none" w="sm" len="sm"/>
            <a:tailEnd type="none" w="sm" len="sm"/>
          </a:ln>
        </p:spPr>
      </p:cxnSp>
      <p:cxnSp>
        <p:nvCxnSpPr>
          <p:cNvPr id="40" name="Google Shape;40;p17"/>
          <p:cNvCxnSpPr>
            <a:cxnSpLocks/>
          </p:cNvCxnSpPr>
          <p:nvPr/>
        </p:nvCxnSpPr>
        <p:spPr>
          <a:xfrm>
            <a:off x="1141621" y="1504121"/>
            <a:ext cx="10830240" cy="0"/>
          </a:xfrm>
          <a:prstGeom prst="straightConnector1">
            <a:avLst/>
          </a:prstGeom>
          <a:noFill/>
          <a:ln w="9525" cap="flat" cmpd="sng">
            <a:solidFill>
              <a:srgbClr val="BFBFBF"/>
            </a:solidFill>
            <a:prstDash val="solid"/>
            <a:miter lim="8000"/>
            <a:headEnd type="none" w="sm" len="sm"/>
            <a:tailEnd type="none" w="sm" len="sm"/>
          </a:ln>
        </p:spPr>
      </p:cxnSp>
      <p:sp>
        <p:nvSpPr>
          <p:cNvPr id="11"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Tree>
    <p:extLst>
      <p:ext uri="{BB962C8B-B14F-4D97-AF65-F5344CB8AC3E}">
        <p14:creationId xmlns:p14="http://schemas.microsoft.com/office/powerpoint/2010/main" val="342295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1363363" y="952052"/>
            <a:ext cx="3098248"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
        <p:nvSpPr>
          <p:cNvPr id="45" name="Google Shape;45;p19"/>
          <p:cNvSpPr txBox="1">
            <a:spLocks noGrp="1"/>
          </p:cNvSpPr>
          <p:nvPr>
            <p:ph type="body" idx="1" hasCustomPrompt="1"/>
          </p:nvPr>
        </p:nvSpPr>
        <p:spPr>
          <a:xfrm>
            <a:off x="4720611" y="952053"/>
            <a:ext cx="7091600" cy="5404000"/>
          </a:xfrm>
          <a:prstGeom prst="rect">
            <a:avLst/>
          </a:prstGeom>
          <a:noFill/>
          <a:ln>
            <a:noFill/>
          </a:ln>
        </p:spPr>
        <p:txBody>
          <a:bodyPr spcFirstLastPara="1" wrap="square" lIns="91425" tIns="91425" rIns="91425" bIns="91425" anchor="t" anchorCtr="0">
            <a:noAutofit/>
          </a:bodyPr>
          <a:lstStyle>
            <a:lvl1pPr marL="609585" marR="0" lvl="0" indent="-457189"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40256"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423323"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8pPr>
            <a:lvl9pPr marL="5316934" marR="0" lvl="8" indent="-228594" algn="l">
              <a:lnSpc>
                <a:spcPct val="90000"/>
              </a:lnSpc>
              <a:spcBef>
                <a:spcPts val="400"/>
              </a:spcBef>
              <a:spcAft>
                <a:spcPts val="0"/>
              </a:spcAft>
              <a:buClr>
                <a:schemeClr val="dk1"/>
              </a:buClr>
              <a:buSzPts val="1100"/>
              <a:buFont typeface="Arial" panose="020B0604020202020204" pitchFamily="34" charset="0"/>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8"/>
            <a:r>
              <a:rPr lang="en-US" dirty="0"/>
              <a:t>Text</a:t>
            </a:r>
          </a:p>
          <a:p>
            <a:pPr lvl="8"/>
            <a:endParaRPr lang="en-US" dirty="0"/>
          </a:p>
          <a:p>
            <a:pPr lvl="8"/>
            <a:endParaRPr lang="en-US" dirty="0"/>
          </a:p>
          <a:p>
            <a:pPr lvl="0"/>
            <a:endParaRPr lang="en-US" dirty="0"/>
          </a:p>
        </p:txBody>
      </p:sp>
      <p:sp>
        <p:nvSpPr>
          <p:cNvPr id="46" name="Google Shape;46;p19"/>
          <p:cNvSpPr txBox="1">
            <a:spLocks noGrp="1"/>
          </p:cNvSpPr>
          <p:nvPr>
            <p:ph type="body" idx="2"/>
          </p:nvPr>
        </p:nvSpPr>
        <p:spPr>
          <a:xfrm>
            <a:off x="1363363" y="2552252"/>
            <a:ext cx="3098248" cy="3811600"/>
          </a:xfrm>
          <a:prstGeom prst="rect">
            <a:avLst/>
          </a:prstGeom>
          <a:noFill/>
          <a:ln>
            <a:noFill/>
          </a:ln>
        </p:spPr>
        <p:txBody>
          <a:bodyPr spcFirstLastPara="1" wrap="square" lIns="91425" tIns="91425" rIns="91425" bIns="91425" anchor="t" anchorCtr="0">
            <a:noAutofit/>
          </a:bodyPr>
          <a:lstStyle>
            <a:lvl1pPr marL="609585" marR="0" lvl="0" indent="-304792" algn="l">
              <a:lnSpc>
                <a:spcPct val="90000"/>
              </a:lnSpc>
              <a:spcBef>
                <a:spcPts val="800"/>
              </a:spcBef>
              <a:spcAft>
                <a:spcPts val="0"/>
              </a:spcAft>
              <a:buClr>
                <a:schemeClr val="dk1"/>
              </a:buClr>
              <a:buSzPts val="1600"/>
              <a:buFont typeface="Arial"/>
              <a:buNone/>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pPr lvl="0"/>
            <a:r>
              <a:rPr lang="en-US" dirty="0"/>
              <a:t>Edit Master text styles</a:t>
            </a:r>
          </a:p>
        </p:txBody>
      </p:sp>
    </p:spTree>
    <p:extLst>
      <p:ext uri="{BB962C8B-B14F-4D97-AF65-F5344CB8AC3E}">
        <p14:creationId xmlns:p14="http://schemas.microsoft.com/office/powerpoint/2010/main" val="1894146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1301578" y="987425"/>
            <a:ext cx="3061420"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9" name="Google Shape;49;p20"/>
          <p:cNvSpPr>
            <a:spLocks noGrp="1"/>
          </p:cNvSpPr>
          <p:nvPr>
            <p:ph type="pic" idx="2"/>
          </p:nvPr>
        </p:nvSpPr>
        <p:spPr>
          <a:xfrm>
            <a:off x="4666821" y="987425"/>
            <a:ext cx="7102000" cy="54116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800"/>
              </a:spcBef>
              <a:spcAft>
                <a:spcPts val="0"/>
              </a:spcAft>
              <a:buClr>
                <a:schemeClr val="dk1"/>
              </a:buClr>
              <a:buSzPts val="1100"/>
              <a:buFont typeface="Arial"/>
              <a:buNone/>
              <a:defRPr sz="2400" b="0" i="0" u="none" strike="noStrike" cap="none">
                <a:solidFill>
                  <a:srgbClr val="00004C"/>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100"/>
              <a:buFont typeface="Arial"/>
              <a:buNone/>
              <a:defRPr sz="2133"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50" name="Google Shape;50;p20"/>
          <p:cNvSpPr txBox="1">
            <a:spLocks noGrp="1"/>
          </p:cNvSpPr>
          <p:nvPr>
            <p:ph type="body" idx="1"/>
          </p:nvPr>
        </p:nvSpPr>
        <p:spPr>
          <a:xfrm>
            <a:off x="1301578" y="2587625"/>
            <a:ext cx="3061420" cy="3811600"/>
          </a:xfrm>
          <a:prstGeom prst="rect">
            <a:avLst/>
          </a:prstGeom>
          <a:noFill/>
          <a:ln>
            <a:noFill/>
          </a:ln>
        </p:spPr>
        <p:txBody>
          <a:bodyPr spcFirstLastPara="1" wrap="square" lIns="91425" tIns="91425" rIns="91425" bIns="91425" anchor="t" anchorCtr="0">
            <a:noAutofit/>
          </a:bodyPr>
          <a:lstStyle>
            <a:lvl1pPr>
              <a:defRPr sz="1867" dirty="0">
                <a:solidFill>
                  <a:srgbClr val="00004C"/>
                </a:solidFill>
                <a:latin typeface="Arial" panose="020B0604020202020204" pitchFamily="34" charset="0"/>
                <a:ea typeface="Arial" panose="020B0604020202020204" pitchFamily="34" charset="0"/>
                <a:cs typeface="Arial" panose="020B0604020202020204" pitchFamily="34" charset="0"/>
              </a:defRPr>
            </a:lvl1pPr>
          </a:lstStyle>
          <a:p>
            <a:pPr lvl="0" indent="-304792">
              <a:buClr>
                <a:schemeClr val="dk1"/>
              </a:buClr>
              <a:buNone/>
            </a:pPr>
            <a:r>
              <a:rPr lang="en-US"/>
              <a:t>Edit Master text styles</a:t>
            </a:r>
          </a:p>
        </p:txBody>
      </p:sp>
    </p:spTree>
    <p:extLst>
      <p:ext uri="{BB962C8B-B14F-4D97-AF65-F5344CB8AC3E}">
        <p14:creationId xmlns:p14="http://schemas.microsoft.com/office/powerpoint/2010/main" val="354145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reserve="1">
  <p:cSld name="11_Title Slide">
    <p:spTree>
      <p:nvGrpSpPr>
        <p:cNvPr id="1" name="Shape 57"/>
        <p:cNvGrpSpPr/>
        <p:nvPr/>
      </p:nvGrpSpPr>
      <p:grpSpPr>
        <a:xfrm>
          <a:off x="0" y="0"/>
          <a:ext cx="0" cy="0"/>
          <a:chOff x="0" y="0"/>
          <a:chExt cx="0" cy="0"/>
        </a:xfrm>
      </p:grpSpPr>
      <p:sp>
        <p:nvSpPr>
          <p:cNvPr id="58" name="Google Shape;58;p23"/>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59" name="Google Shape;59;p23"/>
          <p:cNvSpPr txBox="1">
            <a:spLocks noGrp="1"/>
          </p:cNvSpPr>
          <p:nvPr>
            <p:ph type="ftr" idx="11"/>
          </p:nvPr>
        </p:nvSpPr>
        <p:spPr>
          <a:xfrm>
            <a:off x="8049777" y="6566743"/>
            <a:ext cx="3860800" cy="365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100"/>
              <a:buFont typeface="Arial"/>
              <a:buNone/>
              <a:defRPr sz="1867" b="1" i="0" u="none" strike="noStrike" cap="none">
                <a:solidFill>
                  <a:srgbClr val="00B05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301844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reserve="1" userDrawn="1">
  <p:cSld name="Master Use">
    <p:spTree>
      <p:nvGrpSpPr>
        <p:cNvPr id="1" name="Shape 60"/>
        <p:cNvGrpSpPr/>
        <p:nvPr/>
      </p:nvGrpSpPr>
      <p:grpSpPr>
        <a:xfrm>
          <a:off x="0" y="0"/>
          <a:ext cx="0" cy="0"/>
          <a:chOff x="0" y="0"/>
          <a:chExt cx="0" cy="0"/>
        </a:xfrm>
      </p:grpSpPr>
      <p:sp>
        <p:nvSpPr>
          <p:cNvPr id="4"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Tree>
    <p:extLst>
      <p:ext uri="{BB962C8B-B14F-4D97-AF65-F5344CB8AC3E}">
        <p14:creationId xmlns:p14="http://schemas.microsoft.com/office/powerpoint/2010/main" val="3138576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Summary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Summary</a:t>
            </a:r>
            <a:endParaRPr dirty="0"/>
          </a:p>
        </p:txBody>
      </p:sp>
    </p:spTree>
    <p:extLst>
      <p:ext uri="{BB962C8B-B14F-4D97-AF65-F5344CB8AC3E}">
        <p14:creationId xmlns:p14="http://schemas.microsoft.com/office/powerpoint/2010/main" val="466595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spTree>
      <p:nvGrpSpPr>
        <p:cNvPr id="1" name="Shape 15"/>
        <p:cNvGrpSpPr/>
        <p:nvPr/>
      </p:nvGrpSpPr>
      <p:grpSpPr>
        <a:xfrm>
          <a:off x="0" y="0"/>
          <a:ext cx="0" cy="0"/>
          <a:chOff x="0" y="0"/>
          <a:chExt cx="0" cy="0"/>
        </a:xfrm>
      </p:grpSpPr>
      <p:sp>
        <p:nvSpPr>
          <p:cNvPr id="16" name="Google Shape;16;p12"/>
          <p:cNvSpPr txBox="1">
            <a:spLocks noGrp="1"/>
          </p:cNvSpPr>
          <p:nvPr>
            <p:ph type="title" hasCustomPrompt="1"/>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Questions?</a:t>
            </a:r>
            <a:endParaRPr dirty="0"/>
          </a:p>
        </p:txBody>
      </p:sp>
    </p:spTree>
    <p:extLst>
      <p:ext uri="{BB962C8B-B14F-4D97-AF65-F5344CB8AC3E}">
        <p14:creationId xmlns:p14="http://schemas.microsoft.com/office/powerpoint/2010/main" val="389396094"/>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14" name="Rectangle 13">
            <a:extLst>
              <a:ext uri="{FF2B5EF4-FFF2-40B4-BE49-F238E27FC236}">
                <a16:creationId xmlns:a16="http://schemas.microsoft.com/office/drawing/2014/main" id="{03C8531C-6664-AC0C-ED00-3D1957BC281F}"/>
              </a:ext>
            </a:extLst>
          </p:cNvPr>
          <p:cNvSpPr/>
          <p:nvPr userDrawn="1"/>
        </p:nvSpPr>
        <p:spPr>
          <a:xfrm>
            <a:off x="-1" y="-20168"/>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CAD018CF-85D7-A3C5-985F-E66425541490}"/>
              </a:ext>
            </a:extLst>
          </p:cNvPr>
          <p:cNvSpPr/>
          <p:nvPr userDrawn="1"/>
        </p:nvSpPr>
        <p:spPr>
          <a:xfrm>
            <a:off x="1" y="243443"/>
            <a:ext cx="1128108" cy="6614557"/>
          </a:xfrm>
          <a:prstGeom prst="rect">
            <a:avLst/>
          </a:prstGeom>
          <a:ln>
            <a:noFill/>
          </a:ln>
          <a:effectLst/>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7" name="Google Shape;7;p10"/>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dirty="0"/>
              <a:t> </a:t>
            </a:r>
            <a:endParaRPr dirty="0"/>
          </a:p>
        </p:txBody>
      </p:sp>
      <p:sp>
        <p:nvSpPr>
          <p:cNvPr id="8" name="Google Shape;8;p10"/>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pPr lvl="0"/>
            <a:endParaRPr dirty="0"/>
          </a:p>
        </p:txBody>
      </p:sp>
      <p:pic>
        <p:nvPicPr>
          <p:cNvPr id="9" name="Google Shape;9;p10"/>
          <p:cNvPicPr preferRelativeResize="0"/>
          <p:nvPr userDrawn="1"/>
        </p:nvPicPr>
        <p:blipFill>
          <a:blip r:embed="rId14">
            <a:extLst>
              <a:ext uri="{28A0092B-C50C-407E-A947-70E740481C1C}">
                <a14:useLocalDpi xmlns:a14="http://schemas.microsoft.com/office/drawing/2010/main" val="0"/>
              </a:ext>
            </a:extLst>
          </a:blip>
          <a:srcRect/>
          <a:stretch/>
        </p:blipFill>
        <p:spPr>
          <a:xfrm>
            <a:off x="99713" y="231455"/>
            <a:ext cx="928680" cy="928680"/>
          </a:xfrm>
          <a:prstGeom prst="rect">
            <a:avLst/>
          </a:prstGeom>
          <a:noFill/>
          <a:ln>
            <a:noFill/>
          </a:ln>
        </p:spPr>
      </p:pic>
      <p:sp>
        <p:nvSpPr>
          <p:cNvPr id="11" name="Google Shape;11;p10"/>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0" name="Rectangle 9">
            <a:extLst>
              <a:ext uri="{FF2B5EF4-FFF2-40B4-BE49-F238E27FC236}">
                <a16:creationId xmlns:a16="http://schemas.microsoft.com/office/drawing/2014/main" id="{03C8531C-6664-AC0C-ED00-3D1957BC281F}"/>
              </a:ext>
            </a:extLst>
          </p:cNvPr>
          <p:cNvSpPr/>
          <p:nvPr userDrawn="1"/>
        </p:nvSpPr>
        <p:spPr>
          <a:xfrm>
            <a:off x="-2" y="6594389"/>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grpSp>
        <p:nvGrpSpPr>
          <p:cNvPr id="34" name="Group 33"/>
          <p:cNvGrpSpPr/>
          <p:nvPr userDrawn="1"/>
        </p:nvGrpSpPr>
        <p:grpSpPr>
          <a:xfrm>
            <a:off x="254537" y="37012"/>
            <a:ext cx="4123292" cy="140365"/>
            <a:chOff x="5526083" y="4992009"/>
            <a:chExt cx="3092469" cy="105274"/>
          </a:xfrm>
          <a:gradFill flip="none" rotWithShape="1">
            <a:gsLst>
              <a:gs pos="0">
                <a:schemeClr val="accent1"/>
              </a:gs>
              <a:gs pos="0">
                <a:schemeClr val="accent1"/>
              </a:gs>
            </a:gsLst>
            <a:lin ang="2700000" scaled="1"/>
            <a:tileRect/>
          </a:gradFill>
        </p:grpSpPr>
        <p:sp>
          <p:nvSpPr>
            <p:cNvPr id="35" name="Chevron 34"/>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6" name="Chevron 35"/>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7" name="Chevron 36"/>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8" name="Chevron 37"/>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9" name="Chevron 38"/>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0" name="Chevron 39"/>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1" name="Chevron 40"/>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2" name="Chevron 41"/>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3" name="Chevron 42"/>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4" name="Chevron 43"/>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5" name="Chevron 44"/>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
        <p:nvSpPr>
          <p:cNvPr id="48" name="Text Placeholder 16"/>
          <p:cNvSpPr txBox="1">
            <a:spLocks/>
          </p:cNvSpPr>
          <p:nvPr userDrawn="1"/>
        </p:nvSpPr>
        <p:spPr>
          <a:xfrm flipH="1">
            <a:off x="1043632" y="6366806"/>
            <a:ext cx="4211863" cy="221589"/>
          </a:xfrm>
          <a:prstGeom prst="rect">
            <a:avLst/>
          </a:prstGeom>
        </p:spPr>
        <p:txBody>
          <a:bodyPr>
            <a:noAutofit/>
          </a:bodyPr>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0000"/>
              </a:buClr>
              <a:buFont typeface="Arial"/>
              <a:buNone/>
              <a:defRPr sz="1200" b="1" i="0" u="none" strike="noStrike" cap="none">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sp>
        <p:nvSpPr>
          <p:cNvPr id="49" name="Text Placeholder 16"/>
          <p:cNvSpPr txBox="1">
            <a:spLocks/>
          </p:cNvSpPr>
          <p:nvPr userDrawn="1"/>
        </p:nvSpPr>
        <p:spPr>
          <a:xfrm>
            <a:off x="5482963" y="207088"/>
            <a:ext cx="6767512" cy="212103"/>
          </a:xfrm>
          <a:prstGeom prst="rect">
            <a:avLst/>
          </a:prstGeom>
        </p:spPr>
        <p:txBody>
          <a:bodyPr>
            <a:noAutofit/>
          </a:bodyPr>
          <a:lstStyle>
            <a:defPPr marR="0" lvl="0" algn="l" rtl="0">
              <a:lnSpc>
                <a:spcPct val="100000"/>
              </a:lnSpc>
              <a:spcBef>
                <a:spcPts val="0"/>
              </a:spcBef>
              <a:spcAft>
                <a:spcPts val="0"/>
              </a:spcAft>
            </a:defPPr>
            <a:lvl1pPr marL="0" marR="0" lvl="0" indent="0" algn="r" rtl="0" eaLnBrk="1" hangingPunct="1">
              <a:lnSpc>
                <a:spcPct val="100000"/>
              </a:lnSpc>
              <a:spcBef>
                <a:spcPts val="0"/>
              </a:spcBef>
              <a:spcAft>
                <a:spcPts val="0"/>
              </a:spcAft>
              <a:buClr>
                <a:srgbClr val="000000"/>
              </a:buClr>
              <a:buFont typeface="Arial"/>
              <a:buNone/>
              <a:defRPr sz="1200" b="1" i="0" u="none" strike="noStrike" cap="none" baseline="0">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pic>
        <p:nvPicPr>
          <p:cNvPr id="21" name="Picture 20">
            <a:extLst>
              <a:ext uri="{FF2B5EF4-FFF2-40B4-BE49-F238E27FC236}">
                <a16:creationId xmlns:a16="http://schemas.microsoft.com/office/drawing/2014/main" id="{62ADCA60-3BD1-B7C2-7897-A83E6D91411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2150855" y="3445521"/>
            <a:ext cx="5429815" cy="991170"/>
          </a:xfrm>
          <a:prstGeom prst="rect">
            <a:avLst/>
          </a:prstGeom>
        </p:spPr>
      </p:pic>
      <p:grpSp>
        <p:nvGrpSpPr>
          <p:cNvPr id="51" name="Group 50">
            <a:extLst>
              <a:ext uri="{FF2B5EF4-FFF2-40B4-BE49-F238E27FC236}">
                <a16:creationId xmlns:a16="http://schemas.microsoft.com/office/drawing/2014/main" id="{6701C421-A6F9-D749-8480-ECF6D94627DA}"/>
              </a:ext>
            </a:extLst>
          </p:cNvPr>
          <p:cNvGrpSpPr/>
          <p:nvPr userDrawn="1"/>
        </p:nvGrpSpPr>
        <p:grpSpPr>
          <a:xfrm>
            <a:off x="7996753" y="6659805"/>
            <a:ext cx="4123292" cy="140365"/>
            <a:chOff x="5526083" y="4992009"/>
            <a:chExt cx="3092469" cy="105274"/>
          </a:xfrm>
          <a:gradFill flip="none" rotWithShape="1">
            <a:gsLst>
              <a:gs pos="0">
                <a:schemeClr val="accent1"/>
              </a:gs>
              <a:gs pos="0">
                <a:schemeClr val="accent1"/>
              </a:gs>
            </a:gsLst>
            <a:lin ang="2700000" scaled="1"/>
            <a:tileRect/>
          </a:gradFill>
        </p:grpSpPr>
        <p:sp>
          <p:nvSpPr>
            <p:cNvPr id="52" name="Chevron 34">
              <a:extLst>
                <a:ext uri="{FF2B5EF4-FFF2-40B4-BE49-F238E27FC236}">
                  <a16:creationId xmlns:a16="http://schemas.microsoft.com/office/drawing/2014/main" id="{A3DA9578-59FE-86FB-A354-142255DA60DA}"/>
                </a:ext>
              </a:extLst>
            </p:cNvPr>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3" name="Chevron 35">
              <a:extLst>
                <a:ext uri="{FF2B5EF4-FFF2-40B4-BE49-F238E27FC236}">
                  <a16:creationId xmlns:a16="http://schemas.microsoft.com/office/drawing/2014/main" id="{B04AF141-545B-B49E-C1E8-94740B9919BB}"/>
                </a:ext>
              </a:extLst>
            </p:cNvPr>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4" name="Chevron 36">
              <a:extLst>
                <a:ext uri="{FF2B5EF4-FFF2-40B4-BE49-F238E27FC236}">
                  <a16:creationId xmlns:a16="http://schemas.microsoft.com/office/drawing/2014/main" id="{1A4E42AC-7995-9220-EB0F-FB2C216318D3}"/>
                </a:ext>
              </a:extLst>
            </p:cNvPr>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5" name="Chevron 37">
              <a:extLst>
                <a:ext uri="{FF2B5EF4-FFF2-40B4-BE49-F238E27FC236}">
                  <a16:creationId xmlns:a16="http://schemas.microsoft.com/office/drawing/2014/main" id="{53C22C0C-6ECA-E350-C18D-0954C59A74BA}"/>
                </a:ext>
              </a:extLst>
            </p:cNvPr>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6" name="Chevron 38">
              <a:extLst>
                <a:ext uri="{FF2B5EF4-FFF2-40B4-BE49-F238E27FC236}">
                  <a16:creationId xmlns:a16="http://schemas.microsoft.com/office/drawing/2014/main" id="{F7C7267B-65F6-7F5D-55FA-BFF8A364F42B}"/>
                </a:ext>
              </a:extLst>
            </p:cNvPr>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7" name="Chevron 39">
              <a:extLst>
                <a:ext uri="{FF2B5EF4-FFF2-40B4-BE49-F238E27FC236}">
                  <a16:creationId xmlns:a16="http://schemas.microsoft.com/office/drawing/2014/main" id="{7B9AD0EA-9215-55F3-CBC7-713862E4C839}"/>
                </a:ext>
              </a:extLst>
            </p:cNvPr>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8" name="Chevron 40">
              <a:extLst>
                <a:ext uri="{FF2B5EF4-FFF2-40B4-BE49-F238E27FC236}">
                  <a16:creationId xmlns:a16="http://schemas.microsoft.com/office/drawing/2014/main" id="{BCD4AD2F-0902-4385-94F7-5ACB01D22A41}"/>
                </a:ext>
              </a:extLst>
            </p:cNvPr>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9" name="Chevron 41">
              <a:extLst>
                <a:ext uri="{FF2B5EF4-FFF2-40B4-BE49-F238E27FC236}">
                  <a16:creationId xmlns:a16="http://schemas.microsoft.com/office/drawing/2014/main" id="{9C796D23-978C-FFFF-4038-1C937EE690D7}"/>
                </a:ext>
              </a:extLst>
            </p:cNvPr>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0" name="Chevron 42">
              <a:extLst>
                <a:ext uri="{FF2B5EF4-FFF2-40B4-BE49-F238E27FC236}">
                  <a16:creationId xmlns:a16="http://schemas.microsoft.com/office/drawing/2014/main" id="{9080B428-A3B2-6A7E-177F-CF4DC7356652}"/>
                </a:ext>
              </a:extLst>
            </p:cNvPr>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1" name="Chevron 43">
              <a:extLst>
                <a:ext uri="{FF2B5EF4-FFF2-40B4-BE49-F238E27FC236}">
                  <a16:creationId xmlns:a16="http://schemas.microsoft.com/office/drawing/2014/main" id="{54FDEC70-BB7A-14BD-BF44-B0F7EFDD1AA4}"/>
                </a:ext>
              </a:extLst>
            </p:cNvPr>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2" name="Chevron 44">
              <a:extLst>
                <a:ext uri="{FF2B5EF4-FFF2-40B4-BE49-F238E27FC236}">
                  <a16:creationId xmlns:a16="http://schemas.microsoft.com/office/drawing/2014/main" id="{B3E053BC-053D-4B7F-17DA-2B8D0B40E67E}"/>
                </a:ext>
              </a:extLst>
            </p:cNvPr>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Tree>
    <p:extLst>
      <p:ext uri="{BB962C8B-B14F-4D97-AF65-F5344CB8AC3E}">
        <p14:creationId xmlns:p14="http://schemas.microsoft.com/office/powerpoint/2010/main" val="316978879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69329" marR="0" lvl="0" indent="0" algn="l" rtl="0" eaLnBrk="1" hangingPunct="1">
        <a:lnSpc>
          <a:spcPct val="100000"/>
        </a:lnSpc>
        <a:spcBef>
          <a:spcPts val="0"/>
        </a:spcBef>
        <a:spcAft>
          <a:spcPts val="0"/>
        </a:spcAft>
        <a:buClr>
          <a:srgbClr val="000000"/>
        </a:buClr>
        <a:buFont typeface="Arial"/>
        <a:buNone/>
        <a:defRPr sz="26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1DE8-BFE7-1BE2-A06A-BAA0A6B87FEB}"/>
              </a:ext>
            </a:extLst>
          </p:cNvPr>
          <p:cNvSpPr>
            <a:spLocks noGrp="1"/>
          </p:cNvSpPr>
          <p:nvPr>
            <p:ph type="ctrTitle"/>
          </p:nvPr>
        </p:nvSpPr>
        <p:spPr/>
        <p:txBody>
          <a:bodyPr/>
          <a:lstStyle/>
          <a:p>
            <a:r>
              <a:rPr lang="en-US" dirty="0"/>
              <a:t>Military Tactical Planning</a:t>
            </a:r>
          </a:p>
        </p:txBody>
      </p:sp>
    </p:spTree>
    <p:extLst>
      <p:ext uri="{BB962C8B-B14F-4D97-AF65-F5344CB8AC3E}">
        <p14:creationId xmlns:p14="http://schemas.microsoft.com/office/powerpoint/2010/main" val="2268606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B1E3F9-C4CC-F799-A7E7-11072FE41606}"/>
              </a:ext>
            </a:extLst>
          </p:cNvPr>
          <p:cNvSpPr>
            <a:spLocks noGrp="1"/>
          </p:cNvSpPr>
          <p:nvPr>
            <p:ph type="body" idx="1"/>
          </p:nvPr>
        </p:nvSpPr>
        <p:spPr/>
        <p:txBody>
          <a:bodyPr/>
          <a:lstStyle/>
          <a:p>
            <a:r>
              <a:rPr lang="en-US" dirty="0"/>
              <a:t>Understand the process of conducting a METT-TC analysis, recall and apply each component given a scenario.</a:t>
            </a:r>
          </a:p>
          <a:p>
            <a:r>
              <a:rPr lang="en-US" dirty="0"/>
              <a:t>Comprehend steps in conducting a DRAW-D analysis, remember and implement each step during planning.</a:t>
            </a:r>
          </a:p>
          <a:p>
            <a:r>
              <a:rPr lang="en-US" dirty="0"/>
              <a:t>Identify an adversary Center of Gravity and Critical Vulnerabilities.</a:t>
            </a:r>
          </a:p>
          <a:p>
            <a:r>
              <a:rPr lang="en-US" dirty="0"/>
              <a:t>Learn the process of determining Enemy’s Most Likely Course of Action.</a:t>
            </a:r>
          </a:p>
          <a:p>
            <a:r>
              <a:rPr lang="en-US" dirty="0"/>
              <a:t>Recall the components of an effective Exploitation Plan.</a:t>
            </a:r>
          </a:p>
          <a:p>
            <a:r>
              <a:rPr lang="en-US" dirty="0"/>
              <a:t>Comprehend a Scheme of Maneuver and how to develop one.</a:t>
            </a:r>
          </a:p>
          <a:p>
            <a:r>
              <a:rPr lang="en-US" dirty="0"/>
              <a:t>Determine an adversary’s mission.</a:t>
            </a:r>
          </a:p>
          <a:p>
            <a:r>
              <a:rPr lang="en-US" dirty="0"/>
              <a:t>Understand the purpose and components of OCOKAW.</a:t>
            </a:r>
          </a:p>
        </p:txBody>
      </p:sp>
      <p:sp>
        <p:nvSpPr>
          <p:cNvPr id="4" name="Title 3">
            <a:extLst>
              <a:ext uri="{FF2B5EF4-FFF2-40B4-BE49-F238E27FC236}">
                <a16:creationId xmlns:a16="http://schemas.microsoft.com/office/drawing/2014/main" id="{D81DC84F-3A7C-B5B4-7DB8-9A80DDA2247A}"/>
              </a:ext>
            </a:extLst>
          </p:cNvPr>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1905387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44256-223B-B5E0-98EC-7A2ACA6D5578}"/>
              </a:ext>
            </a:extLst>
          </p:cNvPr>
          <p:cNvSpPr>
            <a:spLocks noGrp="1"/>
          </p:cNvSpPr>
          <p:nvPr>
            <p:ph type="body" idx="1"/>
          </p:nvPr>
        </p:nvSpPr>
        <p:spPr/>
        <p:txBody>
          <a:bodyPr>
            <a:normAutofit/>
          </a:bodyPr>
          <a:lstStyle/>
          <a:p>
            <a:pPr marL="0" indent="0">
              <a:buNone/>
            </a:pPr>
            <a:r>
              <a:rPr lang="en-US" dirty="0"/>
              <a:t>This lesson will cover:</a:t>
            </a:r>
          </a:p>
          <a:p>
            <a:r>
              <a:rPr lang="en-US" dirty="0"/>
              <a:t>Military Tactical Planning</a:t>
            </a:r>
          </a:p>
          <a:p>
            <a:r>
              <a:rPr lang="en-US" dirty="0"/>
              <a:t>Tactical Tasks</a:t>
            </a:r>
          </a:p>
          <a:p>
            <a:r>
              <a:rPr lang="en-US" dirty="0"/>
              <a:t>Tactical Planning Processes (BAMCIS, METT-TC)</a:t>
            </a:r>
          </a:p>
          <a:p>
            <a:r>
              <a:rPr lang="en-US" dirty="0"/>
              <a:t>Enemy’s Most Likely Course of Action </a:t>
            </a:r>
          </a:p>
          <a:p>
            <a:r>
              <a:rPr lang="en-US" dirty="0"/>
              <a:t>Center of Gravity and Critical Vulnerability</a:t>
            </a:r>
          </a:p>
          <a:p>
            <a:r>
              <a:rPr lang="en-US" dirty="0"/>
              <a:t>Exploitation Plans</a:t>
            </a:r>
          </a:p>
          <a:p>
            <a:r>
              <a:rPr lang="en-US" dirty="0"/>
              <a:t>Scheme of Maneuver, Fire Support Plan, and Tasks</a:t>
            </a:r>
          </a:p>
          <a:p>
            <a:endParaRPr lang="en-US" dirty="0"/>
          </a:p>
          <a:p>
            <a:endParaRPr lang="en-US" dirty="0"/>
          </a:p>
        </p:txBody>
      </p:sp>
      <p:sp>
        <p:nvSpPr>
          <p:cNvPr id="2" name="Title 1">
            <a:extLst>
              <a:ext uri="{FF2B5EF4-FFF2-40B4-BE49-F238E27FC236}">
                <a16:creationId xmlns:a16="http://schemas.microsoft.com/office/drawing/2014/main" id="{A515A6B2-8423-B67B-0EAD-DC3E0C738693}"/>
              </a:ext>
            </a:extLst>
          </p:cNvPr>
          <p:cNvSpPr>
            <a:spLocks noGrp="1"/>
          </p:cNvSpPr>
          <p:nvPr>
            <p:ph type="title"/>
          </p:nvPr>
        </p:nvSpPr>
        <p:spPr/>
        <p:txBody>
          <a:bodyPr/>
          <a:lstStyle/>
          <a:p>
            <a:r>
              <a:rPr lang="en-US" dirty="0"/>
              <a:t>Lesson Overview</a:t>
            </a:r>
          </a:p>
        </p:txBody>
      </p:sp>
    </p:spTree>
    <p:extLst>
      <p:ext uri="{BB962C8B-B14F-4D97-AF65-F5344CB8AC3E}">
        <p14:creationId xmlns:p14="http://schemas.microsoft.com/office/powerpoint/2010/main" val="55501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F4A25-4882-F1DB-CE23-E8127005838C}"/>
              </a:ext>
            </a:extLst>
          </p:cNvPr>
          <p:cNvSpPr>
            <a:spLocks noGrp="1"/>
          </p:cNvSpPr>
          <p:nvPr>
            <p:ph type="title"/>
          </p:nvPr>
        </p:nvSpPr>
        <p:spPr/>
        <p:txBody>
          <a:bodyPr/>
          <a:lstStyle/>
          <a:p>
            <a:r>
              <a:rPr lang="en-US" dirty="0"/>
              <a:t>Introduction to Military Tactical Planning</a:t>
            </a:r>
          </a:p>
        </p:txBody>
      </p:sp>
    </p:spTree>
    <p:extLst>
      <p:ext uri="{BB962C8B-B14F-4D97-AF65-F5344CB8AC3E}">
        <p14:creationId xmlns:p14="http://schemas.microsoft.com/office/powerpoint/2010/main" val="42320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5243C-B4A6-E5A1-3CFF-BD750273DEA5}"/>
              </a:ext>
            </a:extLst>
          </p:cNvPr>
          <p:cNvSpPr>
            <a:spLocks noGrp="1"/>
          </p:cNvSpPr>
          <p:nvPr>
            <p:ph type="body" idx="1"/>
          </p:nvPr>
        </p:nvSpPr>
        <p:spPr/>
        <p:txBody>
          <a:bodyPr/>
          <a:lstStyle/>
          <a:p>
            <a:r>
              <a:rPr lang="en-US" dirty="0"/>
              <a:t>Tactical planning is typically not associated with cyber or information operations and rather is normally reserved for those conducting tactical ground operations.</a:t>
            </a:r>
          </a:p>
          <a:p>
            <a:pPr marL="169329" indent="0">
              <a:buNone/>
            </a:pPr>
            <a:endParaRPr lang="en-US" dirty="0"/>
          </a:p>
          <a:p>
            <a:r>
              <a:rPr lang="en-US" dirty="0"/>
              <a:t>Considering this fact, it may seem unusual in a training centered around cyberspace to dive into topics like convoys and tactical ground operations.</a:t>
            </a:r>
          </a:p>
          <a:p>
            <a:pPr marL="169329" indent="0">
              <a:buNone/>
            </a:pPr>
            <a:endParaRPr lang="en-US" dirty="0"/>
          </a:p>
          <a:p>
            <a:r>
              <a:rPr lang="en-US" dirty="0"/>
              <a:t>Remember that as uniformed service members, the better you can contextualize your actions within military planning fundamentals, the better you can transition between the ambiguity of cyberspace and the rest of the warfighting domains. </a:t>
            </a:r>
          </a:p>
        </p:txBody>
      </p:sp>
      <p:sp>
        <p:nvSpPr>
          <p:cNvPr id="2" name="Title 1">
            <a:extLst>
              <a:ext uri="{FF2B5EF4-FFF2-40B4-BE49-F238E27FC236}">
                <a16:creationId xmlns:a16="http://schemas.microsoft.com/office/drawing/2014/main" id="{4B94B1ED-3F0E-1F81-F0DC-9F8228F9B9BE}"/>
              </a:ext>
            </a:extLst>
          </p:cNvPr>
          <p:cNvSpPr>
            <a:spLocks noGrp="1"/>
          </p:cNvSpPr>
          <p:nvPr>
            <p:ph type="title"/>
          </p:nvPr>
        </p:nvSpPr>
        <p:spPr/>
        <p:txBody>
          <a:bodyPr/>
          <a:lstStyle/>
          <a:p>
            <a:r>
              <a:rPr lang="en-US" dirty="0"/>
              <a:t>Introduction to Military Tactical Planning</a:t>
            </a:r>
          </a:p>
        </p:txBody>
      </p:sp>
    </p:spTree>
    <p:extLst>
      <p:ext uri="{BB962C8B-B14F-4D97-AF65-F5344CB8AC3E}">
        <p14:creationId xmlns:p14="http://schemas.microsoft.com/office/powerpoint/2010/main" val="1879785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5243C-B4A6-E5A1-3CFF-BD750273DEA5}"/>
              </a:ext>
            </a:extLst>
          </p:cNvPr>
          <p:cNvSpPr>
            <a:spLocks noGrp="1"/>
          </p:cNvSpPr>
          <p:nvPr>
            <p:ph type="body" idx="1"/>
          </p:nvPr>
        </p:nvSpPr>
        <p:spPr/>
        <p:txBody>
          <a:bodyPr/>
          <a:lstStyle/>
          <a:p>
            <a:r>
              <a:rPr lang="en-US" dirty="0"/>
              <a:t>Mindset to adopt throughout this training:</a:t>
            </a:r>
          </a:p>
          <a:p>
            <a:pPr marL="0" indent="0">
              <a:buNone/>
            </a:pPr>
            <a:endParaRPr lang="en-US" dirty="0"/>
          </a:p>
          <a:p>
            <a:pPr lvl="1"/>
            <a:r>
              <a:rPr lang="en-US" dirty="0">
                <a:solidFill>
                  <a:srgbClr val="00004C"/>
                </a:solidFill>
              </a:rPr>
              <a:t>You are conducting operations against the enemy</a:t>
            </a:r>
          </a:p>
          <a:p>
            <a:pPr lvl="1"/>
            <a:endParaRPr lang="en-US" dirty="0">
              <a:solidFill>
                <a:srgbClr val="00004C"/>
              </a:solidFill>
            </a:endParaRPr>
          </a:p>
          <a:p>
            <a:pPr lvl="1"/>
            <a:r>
              <a:rPr lang="en-US" dirty="0">
                <a:solidFill>
                  <a:srgbClr val="00004C"/>
                </a:solidFill>
              </a:rPr>
              <a:t>You are defending your terrain</a:t>
            </a:r>
          </a:p>
          <a:p>
            <a:pPr lvl="1"/>
            <a:endParaRPr lang="en-US" dirty="0">
              <a:solidFill>
                <a:srgbClr val="00004C"/>
              </a:solidFill>
            </a:endParaRPr>
          </a:p>
          <a:p>
            <a:pPr lvl="1"/>
            <a:r>
              <a:rPr lang="en-US" dirty="0">
                <a:solidFill>
                  <a:srgbClr val="00004C"/>
                </a:solidFill>
              </a:rPr>
              <a:t>Enemies are attacking your terrain</a:t>
            </a:r>
          </a:p>
          <a:p>
            <a:pPr lvl="1"/>
            <a:endParaRPr lang="en-US" dirty="0">
              <a:solidFill>
                <a:srgbClr val="00004C"/>
              </a:solidFill>
            </a:endParaRPr>
          </a:p>
          <a:p>
            <a:pPr lvl="1"/>
            <a:r>
              <a:rPr lang="en-US" dirty="0">
                <a:solidFill>
                  <a:srgbClr val="00004C"/>
                </a:solidFill>
              </a:rPr>
              <a:t>You are responding by striking back against their terrain</a:t>
            </a:r>
          </a:p>
        </p:txBody>
      </p:sp>
      <p:sp>
        <p:nvSpPr>
          <p:cNvPr id="2" name="Title 1">
            <a:extLst>
              <a:ext uri="{FF2B5EF4-FFF2-40B4-BE49-F238E27FC236}">
                <a16:creationId xmlns:a16="http://schemas.microsoft.com/office/drawing/2014/main" id="{4B94B1ED-3F0E-1F81-F0DC-9F8228F9B9BE}"/>
              </a:ext>
            </a:extLst>
          </p:cNvPr>
          <p:cNvSpPr>
            <a:spLocks noGrp="1"/>
          </p:cNvSpPr>
          <p:nvPr>
            <p:ph type="title"/>
          </p:nvPr>
        </p:nvSpPr>
        <p:spPr/>
        <p:txBody>
          <a:bodyPr/>
          <a:lstStyle/>
          <a:p>
            <a:r>
              <a:rPr lang="en-US" dirty="0"/>
              <a:t>Introduction to Military Tactical Planning</a:t>
            </a:r>
          </a:p>
        </p:txBody>
      </p:sp>
    </p:spTree>
    <p:extLst>
      <p:ext uri="{BB962C8B-B14F-4D97-AF65-F5344CB8AC3E}">
        <p14:creationId xmlns:p14="http://schemas.microsoft.com/office/powerpoint/2010/main" val="3983947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FC1A-4B68-12B0-59C2-2B8614AC1B73}"/>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1597499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D5B44-2E34-6589-2F1B-9A610D82E452}"/>
              </a:ext>
            </a:extLst>
          </p:cNvPr>
          <p:cNvSpPr>
            <a:spLocks noGrp="1"/>
          </p:cNvSpPr>
          <p:nvPr>
            <p:ph type="body" idx="1"/>
          </p:nvPr>
        </p:nvSpPr>
        <p:spPr/>
        <p:txBody>
          <a:bodyPr>
            <a:normAutofit/>
          </a:bodyPr>
          <a:lstStyle/>
          <a:p>
            <a:r>
              <a:rPr lang="en-US" b="1" dirty="0"/>
              <a:t>What are tactical tasks?</a:t>
            </a:r>
          </a:p>
          <a:p>
            <a:pPr marL="0" indent="0">
              <a:buNone/>
            </a:pPr>
            <a:endParaRPr lang="en-US" dirty="0"/>
          </a:p>
          <a:p>
            <a:pPr lvl="1"/>
            <a:r>
              <a:rPr lang="en-US" dirty="0"/>
              <a:t>Essentially, they are actions that can be taken to accomplish a mission. There are three orientations of tactical tasks:</a:t>
            </a:r>
          </a:p>
          <a:p>
            <a:pPr lvl="1"/>
            <a:endParaRPr lang="en-US" dirty="0"/>
          </a:p>
          <a:p>
            <a:pPr lvl="2"/>
            <a:r>
              <a:rPr lang="en-US" dirty="0"/>
              <a:t>Enemy-Oriented</a:t>
            </a:r>
          </a:p>
          <a:p>
            <a:pPr lvl="2"/>
            <a:r>
              <a:rPr lang="en-US" dirty="0"/>
              <a:t>Terrain-Oriented</a:t>
            </a:r>
          </a:p>
          <a:p>
            <a:pPr lvl="2"/>
            <a:r>
              <a:rPr lang="en-US" dirty="0"/>
              <a:t>Friendly-Oriented</a:t>
            </a:r>
          </a:p>
          <a:p>
            <a:pPr marL="914400" lvl="2" indent="0">
              <a:buNone/>
            </a:pPr>
            <a:endParaRPr lang="en-US" dirty="0"/>
          </a:p>
          <a:p>
            <a:pPr lvl="1"/>
            <a:r>
              <a:rPr lang="en-US" dirty="0"/>
              <a:t>Let’s explore orientations and tasks a little deeper…</a:t>
            </a:r>
          </a:p>
          <a:p>
            <a:pPr lvl="2"/>
            <a:endParaRPr lang="en-US" dirty="0"/>
          </a:p>
        </p:txBody>
      </p:sp>
      <p:sp>
        <p:nvSpPr>
          <p:cNvPr id="2" name="Title 1">
            <a:extLst>
              <a:ext uri="{FF2B5EF4-FFF2-40B4-BE49-F238E27FC236}">
                <a16:creationId xmlns:a16="http://schemas.microsoft.com/office/drawing/2014/main" id="{47D3FE69-A5F6-3E45-B0BE-7A518B6FABD5}"/>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557115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sz="3000" b="1" dirty="0">
                <a:solidFill>
                  <a:srgbClr val="00004C"/>
                </a:solidFill>
              </a:rPr>
              <a:t>What are Enemy-Oriented Tactical Tasks?</a:t>
            </a:r>
          </a:p>
          <a:p>
            <a:pPr marL="169329" indent="0">
              <a:buNone/>
            </a:pPr>
            <a:endParaRPr lang="en-US" sz="3000" b="1" dirty="0">
              <a:solidFill>
                <a:srgbClr val="00004C"/>
              </a:solidFill>
            </a:endParaRPr>
          </a:p>
          <a:p>
            <a:pPr lvl="1"/>
            <a:r>
              <a:rPr lang="en-US" b="0" i="0" dirty="0">
                <a:solidFill>
                  <a:srgbClr val="00004C"/>
                </a:solidFill>
                <a:effectLst/>
              </a:rPr>
              <a:t>	Enemy-Oriented Tactical Tasks are actions directed at an enemy force 	with the aim of destroying or defeating them. </a:t>
            </a:r>
          </a:p>
          <a:p>
            <a:pPr lvl="1"/>
            <a:endParaRPr lang="en-US" dirty="0">
              <a:solidFill>
                <a:srgbClr val="00004C"/>
              </a:solidFill>
              <a:effectLst/>
            </a:endParaRPr>
          </a:p>
          <a:p>
            <a:pPr lvl="1"/>
            <a:r>
              <a:rPr lang="en-US" b="0" i="0" dirty="0">
                <a:solidFill>
                  <a:srgbClr val="00004C"/>
                </a:solidFill>
                <a:effectLst/>
              </a:rPr>
              <a:t>	They are specific, standardized verbs used in combat orders to clearly 	communicate the desired effect a friendly unit is to have on the 	enemy. </a:t>
            </a:r>
            <a:endParaRPr lang="en-US" dirty="0">
              <a:solidFill>
                <a:srgbClr val="00004C"/>
              </a:solidFill>
              <a:effectLst/>
            </a:endParaRPr>
          </a:p>
          <a:p>
            <a:pPr lvl="1"/>
            <a:endParaRPr lang="en-US" dirty="0">
              <a:solidFill>
                <a:srgbClr val="00004C"/>
              </a:solidFill>
              <a:effectLst/>
            </a:endParaRPr>
          </a:p>
          <a:p>
            <a:pPr lvl="1"/>
            <a:r>
              <a:rPr lang="en-US" dirty="0">
                <a:solidFill>
                  <a:srgbClr val="00004C"/>
                </a:solidFill>
                <a:effectLst/>
              </a:rPr>
              <a:t> 	</a:t>
            </a:r>
            <a:r>
              <a:rPr lang="en-US" b="0" i="0" dirty="0">
                <a:solidFill>
                  <a:srgbClr val="00004C"/>
                </a:solidFill>
                <a:effectLst/>
              </a:rPr>
              <a:t>These tasks are fundamental to offensive operations and are used to 	create a clear, shared understanding of the mission</a:t>
            </a:r>
            <a:endParaRPr lang="en-US" dirty="0">
              <a:solidFill>
                <a:srgbClr val="00004C"/>
              </a:solidFill>
            </a:endParaRPr>
          </a:p>
          <a:p>
            <a:pPr lvl="1"/>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solidFill>
                  <a:srgbClr val="00004C"/>
                </a:solidFill>
              </a:rPr>
              <a:t>Tactical Tasks</a:t>
            </a:r>
          </a:p>
        </p:txBody>
      </p:sp>
    </p:spTree>
    <p:extLst>
      <p:ext uri="{BB962C8B-B14F-4D97-AF65-F5344CB8AC3E}">
        <p14:creationId xmlns:p14="http://schemas.microsoft.com/office/powerpoint/2010/main" val="226361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a:xfrm>
            <a:off x="1510029" y="1188720"/>
            <a:ext cx="10361372" cy="3667485"/>
          </a:xfrm>
        </p:spPr>
        <p:txBody>
          <a:bodyPr/>
          <a:lstStyle/>
          <a:p>
            <a:r>
              <a:rPr lang="en-US" dirty="0"/>
              <a:t>Enemy-Oriented Tactical Tasks:</a:t>
            </a:r>
          </a:p>
          <a:p>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
        <p:nvSpPr>
          <p:cNvPr id="7" name="TextBox 6">
            <a:extLst>
              <a:ext uri="{FF2B5EF4-FFF2-40B4-BE49-F238E27FC236}">
                <a16:creationId xmlns:a16="http://schemas.microsoft.com/office/drawing/2014/main" id="{A8E3BD38-FB52-0909-186F-9964239C892E}"/>
              </a:ext>
            </a:extLst>
          </p:cNvPr>
          <p:cNvSpPr txBox="1"/>
          <p:nvPr/>
        </p:nvSpPr>
        <p:spPr>
          <a:xfrm>
            <a:off x="1510028" y="4884769"/>
            <a:ext cx="7895967" cy="1015663"/>
          </a:xfrm>
          <a:prstGeom prst="rect">
            <a:avLst/>
          </a:prstGeom>
          <a:noFill/>
        </p:spPr>
        <p:txBody>
          <a:bodyPr wrap="square" rtlCol="0">
            <a:spAutoFit/>
          </a:bodyPr>
          <a:lstStyle/>
          <a:p>
            <a:pPr marL="914400" lvl="1" indent="-457200">
              <a:buFont typeface="Arial" panose="020B0604020202020204" pitchFamily="34" charset="0"/>
              <a:buChar char="•"/>
            </a:pPr>
            <a:r>
              <a:rPr lang="en-US" sz="2000" dirty="0">
                <a:solidFill>
                  <a:srgbClr val="00004C"/>
                </a:solidFill>
              </a:rPr>
              <a:t>Each Enemy-Oriented tactical task that has an asterisk next to it is a tactical task with multiple classifications and applications.</a:t>
            </a:r>
          </a:p>
        </p:txBody>
      </p:sp>
      <p:graphicFrame>
        <p:nvGraphicFramePr>
          <p:cNvPr id="5" name="Table 4">
            <a:extLst>
              <a:ext uri="{FF2B5EF4-FFF2-40B4-BE49-F238E27FC236}">
                <a16:creationId xmlns:a16="http://schemas.microsoft.com/office/drawing/2014/main" id="{2FA1AF6A-058B-16C6-CB9A-331FE71DFE66}"/>
              </a:ext>
            </a:extLst>
          </p:cNvPr>
          <p:cNvGraphicFramePr>
            <a:graphicFrameLocks noGrp="1"/>
          </p:cNvGraphicFramePr>
          <p:nvPr>
            <p:extLst>
              <p:ext uri="{D42A27DB-BD31-4B8C-83A1-F6EECF244321}">
                <p14:modId xmlns:p14="http://schemas.microsoft.com/office/powerpoint/2010/main" val="1213055771"/>
              </p:ext>
            </p:extLst>
          </p:nvPr>
        </p:nvGraphicFramePr>
        <p:xfrm>
          <a:off x="2032000" y="1967282"/>
          <a:ext cx="8128000" cy="2631888"/>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1554403548"/>
                    </a:ext>
                  </a:extLst>
                </a:gridCol>
                <a:gridCol w="2032000">
                  <a:extLst>
                    <a:ext uri="{9D8B030D-6E8A-4147-A177-3AD203B41FA5}">
                      <a16:colId xmlns:a16="http://schemas.microsoft.com/office/drawing/2014/main" val="778377516"/>
                    </a:ext>
                  </a:extLst>
                </a:gridCol>
                <a:gridCol w="2032000">
                  <a:extLst>
                    <a:ext uri="{9D8B030D-6E8A-4147-A177-3AD203B41FA5}">
                      <a16:colId xmlns:a16="http://schemas.microsoft.com/office/drawing/2014/main" val="2988264958"/>
                    </a:ext>
                  </a:extLst>
                </a:gridCol>
                <a:gridCol w="2032000">
                  <a:extLst>
                    <a:ext uri="{9D8B030D-6E8A-4147-A177-3AD203B41FA5}">
                      <a16:colId xmlns:a16="http://schemas.microsoft.com/office/drawing/2014/main" val="181713988"/>
                    </a:ext>
                  </a:extLst>
                </a:gridCol>
              </a:tblGrid>
              <a:tr h="370840">
                <a:tc>
                  <a:txBody>
                    <a:bodyPr/>
                    <a:lstStyle/>
                    <a:p>
                      <a:r>
                        <a:rPr lang="en-US" dirty="0">
                          <a:solidFill>
                            <a:srgbClr val="00004C"/>
                          </a:solidFill>
                        </a:rPr>
                        <a:t>Ambush</a:t>
                      </a:r>
                    </a:p>
                  </a:txBody>
                  <a:tcPr/>
                </a:tc>
                <a:tc>
                  <a:txBody>
                    <a:bodyPr/>
                    <a:lstStyle/>
                    <a:p>
                      <a:r>
                        <a:rPr lang="en-US" dirty="0">
                          <a:solidFill>
                            <a:srgbClr val="00004C"/>
                          </a:solidFill>
                        </a:rPr>
                        <a:t>Attack by Fire </a:t>
                      </a:r>
                    </a:p>
                  </a:txBody>
                  <a:tcPr/>
                </a:tc>
                <a:tc>
                  <a:txBody>
                    <a:bodyPr/>
                    <a:lstStyle/>
                    <a:p>
                      <a:r>
                        <a:rPr lang="en-US" dirty="0">
                          <a:solidFill>
                            <a:srgbClr val="00004C"/>
                          </a:solidFill>
                        </a:rPr>
                        <a:t>Block</a:t>
                      </a:r>
                    </a:p>
                  </a:txBody>
                  <a:tcPr/>
                </a:tc>
                <a:tc>
                  <a:txBody>
                    <a:bodyPr/>
                    <a:lstStyle/>
                    <a:p>
                      <a:r>
                        <a:rPr lang="en-US" dirty="0">
                          <a:solidFill>
                            <a:srgbClr val="00004C"/>
                          </a:solidFill>
                        </a:rPr>
                        <a:t>Breach*</a:t>
                      </a:r>
                    </a:p>
                  </a:txBody>
                  <a:tcPr/>
                </a:tc>
                <a:extLst>
                  <a:ext uri="{0D108BD9-81ED-4DB2-BD59-A6C34878D82A}">
                    <a16:rowId xmlns:a16="http://schemas.microsoft.com/office/drawing/2014/main" val="2305461873"/>
                  </a:ext>
                </a:extLst>
              </a:tr>
              <a:tr h="370840">
                <a:tc>
                  <a:txBody>
                    <a:bodyPr/>
                    <a:lstStyle/>
                    <a:p>
                      <a:r>
                        <a:rPr lang="en-US" dirty="0">
                          <a:solidFill>
                            <a:srgbClr val="00004C"/>
                          </a:solidFill>
                        </a:rPr>
                        <a:t>Bypass</a:t>
                      </a:r>
                    </a:p>
                  </a:txBody>
                  <a:tcPr/>
                </a:tc>
                <a:tc>
                  <a:txBody>
                    <a:bodyPr/>
                    <a:lstStyle/>
                    <a:p>
                      <a:r>
                        <a:rPr lang="en-US" dirty="0">
                          <a:solidFill>
                            <a:srgbClr val="00004C"/>
                          </a:solidFill>
                        </a:rPr>
                        <a:t>Canalize</a:t>
                      </a:r>
                    </a:p>
                  </a:txBody>
                  <a:tcPr/>
                </a:tc>
                <a:tc>
                  <a:txBody>
                    <a:bodyPr/>
                    <a:lstStyle/>
                    <a:p>
                      <a:r>
                        <a:rPr lang="en-US" dirty="0">
                          <a:solidFill>
                            <a:srgbClr val="00004C"/>
                          </a:solidFill>
                        </a:rPr>
                        <a:t>Contain</a:t>
                      </a:r>
                    </a:p>
                  </a:txBody>
                  <a:tcPr/>
                </a:tc>
                <a:tc>
                  <a:txBody>
                    <a:bodyPr/>
                    <a:lstStyle/>
                    <a:p>
                      <a:r>
                        <a:rPr lang="en-US" dirty="0">
                          <a:solidFill>
                            <a:srgbClr val="00004C"/>
                          </a:solidFill>
                        </a:rPr>
                        <a:t>Corrupt</a:t>
                      </a:r>
                    </a:p>
                  </a:txBody>
                  <a:tcPr/>
                </a:tc>
                <a:extLst>
                  <a:ext uri="{0D108BD9-81ED-4DB2-BD59-A6C34878D82A}">
                    <a16:rowId xmlns:a16="http://schemas.microsoft.com/office/drawing/2014/main" val="1579452080"/>
                  </a:ext>
                </a:extLst>
              </a:tr>
              <a:tr h="370840">
                <a:tc>
                  <a:txBody>
                    <a:bodyPr/>
                    <a:lstStyle/>
                    <a:p>
                      <a:r>
                        <a:rPr lang="en-US" dirty="0">
                          <a:solidFill>
                            <a:srgbClr val="00004C"/>
                          </a:solidFill>
                        </a:rPr>
                        <a:t>Deceive</a:t>
                      </a:r>
                    </a:p>
                  </a:txBody>
                  <a:tcPr/>
                </a:tc>
                <a:tc>
                  <a:txBody>
                    <a:bodyPr/>
                    <a:lstStyle/>
                    <a:p>
                      <a:r>
                        <a:rPr lang="en-US" dirty="0">
                          <a:solidFill>
                            <a:srgbClr val="00004C"/>
                          </a:solidFill>
                        </a:rPr>
                        <a:t>Defeat</a:t>
                      </a:r>
                    </a:p>
                  </a:txBody>
                  <a:tcPr/>
                </a:tc>
                <a:tc>
                  <a:txBody>
                    <a:bodyPr/>
                    <a:lstStyle/>
                    <a:p>
                      <a:r>
                        <a:rPr lang="en-US" dirty="0">
                          <a:solidFill>
                            <a:srgbClr val="00004C"/>
                          </a:solidFill>
                        </a:rPr>
                        <a:t>Degrade</a:t>
                      </a:r>
                    </a:p>
                  </a:txBody>
                  <a:tcPr/>
                </a:tc>
                <a:tc>
                  <a:txBody>
                    <a:bodyPr/>
                    <a:lstStyle/>
                    <a:p>
                      <a:r>
                        <a:rPr lang="en-US" dirty="0">
                          <a:solidFill>
                            <a:srgbClr val="00004C"/>
                          </a:solidFill>
                        </a:rPr>
                        <a:t>Deny</a:t>
                      </a:r>
                    </a:p>
                  </a:txBody>
                  <a:tcPr/>
                </a:tc>
                <a:extLst>
                  <a:ext uri="{0D108BD9-81ED-4DB2-BD59-A6C34878D82A}">
                    <a16:rowId xmlns:a16="http://schemas.microsoft.com/office/drawing/2014/main" val="3318872383"/>
                  </a:ext>
                </a:extLst>
              </a:tr>
              <a:tr h="370840">
                <a:tc>
                  <a:txBody>
                    <a:bodyPr/>
                    <a:lstStyle/>
                    <a:p>
                      <a:r>
                        <a:rPr lang="en-US" dirty="0">
                          <a:solidFill>
                            <a:srgbClr val="00004C"/>
                          </a:solidFill>
                        </a:rPr>
                        <a:t>Destroy</a:t>
                      </a:r>
                    </a:p>
                  </a:txBody>
                  <a:tcPr/>
                </a:tc>
                <a:tc>
                  <a:txBody>
                    <a:bodyPr/>
                    <a:lstStyle/>
                    <a:p>
                      <a:r>
                        <a:rPr lang="en-US" dirty="0">
                          <a:solidFill>
                            <a:srgbClr val="00004C"/>
                          </a:solidFill>
                        </a:rPr>
                        <a:t>Disrupt</a:t>
                      </a:r>
                    </a:p>
                  </a:txBody>
                  <a:tcPr/>
                </a:tc>
                <a:tc>
                  <a:txBody>
                    <a:bodyPr/>
                    <a:lstStyle/>
                    <a:p>
                      <a:r>
                        <a:rPr lang="en-US" dirty="0">
                          <a:solidFill>
                            <a:srgbClr val="00004C"/>
                          </a:solidFill>
                        </a:rPr>
                        <a:t>Exploit</a:t>
                      </a:r>
                    </a:p>
                  </a:txBody>
                  <a:tcPr/>
                </a:tc>
                <a:tc>
                  <a:txBody>
                    <a:bodyPr/>
                    <a:lstStyle/>
                    <a:p>
                      <a:r>
                        <a:rPr lang="en-US" dirty="0">
                          <a:solidFill>
                            <a:srgbClr val="00004C"/>
                          </a:solidFill>
                        </a:rPr>
                        <a:t>Feint</a:t>
                      </a:r>
                    </a:p>
                  </a:txBody>
                  <a:tcPr/>
                </a:tc>
                <a:extLst>
                  <a:ext uri="{0D108BD9-81ED-4DB2-BD59-A6C34878D82A}">
                    <a16:rowId xmlns:a16="http://schemas.microsoft.com/office/drawing/2014/main" val="2836814639"/>
                  </a:ext>
                </a:extLst>
              </a:tr>
              <a:tr h="370840">
                <a:tc>
                  <a:txBody>
                    <a:bodyPr/>
                    <a:lstStyle/>
                    <a:p>
                      <a:r>
                        <a:rPr lang="en-US" dirty="0">
                          <a:solidFill>
                            <a:srgbClr val="00004C"/>
                          </a:solidFill>
                        </a:rPr>
                        <a:t>Fix</a:t>
                      </a:r>
                    </a:p>
                  </a:txBody>
                  <a:tcPr/>
                </a:tc>
                <a:tc>
                  <a:txBody>
                    <a:bodyPr/>
                    <a:lstStyle/>
                    <a:p>
                      <a:r>
                        <a:rPr lang="en-US" dirty="0">
                          <a:solidFill>
                            <a:srgbClr val="00004C"/>
                          </a:solidFill>
                        </a:rPr>
                        <a:t>Influence*</a:t>
                      </a:r>
                    </a:p>
                  </a:txBody>
                  <a:tcPr/>
                </a:tc>
                <a:tc>
                  <a:txBody>
                    <a:bodyPr/>
                    <a:lstStyle/>
                    <a:p>
                      <a:r>
                        <a:rPr lang="en-US" dirty="0">
                          <a:solidFill>
                            <a:srgbClr val="00004C"/>
                          </a:solidFill>
                        </a:rPr>
                        <a:t>Interdict</a:t>
                      </a:r>
                    </a:p>
                  </a:txBody>
                  <a:tcPr/>
                </a:tc>
                <a:tc>
                  <a:txBody>
                    <a:bodyPr/>
                    <a:lstStyle/>
                    <a:p>
                      <a:r>
                        <a:rPr lang="en-US" dirty="0">
                          <a:solidFill>
                            <a:srgbClr val="00004C"/>
                          </a:solidFill>
                        </a:rPr>
                        <a:t>Isolate</a:t>
                      </a:r>
                    </a:p>
                  </a:txBody>
                  <a:tcPr/>
                </a:tc>
                <a:extLst>
                  <a:ext uri="{0D108BD9-81ED-4DB2-BD59-A6C34878D82A}">
                    <a16:rowId xmlns:a16="http://schemas.microsoft.com/office/drawing/2014/main" val="376237452"/>
                  </a:ext>
                </a:extLst>
              </a:tr>
              <a:tr h="370840">
                <a:tc>
                  <a:txBody>
                    <a:bodyPr/>
                    <a:lstStyle/>
                    <a:p>
                      <a:r>
                        <a:rPr lang="en-US" dirty="0">
                          <a:solidFill>
                            <a:srgbClr val="00004C"/>
                          </a:solidFill>
                        </a:rPr>
                        <a:t>Neutralize</a:t>
                      </a:r>
                    </a:p>
                  </a:txBody>
                  <a:tcPr/>
                </a:tc>
                <a:tc>
                  <a:txBody>
                    <a:bodyPr/>
                    <a:lstStyle/>
                    <a:p>
                      <a:r>
                        <a:rPr lang="en-US" dirty="0">
                          <a:solidFill>
                            <a:srgbClr val="00004C"/>
                          </a:solidFill>
                        </a:rPr>
                        <a:t>Penetrate</a:t>
                      </a:r>
                    </a:p>
                  </a:txBody>
                  <a:tcPr/>
                </a:tc>
                <a:tc>
                  <a:txBody>
                    <a:bodyPr/>
                    <a:lstStyle/>
                    <a:p>
                      <a:r>
                        <a:rPr lang="en-US" dirty="0">
                          <a:solidFill>
                            <a:srgbClr val="00004C"/>
                          </a:solidFill>
                        </a:rPr>
                        <a:t>Reconnoiter*</a:t>
                      </a:r>
                    </a:p>
                  </a:txBody>
                  <a:tcPr/>
                </a:tc>
                <a:tc>
                  <a:txBody>
                    <a:bodyPr/>
                    <a:lstStyle/>
                    <a:p>
                      <a:r>
                        <a:rPr lang="en-US" dirty="0">
                          <a:solidFill>
                            <a:srgbClr val="00004C"/>
                          </a:solidFill>
                        </a:rPr>
                        <a:t>Support by Fire</a:t>
                      </a:r>
                    </a:p>
                  </a:txBody>
                  <a:tcPr/>
                </a:tc>
                <a:extLst>
                  <a:ext uri="{0D108BD9-81ED-4DB2-BD59-A6C34878D82A}">
                    <a16:rowId xmlns:a16="http://schemas.microsoft.com/office/drawing/2014/main" val="2307587579"/>
                  </a:ext>
                </a:extLst>
              </a:tr>
              <a:tr h="370840">
                <a:tc>
                  <a:txBody>
                    <a:bodyPr/>
                    <a:lstStyle/>
                    <a:p>
                      <a:r>
                        <a:rPr lang="en-US" dirty="0">
                          <a:solidFill>
                            <a:srgbClr val="00004C"/>
                          </a:solidFill>
                        </a:rPr>
                        <a:t>Suppress</a:t>
                      </a:r>
                    </a:p>
                  </a:txBody>
                  <a:tcPr/>
                </a:tc>
                <a:tc>
                  <a:txBody>
                    <a:bodyPr/>
                    <a:lstStyle/>
                    <a:p>
                      <a:endParaRPr lang="en-US">
                        <a:solidFill>
                          <a:srgbClr val="00004C"/>
                        </a:solidFill>
                      </a:endParaRPr>
                    </a:p>
                  </a:txBody>
                  <a:tcPr/>
                </a:tc>
                <a:tc>
                  <a:txBody>
                    <a:bodyPr/>
                    <a:lstStyle/>
                    <a:p>
                      <a:endParaRPr lang="en-US" dirty="0">
                        <a:solidFill>
                          <a:srgbClr val="00004C"/>
                        </a:solidFill>
                      </a:endParaRPr>
                    </a:p>
                  </a:txBody>
                  <a:tcPr/>
                </a:tc>
                <a:tc>
                  <a:txBody>
                    <a:bodyPr/>
                    <a:lstStyle/>
                    <a:p>
                      <a:endParaRPr lang="en-US" dirty="0">
                        <a:solidFill>
                          <a:srgbClr val="00004C"/>
                        </a:solidFill>
                      </a:endParaRPr>
                    </a:p>
                  </a:txBody>
                  <a:tcPr/>
                </a:tc>
                <a:extLst>
                  <a:ext uri="{0D108BD9-81ED-4DB2-BD59-A6C34878D82A}">
                    <a16:rowId xmlns:a16="http://schemas.microsoft.com/office/drawing/2014/main" val="1874622498"/>
                  </a:ext>
                </a:extLst>
              </a:tr>
            </a:tbl>
          </a:graphicData>
        </a:graphic>
      </p:graphicFrame>
    </p:spTree>
    <p:extLst>
      <p:ext uri="{BB962C8B-B14F-4D97-AF65-F5344CB8AC3E}">
        <p14:creationId xmlns:p14="http://schemas.microsoft.com/office/powerpoint/2010/main" val="567240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sz="2800" b="1" dirty="0"/>
              <a:t>What are Friendly-Oriented Tactical Tasks?</a:t>
            </a:r>
          </a:p>
          <a:p>
            <a:endParaRPr lang="en-US" sz="3000" b="1" dirty="0"/>
          </a:p>
          <a:p>
            <a:pPr lvl="1"/>
            <a:r>
              <a:rPr lang="en-US" b="0" i="0" dirty="0">
                <a:effectLst/>
              </a:rPr>
              <a:t>Friendly-Oriented Tactical Tasks are actions where the primary focus is on the movement or protection of a friendly force. </a:t>
            </a:r>
          </a:p>
          <a:p>
            <a:pPr lvl="1"/>
            <a:endParaRPr lang="en-US" b="0" i="0" dirty="0">
              <a:effectLst/>
            </a:endParaRPr>
          </a:p>
          <a:p>
            <a:pPr lvl="1"/>
            <a:r>
              <a:rPr lang="en-US" b="0" i="0" dirty="0">
                <a:effectLst/>
              </a:rPr>
              <a:t>Unlike enemy-oriented tasks that focus on destroying or defeating an adversary, these tasks are centered on the friendly force's status and relationship to the enemy, terrain, or another friendly unit. </a:t>
            </a:r>
          </a:p>
          <a:p>
            <a:pPr lvl="1"/>
            <a:endParaRPr lang="en-US" b="0" i="0" dirty="0">
              <a:effectLst/>
            </a:endParaRPr>
          </a:p>
          <a:p>
            <a:pPr lvl="1"/>
            <a:r>
              <a:rPr lang="en-US" b="0" i="0" dirty="0">
                <a:effectLst/>
              </a:rPr>
              <a:t>For example, convoy missions are typically friendly-oriented, with the main goal being to deliver personnel or supplies to a destination.</a:t>
            </a:r>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1008871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lstStyle/>
          <a:p>
            <a:r>
              <a:rPr lang="en-US" dirty="0"/>
              <a:t>Friendly-Oriented Tactical Tasks:</a:t>
            </a:r>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graphicFrame>
        <p:nvGraphicFramePr>
          <p:cNvPr id="4" name="Table 3">
            <a:extLst>
              <a:ext uri="{FF2B5EF4-FFF2-40B4-BE49-F238E27FC236}">
                <a16:creationId xmlns:a16="http://schemas.microsoft.com/office/drawing/2014/main" id="{00ADE831-ADD8-D350-18AD-C5EF246B39A8}"/>
              </a:ext>
            </a:extLst>
          </p:cNvPr>
          <p:cNvGraphicFramePr>
            <a:graphicFrameLocks noGrp="1"/>
          </p:cNvGraphicFramePr>
          <p:nvPr>
            <p:extLst>
              <p:ext uri="{D42A27DB-BD31-4B8C-83A1-F6EECF244321}">
                <p14:modId xmlns:p14="http://schemas.microsoft.com/office/powerpoint/2010/main" val="73692306"/>
              </p:ext>
            </p:extLst>
          </p:nvPr>
        </p:nvGraphicFramePr>
        <p:xfrm>
          <a:off x="2641622" y="2446822"/>
          <a:ext cx="6908755" cy="1127952"/>
        </p:xfrm>
        <a:graphic>
          <a:graphicData uri="http://schemas.openxmlformats.org/drawingml/2006/table">
            <a:tbl>
              <a:tblPr bandRow="1">
                <a:tableStyleId>{5C22544A-7EE6-4342-B048-85BDC9FD1C3A}</a:tableStyleId>
              </a:tblPr>
              <a:tblGrid>
                <a:gridCol w="2241653">
                  <a:extLst>
                    <a:ext uri="{9D8B030D-6E8A-4147-A177-3AD203B41FA5}">
                      <a16:colId xmlns:a16="http://schemas.microsoft.com/office/drawing/2014/main" val="1554403548"/>
                    </a:ext>
                  </a:extLst>
                </a:gridCol>
                <a:gridCol w="2425449">
                  <a:extLst>
                    <a:ext uri="{9D8B030D-6E8A-4147-A177-3AD203B41FA5}">
                      <a16:colId xmlns:a16="http://schemas.microsoft.com/office/drawing/2014/main" val="778377516"/>
                    </a:ext>
                  </a:extLst>
                </a:gridCol>
                <a:gridCol w="2241653">
                  <a:extLst>
                    <a:ext uri="{9D8B030D-6E8A-4147-A177-3AD203B41FA5}">
                      <a16:colId xmlns:a16="http://schemas.microsoft.com/office/drawing/2014/main" val="2988264958"/>
                    </a:ext>
                  </a:extLst>
                </a:gridCol>
              </a:tblGrid>
              <a:tr h="370840">
                <a:tc>
                  <a:txBody>
                    <a:bodyPr/>
                    <a:lstStyle/>
                    <a:p>
                      <a:r>
                        <a:rPr lang="en-US" dirty="0">
                          <a:solidFill>
                            <a:srgbClr val="00004C"/>
                          </a:solidFill>
                        </a:rPr>
                        <a:t>Cover</a:t>
                      </a:r>
                    </a:p>
                  </a:txBody>
                  <a:tcPr/>
                </a:tc>
                <a:tc>
                  <a:txBody>
                    <a:bodyPr/>
                    <a:lstStyle/>
                    <a:p>
                      <a:r>
                        <a:rPr lang="en-US" dirty="0">
                          <a:solidFill>
                            <a:srgbClr val="00004C"/>
                          </a:solidFill>
                        </a:rPr>
                        <a:t>Disengage</a:t>
                      </a:r>
                    </a:p>
                  </a:txBody>
                  <a:tcPr/>
                </a:tc>
                <a:tc>
                  <a:txBody>
                    <a:bodyPr/>
                    <a:lstStyle/>
                    <a:p>
                      <a:r>
                        <a:rPr lang="en-US" dirty="0">
                          <a:solidFill>
                            <a:srgbClr val="00004C"/>
                          </a:solidFill>
                        </a:rPr>
                        <a:t>Displace</a:t>
                      </a:r>
                    </a:p>
                  </a:txBody>
                  <a:tcPr/>
                </a:tc>
                <a:extLst>
                  <a:ext uri="{0D108BD9-81ED-4DB2-BD59-A6C34878D82A}">
                    <a16:rowId xmlns:a16="http://schemas.microsoft.com/office/drawing/2014/main" val="2305461873"/>
                  </a:ext>
                </a:extLst>
              </a:tr>
              <a:tr h="370840">
                <a:tc>
                  <a:txBody>
                    <a:bodyPr/>
                    <a:lstStyle/>
                    <a:p>
                      <a:r>
                        <a:rPr lang="en-US" dirty="0">
                          <a:solidFill>
                            <a:srgbClr val="00004C"/>
                          </a:solidFill>
                        </a:rPr>
                        <a:t>Exfiltrate</a:t>
                      </a:r>
                    </a:p>
                  </a:txBody>
                  <a:tcPr/>
                </a:tc>
                <a:tc>
                  <a:txBody>
                    <a:bodyPr/>
                    <a:lstStyle/>
                    <a:p>
                      <a:r>
                        <a:rPr lang="en-US" dirty="0">
                          <a:solidFill>
                            <a:srgbClr val="00004C"/>
                          </a:solidFill>
                        </a:rPr>
                        <a:t>Follow and Assume</a:t>
                      </a:r>
                    </a:p>
                  </a:txBody>
                  <a:tcPr/>
                </a:tc>
                <a:tc>
                  <a:txBody>
                    <a:bodyPr/>
                    <a:lstStyle/>
                    <a:p>
                      <a:r>
                        <a:rPr lang="en-US" dirty="0">
                          <a:solidFill>
                            <a:srgbClr val="00004C"/>
                          </a:solidFill>
                        </a:rPr>
                        <a:t>Follow and Support</a:t>
                      </a:r>
                    </a:p>
                  </a:txBody>
                  <a:tcPr/>
                </a:tc>
                <a:extLst>
                  <a:ext uri="{0D108BD9-81ED-4DB2-BD59-A6C34878D82A}">
                    <a16:rowId xmlns:a16="http://schemas.microsoft.com/office/drawing/2014/main" val="1579452080"/>
                  </a:ext>
                </a:extLst>
              </a:tr>
              <a:tr h="370840">
                <a:tc>
                  <a:txBody>
                    <a:bodyPr/>
                    <a:lstStyle/>
                    <a:p>
                      <a:r>
                        <a:rPr lang="en-US" dirty="0">
                          <a:solidFill>
                            <a:srgbClr val="00004C"/>
                          </a:solidFill>
                        </a:rPr>
                        <a:t>Guard</a:t>
                      </a:r>
                    </a:p>
                  </a:txBody>
                  <a:tcPr/>
                </a:tc>
                <a:tc>
                  <a:txBody>
                    <a:bodyPr/>
                    <a:lstStyle/>
                    <a:p>
                      <a:r>
                        <a:rPr lang="en-US" dirty="0">
                          <a:solidFill>
                            <a:srgbClr val="00004C"/>
                          </a:solidFill>
                        </a:rPr>
                        <a:t>Protect</a:t>
                      </a:r>
                    </a:p>
                  </a:txBody>
                  <a:tcPr/>
                </a:tc>
                <a:tc>
                  <a:txBody>
                    <a:bodyPr/>
                    <a:lstStyle/>
                    <a:p>
                      <a:r>
                        <a:rPr lang="en-US" dirty="0">
                          <a:solidFill>
                            <a:srgbClr val="00004C"/>
                          </a:solidFill>
                        </a:rPr>
                        <a:t>Screen</a:t>
                      </a:r>
                    </a:p>
                  </a:txBody>
                  <a:tcPr/>
                </a:tc>
                <a:extLst>
                  <a:ext uri="{0D108BD9-81ED-4DB2-BD59-A6C34878D82A}">
                    <a16:rowId xmlns:a16="http://schemas.microsoft.com/office/drawing/2014/main" val="3318872383"/>
                  </a:ext>
                </a:extLst>
              </a:tr>
            </a:tbl>
          </a:graphicData>
        </a:graphic>
      </p:graphicFrame>
    </p:spTree>
    <p:extLst>
      <p:ext uri="{BB962C8B-B14F-4D97-AF65-F5344CB8AC3E}">
        <p14:creationId xmlns:p14="http://schemas.microsoft.com/office/powerpoint/2010/main" val="3993960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sz="2800" b="1" dirty="0"/>
              <a:t>What are Terrain-Oriented Tactical Tasks?</a:t>
            </a:r>
          </a:p>
          <a:p>
            <a:pPr marL="169329" indent="0">
              <a:buNone/>
            </a:pPr>
            <a:endParaRPr lang="en-US" sz="3000" b="1" dirty="0"/>
          </a:p>
          <a:p>
            <a:pPr lvl="1"/>
            <a:r>
              <a:rPr lang="en-US" b="0" i="0" dirty="0">
                <a:effectLst/>
              </a:rPr>
              <a:t>Terrain-Oriented Tactical Tasks are actions focused on controlling or influencing the physical environment. </a:t>
            </a:r>
          </a:p>
          <a:p>
            <a:pPr lvl="1"/>
            <a:endParaRPr lang="en-US" b="0" i="0" dirty="0">
              <a:effectLst/>
            </a:endParaRPr>
          </a:p>
          <a:p>
            <a:pPr lvl="1"/>
            <a:r>
              <a:rPr lang="en-US" b="0" i="0" dirty="0">
                <a:effectLst/>
              </a:rPr>
              <a:t>The primary purpose of these tasks is to seize, retain, or deny the enemy access to specific terrain or a geographic area. </a:t>
            </a:r>
          </a:p>
          <a:p>
            <a:pPr lvl="1"/>
            <a:endParaRPr lang="en-US" b="0" i="0" dirty="0">
              <a:effectLst/>
            </a:endParaRPr>
          </a:p>
          <a:p>
            <a:pPr lvl="1"/>
            <a:r>
              <a:rPr lang="en-US" b="0" i="0" dirty="0">
                <a:effectLst/>
              </a:rPr>
              <a:t>Unlike tasks that focus on a friendly or enemy force, the terrain itself is the objective.</a:t>
            </a:r>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733646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lstStyle/>
          <a:p>
            <a:r>
              <a:rPr lang="en-US" dirty="0"/>
              <a:t>Terrain-Oriented Tactical Tasks:</a:t>
            </a:r>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
        <p:nvSpPr>
          <p:cNvPr id="11" name="TextBox 10">
            <a:extLst>
              <a:ext uri="{FF2B5EF4-FFF2-40B4-BE49-F238E27FC236}">
                <a16:creationId xmlns:a16="http://schemas.microsoft.com/office/drawing/2014/main" id="{A82DB2EF-9DE0-74F4-8168-26EAA5FBDFEB}"/>
              </a:ext>
            </a:extLst>
          </p:cNvPr>
          <p:cNvSpPr txBox="1"/>
          <p:nvPr/>
        </p:nvSpPr>
        <p:spPr>
          <a:xfrm>
            <a:off x="1240886" y="4442687"/>
            <a:ext cx="9169236" cy="1138773"/>
          </a:xfrm>
          <a:prstGeom prst="rect">
            <a:avLst/>
          </a:prstGeom>
          <a:noFill/>
        </p:spPr>
        <p:txBody>
          <a:bodyPr wrap="square" rtlCol="0">
            <a:spAutoFit/>
          </a:bodyPr>
          <a:lstStyle/>
          <a:p>
            <a:pPr marL="1657350" lvl="3" indent="-285750">
              <a:buFont typeface="Arial" panose="020B0604020202020204" pitchFamily="34" charset="0"/>
              <a:buChar char="•"/>
            </a:pPr>
            <a:r>
              <a:rPr lang="en-US" sz="2000" dirty="0">
                <a:solidFill>
                  <a:srgbClr val="00004C"/>
                </a:solidFill>
              </a:rPr>
              <a:t>Each Terrain-Oriented tactical task that has an asterisk next to it is a tactical task with multiple classifications and applications.</a:t>
            </a:r>
          </a:p>
          <a:p>
            <a:endParaRPr lang="en-US" sz="2800" dirty="0"/>
          </a:p>
        </p:txBody>
      </p:sp>
      <p:graphicFrame>
        <p:nvGraphicFramePr>
          <p:cNvPr id="5" name="Table 4">
            <a:extLst>
              <a:ext uri="{FF2B5EF4-FFF2-40B4-BE49-F238E27FC236}">
                <a16:creationId xmlns:a16="http://schemas.microsoft.com/office/drawing/2014/main" id="{603B789C-1C6F-4097-B21E-32F0A7502FA5}"/>
              </a:ext>
            </a:extLst>
          </p:cNvPr>
          <p:cNvGraphicFramePr>
            <a:graphicFrameLocks noGrp="1"/>
          </p:cNvGraphicFramePr>
          <p:nvPr>
            <p:extLst>
              <p:ext uri="{D42A27DB-BD31-4B8C-83A1-F6EECF244321}">
                <p14:modId xmlns:p14="http://schemas.microsoft.com/office/powerpoint/2010/main" val="2414605126"/>
              </p:ext>
            </p:extLst>
          </p:nvPr>
        </p:nvGraphicFramePr>
        <p:xfrm>
          <a:off x="2641622" y="2418730"/>
          <a:ext cx="6908755" cy="1127952"/>
        </p:xfrm>
        <a:graphic>
          <a:graphicData uri="http://schemas.openxmlformats.org/drawingml/2006/table">
            <a:tbl>
              <a:tblPr bandRow="1">
                <a:tableStyleId>{5C22544A-7EE6-4342-B048-85BDC9FD1C3A}</a:tableStyleId>
              </a:tblPr>
              <a:tblGrid>
                <a:gridCol w="2241653">
                  <a:extLst>
                    <a:ext uri="{9D8B030D-6E8A-4147-A177-3AD203B41FA5}">
                      <a16:colId xmlns:a16="http://schemas.microsoft.com/office/drawing/2014/main" val="1554403548"/>
                    </a:ext>
                  </a:extLst>
                </a:gridCol>
                <a:gridCol w="2425449">
                  <a:extLst>
                    <a:ext uri="{9D8B030D-6E8A-4147-A177-3AD203B41FA5}">
                      <a16:colId xmlns:a16="http://schemas.microsoft.com/office/drawing/2014/main" val="778377516"/>
                    </a:ext>
                  </a:extLst>
                </a:gridCol>
                <a:gridCol w="2241653">
                  <a:extLst>
                    <a:ext uri="{9D8B030D-6E8A-4147-A177-3AD203B41FA5}">
                      <a16:colId xmlns:a16="http://schemas.microsoft.com/office/drawing/2014/main" val="2988264958"/>
                    </a:ext>
                  </a:extLst>
                </a:gridCol>
              </a:tblGrid>
              <a:tr h="370840">
                <a:tc>
                  <a:txBody>
                    <a:bodyPr/>
                    <a:lstStyle/>
                    <a:p>
                      <a:r>
                        <a:rPr lang="en-US" dirty="0">
                          <a:solidFill>
                            <a:srgbClr val="00004C"/>
                          </a:solidFill>
                        </a:rPr>
                        <a:t>Breach*</a:t>
                      </a:r>
                    </a:p>
                  </a:txBody>
                  <a:tcPr/>
                </a:tc>
                <a:tc>
                  <a:txBody>
                    <a:bodyPr/>
                    <a:lstStyle/>
                    <a:p>
                      <a:r>
                        <a:rPr lang="en-US" dirty="0">
                          <a:solidFill>
                            <a:srgbClr val="00004C"/>
                          </a:solidFill>
                        </a:rPr>
                        <a:t>Clear</a:t>
                      </a:r>
                    </a:p>
                  </a:txBody>
                  <a:tcPr/>
                </a:tc>
                <a:tc>
                  <a:txBody>
                    <a:bodyPr/>
                    <a:lstStyle/>
                    <a:p>
                      <a:r>
                        <a:rPr lang="en-US" dirty="0">
                          <a:solidFill>
                            <a:srgbClr val="00004C"/>
                          </a:solidFill>
                        </a:rPr>
                        <a:t>Control</a:t>
                      </a:r>
                    </a:p>
                  </a:txBody>
                  <a:tcPr/>
                </a:tc>
                <a:extLst>
                  <a:ext uri="{0D108BD9-81ED-4DB2-BD59-A6C34878D82A}">
                    <a16:rowId xmlns:a16="http://schemas.microsoft.com/office/drawing/2014/main" val="2305461873"/>
                  </a:ext>
                </a:extLst>
              </a:tr>
              <a:tr h="370840">
                <a:tc>
                  <a:txBody>
                    <a:bodyPr/>
                    <a:lstStyle/>
                    <a:p>
                      <a:r>
                        <a:rPr lang="en-US" dirty="0">
                          <a:solidFill>
                            <a:srgbClr val="00004C"/>
                          </a:solidFill>
                        </a:rPr>
                        <a:t>Cordon</a:t>
                      </a:r>
                    </a:p>
                  </a:txBody>
                  <a:tcPr/>
                </a:tc>
                <a:tc>
                  <a:txBody>
                    <a:bodyPr/>
                    <a:lstStyle/>
                    <a:p>
                      <a:r>
                        <a:rPr lang="en-US" dirty="0">
                          <a:solidFill>
                            <a:srgbClr val="00004C"/>
                          </a:solidFill>
                        </a:rPr>
                        <a:t>Occupy</a:t>
                      </a:r>
                    </a:p>
                  </a:txBody>
                  <a:tcPr/>
                </a:tc>
                <a:tc>
                  <a:txBody>
                    <a:bodyPr/>
                    <a:lstStyle/>
                    <a:p>
                      <a:r>
                        <a:rPr lang="en-US" dirty="0">
                          <a:solidFill>
                            <a:srgbClr val="00004C"/>
                          </a:solidFill>
                        </a:rPr>
                        <a:t>Reconnoiter*</a:t>
                      </a:r>
                    </a:p>
                  </a:txBody>
                  <a:tcPr/>
                </a:tc>
                <a:extLst>
                  <a:ext uri="{0D108BD9-81ED-4DB2-BD59-A6C34878D82A}">
                    <a16:rowId xmlns:a16="http://schemas.microsoft.com/office/drawing/2014/main" val="1579452080"/>
                  </a:ext>
                </a:extLst>
              </a:tr>
              <a:tr h="370840">
                <a:tc>
                  <a:txBody>
                    <a:bodyPr/>
                    <a:lstStyle/>
                    <a:p>
                      <a:r>
                        <a:rPr lang="en-US" dirty="0">
                          <a:solidFill>
                            <a:srgbClr val="00004C"/>
                          </a:solidFill>
                        </a:rPr>
                        <a:t>Retain</a:t>
                      </a:r>
                    </a:p>
                  </a:txBody>
                  <a:tcPr/>
                </a:tc>
                <a:tc>
                  <a:txBody>
                    <a:bodyPr/>
                    <a:lstStyle/>
                    <a:p>
                      <a:r>
                        <a:rPr lang="en-US" dirty="0">
                          <a:solidFill>
                            <a:srgbClr val="00004C"/>
                          </a:solidFill>
                        </a:rPr>
                        <a:t>Secure</a:t>
                      </a:r>
                    </a:p>
                  </a:txBody>
                  <a:tcPr/>
                </a:tc>
                <a:tc>
                  <a:txBody>
                    <a:bodyPr/>
                    <a:lstStyle/>
                    <a:p>
                      <a:r>
                        <a:rPr lang="en-US" dirty="0">
                          <a:solidFill>
                            <a:srgbClr val="00004C"/>
                          </a:solidFill>
                        </a:rPr>
                        <a:t>Seize</a:t>
                      </a:r>
                    </a:p>
                  </a:txBody>
                  <a:tcPr/>
                </a:tc>
                <a:extLst>
                  <a:ext uri="{0D108BD9-81ED-4DB2-BD59-A6C34878D82A}">
                    <a16:rowId xmlns:a16="http://schemas.microsoft.com/office/drawing/2014/main" val="3318872383"/>
                  </a:ext>
                </a:extLst>
              </a:tr>
            </a:tbl>
          </a:graphicData>
        </a:graphic>
      </p:graphicFrame>
    </p:spTree>
    <p:extLst>
      <p:ext uri="{BB962C8B-B14F-4D97-AF65-F5344CB8AC3E}">
        <p14:creationId xmlns:p14="http://schemas.microsoft.com/office/powerpoint/2010/main" val="3161939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dirty="0"/>
              <a:t>As you have seen, each orientation has task verbs associated with it, and some of these verbs overlap. You can flow between the orientation of task or simultaneously have multiple tactical tasks spanning across those orientations.</a:t>
            </a:r>
          </a:p>
          <a:p>
            <a:endParaRPr lang="en-US" dirty="0"/>
          </a:p>
          <a:p>
            <a:r>
              <a:rPr lang="en-US" dirty="0"/>
              <a:t>Let’s look at an example of what this means…</a:t>
            </a:r>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717530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dirty="0"/>
              <a:t>Consider someone who has a deliberate defense and has dug in trenches because they have been given the terrain-oriented tactical task of </a:t>
            </a:r>
            <a:r>
              <a:rPr lang="en-US" b="1" dirty="0"/>
              <a:t>control</a:t>
            </a:r>
            <a:r>
              <a:rPr lang="en-US" dirty="0"/>
              <a:t> to </a:t>
            </a:r>
            <a:r>
              <a:rPr lang="en-US" b="1" dirty="0"/>
              <a:t>protect</a:t>
            </a:r>
            <a:r>
              <a:rPr lang="en-US" dirty="0"/>
              <a:t> friendly forces (and remember that protect is normally a </a:t>
            </a:r>
            <a:r>
              <a:rPr lang="en-US" b="1" dirty="0"/>
              <a:t>friendly-oriented</a:t>
            </a:r>
            <a:r>
              <a:rPr lang="en-US" dirty="0"/>
              <a:t> tactical task). </a:t>
            </a:r>
          </a:p>
          <a:p>
            <a:pPr marL="169329" indent="0">
              <a:buNone/>
            </a:pPr>
            <a:endParaRPr lang="en-US" dirty="0"/>
          </a:p>
          <a:p>
            <a:r>
              <a:rPr lang="en-US" dirty="0"/>
              <a:t>And while controlling and protecting, there may be adversaries in the vicinity so this person may also be tasked with </a:t>
            </a:r>
            <a:r>
              <a:rPr lang="en-US" b="1" dirty="0"/>
              <a:t>reconnoitering</a:t>
            </a:r>
            <a:r>
              <a:rPr lang="en-US" dirty="0"/>
              <a:t> the adversary (reconnoiter being both a </a:t>
            </a:r>
            <a:r>
              <a:rPr lang="en-US" b="1" dirty="0"/>
              <a:t>terrain-oriented</a:t>
            </a:r>
            <a:r>
              <a:rPr lang="en-US" dirty="0"/>
              <a:t> AND an </a:t>
            </a:r>
            <a:r>
              <a:rPr lang="en-US" b="1" dirty="0"/>
              <a:t>enemy-oriented</a:t>
            </a:r>
            <a:r>
              <a:rPr lang="en-US" dirty="0"/>
              <a:t> tactical task).</a:t>
            </a:r>
          </a:p>
          <a:p>
            <a:endParaRPr lang="en-US" dirty="0"/>
          </a:p>
          <a:p>
            <a:pPr lvl="1"/>
            <a:r>
              <a:rPr lang="en-US" dirty="0"/>
              <a:t>In this scenario, you can see three tactical tasks overlapping their orientations and classifications. </a:t>
            </a:r>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845452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dirty="0"/>
              <a:t>The example on the previous slide can happen in cyberspace just as easily.</a:t>
            </a:r>
          </a:p>
          <a:p>
            <a:endParaRPr lang="en-US" dirty="0"/>
          </a:p>
          <a:p>
            <a:r>
              <a:rPr lang="en-US" dirty="0"/>
              <a:t>A cyber operator could be tasked with reconnoitering the adversary, and then reconnoitering the adversary as they conduct operations in their terrain, and then reconnoitering the adversary’s terrain. Once they conduct sufficient recon of the terrain, the operator can act on it by destroying it, disrupting it, etc.</a:t>
            </a:r>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307406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A4D9E-32B8-044C-5807-1984240D955F}"/>
              </a:ext>
            </a:extLst>
          </p:cNvPr>
          <p:cNvSpPr>
            <a:spLocks noGrp="1"/>
          </p:cNvSpPr>
          <p:nvPr>
            <p:ph type="title"/>
          </p:nvPr>
        </p:nvSpPr>
        <p:spPr/>
        <p:txBody>
          <a:bodyPr/>
          <a:lstStyle/>
          <a:p>
            <a:r>
              <a:rPr lang="en-US" dirty="0"/>
              <a:t>Tactical Task Activity</a:t>
            </a:r>
          </a:p>
        </p:txBody>
      </p:sp>
      <p:sp>
        <p:nvSpPr>
          <p:cNvPr id="3" name="Text Placeholder 2">
            <a:extLst>
              <a:ext uri="{FF2B5EF4-FFF2-40B4-BE49-F238E27FC236}">
                <a16:creationId xmlns:a16="http://schemas.microsoft.com/office/drawing/2014/main" id="{7006EC55-467D-3894-A894-76C1999366CD}"/>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C6111151-D17D-26BE-B686-F4F3E5C7108E}"/>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3917875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9C489-6FB4-34B2-9660-13078A6F0A31}"/>
              </a:ext>
            </a:extLst>
          </p:cNvPr>
          <p:cNvSpPr>
            <a:spLocks noGrp="1"/>
          </p:cNvSpPr>
          <p:nvPr>
            <p:ph type="title"/>
          </p:nvPr>
        </p:nvSpPr>
        <p:spPr/>
        <p:txBody>
          <a:bodyPr/>
          <a:lstStyle/>
          <a:p>
            <a:r>
              <a:rPr lang="en-US" dirty="0"/>
              <a:t>Tactical Planning Process</a:t>
            </a:r>
          </a:p>
        </p:txBody>
      </p:sp>
    </p:spTree>
    <p:extLst>
      <p:ext uri="{BB962C8B-B14F-4D97-AF65-F5344CB8AC3E}">
        <p14:creationId xmlns:p14="http://schemas.microsoft.com/office/powerpoint/2010/main" val="3394264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C2B824-E04F-918C-0B0A-D2620D8266EE}"/>
              </a:ext>
            </a:extLst>
          </p:cNvPr>
          <p:cNvSpPr>
            <a:spLocks noGrp="1"/>
          </p:cNvSpPr>
          <p:nvPr>
            <p:ph type="body" idx="1"/>
          </p:nvPr>
        </p:nvSpPr>
        <p:spPr>
          <a:xfrm>
            <a:off x="1510029" y="1188721"/>
            <a:ext cx="10236494" cy="1090246"/>
          </a:xfrm>
        </p:spPr>
        <p:txBody>
          <a:bodyPr/>
          <a:lstStyle/>
          <a:p>
            <a:pPr lvl="1"/>
            <a:r>
              <a:rPr lang="en-US" b="1" dirty="0"/>
              <a:t>BAMCIS</a:t>
            </a:r>
            <a:r>
              <a:rPr lang="en-US" dirty="0"/>
              <a:t> provides a foundational framework for military leadership and planning at the tactical level.</a:t>
            </a:r>
          </a:p>
          <a:p>
            <a:pPr lvl="1"/>
            <a:endParaRPr lang="en-US" dirty="0"/>
          </a:p>
          <a:p>
            <a:pPr lvl="1"/>
            <a:endParaRPr lang="en-US" dirty="0"/>
          </a:p>
        </p:txBody>
      </p:sp>
      <p:sp>
        <p:nvSpPr>
          <p:cNvPr id="2" name="Title 1">
            <a:extLst>
              <a:ext uri="{FF2B5EF4-FFF2-40B4-BE49-F238E27FC236}">
                <a16:creationId xmlns:a16="http://schemas.microsoft.com/office/drawing/2014/main" id="{9E0D6BEF-A126-E26C-7AF3-831A918F89D4}"/>
              </a:ext>
            </a:extLst>
          </p:cNvPr>
          <p:cNvSpPr>
            <a:spLocks noGrp="1"/>
          </p:cNvSpPr>
          <p:nvPr>
            <p:ph type="title"/>
          </p:nvPr>
        </p:nvSpPr>
        <p:spPr/>
        <p:txBody>
          <a:bodyPr/>
          <a:lstStyle/>
          <a:p>
            <a:r>
              <a:rPr lang="en-US" dirty="0"/>
              <a:t>Tactical Planning Process</a:t>
            </a:r>
          </a:p>
        </p:txBody>
      </p:sp>
      <p:graphicFrame>
        <p:nvGraphicFramePr>
          <p:cNvPr id="3" name="Table 2">
            <a:extLst>
              <a:ext uri="{FF2B5EF4-FFF2-40B4-BE49-F238E27FC236}">
                <a16:creationId xmlns:a16="http://schemas.microsoft.com/office/drawing/2014/main" id="{3B3F7BBE-8F52-D497-751B-66DCD8EB771C}"/>
              </a:ext>
            </a:extLst>
          </p:cNvPr>
          <p:cNvGraphicFramePr>
            <a:graphicFrameLocks noGrp="1"/>
          </p:cNvGraphicFramePr>
          <p:nvPr>
            <p:extLst>
              <p:ext uri="{D42A27DB-BD31-4B8C-83A1-F6EECF244321}">
                <p14:modId xmlns:p14="http://schemas.microsoft.com/office/powerpoint/2010/main" val="306995904"/>
              </p:ext>
            </p:extLst>
          </p:nvPr>
        </p:nvGraphicFramePr>
        <p:xfrm>
          <a:off x="1928799" y="2072175"/>
          <a:ext cx="9523827" cy="4266741"/>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412149">
                <a:tc>
                  <a:txBody>
                    <a:bodyPr/>
                    <a:lstStyle/>
                    <a:p>
                      <a:r>
                        <a:rPr lang="en-US" sz="1600" dirty="0"/>
                        <a:t>Acronym</a:t>
                      </a:r>
                    </a:p>
                  </a:txBody>
                  <a:tcPr/>
                </a:tc>
                <a:tc>
                  <a:txBody>
                    <a:bodyPr/>
                    <a:lstStyle/>
                    <a:p>
                      <a:r>
                        <a:rPr lang="en-US" sz="1600" dirty="0"/>
                        <a:t>Step</a:t>
                      </a:r>
                    </a:p>
                  </a:txBody>
                  <a:tcPr/>
                </a:tc>
                <a:tc>
                  <a:txBody>
                    <a:bodyPr/>
                    <a:lstStyle/>
                    <a:p>
                      <a:r>
                        <a:rPr lang="en-US" sz="1600" dirty="0"/>
                        <a:t>Description</a:t>
                      </a:r>
                    </a:p>
                  </a:txBody>
                  <a:tcPr/>
                </a:tc>
                <a:extLst>
                  <a:ext uri="{0D108BD9-81ED-4DB2-BD59-A6C34878D82A}">
                    <a16:rowId xmlns:a16="http://schemas.microsoft.com/office/drawing/2014/main" val="2347187553"/>
                  </a:ext>
                </a:extLst>
              </a:tr>
              <a:tr h="669108">
                <a:tc>
                  <a:txBody>
                    <a:bodyPr/>
                    <a:lstStyle/>
                    <a:p>
                      <a:r>
                        <a:rPr lang="en-US" sz="1600" dirty="0"/>
                        <a:t>B</a:t>
                      </a:r>
                    </a:p>
                  </a:txBody>
                  <a:tcPr/>
                </a:tc>
                <a:tc>
                  <a:txBody>
                    <a:bodyPr/>
                    <a:lstStyle/>
                    <a:p>
                      <a:r>
                        <a:rPr lang="en-US" sz="1600" dirty="0"/>
                        <a:t>Begin the Planning</a:t>
                      </a:r>
                    </a:p>
                  </a:txBody>
                  <a:tcPr/>
                </a:tc>
                <a:tc>
                  <a:txBody>
                    <a:bodyPr/>
                    <a:lstStyle/>
                    <a:p>
                      <a:r>
                        <a:rPr lang="en-US" sz="1600" dirty="0"/>
                        <a:t>Starts upon receipt of a mission. Involves an initial assessment using the METT-TC framework.</a:t>
                      </a:r>
                    </a:p>
                  </a:txBody>
                  <a:tcPr/>
                </a:tc>
                <a:extLst>
                  <a:ext uri="{0D108BD9-81ED-4DB2-BD59-A6C34878D82A}">
                    <a16:rowId xmlns:a16="http://schemas.microsoft.com/office/drawing/2014/main" val="1024064076"/>
                  </a:ext>
                </a:extLst>
              </a:tr>
              <a:tr h="724062">
                <a:tc>
                  <a:txBody>
                    <a:bodyPr/>
                    <a:lstStyle/>
                    <a:p>
                      <a:r>
                        <a:rPr lang="en-US" sz="1600" dirty="0"/>
                        <a:t>A</a:t>
                      </a:r>
                    </a:p>
                  </a:txBody>
                  <a:tcPr/>
                </a:tc>
                <a:tc>
                  <a:txBody>
                    <a:bodyPr/>
                    <a:lstStyle/>
                    <a:p>
                      <a:r>
                        <a:rPr lang="en-US" sz="1600" dirty="0"/>
                        <a:t>Arrange Reconnaissance</a:t>
                      </a:r>
                    </a:p>
                  </a:txBody>
                  <a:tcPr/>
                </a:tc>
                <a:tc>
                  <a:txBody>
                    <a:bodyPr/>
                    <a:lstStyle/>
                    <a:p>
                      <a:r>
                        <a:rPr lang="en-US" sz="1600" dirty="0"/>
                        <a:t>Determine information gaps and plan to fill them through reconnaissance and surveillance.</a:t>
                      </a:r>
                    </a:p>
                  </a:txBody>
                  <a:tcPr/>
                </a:tc>
                <a:extLst>
                  <a:ext uri="{0D108BD9-81ED-4DB2-BD59-A6C34878D82A}">
                    <a16:rowId xmlns:a16="http://schemas.microsoft.com/office/drawing/2014/main" val="2759172838"/>
                  </a:ext>
                </a:extLst>
              </a:tr>
              <a:tr h="724062">
                <a:tc>
                  <a:txBody>
                    <a:bodyPr/>
                    <a:lstStyle/>
                    <a:p>
                      <a:r>
                        <a:rPr lang="en-US" sz="1600" dirty="0"/>
                        <a:t>M</a:t>
                      </a:r>
                    </a:p>
                  </a:txBody>
                  <a:tcPr/>
                </a:tc>
                <a:tc>
                  <a:txBody>
                    <a:bodyPr/>
                    <a:lstStyle/>
                    <a:p>
                      <a:r>
                        <a:rPr lang="en-US" sz="1600" dirty="0"/>
                        <a:t>Make Reconnaissance</a:t>
                      </a:r>
                    </a:p>
                  </a:txBody>
                  <a:tcPr/>
                </a:tc>
                <a:tc>
                  <a:txBody>
                    <a:bodyPr/>
                    <a:lstStyle/>
                    <a:p>
                      <a:r>
                        <a:rPr lang="en-US" sz="1600" dirty="0"/>
                        <a:t>Execute the reconnaissance plan to confirm or deny assumptions about the enemy and terrain.</a:t>
                      </a:r>
                    </a:p>
                  </a:txBody>
                  <a:tcPr/>
                </a:tc>
                <a:extLst>
                  <a:ext uri="{0D108BD9-81ED-4DB2-BD59-A6C34878D82A}">
                    <a16:rowId xmlns:a16="http://schemas.microsoft.com/office/drawing/2014/main" val="3770419133"/>
                  </a:ext>
                </a:extLst>
              </a:tr>
              <a:tr h="412149">
                <a:tc>
                  <a:txBody>
                    <a:bodyPr/>
                    <a:lstStyle/>
                    <a:p>
                      <a:r>
                        <a:rPr lang="en-US" sz="1600" dirty="0"/>
                        <a:t>C</a:t>
                      </a:r>
                    </a:p>
                  </a:txBody>
                  <a:tcPr/>
                </a:tc>
                <a:tc>
                  <a:txBody>
                    <a:bodyPr/>
                    <a:lstStyle/>
                    <a:p>
                      <a:r>
                        <a:rPr lang="en-US" sz="1600" dirty="0"/>
                        <a:t>Complete the Planning</a:t>
                      </a:r>
                    </a:p>
                  </a:txBody>
                  <a:tcPr/>
                </a:tc>
                <a:tc>
                  <a:txBody>
                    <a:bodyPr/>
                    <a:lstStyle/>
                    <a:p>
                      <a:r>
                        <a:rPr lang="en-US" sz="1600" dirty="0"/>
                        <a:t>Finalize the operational plan based on updated information gathered during reconnaissance.</a:t>
                      </a:r>
                    </a:p>
                  </a:txBody>
                  <a:tcPr/>
                </a:tc>
                <a:extLst>
                  <a:ext uri="{0D108BD9-81ED-4DB2-BD59-A6C34878D82A}">
                    <a16:rowId xmlns:a16="http://schemas.microsoft.com/office/drawing/2014/main" val="3954099609"/>
                  </a:ext>
                </a:extLst>
              </a:tr>
              <a:tr h="412149">
                <a:tc>
                  <a:txBody>
                    <a:bodyPr/>
                    <a:lstStyle/>
                    <a:p>
                      <a:r>
                        <a:rPr lang="en-US" sz="1600" dirty="0"/>
                        <a:t>I</a:t>
                      </a:r>
                    </a:p>
                  </a:txBody>
                  <a:tcPr/>
                </a:tc>
                <a:tc>
                  <a:txBody>
                    <a:bodyPr/>
                    <a:lstStyle/>
                    <a:p>
                      <a:r>
                        <a:rPr lang="en-US" sz="1600" dirty="0"/>
                        <a:t>Issue the Order</a:t>
                      </a:r>
                    </a:p>
                  </a:txBody>
                  <a:tcPr/>
                </a:tc>
                <a:tc>
                  <a:txBody>
                    <a:bodyPr/>
                    <a:lstStyle/>
                    <a:p>
                      <a:r>
                        <a:rPr lang="en-US" sz="1600" dirty="0"/>
                        <a:t>Clearly and concisely communicate the finalized plan to subordinate leaders.</a:t>
                      </a:r>
                    </a:p>
                  </a:txBody>
                  <a:tcPr/>
                </a:tc>
                <a:extLst>
                  <a:ext uri="{0D108BD9-81ED-4DB2-BD59-A6C34878D82A}">
                    <a16:rowId xmlns:a16="http://schemas.microsoft.com/office/drawing/2014/main" val="65842080"/>
                  </a:ext>
                </a:extLst>
              </a:tr>
              <a:tr h="412149">
                <a:tc>
                  <a:txBody>
                    <a:bodyPr/>
                    <a:lstStyle/>
                    <a:p>
                      <a:r>
                        <a:rPr lang="en-US" sz="1600" dirty="0"/>
                        <a:t>S</a:t>
                      </a:r>
                    </a:p>
                  </a:txBody>
                  <a:tcPr/>
                </a:tc>
                <a:tc>
                  <a:txBody>
                    <a:bodyPr/>
                    <a:lstStyle/>
                    <a:p>
                      <a:r>
                        <a:rPr lang="en-US" sz="1600" dirty="0"/>
                        <a:t>Supervise</a:t>
                      </a:r>
                    </a:p>
                  </a:txBody>
                  <a:tcPr/>
                </a:tc>
                <a:tc>
                  <a:txBody>
                    <a:bodyPr/>
                    <a:lstStyle/>
                    <a:p>
                      <a:r>
                        <a:rPr lang="en-US" sz="1600" dirty="0"/>
                        <a:t>Oversee the execution of the plan, making adjustments as the situation evolves.</a:t>
                      </a:r>
                    </a:p>
                  </a:txBody>
                  <a:tcPr/>
                </a:tc>
                <a:extLst>
                  <a:ext uri="{0D108BD9-81ED-4DB2-BD59-A6C34878D82A}">
                    <a16:rowId xmlns:a16="http://schemas.microsoft.com/office/drawing/2014/main" val="1253078679"/>
                  </a:ext>
                </a:extLst>
              </a:tr>
            </a:tbl>
          </a:graphicData>
        </a:graphic>
      </p:graphicFrame>
    </p:spTree>
    <p:extLst>
      <p:ext uri="{BB962C8B-B14F-4D97-AF65-F5344CB8AC3E}">
        <p14:creationId xmlns:p14="http://schemas.microsoft.com/office/powerpoint/2010/main" val="2981252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6BEF-A126-E26C-7AF3-831A918F89D4}"/>
              </a:ext>
            </a:extLst>
          </p:cNvPr>
          <p:cNvSpPr>
            <a:spLocks noGrp="1"/>
          </p:cNvSpPr>
          <p:nvPr>
            <p:ph type="title"/>
          </p:nvPr>
        </p:nvSpPr>
        <p:spPr/>
        <p:txBody>
          <a:bodyPr/>
          <a:lstStyle/>
          <a:p>
            <a:r>
              <a:rPr lang="en-US" dirty="0"/>
              <a:t>Tactical Planning Process</a:t>
            </a:r>
          </a:p>
        </p:txBody>
      </p:sp>
      <p:sp>
        <p:nvSpPr>
          <p:cNvPr id="8" name="Text Placeholder 7">
            <a:extLst>
              <a:ext uri="{FF2B5EF4-FFF2-40B4-BE49-F238E27FC236}">
                <a16:creationId xmlns:a16="http://schemas.microsoft.com/office/drawing/2014/main" id="{5316702B-4564-7591-02B1-F38F12C469ED}"/>
              </a:ext>
            </a:extLst>
          </p:cNvPr>
          <p:cNvSpPr>
            <a:spLocks noGrp="1"/>
          </p:cNvSpPr>
          <p:nvPr>
            <p:ph type="body" idx="1"/>
          </p:nvPr>
        </p:nvSpPr>
        <p:spPr>
          <a:xfrm>
            <a:off x="1510029" y="1188721"/>
            <a:ext cx="9399271" cy="883454"/>
          </a:xfrm>
        </p:spPr>
        <p:txBody>
          <a:bodyPr/>
          <a:lstStyle/>
          <a:p>
            <a:pPr lvl="1"/>
            <a:r>
              <a:rPr lang="en-US" b="1" dirty="0"/>
              <a:t>Estimate of the Situation: METT-TC</a:t>
            </a:r>
          </a:p>
          <a:p>
            <a:pPr lvl="1"/>
            <a:r>
              <a:rPr lang="en-US" b="1" dirty="0"/>
              <a:t>METT-TC</a:t>
            </a:r>
            <a:r>
              <a:rPr lang="en-US" dirty="0"/>
              <a:t> is the primary tool used to Begin the Planning. It is a systematic analysis of the key variables in any tactical situation.</a:t>
            </a:r>
          </a:p>
        </p:txBody>
      </p:sp>
      <p:graphicFrame>
        <p:nvGraphicFramePr>
          <p:cNvPr id="10" name="Table 9">
            <a:extLst>
              <a:ext uri="{FF2B5EF4-FFF2-40B4-BE49-F238E27FC236}">
                <a16:creationId xmlns:a16="http://schemas.microsoft.com/office/drawing/2014/main" id="{13CFD602-8C3E-999A-213C-261E56352C76}"/>
              </a:ext>
            </a:extLst>
          </p:cNvPr>
          <p:cNvGraphicFramePr>
            <a:graphicFrameLocks noGrp="1"/>
          </p:cNvGraphicFramePr>
          <p:nvPr>
            <p:extLst>
              <p:ext uri="{D42A27DB-BD31-4B8C-83A1-F6EECF244321}">
                <p14:modId xmlns:p14="http://schemas.microsoft.com/office/powerpoint/2010/main" val="1409855753"/>
              </p:ext>
            </p:extLst>
          </p:nvPr>
        </p:nvGraphicFramePr>
        <p:xfrm>
          <a:off x="1928799" y="2336800"/>
          <a:ext cx="9523827" cy="4110877"/>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386752">
                <a:tc>
                  <a:txBody>
                    <a:bodyPr/>
                    <a:lstStyle/>
                    <a:p>
                      <a:r>
                        <a:rPr lang="en-US" sz="1600" dirty="0"/>
                        <a:t>Acronym</a:t>
                      </a:r>
                    </a:p>
                  </a:txBody>
                  <a:tcPr/>
                </a:tc>
                <a:tc>
                  <a:txBody>
                    <a:bodyPr/>
                    <a:lstStyle/>
                    <a:p>
                      <a:r>
                        <a:rPr lang="en-US" sz="1600" dirty="0"/>
                        <a:t>Factor</a:t>
                      </a:r>
                    </a:p>
                  </a:txBody>
                  <a:tcPr/>
                </a:tc>
                <a:tc>
                  <a:txBody>
                    <a:bodyPr/>
                    <a:lstStyle/>
                    <a:p>
                      <a:r>
                        <a:rPr lang="en-US" sz="1600" dirty="0"/>
                        <a:t>Cyberspace Considerations</a:t>
                      </a:r>
                    </a:p>
                  </a:txBody>
                  <a:tcPr/>
                </a:tc>
                <a:extLst>
                  <a:ext uri="{0D108BD9-81ED-4DB2-BD59-A6C34878D82A}">
                    <a16:rowId xmlns:a16="http://schemas.microsoft.com/office/drawing/2014/main" val="2347187553"/>
                  </a:ext>
                </a:extLst>
              </a:tr>
              <a:tr h="627877">
                <a:tc>
                  <a:txBody>
                    <a:bodyPr/>
                    <a:lstStyle/>
                    <a:p>
                      <a:r>
                        <a:rPr lang="en-US" sz="1600" dirty="0"/>
                        <a:t>M</a:t>
                      </a:r>
                    </a:p>
                  </a:txBody>
                  <a:tcPr/>
                </a:tc>
                <a:tc>
                  <a:txBody>
                    <a:bodyPr/>
                    <a:lstStyle/>
                    <a:p>
                      <a:r>
                        <a:rPr lang="en-US" sz="1600" dirty="0"/>
                        <a:t>Mission</a:t>
                      </a:r>
                    </a:p>
                  </a:txBody>
                  <a:tcPr/>
                </a:tc>
                <a:tc>
                  <a:txBody>
                    <a:bodyPr/>
                    <a:lstStyle/>
                    <a:p>
                      <a:r>
                        <a:rPr lang="en-US" sz="1600" dirty="0"/>
                        <a:t>Analyze specified and implied tasks from higher echelons. Understand the “why” (commander’s intent).</a:t>
                      </a:r>
                    </a:p>
                  </a:txBody>
                  <a:tcPr/>
                </a:tc>
                <a:extLst>
                  <a:ext uri="{0D108BD9-81ED-4DB2-BD59-A6C34878D82A}">
                    <a16:rowId xmlns:a16="http://schemas.microsoft.com/office/drawing/2014/main" val="1024064076"/>
                  </a:ext>
                </a:extLst>
              </a:tr>
              <a:tr h="679444">
                <a:tc>
                  <a:txBody>
                    <a:bodyPr/>
                    <a:lstStyle/>
                    <a:p>
                      <a:r>
                        <a:rPr lang="en-US" sz="1600" dirty="0"/>
                        <a:t>E</a:t>
                      </a:r>
                    </a:p>
                  </a:txBody>
                  <a:tcPr/>
                </a:tc>
                <a:tc>
                  <a:txBody>
                    <a:bodyPr/>
                    <a:lstStyle/>
                    <a:p>
                      <a:r>
                        <a:rPr lang="en-US" sz="1600" dirty="0"/>
                        <a:t>Enemy</a:t>
                      </a:r>
                    </a:p>
                  </a:txBody>
                  <a:tcPr/>
                </a:tc>
                <a:tc>
                  <a:txBody>
                    <a:bodyPr/>
                    <a:lstStyle/>
                    <a:p>
                      <a:r>
                        <a:rPr lang="en-US" sz="1600" dirty="0"/>
                        <a:t>Analyze adversary composition, disposition, strength, and capabilities.</a:t>
                      </a:r>
                    </a:p>
                  </a:txBody>
                  <a:tcPr/>
                </a:tc>
                <a:extLst>
                  <a:ext uri="{0D108BD9-81ED-4DB2-BD59-A6C34878D82A}">
                    <a16:rowId xmlns:a16="http://schemas.microsoft.com/office/drawing/2014/main" val="2759172838"/>
                  </a:ext>
                </a:extLst>
              </a:tr>
              <a:tr h="679444">
                <a:tc>
                  <a:txBody>
                    <a:bodyPr/>
                    <a:lstStyle/>
                    <a:p>
                      <a:r>
                        <a:rPr lang="en-US" sz="1600" dirty="0"/>
                        <a:t>T</a:t>
                      </a:r>
                    </a:p>
                  </a:txBody>
                  <a:tcPr/>
                </a:tc>
                <a:tc>
                  <a:txBody>
                    <a:bodyPr/>
                    <a:lstStyle/>
                    <a:p>
                      <a:r>
                        <a:rPr lang="en-US" sz="1600" dirty="0"/>
                        <a:t>Troops &amp; Fire Support</a:t>
                      </a:r>
                    </a:p>
                  </a:txBody>
                  <a:tcPr/>
                </a:tc>
                <a:tc>
                  <a:txBody>
                    <a:bodyPr/>
                    <a:lstStyle/>
                    <a:p>
                      <a:r>
                        <a:rPr lang="en-US" sz="1600" dirty="0"/>
                        <a:t>Catalog organic and attached assets, skills, tools, and higher-level support.</a:t>
                      </a:r>
                    </a:p>
                  </a:txBody>
                  <a:tcPr/>
                </a:tc>
                <a:extLst>
                  <a:ext uri="{0D108BD9-81ED-4DB2-BD59-A6C34878D82A}">
                    <a16:rowId xmlns:a16="http://schemas.microsoft.com/office/drawing/2014/main" val="3770419133"/>
                  </a:ext>
                </a:extLst>
              </a:tr>
              <a:tr h="561546">
                <a:tc>
                  <a:txBody>
                    <a:bodyPr/>
                    <a:lstStyle/>
                    <a:p>
                      <a:r>
                        <a:rPr lang="en-US" sz="1600" dirty="0"/>
                        <a:t>T</a:t>
                      </a:r>
                    </a:p>
                  </a:txBody>
                  <a:tcPr/>
                </a:tc>
                <a:tc>
                  <a:txBody>
                    <a:bodyPr/>
                    <a:lstStyle/>
                    <a:p>
                      <a:r>
                        <a:rPr lang="en-US" sz="1600" dirty="0"/>
                        <a:t>Terrain &amp; Weather</a:t>
                      </a:r>
                    </a:p>
                  </a:txBody>
                  <a:tcPr/>
                </a:tc>
                <a:tc>
                  <a:txBody>
                    <a:bodyPr/>
                    <a:lstStyle/>
                    <a:p>
                      <a:r>
                        <a:rPr lang="en-US" sz="1600" dirty="0"/>
                        <a:t>Analyze the digital and physical environment from both friendly and adversary perspectives. </a:t>
                      </a:r>
                    </a:p>
                  </a:txBody>
                  <a:tcPr/>
                </a:tc>
                <a:extLst>
                  <a:ext uri="{0D108BD9-81ED-4DB2-BD59-A6C34878D82A}">
                    <a16:rowId xmlns:a16="http://schemas.microsoft.com/office/drawing/2014/main" val="3954099609"/>
                  </a:ext>
                </a:extLst>
              </a:tr>
              <a:tr h="561546">
                <a:tc>
                  <a:txBody>
                    <a:bodyPr/>
                    <a:lstStyle/>
                    <a:p>
                      <a:r>
                        <a:rPr lang="en-US" sz="1600" dirty="0"/>
                        <a:t>T</a:t>
                      </a:r>
                    </a:p>
                  </a:txBody>
                  <a:tcPr/>
                </a:tc>
                <a:tc>
                  <a:txBody>
                    <a:bodyPr/>
                    <a:lstStyle/>
                    <a:p>
                      <a:r>
                        <a:rPr lang="en-US" sz="1600" dirty="0"/>
                        <a:t>Time/Space/Logistics</a:t>
                      </a:r>
                    </a:p>
                  </a:txBody>
                  <a:tcPr/>
                </a:tc>
                <a:tc>
                  <a:txBody>
                    <a:bodyPr/>
                    <a:lstStyle/>
                    <a:p>
                      <a:r>
                        <a:rPr lang="en-US" sz="1600" dirty="0"/>
                        <a:t>Assess time available, operational area (logical/physical), and logistical constraints.</a:t>
                      </a:r>
                    </a:p>
                  </a:txBody>
                  <a:tcPr/>
                </a:tc>
                <a:extLst>
                  <a:ext uri="{0D108BD9-81ED-4DB2-BD59-A6C34878D82A}">
                    <a16:rowId xmlns:a16="http://schemas.microsoft.com/office/drawing/2014/main" val="65842080"/>
                  </a:ext>
                </a:extLst>
              </a:tr>
              <a:tr h="561546">
                <a:tc>
                  <a:txBody>
                    <a:bodyPr/>
                    <a:lstStyle/>
                    <a:p>
                      <a:r>
                        <a:rPr lang="en-US" sz="1600" dirty="0"/>
                        <a:t>C</a:t>
                      </a:r>
                    </a:p>
                  </a:txBody>
                  <a:tcPr/>
                </a:tc>
                <a:tc>
                  <a:txBody>
                    <a:bodyPr/>
                    <a:lstStyle/>
                    <a:p>
                      <a:r>
                        <a:rPr lang="en-US" sz="1600" dirty="0"/>
                        <a:t>Civilian Considerations</a:t>
                      </a:r>
                    </a:p>
                  </a:txBody>
                  <a:tcPr/>
                </a:tc>
                <a:tc>
                  <a:txBody>
                    <a:bodyPr/>
                    <a:lstStyle/>
                    <a:p>
                      <a:r>
                        <a:rPr lang="en-US" sz="1600" dirty="0"/>
                        <a:t>Evaluate potential impacts on non-combatant populations and infrastructure. </a:t>
                      </a:r>
                    </a:p>
                  </a:txBody>
                  <a:tcPr/>
                </a:tc>
                <a:extLst>
                  <a:ext uri="{0D108BD9-81ED-4DB2-BD59-A6C34878D82A}">
                    <a16:rowId xmlns:a16="http://schemas.microsoft.com/office/drawing/2014/main" val="1253078679"/>
                  </a:ext>
                </a:extLst>
              </a:tr>
            </a:tbl>
          </a:graphicData>
        </a:graphic>
      </p:graphicFrame>
    </p:spTree>
    <p:extLst>
      <p:ext uri="{BB962C8B-B14F-4D97-AF65-F5344CB8AC3E}">
        <p14:creationId xmlns:p14="http://schemas.microsoft.com/office/powerpoint/2010/main" val="311883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295F6-EF1B-92D3-BB80-E00AEC4240B5}"/>
              </a:ext>
            </a:extLst>
          </p:cNvPr>
          <p:cNvSpPr>
            <a:spLocks noGrp="1"/>
          </p:cNvSpPr>
          <p:nvPr>
            <p:ph type="title"/>
          </p:nvPr>
        </p:nvSpPr>
        <p:spPr/>
        <p:txBody>
          <a:bodyPr/>
          <a:lstStyle/>
          <a:p>
            <a:r>
              <a:rPr lang="en-US" dirty="0"/>
              <a:t>Mission Analysis</a:t>
            </a:r>
          </a:p>
        </p:txBody>
      </p:sp>
    </p:spTree>
    <p:extLst>
      <p:ext uri="{BB962C8B-B14F-4D97-AF65-F5344CB8AC3E}">
        <p14:creationId xmlns:p14="http://schemas.microsoft.com/office/powerpoint/2010/main" val="4196555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C989A-D772-AC6D-3F3E-CDEFD425BD03}"/>
              </a:ext>
            </a:extLst>
          </p:cNvPr>
          <p:cNvSpPr>
            <a:spLocks noGrp="1"/>
          </p:cNvSpPr>
          <p:nvPr>
            <p:ph type="body" idx="1"/>
          </p:nvPr>
        </p:nvSpPr>
        <p:spPr/>
        <p:txBody>
          <a:bodyPr/>
          <a:lstStyle/>
          <a:p>
            <a:pPr>
              <a:lnSpc>
                <a:spcPct val="100000"/>
              </a:lnSpc>
            </a:pPr>
            <a:r>
              <a:rPr lang="en-US" sz="2800" b="1" dirty="0"/>
              <a:t>Core</a:t>
            </a:r>
            <a:r>
              <a:rPr lang="en-US" sz="2800" dirty="0"/>
              <a:t> </a:t>
            </a:r>
            <a:r>
              <a:rPr lang="en-US" sz="2800" b="1" dirty="0"/>
              <a:t>Task: </a:t>
            </a:r>
          </a:p>
          <a:p>
            <a:pPr lvl="1">
              <a:lnSpc>
                <a:spcPct val="100000"/>
              </a:lnSpc>
            </a:pPr>
            <a:r>
              <a:rPr lang="en-US" sz="2300" dirty="0"/>
              <a:t>To understand the unit's mission and the commander's intent.</a:t>
            </a:r>
          </a:p>
          <a:p>
            <a:pPr>
              <a:lnSpc>
                <a:spcPct val="100000"/>
              </a:lnSpc>
            </a:pPr>
            <a:r>
              <a:rPr lang="en-US" sz="2800" b="1" dirty="0"/>
              <a:t>Process:</a:t>
            </a:r>
          </a:p>
          <a:p>
            <a:pPr lvl="1">
              <a:lnSpc>
                <a:spcPct val="100000"/>
              </a:lnSpc>
            </a:pPr>
            <a:r>
              <a:rPr lang="en-US" sz="2300" b="1" dirty="0"/>
              <a:t>1. Identify Tasks: </a:t>
            </a:r>
            <a:r>
              <a:rPr lang="en-US" sz="2300" dirty="0"/>
              <a:t>Deconstruct the order from higher echelons into:</a:t>
            </a:r>
          </a:p>
          <a:p>
            <a:pPr lvl="2">
              <a:lnSpc>
                <a:spcPct val="100000"/>
              </a:lnSpc>
            </a:pPr>
            <a:r>
              <a:rPr lang="en-US" sz="2067" b="1" dirty="0"/>
              <a:t>Specified Tasks:</a:t>
            </a:r>
            <a:r>
              <a:rPr lang="en-US" sz="2067" dirty="0"/>
              <a:t> Explicitly stated in the order.</a:t>
            </a:r>
          </a:p>
          <a:p>
            <a:pPr lvl="2">
              <a:lnSpc>
                <a:spcPct val="100000"/>
              </a:lnSpc>
            </a:pPr>
            <a:r>
              <a:rPr lang="en-US" sz="2067" b="1" dirty="0"/>
              <a:t>Implied Tasks:</a:t>
            </a:r>
            <a:r>
              <a:rPr lang="en-US" sz="2067" dirty="0"/>
              <a:t> Not explicitly stated but necessary for mission accomplishment.</a:t>
            </a:r>
          </a:p>
          <a:p>
            <a:pPr lvl="1">
              <a:lnSpc>
                <a:spcPct val="100000"/>
              </a:lnSpc>
            </a:pPr>
            <a:r>
              <a:rPr lang="en-US" sz="2300" b="1" dirty="0"/>
              <a:t>2. Conduct Purpose Analysis: </a:t>
            </a:r>
            <a:r>
              <a:rPr lang="en-US" sz="2300" dirty="0"/>
              <a:t>Determine the "why" behind the mission.</a:t>
            </a:r>
          </a:p>
          <a:p>
            <a:pPr lvl="2">
              <a:lnSpc>
                <a:spcPct val="100000"/>
              </a:lnSpc>
            </a:pPr>
            <a:r>
              <a:rPr lang="en-US" sz="2067" dirty="0"/>
              <a:t>What is the desired end state?</a:t>
            </a:r>
          </a:p>
          <a:p>
            <a:pPr lvl="2">
              <a:lnSpc>
                <a:spcPct val="100000"/>
              </a:lnSpc>
            </a:pPr>
            <a:r>
              <a:rPr lang="en-US" sz="2067" dirty="0"/>
              <a:t>What is the commander's overall intent?</a:t>
            </a:r>
          </a:p>
          <a:p>
            <a:pPr lvl="2">
              <a:lnSpc>
                <a:spcPct val="100000"/>
              </a:lnSpc>
            </a:pPr>
            <a:endParaRPr lang="en-US" sz="2067" dirty="0"/>
          </a:p>
        </p:txBody>
      </p:sp>
      <p:sp>
        <p:nvSpPr>
          <p:cNvPr id="2" name="Title 1">
            <a:extLst>
              <a:ext uri="{FF2B5EF4-FFF2-40B4-BE49-F238E27FC236}">
                <a16:creationId xmlns:a16="http://schemas.microsoft.com/office/drawing/2014/main" id="{281D6B8C-185C-87B3-DAAF-3CD35F26A1FF}"/>
              </a:ext>
            </a:extLst>
          </p:cNvPr>
          <p:cNvSpPr>
            <a:spLocks noGrp="1"/>
          </p:cNvSpPr>
          <p:nvPr>
            <p:ph type="title"/>
          </p:nvPr>
        </p:nvSpPr>
        <p:spPr/>
        <p:txBody>
          <a:bodyPr/>
          <a:lstStyle/>
          <a:p>
            <a:r>
              <a:rPr lang="en-US" dirty="0"/>
              <a:t>Mission Analysis</a:t>
            </a:r>
          </a:p>
        </p:txBody>
      </p:sp>
    </p:spTree>
    <p:extLst>
      <p:ext uri="{BB962C8B-B14F-4D97-AF65-F5344CB8AC3E}">
        <p14:creationId xmlns:p14="http://schemas.microsoft.com/office/powerpoint/2010/main" val="1400905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8488-C5E7-F83B-0E1A-17D0899992EF}"/>
              </a:ext>
            </a:extLst>
          </p:cNvPr>
          <p:cNvSpPr>
            <a:spLocks noGrp="1"/>
          </p:cNvSpPr>
          <p:nvPr>
            <p:ph type="title"/>
          </p:nvPr>
        </p:nvSpPr>
        <p:spPr/>
        <p:txBody>
          <a:bodyPr/>
          <a:lstStyle/>
          <a:p>
            <a:r>
              <a:rPr lang="en-US" dirty="0"/>
              <a:t>Enemy Analysis</a:t>
            </a:r>
          </a:p>
        </p:txBody>
      </p:sp>
    </p:spTree>
    <p:extLst>
      <p:ext uri="{BB962C8B-B14F-4D97-AF65-F5344CB8AC3E}">
        <p14:creationId xmlns:p14="http://schemas.microsoft.com/office/powerpoint/2010/main" val="137897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2A6E-B329-E560-8B1E-FF4ACA64BBA5}"/>
              </a:ext>
            </a:extLst>
          </p:cNvPr>
          <p:cNvSpPr>
            <a:spLocks noGrp="1"/>
          </p:cNvSpPr>
          <p:nvPr>
            <p:ph type="title"/>
          </p:nvPr>
        </p:nvSpPr>
        <p:spPr/>
        <p:txBody>
          <a:bodyPr/>
          <a:lstStyle/>
          <a:p>
            <a:r>
              <a:rPr lang="en-US" dirty="0"/>
              <a:t>Enemy Analysis: SALUTE</a:t>
            </a:r>
          </a:p>
        </p:txBody>
      </p:sp>
      <p:graphicFrame>
        <p:nvGraphicFramePr>
          <p:cNvPr id="3" name="Table 2">
            <a:extLst>
              <a:ext uri="{FF2B5EF4-FFF2-40B4-BE49-F238E27FC236}">
                <a16:creationId xmlns:a16="http://schemas.microsoft.com/office/drawing/2014/main" id="{7FC997F9-5B82-54D6-7B16-64F4D4EF0C1F}"/>
              </a:ext>
            </a:extLst>
          </p:cNvPr>
          <p:cNvGraphicFramePr>
            <a:graphicFrameLocks noGrp="1"/>
          </p:cNvGraphicFramePr>
          <p:nvPr>
            <p:extLst>
              <p:ext uri="{D42A27DB-BD31-4B8C-83A1-F6EECF244321}">
                <p14:modId xmlns:p14="http://schemas.microsoft.com/office/powerpoint/2010/main" val="3342037983"/>
              </p:ext>
            </p:extLst>
          </p:nvPr>
        </p:nvGraphicFramePr>
        <p:xfrm>
          <a:off x="1649563" y="1945175"/>
          <a:ext cx="9523827" cy="4519491"/>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412149">
                <a:tc>
                  <a:txBody>
                    <a:bodyPr/>
                    <a:lstStyle/>
                    <a:p>
                      <a:r>
                        <a:rPr lang="en-US" sz="1600" dirty="0"/>
                        <a:t>Acronym</a:t>
                      </a:r>
                    </a:p>
                  </a:txBody>
                  <a:tcPr/>
                </a:tc>
                <a:tc>
                  <a:txBody>
                    <a:bodyPr/>
                    <a:lstStyle/>
                    <a:p>
                      <a:r>
                        <a:rPr lang="en-US" sz="1600" dirty="0"/>
                        <a:t>Factor</a:t>
                      </a:r>
                    </a:p>
                  </a:txBody>
                  <a:tcPr/>
                </a:tc>
                <a:tc>
                  <a:txBody>
                    <a:bodyPr/>
                    <a:lstStyle/>
                    <a:p>
                      <a:r>
                        <a:rPr lang="en-US" sz="1600" dirty="0"/>
                        <a:t>Cyberspace Considerations</a:t>
                      </a:r>
                    </a:p>
                  </a:txBody>
                  <a:tcPr/>
                </a:tc>
                <a:extLst>
                  <a:ext uri="{0D108BD9-81ED-4DB2-BD59-A6C34878D82A}">
                    <a16:rowId xmlns:a16="http://schemas.microsoft.com/office/drawing/2014/main" val="2347187553"/>
                  </a:ext>
                </a:extLst>
              </a:tr>
              <a:tr h="669108">
                <a:tc>
                  <a:txBody>
                    <a:bodyPr/>
                    <a:lstStyle/>
                    <a:p>
                      <a:r>
                        <a:rPr lang="en-US" sz="1600" dirty="0"/>
                        <a:t>S</a:t>
                      </a:r>
                    </a:p>
                  </a:txBody>
                  <a:tcPr/>
                </a:tc>
                <a:tc>
                  <a:txBody>
                    <a:bodyPr/>
                    <a:lstStyle/>
                    <a:p>
                      <a:r>
                        <a:rPr lang="en-US" sz="1600" dirty="0"/>
                        <a:t>Size</a:t>
                      </a:r>
                    </a:p>
                  </a:txBody>
                  <a:tcPr/>
                </a:tc>
                <a:tc>
                  <a:txBody>
                    <a:bodyPr/>
                    <a:lstStyle/>
                    <a:p>
                      <a:r>
                        <a:rPr lang="en-US" sz="1600" dirty="0"/>
                        <a:t>Nation-state, criminal group, or individual? Assess via estimated monetary backing, manpower, and technical capability (e.g., use of AI).</a:t>
                      </a:r>
                    </a:p>
                  </a:txBody>
                  <a:tcPr/>
                </a:tc>
                <a:extLst>
                  <a:ext uri="{0D108BD9-81ED-4DB2-BD59-A6C34878D82A}">
                    <a16:rowId xmlns:a16="http://schemas.microsoft.com/office/drawing/2014/main" val="1024064076"/>
                  </a:ext>
                </a:extLst>
              </a:tr>
              <a:tr h="724062">
                <a:tc>
                  <a:txBody>
                    <a:bodyPr/>
                    <a:lstStyle/>
                    <a:p>
                      <a:r>
                        <a:rPr lang="en-US" sz="1600" dirty="0"/>
                        <a:t>A</a:t>
                      </a:r>
                    </a:p>
                  </a:txBody>
                  <a:tcPr/>
                </a:tc>
                <a:tc>
                  <a:txBody>
                    <a:bodyPr/>
                    <a:lstStyle/>
                    <a:p>
                      <a:r>
                        <a:rPr lang="en-US" sz="1600" dirty="0"/>
                        <a:t>Activity</a:t>
                      </a:r>
                    </a:p>
                  </a:txBody>
                  <a:tcPr/>
                </a:tc>
                <a:tc>
                  <a:txBody>
                    <a:bodyPr/>
                    <a:lstStyle/>
                    <a:p>
                      <a:r>
                        <a:rPr lang="en-US" sz="1600" dirty="0"/>
                        <a:t>What are they doing? Map adversary action to a standardized framework like MITRE ATT&amp;CK®.</a:t>
                      </a:r>
                    </a:p>
                  </a:txBody>
                  <a:tcPr/>
                </a:tc>
                <a:extLst>
                  <a:ext uri="{0D108BD9-81ED-4DB2-BD59-A6C34878D82A}">
                    <a16:rowId xmlns:a16="http://schemas.microsoft.com/office/drawing/2014/main" val="2759172838"/>
                  </a:ext>
                </a:extLst>
              </a:tr>
              <a:tr h="724062">
                <a:tc>
                  <a:txBody>
                    <a:bodyPr/>
                    <a:lstStyle/>
                    <a:p>
                      <a:r>
                        <a:rPr lang="en-US" sz="1600" dirty="0"/>
                        <a:t>L</a:t>
                      </a:r>
                    </a:p>
                  </a:txBody>
                  <a:tcPr/>
                </a:tc>
                <a:tc>
                  <a:txBody>
                    <a:bodyPr/>
                    <a:lstStyle/>
                    <a:p>
                      <a:r>
                        <a:rPr lang="en-US" sz="1600" dirty="0"/>
                        <a:t>Location</a:t>
                      </a:r>
                    </a:p>
                  </a:txBody>
                  <a:tcPr/>
                </a:tc>
                <a:tc>
                  <a:txBody>
                    <a:bodyPr/>
                    <a:lstStyle/>
                    <a:p>
                      <a:r>
                        <a:rPr lang="en-US" sz="1600" dirty="0"/>
                        <a:t>Where are they operating? Differentiate between physical location (Country X) and logical location (Cloud provider in Country Y).</a:t>
                      </a:r>
                    </a:p>
                  </a:txBody>
                  <a:tcPr/>
                </a:tc>
                <a:extLst>
                  <a:ext uri="{0D108BD9-81ED-4DB2-BD59-A6C34878D82A}">
                    <a16:rowId xmlns:a16="http://schemas.microsoft.com/office/drawing/2014/main" val="3770419133"/>
                  </a:ext>
                </a:extLst>
              </a:tr>
              <a:tr h="412149">
                <a:tc>
                  <a:txBody>
                    <a:bodyPr/>
                    <a:lstStyle/>
                    <a:p>
                      <a:r>
                        <a:rPr lang="en-US" sz="1600" dirty="0"/>
                        <a:t>U</a:t>
                      </a:r>
                    </a:p>
                  </a:txBody>
                  <a:tcPr/>
                </a:tc>
                <a:tc>
                  <a:txBody>
                    <a:bodyPr/>
                    <a:lstStyle/>
                    <a:p>
                      <a:r>
                        <a:rPr lang="en-US" sz="1600" dirty="0"/>
                        <a:t>Unit</a:t>
                      </a:r>
                    </a:p>
                  </a:txBody>
                  <a:tcPr/>
                </a:tc>
                <a:tc>
                  <a:txBody>
                    <a:bodyPr/>
                    <a:lstStyle/>
                    <a:p>
                      <a:r>
                        <a:rPr lang="en-US" sz="1600" dirty="0"/>
                        <a:t>Who are they? Identify specific threat actor groups and their affiliation (e.g., foreign intelligence or military unit).</a:t>
                      </a:r>
                    </a:p>
                  </a:txBody>
                  <a:tcPr/>
                </a:tc>
                <a:extLst>
                  <a:ext uri="{0D108BD9-81ED-4DB2-BD59-A6C34878D82A}">
                    <a16:rowId xmlns:a16="http://schemas.microsoft.com/office/drawing/2014/main" val="3954099609"/>
                  </a:ext>
                </a:extLst>
              </a:tr>
              <a:tr h="412149">
                <a:tc>
                  <a:txBody>
                    <a:bodyPr/>
                    <a:lstStyle/>
                    <a:p>
                      <a:r>
                        <a:rPr lang="en-US" sz="1600" dirty="0"/>
                        <a:t>T</a:t>
                      </a:r>
                    </a:p>
                  </a:txBody>
                  <a:tcPr/>
                </a:tc>
                <a:tc>
                  <a:txBody>
                    <a:bodyPr/>
                    <a:lstStyle/>
                    <a:p>
                      <a:r>
                        <a:rPr lang="en-US" sz="1600" dirty="0"/>
                        <a:t>Time</a:t>
                      </a:r>
                    </a:p>
                  </a:txBody>
                  <a:tcPr/>
                </a:tc>
                <a:tc>
                  <a:txBody>
                    <a:bodyPr/>
                    <a:lstStyle/>
                    <a:p>
                      <a:r>
                        <a:rPr lang="en-US" sz="1600" dirty="0"/>
                        <a:t>When was the activity observed? Recency is critical to assessing current threat.</a:t>
                      </a:r>
                    </a:p>
                  </a:txBody>
                  <a:tcPr/>
                </a:tc>
                <a:extLst>
                  <a:ext uri="{0D108BD9-81ED-4DB2-BD59-A6C34878D82A}">
                    <a16:rowId xmlns:a16="http://schemas.microsoft.com/office/drawing/2014/main" val="65842080"/>
                  </a:ext>
                </a:extLst>
              </a:tr>
              <a:tr h="412149">
                <a:tc>
                  <a:txBody>
                    <a:bodyPr/>
                    <a:lstStyle/>
                    <a:p>
                      <a:r>
                        <a:rPr lang="en-US" sz="1600" dirty="0"/>
                        <a:t>E</a:t>
                      </a:r>
                    </a:p>
                  </a:txBody>
                  <a:tcPr/>
                </a:tc>
                <a:tc>
                  <a:txBody>
                    <a:bodyPr/>
                    <a:lstStyle/>
                    <a:p>
                      <a:r>
                        <a:rPr lang="en-US" sz="1600" dirty="0"/>
                        <a:t>Equipment</a:t>
                      </a:r>
                    </a:p>
                  </a:txBody>
                  <a:tcPr/>
                </a:tc>
                <a:tc>
                  <a:txBody>
                    <a:bodyPr/>
                    <a:lstStyle/>
                    <a:p>
                      <a:r>
                        <a:rPr lang="en-US" sz="1600" dirty="0"/>
                        <a:t>What tools are they using? Identify specific malware, C2 frameworks, and exploit kits. </a:t>
                      </a:r>
                    </a:p>
                  </a:txBody>
                  <a:tcPr/>
                </a:tc>
                <a:extLst>
                  <a:ext uri="{0D108BD9-81ED-4DB2-BD59-A6C34878D82A}">
                    <a16:rowId xmlns:a16="http://schemas.microsoft.com/office/drawing/2014/main" val="1253078679"/>
                  </a:ext>
                </a:extLst>
              </a:tr>
            </a:tbl>
          </a:graphicData>
        </a:graphic>
      </p:graphicFrame>
      <p:sp>
        <p:nvSpPr>
          <p:cNvPr id="6" name="Text Placeholder 5">
            <a:extLst>
              <a:ext uri="{FF2B5EF4-FFF2-40B4-BE49-F238E27FC236}">
                <a16:creationId xmlns:a16="http://schemas.microsoft.com/office/drawing/2014/main" id="{4A101B27-6E54-31BF-D7D2-BF61E8E30B2E}"/>
              </a:ext>
            </a:extLst>
          </p:cNvPr>
          <p:cNvSpPr>
            <a:spLocks noGrp="1"/>
          </p:cNvSpPr>
          <p:nvPr>
            <p:ph type="body" idx="1"/>
          </p:nvPr>
        </p:nvSpPr>
        <p:spPr>
          <a:xfrm>
            <a:off x="1510029" y="1188721"/>
            <a:ext cx="9802897" cy="919480"/>
          </a:xfrm>
        </p:spPr>
        <p:txBody>
          <a:bodyPr/>
          <a:lstStyle/>
          <a:p>
            <a:pPr lvl="1"/>
            <a:r>
              <a:rPr lang="en-US" b="1" dirty="0"/>
              <a:t>Enemy Analysis </a:t>
            </a:r>
            <a:r>
              <a:rPr lang="en-US" dirty="0"/>
              <a:t>- Composition, Disposition &amp; Strength</a:t>
            </a:r>
          </a:p>
          <a:p>
            <a:pPr lvl="1"/>
            <a:r>
              <a:rPr lang="en-US" dirty="0"/>
              <a:t>A SALUTE report provides a clear picture of the adversary.</a:t>
            </a:r>
          </a:p>
        </p:txBody>
      </p:sp>
    </p:spTree>
    <p:extLst>
      <p:ext uri="{BB962C8B-B14F-4D97-AF65-F5344CB8AC3E}">
        <p14:creationId xmlns:p14="http://schemas.microsoft.com/office/powerpoint/2010/main" val="3452925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2A6E-B329-E560-8B1E-FF4ACA64BBA5}"/>
              </a:ext>
            </a:extLst>
          </p:cNvPr>
          <p:cNvSpPr>
            <a:spLocks noGrp="1"/>
          </p:cNvSpPr>
          <p:nvPr>
            <p:ph type="title"/>
          </p:nvPr>
        </p:nvSpPr>
        <p:spPr/>
        <p:txBody>
          <a:bodyPr/>
          <a:lstStyle/>
          <a:p>
            <a:r>
              <a:rPr lang="en-US" dirty="0"/>
              <a:t>Enemy Analysis: SALUTE</a:t>
            </a:r>
          </a:p>
        </p:txBody>
      </p:sp>
      <p:sp>
        <p:nvSpPr>
          <p:cNvPr id="6" name="Text Placeholder 5">
            <a:extLst>
              <a:ext uri="{FF2B5EF4-FFF2-40B4-BE49-F238E27FC236}">
                <a16:creationId xmlns:a16="http://schemas.microsoft.com/office/drawing/2014/main" id="{4A101B27-6E54-31BF-D7D2-BF61E8E30B2E}"/>
              </a:ext>
            </a:extLst>
          </p:cNvPr>
          <p:cNvSpPr>
            <a:spLocks noGrp="1"/>
          </p:cNvSpPr>
          <p:nvPr>
            <p:ph type="body" idx="1"/>
          </p:nvPr>
        </p:nvSpPr>
        <p:spPr>
          <a:xfrm>
            <a:off x="1510029" y="1188720"/>
            <a:ext cx="9802897" cy="3853179"/>
          </a:xfrm>
        </p:spPr>
        <p:txBody>
          <a:bodyPr/>
          <a:lstStyle/>
          <a:p>
            <a:r>
              <a:rPr lang="en-US" b="1" dirty="0"/>
              <a:t>Practical Application: SALUTE Analysis Group Exercise</a:t>
            </a:r>
          </a:p>
          <a:p>
            <a:pPr lvl="1"/>
            <a:endParaRPr lang="en-US" b="1" dirty="0"/>
          </a:p>
          <a:p>
            <a:r>
              <a:rPr lang="en-US" b="1" dirty="0"/>
              <a:t>Objective: </a:t>
            </a:r>
            <a:r>
              <a:rPr lang="en-US" dirty="0"/>
              <a:t>Apply the SALUTE framework to a real-world adversary.</a:t>
            </a:r>
          </a:p>
          <a:p>
            <a:pPr lvl="1"/>
            <a:endParaRPr lang="en-US" b="1" dirty="0"/>
          </a:p>
          <a:p>
            <a:r>
              <a:rPr lang="en-US" b="1" dirty="0"/>
              <a:t>Instructions:</a:t>
            </a:r>
          </a:p>
          <a:p>
            <a:pPr lvl="1"/>
            <a:r>
              <a:rPr lang="en-US" dirty="0"/>
              <a:t>Each team will be provided a threat intelligence report on a distinct Advanced Persistent Threat (APT) group.</a:t>
            </a:r>
          </a:p>
          <a:p>
            <a:pPr marL="1430831" lvl="2" indent="0">
              <a:buNone/>
            </a:pPr>
            <a:endParaRPr lang="en-US" dirty="0"/>
          </a:p>
          <a:p>
            <a:pPr lvl="1"/>
            <a:r>
              <a:rPr lang="en-US" dirty="0"/>
              <a:t>Conduct a SALUTE analysis based on the information in the report.</a:t>
            </a:r>
          </a:p>
          <a:p>
            <a:pPr lvl="2"/>
            <a:endParaRPr lang="en-US" dirty="0"/>
          </a:p>
          <a:p>
            <a:pPr lvl="1"/>
            <a:r>
              <a:rPr lang="en-US" dirty="0"/>
              <a:t>Prepare a 2-minute brief to present your findings to the class.</a:t>
            </a:r>
          </a:p>
        </p:txBody>
      </p:sp>
    </p:spTree>
    <p:extLst>
      <p:ext uri="{BB962C8B-B14F-4D97-AF65-F5344CB8AC3E}">
        <p14:creationId xmlns:p14="http://schemas.microsoft.com/office/powerpoint/2010/main" val="4217833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A561E-0A83-B4AA-B368-9722832F4E86}"/>
              </a:ext>
            </a:extLst>
          </p:cNvPr>
          <p:cNvSpPr>
            <a:spLocks noGrp="1"/>
          </p:cNvSpPr>
          <p:nvPr>
            <p:ph type="title"/>
          </p:nvPr>
        </p:nvSpPr>
        <p:spPr/>
        <p:txBody>
          <a:bodyPr/>
          <a:lstStyle/>
          <a:p>
            <a:r>
              <a:rPr lang="en-US" dirty="0"/>
              <a:t>Enemy Analysis: DRAW-D</a:t>
            </a:r>
          </a:p>
        </p:txBody>
      </p:sp>
      <p:graphicFrame>
        <p:nvGraphicFramePr>
          <p:cNvPr id="6" name="Table 5">
            <a:extLst>
              <a:ext uri="{FF2B5EF4-FFF2-40B4-BE49-F238E27FC236}">
                <a16:creationId xmlns:a16="http://schemas.microsoft.com/office/drawing/2014/main" id="{038856E9-AAB4-4B53-9F25-3A6983670E0E}"/>
              </a:ext>
            </a:extLst>
          </p:cNvPr>
          <p:cNvGraphicFramePr>
            <a:graphicFrameLocks noGrp="1"/>
          </p:cNvGraphicFramePr>
          <p:nvPr>
            <p:extLst>
              <p:ext uri="{D42A27DB-BD31-4B8C-83A1-F6EECF244321}">
                <p14:modId xmlns:p14="http://schemas.microsoft.com/office/powerpoint/2010/main" val="293943260"/>
              </p:ext>
            </p:extLst>
          </p:nvPr>
        </p:nvGraphicFramePr>
        <p:xfrm>
          <a:off x="1928799" y="1935788"/>
          <a:ext cx="9523827" cy="3931461"/>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412149">
                <a:tc>
                  <a:txBody>
                    <a:bodyPr/>
                    <a:lstStyle/>
                    <a:p>
                      <a:r>
                        <a:rPr lang="en-US" sz="1600" dirty="0"/>
                        <a:t>Acronym</a:t>
                      </a:r>
                    </a:p>
                  </a:txBody>
                  <a:tcPr/>
                </a:tc>
                <a:tc>
                  <a:txBody>
                    <a:bodyPr/>
                    <a:lstStyle/>
                    <a:p>
                      <a:r>
                        <a:rPr lang="en-US" sz="1600" dirty="0"/>
                        <a:t>Capability</a:t>
                      </a:r>
                    </a:p>
                  </a:txBody>
                  <a:tcPr/>
                </a:tc>
                <a:tc>
                  <a:txBody>
                    <a:bodyPr/>
                    <a:lstStyle/>
                    <a:p>
                      <a:r>
                        <a:rPr lang="en-US" sz="1600" dirty="0"/>
                        <a:t>Cyberspace Considerations</a:t>
                      </a:r>
                    </a:p>
                  </a:txBody>
                  <a:tcPr/>
                </a:tc>
                <a:extLst>
                  <a:ext uri="{0D108BD9-81ED-4DB2-BD59-A6C34878D82A}">
                    <a16:rowId xmlns:a16="http://schemas.microsoft.com/office/drawing/2014/main" val="2347187553"/>
                  </a:ext>
                </a:extLst>
              </a:tr>
              <a:tr h="669108">
                <a:tc>
                  <a:txBody>
                    <a:bodyPr/>
                    <a:lstStyle/>
                    <a:p>
                      <a:r>
                        <a:rPr lang="en-US" sz="1600" dirty="0"/>
                        <a:t>D</a:t>
                      </a:r>
                    </a:p>
                  </a:txBody>
                  <a:tcPr/>
                </a:tc>
                <a:tc>
                  <a:txBody>
                    <a:bodyPr/>
                    <a:lstStyle/>
                    <a:p>
                      <a:r>
                        <a:rPr lang="en-US" sz="1600" dirty="0"/>
                        <a:t>Defend</a:t>
                      </a:r>
                    </a:p>
                  </a:txBody>
                  <a:tcPr/>
                </a:tc>
                <a:tc>
                  <a:txBody>
                    <a:bodyPr/>
                    <a:lstStyle/>
                    <a:p>
                      <a:r>
                        <a:rPr lang="en-US" sz="1600" dirty="0"/>
                        <a:t>Can they defend their infrastructure and access? What defensive tools (e.g., EDR, NGAV) are in place?</a:t>
                      </a:r>
                    </a:p>
                  </a:txBody>
                  <a:tcPr/>
                </a:tc>
                <a:extLst>
                  <a:ext uri="{0D108BD9-81ED-4DB2-BD59-A6C34878D82A}">
                    <a16:rowId xmlns:a16="http://schemas.microsoft.com/office/drawing/2014/main" val="1024064076"/>
                  </a:ext>
                </a:extLst>
              </a:tr>
              <a:tr h="724062">
                <a:tc>
                  <a:txBody>
                    <a:bodyPr/>
                    <a:lstStyle/>
                    <a:p>
                      <a:r>
                        <a:rPr lang="en-US" sz="1600" dirty="0"/>
                        <a:t>R</a:t>
                      </a:r>
                    </a:p>
                  </a:txBody>
                  <a:tcPr/>
                </a:tc>
                <a:tc>
                  <a:txBody>
                    <a:bodyPr/>
                    <a:lstStyle/>
                    <a:p>
                      <a:r>
                        <a:rPr lang="en-US" sz="1600" dirty="0"/>
                        <a:t>Reinforce</a:t>
                      </a:r>
                    </a:p>
                  </a:txBody>
                  <a:tcPr/>
                </a:tc>
                <a:tc>
                  <a:txBody>
                    <a:bodyPr/>
                    <a:lstStyle/>
                    <a:p>
                      <a:r>
                        <a:rPr lang="en-US" sz="1600" dirty="0"/>
                        <a:t>Can they escalate privileges, deploy additional tools, or establish redundant C2 channels?</a:t>
                      </a:r>
                    </a:p>
                  </a:txBody>
                  <a:tcPr/>
                </a:tc>
                <a:extLst>
                  <a:ext uri="{0D108BD9-81ED-4DB2-BD59-A6C34878D82A}">
                    <a16:rowId xmlns:a16="http://schemas.microsoft.com/office/drawing/2014/main" val="2759172838"/>
                  </a:ext>
                </a:extLst>
              </a:tr>
              <a:tr h="724062">
                <a:tc>
                  <a:txBody>
                    <a:bodyPr/>
                    <a:lstStyle/>
                    <a:p>
                      <a:r>
                        <a:rPr lang="en-US" sz="1600" dirty="0"/>
                        <a:t>A</a:t>
                      </a:r>
                    </a:p>
                  </a:txBody>
                  <a:tcPr/>
                </a:tc>
                <a:tc>
                  <a:txBody>
                    <a:bodyPr/>
                    <a:lstStyle/>
                    <a:p>
                      <a:r>
                        <a:rPr lang="en-US" sz="1600" dirty="0"/>
                        <a:t>Attack</a:t>
                      </a:r>
                    </a:p>
                  </a:txBody>
                  <a:tcPr/>
                </a:tc>
                <a:tc>
                  <a:txBody>
                    <a:bodyPr/>
                    <a:lstStyle/>
                    <a:p>
                      <a:r>
                        <a:rPr lang="en-US" sz="1600" dirty="0"/>
                        <a:t>What is their capability to conduct offensive effects operations from their current posture?</a:t>
                      </a:r>
                    </a:p>
                  </a:txBody>
                  <a:tcPr/>
                </a:tc>
                <a:extLst>
                  <a:ext uri="{0D108BD9-81ED-4DB2-BD59-A6C34878D82A}">
                    <a16:rowId xmlns:a16="http://schemas.microsoft.com/office/drawing/2014/main" val="3770419133"/>
                  </a:ext>
                </a:extLst>
              </a:tr>
              <a:tr h="412149">
                <a:tc>
                  <a:txBody>
                    <a:bodyPr/>
                    <a:lstStyle/>
                    <a:p>
                      <a:r>
                        <a:rPr lang="en-US" sz="1600" dirty="0"/>
                        <a:t>W</a:t>
                      </a:r>
                    </a:p>
                  </a:txBody>
                  <a:tcPr/>
                </a:tc>
                <a:tc>
                  <a:txBody>
                    <a:bodyPr/>
                    <a:lstStyle/>
                    <a:p>
                      <a:r>
                        <a:rPr lang="en-US" sz="1600" dirty="0"/>
                        <a:t>Withdraw</a:t>
                      </a:r>
                    </a:p>
                  </a:txBody>
                  <a:tcPr/>
                </a:tc>
                <a:tc>
                  <a:txBody>
                    <a:bodyPr/>
                    <a:lstStyle/>
                    <a:p>
                      <a:r>
                        <a:rPr lang="en-US" sz="1600" dirty="0"/>
                        <a:t>Can they exfiltrate and remove their presence? Is their access too valuable to abandon? Under what conditions will they withdraw (e.g., upon any detection)?</a:t>
                      </a:r>
                    </a:p>
                  </a:txBody>
                  <a:tcPr/>
                </a:tc>
                <a:extLst>
                  <a:ext uri="{0D108BD9-81ED-4DB2-BD59-A6C34878D82A}">
                    <a16:rowId xmlns:a16="http://schemas.microsoft.com/office/drawing/2014/main" val="3954099609"/>
                  </a:ext>
                </a:extLst>
              </a:tr>
              <a:tr h="412149">
                <a:tc>
                  <a:txBody>
                    <a:bodyPr/>
                    <a:lstStyle/>
                    <a:p>
                      <a:r>
                        <a:rPr lang="en-US" sz="1600" dirty="0"/>
                        <a:t>D</a:t>
                      </a:r>
                    </a:p>
                  </a:txBody>
                  <a:tcPr/>
                </a:tc>
                <a:tc>
                  <a:txBody>
                    <a:bodyPr/>
                    <a:lstStyle/>
                    <a:p>
                      <a:r>
                        <a:rPr lang="en-US" sz="1600" dirty="0"/>
                        <a:t>Delay</a:t>
                      </a:r>
                    </a:p>
                  </a:txBody>
                  <a:tcPr/>
                </a:tc>
                <a:tc>
                  <a:txBody>
                    <a:bodyPr/>
                    <a:lstStyle/>
                    <a:p>
                      <a:r>
                        <a:rPr lang="en-US" sz="1600" dirty="0"/>
                        <a:t>Can they disrupt our analysis or response efforts (e.g., through data wiping, misdirection)?</a:t>
                      </a:r>
                    </a:p>
                  </a:txBody>
                  <a:tcPr/>
                </a:tc>
                <a:extLst>
                  <a:ext uri="{0D108BD9-81ED-4DB2-BD59-A6C34878D82A}">
                    <a16:rowId xmlns:a16="http://schemas.microsoft.com/office/drawing/2014/main" val="65842080"/>
                  </a:ext>
                </a:extLst>
              </a:tr>
            </a:tbl>
          </a:graphicData>
        </a:graphic>
      </p:graphicFrame>
      <p:sp>
        <p:nvSpPr>
          <p:cNvPr id="5" name="TextBox 4">
            <a:extLst>
              <a:ext uri="{FF2B5EF4-FFF2-40B4-BE49-F238E27FC236}">
                <a16:creationId xmlns:a16="http://schemas.microsoft.com/office/drawing/2014/main" id="{4F84B2D8-7290-B08A-0CAC-5EFD2A75F379}"/>
              </a:ext>
            </a:extLst>
          </p:cNvPr>
          <p:cNvSpPr txBox="1"/>
          <p:nvPr/>
        </p:nvSpPr>
        <p:spPr>
          <a:xfrm>
            <a:off x="2743200" y="1311965"/>
            <a:ext cx="7050157" cy="415498"/>
          </a:xfrm>
          <a:prstGeom prst="rect">
            <a:avLst/>
          </a:prstGeom>
          <a:noFill/>
        </p:spPr>
        <p:txBody>
          <a:bodyPr wrap="square" rtlCol="0">
            <a:spAutoFit/>
          </a:bodyPr>
          <a:lstStyle/>
          <a:p>
            <a:pPr marL="342900" indent="-342900">
              <a:buFont typeface="Arial" panose="020B0604020202020204" pitchFamily="34" charset="0"/>
              <a:buChar char="•"/>
            </a:pPr>
            <a:r>
              <a:rPr lang="en-US" sz="2100" b="1" dirty="0">
                <a:solidFill>
                  <a:srgbClr val="00004C"/>
                </a:solidFill>
              </a:rPr>
              <a:t>Enemy Analysis </a:t>
            </a:r>
            <a:r>
              <a:rPr lang="en-US" sz="2100" dirty="0">
                <a:solidFill>
                  <a:srgbClr val="00004C"/>
                </a:solidFill>
              </a:rPr>
              <a:t>- Capabilities &amp; Limitations</a:t>
            </a:r>
          </a:p>
        </p:txBody>
      </p:sp>
    </p:spTree>
    <p:extLst>
      <p:ext uri="{BB962C8B-B14F-4D97-AF65-F5344CB8AC3E}">
        <p14:creationId xmlns:p14="http://schemas.microsoft.com/office/powerpoint/2010/main" val="211423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30CDD1-1514-B77D-52B0-47104BCD3BF8}"/>
              </a:ext>
            </a:extLst>
          </p:cNvPr>
          <p:cNvSpPr>
            <a:spLocks noGrp="1"/>
          </p:cNvSpPr>
          <p:nvPr>
            <p:ph type="body" idx="1"/>
          </p:nvPr>
        </p:nvSpPr>
        <p:spPr/>
        <p:txBody>
          <a:bodyPr/>
          <a:lstStyle/>
          <a:p>
            <a:pPr marL="169329" indent="0">
              <a:buNone/>
            </a:pPr>
            <a:endParaRPr lang="en-US" dirty="0"/>
          </a:p>
          <a:p>
            <a:r>
              <a:rPr lang="en-US" dirty="0"/>
              <a:t>DRAW-D assesses the adversary's capabilities in the context of the operation. For each element, analyze:</a:t>
            </a:r>
          </a:p>
          <a:p>
            <a:endParaRPr lang="en-US" dirty="0"/>
          </a:p>
          <a:p>
            <a:pPr lvl="1"/>
            <a:r>
              <a:rPr lang="en-US" dirty="0"/>
              <a:t>What is their capability to perform the action?</a:t>
            </a:r>
          </a:p>
          <a:p>
            <a:pPr lvl="1"/>
            <a:endParaRPr lang="en-US" dirty="0"/>
          </a:p>
          <a:p>
            <a:pPr lvl="1"/>
            <a:r>
              <a:rPr lang="en-US" dirty="0"/>
              <a:t>What limits their ability to perform it?</a:t>
            </a:r>
          </a:p>
          <a:p>
            <a:pPr lvl="1"/>
            <a:endParaRPr lang="en-US" dirty="0"/>
          </a:p>
          <a:p>
            <a:pPr lvl="1"/>
            <a:r>
              <a:rPr lang="en-US" dirty="0"/>
              <a:t>Under what conditions will they perform it?</a:t>
            </a:r>
          </a:p>
        </p:txBody>
      </p:sp>
      <p:sp>
        <p:nvSpPr>
          <p:cNvPr id="2" name="Title 1">
            <a:extLst>
              <a:ext uri="{FF2B5EF4-FFF2-40B4-BE49-F238E27FC236}">
                <a16:creationId xmlns:a16="http://schemas.microsoft.com/office/drawing/2014/main" id="{8CBA561E-0A83-B4AA-B368-9722832F4E86}"/>
              </a:ext>
            </a:extLst>
          </p:cNvPr>
          <p:cNvSpPr>
            <a:spLocks noGrp="1"/>
          </p:cNvSpPr>
          <p:nvPr>
            <p:ph type="title"/>
          </p:nvPr>
        </p:nvSpPr>
        <p:spPr/>
        <p:txBody>
          <a:bodyPr/>
          <a:lstStyle/>
          <a:p>
            <a:r>
              <a:rPr lang="en-US" dirty="0"/>
              <a:t>Enemy Analysis: DRAW-D</a:t>
            </a:r>
          </a:p>
        </p:txBody>
      </p:sp>
    </p:spTree>
    <p:extLst>
      <p:ext uri="{BB962C8B-B14F-4D97-AF65-F5344CB8AC3E}">
        <p14:creationId xmlns:p14="http://schemas.microsoft.com/office/powerpoint/2010/main" val="1159902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30CDD1-1514-B77D-52B0-47104BCD3BF8}"/>
              </a:ext>
            </a:extLst>
          </p:cNvPr>
          <p:cNvSpPr>
            <a:spLocks noGrp="1"/>
          </p:cNvSpPr>
          <p:nvPr>
            <p:ph type="body" idx="1"/>
          </p:nvPr>
        </p:nvSpPr>
        <p:spPr/>
        <p:txBody>
          <a:bodyPr/>
          <a:lstStyle/>
          <a:p>
            <a:r>
              <a:rPr lang="en-US" b="1" dirty="0"/>
              <a:t>Practical Application: DRAW-D Analysis Group Discussion</a:t>
            </a:r>
            <a:endParaRPr lang="en-US" dirty="0"/>
          </a:p>
          <a:p>
            <a:endParaRPr lang="en-US" dirty="0"/>
          </a:p>
          <a:p>
            <a:r>
              <a:rPr lang="en-US" b="1" dirty="0"/>
              <a:t>Objective: </a:t>
            </a:r>
            <a:r>
              <a:rPr lang="en-US" dirty="0"/>
              <a:t>Evaluate an adversary's capabilities and limitations.</a:t>
            </a:r>
          </a:p>
          <a:p>
            <a:endParaRPr lang="en-US" dirty="0"/>
          </a:p>
          <a:p>
            <a:r>
              <a:rPr lang="en-US" b="1" dirty="0"/>
              <a:t>Instructions:</a:t>
            </a:r>
          </a:p>
          <a:p>
            <a:pPr lvl="1"/>
            <a:r>
              <a:rPr lang="en-US" dirty="0"/>
              <a:t>Using the same APT groups from the SALUTE exercise, discuss the following question:</a:t>
            </a:r>
          </a:p>
          <a:p>
            <a:pPr marL="795847" lvl="1" indent="0">
              <a:buNone/>
            </a:pPr>
            <a:endParaRPr lang="en-US" dirty="0"/>
          </a:p>
          <a:p>
            <a:pPr lvl="2"/>
            <a:r>
              <a:rPr lang="en-US" dirty="0"/>
              <a:t>"Based on your analysis, what is this actor's most significant limitation, and under what conditions would they be forced to withdraw from a compromised network?“</a:t>
            </a:r>
          </a:p>
          <a:p>
            <a:pPr marL="1430831" lvl="2" indent="0">
              <a:buNone/>
            </a:pPr>
            <a:endParaRPr lang="en-US" dirty="0"/>
          </a:p>
          <a:p>
            <a:pPr lvl="1"/>
            <a:r>
              <a:rPr lang="en-US" dirty="0"/>
              <a:t>Be prepared to share your group's assessment.</a:t>
            </a:r>
          </a:p>
        </p:txBody>
      </p:sp>
      <p:sp>
        <p:nvSpPr>
          <p:cNvPr id="2" name="Title 1">
            <a:extLst>
              <a:ext uri="{FF2B5EF4-FFF2-40B4-BE49-F238E27FC236}">
                <a16:creationId xmlns:a16="http://schemas.microsoft.com/office/drawing/2014/main" id="{8CBA561E-0A83-B4AA-B368-9722832F4E86}"/>
              </a:ext>
            </a:extLst>
          </p:cNvPr>
          <p:cNvSpPr>
            <a:spLocks noGrp="1"/>
          </p:cNvSpPr>
          <p:nvPr>
            <p:ph type="title"/>
          </p:nvPr>
        </p:nvSpPr>
        <p:spPr/>
        <p:txBody>
          <a:bodyPr/>
          <a:lstStyle/>
          <a:p>
            <a:r>
              <a:rPr lang="en-US" dirty="0"/>
              <a:t>Enemy Analysis: DRAW-D</a:t>
            </a:r>
          </a:p>
        </p:txBody>
      </p:sp>
    </p:spTree>
    <p:extLst>
      <p:ext uri="{BB962C8B-B14F-4D97-AF65-F5344CB8AC3E}">
        <p14:creationId xmlns:p14="http://schemas.microsoft.com/office/powerpoint/2010/main" val="1213031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469A0-2AD9-3C65-ACC1-730C866A9FA2}"/>
              </a:ext>
            </a:extLst>
          </p:cNvPr>
          <p:cNvSpPr>
            <a:spLocks noGrp="1"/>
          </p:cNvSpPr>
          <p:nvPr>
            <p:ph type="title"/>
          </p:nvPr>
        </p:nvSpPr>
        <p:spPr/>
        <p:txBody>
          <a:bodyPr/>
          <a:lstStyle/>
          <a:p>
            <a:r>
              <a:rPr lang="en-US" dirty="0"/>
              <a:t>Friendly Forces Analysis</a:t>
            </a:r>
          </a:p>
        </p:txBody>
      </p:sp>
    </p:spTree>
    <p:extLst>
      <p:ext uri="{BB962C8B-B14F-4D97-AF65-F5344CB8AC3E}">
        <p14:creationId xmlns:p14="http://schemas.microsoft.com/office/powerpoint/2010/main" val="2124924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679A277-147F-F913-668E-39C5DB043A4B}"/>
              </a:ext>
            </a:extLst>
          </p:cNvPr>
          <p:cNvSpPr>
            <a:spLocks noGrp="1"/>
          </p:cNvSpPr>
          <p:nvPr>
            <p:ph type="body" idx="1"/>
          </p:nvPr>
        </p:nvSpPr>
        <p:spPr/>
        <p:txBody>
          <a:bodyPr/>
          <a:lstStyle/>
          <a:p>
            <a:r>
              <a:rPr lang="en-US" b="1" dirty="0"/>
              <a:t>Troops and Fire Support </a:t>
            </a:r>
          </a:p>
          <a:p>
            <a:pPr lvl="1"/>
            <a:r>
              <a:rPr lang="en-US" dirty="0"/>
              <a:t>This is the friendly counterpart to enemy analysis. Catalog all available resources.</a:t>
            </a:r>
          </a:p>
          <a:p>
            <a:pPr lvl="1"/>
            <a:endParaRPr lang="en-US" dirty="0"/>
          </a:p>
          <a:p>
            <a:pPr lvl="1"/>
            <a:r>
              <a:rPr lang="en-US" b="1" dirty="0"/>
              <a:t>Organic Assets:</a:t>
            </a:r>
          </a:p>
          <a:p>
            <a:pPr lvl="2"/>
            <a:r>
              <a:rPr lang="en-US" b="1" dirty="0"/>
              <a:t>Personnel</a:t>
            </a:r>
            <a:r>
              <a:rPr lang="en-US" dirty="0"/>
              <a:t>: How many operators? What are their specific specialties, skill sets, and certifications?</a:t>
            </a:r>
          </a:p>
          <a:p>
            <a:pPr lvl="2"/>
            <a:r>
              <a:rPr lang="en-US" b="1" dirty="0"/>
              <a:t>Equipment</a:t>
            </a:r>
            <a:r>
              <a:rPr lang="en-US" dirty="0"/>
              <a:t>: What hardware, software, and licenses do we own and have available?</a:t>
            </a:r>
          </a:p>
          <a:p>
            <a:pPr lvl="2"/>
            <a:r>
              <a:rPr lang="en-US" b="1" dirty="0"/>
              <a:t>Attachments/Detachments</a:t>
            </a:r>
            <a:r>
              <a:rPr lang="en-US" dirty="0"/>
              <a:t>: Who/what has been attached to the unit for this mission (e.g. National Guard element, contractor support)?</a:t>
            </a:r>
          </a:p>
          <a:p>
            <a:pPr lvl="2"/>
            <a:r>
              <a:rPr lang="en-US" b="1" dirty="0"/>
              <a:t>Fire Support (Rear Echelon Support): </a:t>
            </a:r>
            <a:r>
              <a:rPr lang="en-US" dirty="0"/>
              <a:t>What reach-back capabilities are available? (e.g. advanced malware analysis, digital forensics, national intelligence agencies).</a:t>
            </a:r>
          </a:p>
          <a:p>
            <a:pPr lvl="2"/>
            <a:r>
              <a:rPr lang="en-US" b="1" dirty="0"/>
              <a:t>Higher and Adjacent Units: </a:t>
            </a:r>
            <a:r>
              <a:rPr lang="en-US" dirty="0"/>
              <a:t>What other friendly cyber units are operating in/near this battlespace? What deconfliction measures are required?</a:t>
            </a:r>
          </a:p>
        </p:txBody>
      </p:sp>
      <p:sp>
        <p:nvSpPr>
          <p:cNvPr id="2" name="Title 1">
            <a:extLst>
              <a:ext uri="{FF2B5EF4-FFF2-40B4-BE49-F238E27FC236}">
                <a16:creationId xmlns:a16="http://schemas.microsoft.com/office/drawing/2014/main" id="{F5A7A647-57AE-6C5F-55E2-0EEDACF816DA}"/>
              </a:ext>
            </a:extLst>
          </p:cNvPr>
          <p:cNvSpPr>
            <a:spLocks noGrp="1"/>
          </p:cNvSpPr>
          <p:nvPr>
            <p:ph type="title"/>
          </p:nvPr>
        </p:nvSpPr>
        <p:spPr/>
        <p:txBody>
          <a:bodyPr/>
          <a:lstStyle/>
          <a:p>
            <a:r>
              <a:rPr lang="en-US" dirty="0"/>
              <a:t>Friendly Forces Analysis</a:t>
            </a:r>
          </a:p>
        </p:txBody>
      </p:sp>
    </p:spTree>
    <p:extLst>
      <p:ext uri="{BB962C8B-B14F-4D97-AF65-F5344CB8AC3E}">
        <p14:creationId xmlns:p14="http://schemas.microsoft.com/office/powerpoint/2010/main" val="1005201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AEE1-5CCE-82D9-922D-9CA678C96A89}"/>
              </a:ext>
            </a:extLst>
          </p:cNvPr>
          <p:cNvSpPr>
            <a:spLocks noGrp="1"/>
          </p:cNvSpPr>
          <p:nvPr>
            <p:ph type="title"/>
          </p:nvPr>
        </p:nvSpPr>
        <p:spPr/>
        <p:txBody>
          <a:bodyPr/>
          <a:lstStyle/>
          <a:p>
            <a:r>
              <a:rPr lang="en-US" dirty="0"/>
              <a:t>Terrain Analysis: OCOKAW</a:t>
            </a:r>
          </a:p>
        </p:txBody>
      </p:sp>
      <p:sp>
        <p:nvSpPr>
          <p:cNvPr id="4" name="Text Placeholder 3">
            <a:extLst>
              <a:ext uri="{FF2B5EF4-FFF2-40B4-BE49-F238E27FC236}">
                <a16:creationId xmlns:a16="http://schemas.microsoft.com/office/drawing/2014/main" id="{7B2FD794-7B3A-1206-C368-CF633B2498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9342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71EC1C-F1C7-AE82-1076-1C268603E098}"/>
              </a:ext>
            </a:extLst>
          </p:cNvPr>
          <p:cNvSpPr>
            <a:spLocks noGrp="1"/>
          </p:cNvSpPr>
          <p:nvPr>
            <p:ph type="body" idx="1"/>
          </p:nvPr>
        </p:nvSpPr>
        <p:spPr>
          <a:xfrm>
            <a:off x="1510029" y="1188720"/>
            <a:ext cx="10361372" cy="851095"/>
          </a:xfrm>
        </p:spPr>
        <p:txBody>
          <a:bodyPr/>
          <a:lstStyle/>
          <a:p>
            <a:pPr lvl="1"/>
            <a:r>
              <a:rPr lang="en-US" dirty="0"/>
              <a:t>Terrain analysis must be conducted from both friendly and enemy perspectives. In cyberspace, “terrain” is the network environment.</a:t>
            </a:r>
          </a:p>
        </p:txBody>
      </p:sp>
      <p:sp>
        <p:nvSpPr>
          <p:cNvPr id="2" name="Title 1">
            <a:extLst>
              <a:ext uri="{FF2B5EF4-FFF2-40B4-BE49-F238E27FC236}">
                <a16:creationId xmlns:a16="http://schemas.microsoft.com/office/drawing/2014/main" id="{49BF738D-EAE5-194C-7866-D36FDFEAC1F8}"/>
              </a:ext>
            </a:extLst>
          </p:cNvPr>
          <p:cNvSpPr>
            <a:spLocks noGrp="1"/>
          </p:cNvSpPr>
          <p:nvPr>
            <p:ph type="title"/>
          </p:nvPr>
        </p:nvSpPr>
        <p:spPr/>
        <p:txBody>
          <a:bodyPr/>
          <a:lstStyle/>
          <a:p>
            <a:r>
              <a:rPr lang="en-US" dirty="0"/>
              <a:t>Terrain Analysis: OCOKAW</a:t>
            </a:r>
          </a:p>
        </p:txBody>
      </p:sp>
      <p:graphicFrame>
        <p:nvGraphicFramePr>
          <p:cNvPr id="3" name="Table 2">
            <a:extLst>
              <a:ext uri="{FF2B5EF4-FFF2-40B4-BE49-F238E27FC236}">
                <a16:creationId xmlns:a16="http://schemas.microsoft.com/office/drawing/2014/main" id="{8C367BD5-241B-BECD-3D20-C171CB46F4EB}"/>
              </a:ext>
            </a:extLst>
          </p:cNvPr>
          <p:cNvGraphicFramePr>
            <a:graphicFrameLocks noGrp="1"/>
          </p:cNvGraphicFramePr>
          <p:nvPr>
            <p:extLst>
              <p:ext uri="{D42A27DB-BD31-4B8C-83A1-F6EECF244321}">
                <p14:modId xmlns:p14="http://schemas.microsoft.com/office/powerpoint/2010/main" val="2944033371"/>
              </p:ext>
            </p:extLst>
          </p:nvPr>
        </p:nvGraphicFramePr>
        <p:xfrm>
          <a:off x="1649563" y="1945175"/>
          <a:ext cx="9605966" cy="3348836"/>
        </p:xfrm>
        <a:graphic>
          <a:graphicData uri="http://schemas.openxmlformats.org/drawingml/2006/table">
            <a:tbl>
              <a:tblPr firstRow="1" bandRow="1">
                <a:tableStyleId>{5C22544A-7EE6-4342-B048-85BDC9FD1C3A}</a:tableStyleId>
              </a:tblPr>
              <a:tblGrid>
                <a:gridCol w="1119505">
                  <a:extLst>
                    <a:ext uri="{9D8B030D-6E8A-4147-A177-3AD203B41FA5}">
                      <a16:colId xmlns:a16="http://schemas.microsoft.com/office/drawing/2014/main" val="1645937812"/>
                    </a:ext>
                  </a:extLst>
                </a:gridCol>
                <a:gridCol w="1434399">
                  <a:extLst>
                    <a:ext uri="{9D8B030D-6E8A-4147-A177-3AD203B41FA5}">
                      <a16:colId xmlns:a16="http://schemas.microsoft.com/office/drawing/2014/main" val="1070400314"/>
                    </a:ext>
                  </a:extLst>
                </a:gridCol>
                <a:gridCol w="3526031">
                  <a:extLst>
                    <a:ext uri="{9D8B030D-6E8A-4147-A177-3AD203B41FA5}">
                      <a16:colId xmlns:a16="http://schemas.microsoft.com/office/drawing/2014/main" val="1550061827"/>
                    </a:ext>
                  </a:extLst>
                </a:gridCol>
                <a:gridCol w="3526031">
                  <a:extLst>
                    <a:ext uri="{9D8B030D-6E8A-4147-A177-3AD203B41FA5}">
                      <a16:colId xmlns:a16="http://schemas.microsoft.com/office/drawing/2014/main" val="3530851237"/>
                    </a:ext>
                  </a:extLst>
                </a:gridCol>
              </a:tblGrid>
              <a:tr h="392276">
                <a:tc>
                  <a:txBody>
                    <a:bodyPr/>
                    <a:lstStyle/>
                    <a:p>
                      <a:r>
                        <a:rPr lang="en-US" sz="1600" dirty="0"/>
                        <a:t>Acronym</a:t>
                      </a:r>
                    </a:p>
                  </a:txBody>
                  <a:tcPr/>
                </a:tc>
                <a:tc>
                  <a:txBody>
                    <a:bodyPr/>
                    <a:lstStyle/>
                    <a:p>
                      <a:r>
                        <a:rPr lang="en-US" sz="1600" dirty="0"/>
                        <a:t>Factor</a:t>
                      </a:r>
                    </a:p>
                  </a:txBody>
                  <a:tcPr/>
                </a:tc>
                <a:tc>
                  <a:txBody>
                    <a:bodyPr/>
                    <a:lstStyle/>
                    <a:p>
                      <a:r>
                        <a:rPr lang="en-US" sz="1600" dirty="0"/>
                        <a:t>Friendly Perspective (Blue)</a:t>
                      </a:r>
                    </a:p>
                  </a:txBody>
                  <a:tcPr/>
                </a:tc>
                <a:tc>
                  <a:txBody>
                    <a:bodyPr/>
                    <a:lstStyle/>
                    <a:p>
                      <a:r>
                        <a:rPr lang="en-US" sz="1600" dirty="0"/>
                        <a:t>Enemy Perspective (Red)</a:t>
                      </a:r>
                    </a:p>
                  </a:txBody>
                  <a:tcPr/>
                </a:tc>
                <a:extLst>
                  <a:ext uri="{0D108BD9-81ED-4DB2-BD59-A6C34878D82A}">
                    <a16:rowId xmlns:a16="http://schemas.microsoft.com/office/drawing/2014/main" val="2347187553"/>
                  </a:ext>
                </a:extLst>
              </a:tr>
              <a:tr h="805698">
                <a:tc>
                  <a:txBody>
                    <a:bodyPr/>
                    <a:lstStyle/>
                    <a:p>
                      <a:r>
                        <a:rPr lang="en-US" sz="1600" dirty="0"/>
                        <a:t>O</a:t>
                      </a:r>
                    </a:p>
                  </a:txBody>
                  <a:tcPr/>
                </a:tc>
                <a:tc>
                  <a:txBody>
                    <a:bodyPr/>
                    <a:lstStyle/>
                    <a:p>
                      <a:r>
                        <a:rPr lang="en-US" sz="1600" dirty="0"/>
                        <a:t>Observation and Fields of Fire</a:t>
                      </a:r>
                    </a:p>
                  </a:txBody>
                  <a:tcPr/>
                </a:tc>
                <a:tc>
                  <a:txBody>
                    <a:bodyPr/>
                    <a:lstStyle/>
                    <a:p>
                      <a:r>
                        <a:rPr lang="en-US" sz="1600" dirty="0"/>
                        <a:t>What are our data sources (e.g., NetFlow, PCAP, EDR, Sysmon)? What is our visibility into the environment?</a:t>
                      </a:r>
                    </a:p>
                  </a:txBody>
                  <a:tcPr/>
                </a:tc>
                <a:tc>
                  <a:txBody>
                    <a:bodyPr/>
                    <a:lstStyle/>
                    <a:p>
                      <a:r>
                        <a:rPr lang="en-US" sz="1600" dirty="0"/>
                        <a:t>What are their sensors (e.g., Insider access, compromised logging, C2 beacons)? What is their situational awareness?</a:t>
                      </a:r>
                    </a:p>
                  </a:txBody>
                  <a:tcPr/>
                </a:tc>
                <a:extLst>
                  <a:ext uri="{0D108BD9-81ED-4DB2-BD59-A6C34878D82A}">
                    <a16:rowId xmlns:a16="http://schemas.microsoft.com/office/drawing/2014/main" val="1024064076"/>
                  </a:ext>
                </a:extLst>
              </a:tr>
              <a:tr h="689151">
                <a:tc>
                  <a:txBody>
                    <a:bodyPr/>
                    <a:lstStyle/>
                    <a:p>
                      <a:r>
                        <a:rPr lang="en-US" sz="1600" dirty="0"/>
                        <a:t>C</a:t>
                      </a:r>
                    </a:p>
                  </a:txBody>
                  <a:tcPr/>
                </a:tc>
                <a:tc>
                  <a:txBody>
                    <a:bodyPr/>
                    <a:lstStyle/>
                    <a:p>
                      <a:r>
                        <a:rPr lang="en-US" sz="1600" dirty="0"/>
                        <a:t>Cover and Concealment</a:t>
                      </a:r>
                    </a:p>
                  </a:txBody>
                  <a:tcPr/>
                </a:tc>
                <a:tc>
                  <a:txBody>
                    <a:bodyPr/>
                    <a:lstStyle/>
                    <a:p>
                      <a:r>
                        <a:rPr lang="en-US" sz="1600" dirty="0"/>
                        <a:t>Will our actions be overt or covert? Will we use dedicated obfuscation infrastructure (gray/red space)?</a:t>
                      </a:r>
                    </a:p>
                  </a:txBody>
                  <a:tcPr/>
                </a:tc>
                <a:tc>
                  <a:txBody>
                    <a:bodyPr/>
                    <a:lstStyle/>
                    <a:p>
                      <a:r>
                        <a:rPr lang="en-US" sz="1600" dirty="0"/>
                        <a:t>How are they hiding (e.g., matching network baseline, using encryption, “smash and grab” with no stealth)?</a:t>
                      </a:r>
                    </a:p>
                  </a:txBody>
                  <a:tcPr/>
                </a:tc>
                <a:extLst>
                  <a:ext uri="{0D108BD9-81ED-4DB2-BD59-A6C34878D82A}">
                    <a16:rowId xmlns:a16="http://schemas.microsoft.com/office/drawing/2014/main" val="2759172838"/>
                  </a:ext>
                </a:extLst>
              </a:tr>
              <a:tr h="805698">
                <a:tc>
                  <a:txBody>
                    <a:bodyPr/>
                    <a:lstStyle/>
                    <a:p>
                      <a:r>
                        <a:rPr lang="en-US" sz="1600" dirty="0"/>
                        <a:t>O</a:t>
                      </a:r>
                    </a:p>
                  </a:txBody>
                  <a:tcPr/>
                </a:tc>
                <a:tc>
                  <a:txBody>
                    <a:bodyPr/>
                    <a:lstStyle/>
                    <a:p>
                      <a:r>
                        <a:rPr lang="en-US" sz="1600" dirty="0"/>
                        <a:t>Obstacles</a:t>
                      </a:r>
                    </a:p>
                  </a:txBody>
                  <a:tcPr/>
                </a:tc>
                <a:tc>
                  <a:txBody>
                    <a:bodyPr/>
                    <a:lstStyle/>
                    <a:p>
                      <a:r>
                        <a:rPr lang="en-US" sz="1600" dirty="0"/>
                        <a:t>What barriers hinder data acquisition or scheme of maneuver (e.g., firewalls, encryption, lack of logging)?</a:t>
                      </a:r>
                    </a:p>
                  </a:txBody>
                  <a:tcPr/>
                </a:tc>
                <a:tc>
                  <a:txBody>
                    <a:bodyPr/>
                    <a:lstStyle/>
                    <a:p>
                      <a:r>
                        <a:rPr lang="en-US" sz="1600" dirty="0"/>
                        <a:t>What obstacles do they face (e.g., EDR, application allow-listing, MFA, segmentation)?</a:t>
                      </a:r>
                    </a:p>
                  </a:txBody>
                  <a:tcPr/>
                </a:tc>
                <a:extLst>
                  <a:ext uri="{0D108BD9-81ED-4DB2-BD59-A6C34878D82A}">
                    <a16:rowId xmlns:a16="http://schemas.microsoft.com/office/drawing/2014/main" val="3770419133"/>
                  </a:ext>
                </a:extLst>
              </a:tr>
            </a:tbl>
          </a:graphicData>
        </a:graphic>
      </p:graphicFrame>
    </p:spTree>
    <p:extLst>
      <p:ext uri="{BB962C8B-B14F-4D97-AF65-F5344CB8AC3E}">
        <p14:creationId xmlns:p14="http://schemas.microsoft.com/office/powerpoint/2010/main" val="3504337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71EC1C-F1C7-AE82-1076-1C268603E098}"/>
              </a:ext>
            </a:extLst>
          </p:cNvPr>
          <p:cNvSpPr>
            <a:spLocks noGrp="1"/>
          </p:cNvSpPr>
          <p:nvPr>
            <p:ph type="body" idx="1"/>
          </p:nvPr>
        </p:nvSpPr>
        <p:spPr>
          <a:xfrm>
            <a:off x="1510029" y="1188720"/>
            <a:ext cx="10361372" cy="851095"/>
          </a:xfrm>
        </p:spPr>
        <p:txBody>
          <a:bodyPr/>
          <a:lstStyle/>
          <a:p>
            <a:pPr lvl="1"/>
            <a:r>
              <a:rPr lang="en-US" dirty="0"/>
              <a:t>Terrain analysis must be conducted from both friendly and enemy perspectives. In cyberspace, “terrain” is the network environment.</a:t>
            </a:r>
          </a:p>
        </p:txBody>
      </p:sp>
      <p:sp>
        <p:nvSpPr>
          <p:cNvPr id="2" name="Title 1">
            <a:extLst>
              <a:ext uri="{FF2B5EF4-FFF2-40B4-BE49-F238E27FC236}">
                <a16:creationId xmlns:a16="http://schemas.microsoft.com/office/drawing/2014/main" id="{49BF738D-EAE5-194C-7866-D36FDFEAC1F8}"/>
              </a:ext>
            </a:extLst>
          </p:cNvPr>
          <p:cNvSpPr>
            <a:spLocks noGrp="1"/>
          </p:cNvSpPr>
          <p:nvPr>
            <p:ph type="title"/>
          </p:nvPr>
        </p:nvSpPr>
        <p:spPr/>
        <p:txBody>
          <a:bodyPr/>
          <a:lstStyle/>
          <a:p>
            <a:r>
              <a:rPr lang="en-US" dirty="0"/>
              <a:t>Terrain Analysis: OCOKAW</a:t>
            </a:r>
          </a:p>
        </p:txBody>
      </p:sp>
      <p:graphicFrame>
        <p:nvGraphicFramePr>
          <p:cNvPr id="3" name="Table 2">
            <a:extLst>
              <a:ext uri="{FF2B5EF4-FFF2-40B4-BE49-F238E27FC236}">
                <a16:creationId xmlns:a16="http://schemas.microsoft.com/office/drawing/2014/main" id="{8C367BD5-241B-BECD-3D20-C171CB46F4EB}"/>
              </a:ext>
            </a:extLst>
          </p:cNvPr>
          <p:cNvGraphicFramePr>
            <a:graphicFrameLocks noGrp="1"/>
          </p:cNvGraphicFramePr>
          <p:nvPr>
            <p:extLst>
              <p:ext uri="{D42A27DB-BD31-4B8C-83A1-F6EECF244321}">
                <p14:modId xmlns:p14="http://schemas.microsoft.com/office/powerpoint/2010/main" val="627877859"/>
              </p:ext>
            </p:extLst>
          </p:nvPr>
        </p:nvGraphicFramePr>
        <p:xfrm>
          <a:off x="1649563" y="1945175"/>
          <a:ext cx="9605966" cy="3104996"/>
        </p:xfrm>
        <a:graphic>
          <a:graphicData uri="http://schemas.openxmlformats.org/drawingml/2006/table">
            <a:tbl>
              <a:tblPr firstRow="1" bandRow="1">
                <a:tableStyleId>{5C22544A-7EE6-4342-B048-85BDC9FD1C3A}</a:tableStyleId>
              </a:tblPr>
              <a:tblGrid>
                <a:gridCol w="1119505">
                  <a:extLst>
                    <a:ext uri="{9D8B030D-6E8A-4147-A177-3AD203B41FA5}">
                      <a16:colId xmlns:a16="http://schemas.microsoft.com/office/drawing/2014/main" val="1645937812"/>
                    </a:ext>
                  </a:extLst>
                </a:gridCol>
                <a:gridCol w="1434399">
                  <a:extLst>
                    <a:ext uri="{9D8B030D-6E8A-4147-A177-3AD203B41FA5}">
                      <a16:colId xmlns:a16="http://schemas.microsoft.com/office/drawing/2014/main" val="1070400314"/>
                    </a:ext>
                  </a:extLst>
                </a:gridCol>
                <a:gridCol w="3526031">
                  <a:extLst>
                    <a:ext uri="{9D8B030D-6E8A-4147-A177-3AD203B41FA5}">
                      <a16:colId xmlns:a16="http://schemas.microsoft.com/office/drawing/2014/main" val="1550061827"/>
                    </a:ext>
                  </a:extLst>
                </a:gridCol>
                <a:gridCol w="3526031">
                  <a:extLst>
                    <a:ext uri="{9D8B030D-6E8A-4147-A177-3AD203B41FA5}">
                      <a16:colId xmlns:a16="http://schemas.microsoft.com/office/drawing/2014/main" val="3530851237"/>
                    </a:ext>
                  </a:extLst>
                </a:gridCol>
              </a:tblGrid>
              <a:tr h="392276">
                <a:tc>
                  <a:txBody>
                    <a:bodyPr/>
                    <a:lstStyle/>
                    <a:p>
                      <a:r>
                        <a:rPr lang="en-US" sz="1600" dirty="0"/>
                        <a:t>Acronym</a:t>
                      </a:r>
                    </a:p>
                  </a:txBody>
                  <a:tcPr/>
                </a:tc>
                <a:tc>
                  <a:txBody>
                    <a:bodyPr/>
                    <a:lstStyle/>
                    <a:p>
                      <a:r>
                        <a:rPr lang="en-US" sz="1600" dirty="0"/>
                        <a:t>Factor</a:t>
                      </a:r>
                    </a:p>
                  </a:txBody>
                  <a:tcPr/>
                </a:tc>
                <a:tc>
                  <a:txBody>
                    <a:bodyPr/>
                    <a:lstStyle/>
                    <a:p>
                      <a:r>
                        <a:rPr lang="en-US" sz="1600" dirty="0"/>
                        <a:t>Friendly Perspective (Blue)</a:t>
                      </a:r>
                    </a:p>
                  </a:txBody>
                  <a:tcPr/>
                </a:tc>
                <a:tc>
                  <a:txBody>
                    <a:bodyPr/>
                    <a:lstStyle/>
                    <a:p>
                      <a:r>
                        <a:rPr lang="en-US" sz="1600" dirty="0"/>
                        <a:t>Enemy Perspective (Red)</a:t>
                      </a:r>
                    </a:p>
                  </a:txBody>
                  <a:tcPr/>
                </a:tc>
                <a:extLst>
                  <a:ext uri="{0D108BD9-81ED-4DB2-BD59-A6C34878D82A}">
                    <a16:rowId xmlns:a16="http://schemas.microsoft.com/office/drawing/2014/main" val="2347187553"/>
                  </a:ext>
                </a:extLst>
              </a:tr>
              <a:tr h="805698">
                <a:tc>
                  <a:txBody>
                    <a:bodyPr/>
                    <a:lstStyle/>
                    <a:p>
                      <a:r>
                        <a:rPr lang="en-US" sz="1600" dirty="0"/>
                        <a:t>K</a:t>
                      </a:r>
                    </a:p>
                  </a:txBody>
                  <a:tcPr/>
                </a:tc>
                <a:tc>
                  <a:txBody>
                    <a:bodyPr/>
                    <a:lstStyle/>
                    <a:p>
                      <a:r>
                        <a:rPr lang="en-US" sz="1600" dirty="0"/>
                        <a:t>Key Terrain</a:t>
                      </a:r>
                    </a:p>
                  </a:txBody>
                  <a:tcPr/>
                </a:tc>
                <a:tc>
                  <a:txBody>
                    <a:bodyPr/>
                    <a:lstStyle/>
                    <a:p>
                      <a:r>
                        <a:rPr lang="en-US" sz="1600" dirty="0"/>
                        <a:t>What is the critical function/information on this network that enables our mission? Is it not always the Domain Controller.</a:t>
                      </a:r>
                    </a:p>
                  </a:txBody>
                  <a:tcPr/>
                </a:tc>
                <a:tc>
                  <a:txBody>
                    <a:bodyPr/>
                    <a:lstStyle/>
                    <a:p>
                      <a:r>
                        <a:rPr lang="en-US" sz="1600" dirty="0"/>
                        <a:t>What terrain is critical for their mission (e.g., a specific database, an ICS controller, credential server)?</a:t>
                      </a:r>
                    </a:p>
                  </a:txBody>
                  <a:tcPr/>
                </a:tc>
                <a:extLst>
                  <a:ext uri="{0D108BD9-81ED-4DB2-BD59-A6C34878D82A}">
                    <a16:rowId xmlns:a16="http://schemas.microsoft.com/office/drawing/2014/main" val="1024064076"/>
                  </a:ext>
                </a:extLst>
              </a:tr>
              <a:tr h="689151">
                <a:tc>
                  <a:txBody>
                    <a:bodyPr/>
                    <a:lstStyle/>
                    <a:p>
                      <a:r>
                        <a:rPr lang="en-US" sz="1600" dirty="0"/>
                        <a:t>A</a:t>
                      </a:r>
                    </a:p>
                  </a:txBody>
                  <a:tcPr/>
                </a:tc>
                <a:tc>
                  <a:txBody>
                    <a:bodyPr/>
                    <a:lstStyle/>
                    <a:p>
                      <a:r>
                        <a:rPr lang="en-US" sz="1600" dirty="0"/>
                        <a:t>Avenues of Approach</a:t>
                      </a:r>
                    </a:p>
                  </a:txBody>
                  <a:tcPr/>
                </a:tc>
                <a:tc>
                  <a:txBody>
                    <a:bodyPr/>
                    <a:lstStyle/>
                    <a:p>
                      <a:r>
                        <a:rPr lang="en-US" sz="1600" dirty="0"/>
                        <a:t>How can we gain or improve access (e.g., deploying new sensors, using existing credentials)?</a:t>
                      </a:r>
                    </a:p>
                  </a:txBody>
                  <a:tcPr/>
                </a:tc>
                <a:tc>
                  <a:txBody>
                    <a:bodyPr/>
                    <a:lstStyle/>
                    <a:p>
                      <a:r>
                        <a:rPr lang="en-US" sz="1600" dirty="0"/>
                        <a:t>How did they get in, and how can they move? Map to MITRE ATT&amp;CK Initial Access Techniques.</a:t>
                      </a:r>
                    </a:p>
                  </a:txBody>
                  <a:tcPr/>
                </a:tc>
                <a:extLst>
                  <a:ext uri="{0D108BD9-81ED-4DB2-BD59-A6C34878D82A}">
                    <a16:rowId xmlns:a16="http://schemas.microsoft.com/office/drawing/2014/main" val="2759172838"/>
                  </a:ext>
                </a:extLst>
              </a:tr>
              <a:tr h="805698">
                <a:tc>
                  <a:txBody>
                    <a:bodyPr/>
                    <a:lstStyle/>
                    <a:p>
                      <a:r>
                        <a:rPr lang="en-US" sz="1600" dirty="0"/>
                        <a:t>W</a:t>
                      </a:r>
                    </a:p>
                  </a:txBody>
                  <a:tcPr/>
                </a:tc>
                <a:tc>
                  <a:txBody>
                    <a:bodyPr/>
                    <a:lstStyle/>
                    <a:p>
                      <a:r>
                        <a:rPr lang="en-US" sz="1600" dirty="0"/>
                        <a:t>Weather</a:t>
                      </a:r>
                    </a:p>
                  </a:txBody>
                  <a:tcPr/>
                </a:tc>
                <a:tc>
                  <a:txBody>
                    <a:bodyPr/>
                    <a:lstStyle/>
                    <a:p>
                      <a:r>
                        <a:rPr lang="en-US" sz="1600" dirty="0"/>
                        <a:t>Physical weather can affect power and satellite communications, impacting physical infrastructure.</a:t>
                      </a:r>
                    </a:p>
                  </a:txBody>
                  <a:tcPr/>
                </a:tc>
                <a:tc>
                  <a:txBody>
                    <a:bodyPr/>
                    <a:lstStyle/>
                    <a:p>
                      <a:r>
                        <a:rPr lang="en-US" sz="1600" dirty="0"/>
                        <a:t>Same considerations as friendly.</a:t>
                      </a:r>
                    </a:p>
                  </a:txBody>
                  <a:tcPr/>
                </a:tc>
                <a:extLst>
                  <a:ext uri="{0D108BD9-81ED-4DB2-BD59-A6C34878D82A}">
                    <a16:rowId xmlns:a16="http://schemas.microsoft.com/office/drawing/2014/main" val="3770419133"/>
                  </a:ext>
                </a:extLst>
              </a:tr>
            </a:tbl>
          </a:graphicData>
        </a:graphic>
      </p:graphicFrame>
    </p:spTree>
    <p:extLst>
      <p:ext uri="{BB962C8B-B14F-4D97-AF65-F5344CB8AC3E}">
        <p14:creationId xmlns:p14="http://schemas.microsoft.com/office/powerpoint/2010/main" val="534035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9937-0953-58A0-3421-9EBFB61896BD}"/>
              </a:ext>
            </a:extLst>
          </p:cNvPr>
          <p:cNvSpPr>
            <a:spLocks noGrp="1"/>
          </p:cNvSpPr>
          <p:nvPr>
            <p:ph type="title"/>
          </p:nvPr>
        </p:nvSpPr>
        <p:spPr/>
        <p:txBody>
          <a:bodyPr/>
          <a:lstStyle/>
          <a:p>
            <a:r>
              <a:rPr lang="en-US" dirty="0"/>
              <a:t>Time/Space/Logistics &amp; Civilian Considerations</a:t>
            </a:r>
          </a:p>
        </p:txBody>
      </p:sp>
    </p:spTree>
    <p:extLst>
      <p:ext uri="{BB962C8B-B14F-4D97-AF65-F5344CB8AC3E}">
        <p14:creationId xmlns:p14="http://schemas.microsoft.com/office/powerpoint/2010/main" val="1121164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48802C-5D48-9A83-341B-8FD1C5DF294B}"/>
              </a:ext>
            </a:extLst>
          </p:cNvPr>
          <p:cNvSpPr>
            <a:spLocks noGrp="1"/>
          </p:cNvSpPr>
          <p:nvPr>
            <p:ph type="body" idx="1"/>
          </p:nvPr>
        </p:nvSpPr>
        <p:spPr/>
        <p:txBody>
          <a:bodyPr/>
          <a:lstStyle/>
          <a:p>
            <a:r>
              <a:rPr lang="en-US" b="1" dirty="0"/>
              <a:t>Time Analysis:</a:t>
            </a:r>
          </a:p>
          <a:p>
            <a:endParaRPr lang="en-US" dirty="0"/>
          </a:p>
          <a:p>
            <a:pPr lvl="1"/>
            <a:r>
              <a:rPr lang="en-US" dirty="0"/>
              <a:t>How much time is available to plan and execute the mission?</a:t>
            </a:r>
          </a:p>
          <a:p>
            <a:pPr lvl="1"/>
            <a:r>
              <a:rPr lang="en-US" dirty="0"/>
              <a:t>What is the adversary’s timeline?</a:t>
            </a:r>
          </a:p>
          <a:p>
            <a:pPr lvl="1"/>
            <a:r>
              <a:rPr lang="en-US" dirty="0"/>
              <a:t>How does time zone difference affect adversary vs. friendly operations?</a:t>
            </a:r>
          </a:p>
          <a:p>
            <a:pPr lvl="1"/>
            <a:endParaRPr lang="en-US" dirty="0"/>
          </a:p>
          <a:p>
            <a:r>
              <a:rPr lang="en-US" b="1" dirty="0"/>
              <a:t>Space Analysis:</a:t>
            </a:r>
          </a:p>
          <a:p>
            <a:endParaRPr lang="en-US" dirty="0"/>
          </a:p>
          <a:p>
            <a:pPr lvl="1"/>
            <a:r>
              <a:rPr lang="en-US" dirty="0"/>
              <a:t>Where is the physical and logical location of the operational environment?</a:t>
            </a:r>
          </a:p>
          <a:p>
            <a:pPr lvl="1"/>
            <a:r>
              <a:rPr lang="en-US" dirty="0"/>
              <a:t>What Legal and political boundaries apply?</a:t>
            </a:r>
          </a:p>
          <a:p>
            <a:pPr lvl="1"/>
            <a:endParaRPr lang="en-US" dirty="0"/>
          </a:p>
        </p:txBody>
      </p:sp>
      <p:sp>
        <p:nvSpPr>
          <p:cNvPr id="3" name="Title 2">
            <a:extLst>
              <a:ext uri="{FF2B5EF4-FFF2-40B4-BE49-F238E27FC236}">
                <a16:creationId xmlns:a16="http://schemas.microsoft.com/office/drawing/2014/main" id="{4B41052C-DFFA-BB4A-C237-B59F724FED8C}"/>
              </a:ext>
            </a:extLst>
          </p:cNvPr>
          <p:cNvSpPr>
            <a:spLocks noGrp="1"/>
          </p:cNvSpPr>
          <p:nvPr>
            <p:ph type="title"/>
          </p:nvPr>
        </p:nvSpPr>
        <p:spPr/>
        <p:txBody>
          <a:bodyPr/>
          <a:lstStyle/>
          <a:p>
            <a:r>
              <a:rPr lang="en-US" dirty="0"/>
              <a:t>Time/Space/Logistics &amp; Civilian Considerations</a:t>
            </a:r>
          </a:p>
        </p:txBody>
      </p:sp>
    </p:spTree>
    <p:extLst>
      <p:ext uri="{BB962C8B-B14F-4D97-AF65-F5344CB8AC3E}">
        <p14:creationId xmlns:p14="http://schemas.microsoft.com/office/powerpoint/2010/main" val="1808518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48802C-5D48-9A83-341B-8FD1C5DF294B}"/>
              </a:ext>
            </a:extLst>
          </p:cNvPr>
          <p:cNvSpPr>
            <a:spLocks noGrp="1"/>
          </p:cNvSpPr>
          <p:nvPr>
            <p:ph type="body" idx="1"/>
          </p:nvPr>
        </p:nvSpPr>
        <p:spPr/>
        <p:txBody>
          <a:bodyPr/>
          <a:lstStyle/>
          <a:p>
            <a:r>
              <a:rPr lang="en-US" b="1" dirty="0"/>
              <a:t>Logistics Analysis:</a:t>
            </a:r>
          </a:p>
          <a:p>
            <a:endParaRPr lang="en-US" dirty="0"/>
          </a:p>
          <a:p>
            <a:pPr lvl="1"/>
            <a:r>
              <a:rPr lang="en-US" dirty="0"/>
              <a:t>Are the required tools and infrastructure available and provisioned?</a:t>
            </a:r>
          </a:p>
          <a:p>
            <a:pPr lvl="1"/>
            <a:endParaRPr lang="en-US" dirty="0"/>
          </a:p>
          <a:p>
            <a:r>
              <a:rPr lang="en-US" b="1" dirty="0"/>
              <a:t>Civilian Considerations:</a:t>
            </a:r>
          </a:p>
          <a:p>
            <a:endParaRPr lang="en-US" dirty="0"/>
          </a:p>
          <a:p>
            <a:pPr lvl="1"/>
            <a:r>
              <a:rPr lang="en-US" dirty="0"/>
              <a:t>How will operations potentially affect non-combatants?</a:t>
            </a:r>
          </a:p>
          <a:p>
            <a:pPr lvl="1"/>
            <a:r>
              <a:rPr lang="en-US" dirty="0"/>
              <a:t>Are we operating on a critical infrastructure (e.g., power grid, financial services)? What are the potential collateral effects?</a:t>
            </a:r>
          </a:p>
          <a:p>
            <a:pPr lvl="1"/>
            <a:endParaRPr lang="en-US" dirty="0"/>
          </a:p>
        </p:txBody>
      </p:sp>
      <p:sp>
        <p:nvSpPr>
          <p:cNvPr id="3" name="Title 2">
            <a:extLst>
              <a:ext uri="{FF2B5EF4-FFF2-40B4-BE49-F238E27FC236}">
                <a16:creationId xmlns:a16="http://schemas.microsoft.com/office/drawing/2014/main" id="{4B41052C-DFFA-BB4A-C237-B59F724FED8C}"/>
              </a:ext>
            </a:extLst>
          </p:cNvPr>
          <p:cNvSpPr>
            <a:spLocks noGrp="1"/>
          </p:cNvSpPr>
          <p:nvPr>
            <p:ph type="title"/>
          </p:nvPr>
        </p:nvSpPr>
        <p:spPr/>
        <p:txBody>
          <a:bodyPr/>
          <a:lstStyle/>
          <a:p>
            <a:r>
              <a:rPr lang="en-US" dirty="0"/>
              <a:t>Time/Space/Logistics &amp; Civilian Considerations</a:t>
            </a:r>
          </a:p>
        </p:txBody>
      </p:sp>
    </p:spTree>
    <p:extLst>
      <p:ext uri="{BB962C8B-B14F-4D97-AF65-F5344CB8AC3E}">
        <p14:creationId xmlns:p14="http://schemas.microsoft.com/office/powerpoint/2010/main" val="237179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0A21-0C70-FCC3-8DE8-9C87680131D0}"/>
              </a:ext>
            </a:extLst>
          </p:cNvPr>
          <p:cNvSpPr>
            <a:spLocks noGrp="1"/>
          </p:cNvSpPr>
          <p:nvPr>
            <p:ph type="title"/>
          </p:nvPr>
        </p:nvSpPr>
        <p:spPr/>
        <p:txBody>
          <a:bodyPr/>
          <a:lstStyle/>
          <a:p>
            <a:r>
              <a:rPr lang="en-US" dirty="0"/>
              <a:t>Enemy’s Most Likely Course of Action (EMLCOA)</a:t>
            </a:r>
          </a:p>
        </p:txBody>
      </p:sp>
    </p:spTree>
    <p:extLst>
      <p:ext uri="{BB962C8B-B14F-4D97-AF65-F5344CB8AC3E}">
        <p14:creationId xmlns:p14="http://schemas.microsoft.com/office/powerpoint/2010/main" val="3201614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F58AAA-F14F-1D3D-AE8E-6345890534CD}"/>
              </a:ext>
            </a:extLst>
          </p:cNvPr>
          <p:cNvSpPr>
            <a:spLocks noGrp="1"/>
          </p:cNvSpPr>
          <p:nvPr>
            <p:ph type="body" idx="1"/>
          </p:nvPr>
        </p:nvSpPr>
        <p:spPr/>
        <p:txBody>
          <a:bodyPr/>
          <a:lstStyle/>
          <a:p>
            <a:r>
              <a:rPr lang="en-US" dirty="0"/>
              <a:t>After completing the METT-TC analysis, synthesize the findings to develop a comprehensive assumption of enemy actions. The EMLOCOA answers three questions:</a:t>
            </a:r>
          </a:p>
          <a:p>
            <a:pPr marL="169329" indent="0">
              <a:buNone/>
            </a:pPr>
            <a:endParaRPr lang="en-US" dirty="0"/>
          </a:p>
          <a:p>
            <a:pPr lvl="1"/>
            <a:r>
              <a:rPr lang="en-US" b="1" dirty="0"/>
              <a:t>What is the enemy’s mission?</a:t>
            </a:r>
          </a:p>
          <a:p>
            <a:pPr lvl="2"/>
            <a:r>
              <a:rPr lang="en-US" b="1" dirty="0"/>
              <a:t>Example</a:t>
            </a:r>
            <a:r>
              <a:rPr lang="en-US" dirty="0"/>
              <a:t>: Is the enemy trying to achieve a specific tactical task like Exfiltrate sensitive data, or Disrupt a critical service?</a:t>
            </a:r>
          </a:p>
          <a:p>
            <a:pPr marL="1430831" lvl="2" indent="0">
              <a:buNone/>
            </a:pPr>
            <a:endParaRPr lang="en-US" dirty="0"/>
          </a:p>
          <a:p>
            <a:pPr marL="1164147" lvl="1" indent="-342900"/>
            <a:r>
              <a:rPr lang="en-US" b="1" dirty="0"/>
              <a:t>What is the enemy’s current tactical activity?</a:t>
            </a:r>
          </a:p>
          <a:p>
            <a:pPr marL="1773731" lvl="2" indent="-342900"/>
            <a:r>
              <a:rPr lang="en-US" b="1" dirty="0"/>
              <a:t>Example</a:t>
            </a:r>
            <a:r>
              <a:rPr lang="en-US" dirty="0"/>
              <a:t>: Are they staging tools for an attack? Conducting active reconnaissance? Maintaining persistence?</a:t>
            </a:r>
          </a:p>
          <a:p>
            <a:pPr marL="1773731" lvl="2" indent="-342900"/>
            <a:endParaRPr lang="en-US" dirty="0"/>
          </a:p>
          <a:p>
            <a:pPr marL="1164147" lvl="1" indent="-342900"/>
            <a:r>
              <a:rPr lang="en-US" b="1" dirty="0"/>
              <a:t>What are the enemy’s actions on contact?</a:t>
            </a:r>
          </a:p>
          <a:p>
            <a:pPr marL="1773731" lvl="2" indent="-342900"/>
            <a:r>
              <a:rPr lang="en-US" b="1" dirty="0"/>
              <a:t>Example</a:t>
            </a:r>
            <a:r>
              <a:rPr lang="en-US" dirty="0"/>
              <a:t>: How will they react when we take action against them? Will they delete their presence, deploy ransomware, or escalate their activity?</a:t>
            </a:r>
          </a:p>
        </p:txBody>
      </p:sp>
      <p:sp>
        <p:nvSpPr>
          <p:cNvPr id="3" name="Title 2">
            <a:extLst>
              <a:ext uri="{FF2B5EF4-FFF2-40B4-BE49-F238E27FC236}">
                <a16:creationId xmlns:a16="http://schemas.microsoft.com/office/drawing/2014/main" id="{E602C908-725F-883C-F5C1-419E05B19C4E}"/>
              </a:ext>
            </a:extLst>
          </p:cNvPr>
          <p:cNvSpPr>
            <a:spLocks noGrp="1"/>
          </p:cNvSpPr>
          <p:nvPr>
            <p:ph type="title"/>
          </p:nvPr>
        </p:nvSpPr>
        <p:spPr/>
        <p:txBody>
          <a:bodyPr/>
          <a:lstStyle/>
          <a:p>
            <a:r>
              <a:rPr lang="en-US" dirty="0"/>
              <a:t>EMLCOA</a:t>
            </a:r>
          </a:p>
        </p:txBody>
      </p:sp>
    </p:spTree>
    <p:extLst>
      <p:ext uri="{BB962C8B-B14F-4D97-AF65-F5344CB8AC3E}">
        <p14:creationId xmlns:p14="http://schemas.microsoft.com/office/powerpoint/2010/main" val="1774111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0091-4007-1A9B-BFA1-B2CF077F2A20}"/>
              </a:ext>
            </a:extLst>
          </p:cNvPr>
          <p:cNvSpPr>
            <a:spLocks noGrp="1"/>
          </p:cNvSpPr>
          <p:nvPr>
            <p:ph type="title"/>
          </p:nvPr>
        </p:nvSpPr>
        <p:spPr/>
        <p:txBody>
          <a:bodyPr/>
          <a:lstStyle/>
          <a:p>
            <a:r>
              <a:rPr lang="en-US" dirty="0"/>
              <a:t>Center of Gravity &amp; Critical Vulnerability</a:t>
            </a:r>
          </a:p>
        </p:txBody>
      </p:sp>
    </p:spTree>
    <p:extLst>
      <p:ext uri="{BB962C8B-B14F-4D97-AF65-F5344CB8AC3E}">
        <p14:creationId xmlns:p14="http://schemas.microsoft.com/office/powerpoint/2010/main" val="26895134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9544C8-27F9-A68E-709D-70F01516FA46}"/>
              </a:ext>
            </a:extLst>
          </p:cNvPr>
          <p:cNvSpPr>
            <a:spLocks noGrp="1"/>
          </p:cNvSpPr>
          <p:nvPr>
            <p:ph type="body" idx="1"/>
          </p:nvPr>
        </p:nvSpPr>
        <p:spPr/>
        <p:txBody>
          <a:bodyPr/>
          <a:lstStyle/>
          <a:p>
            <a:r>
              <a:rPr lang="en-US" b="1" dirty="0"/>
              <a:t>Center of Gravity (COG):</a:t>
            </a:r>
          </a:p>
          <a:p>
            <a:pPr marL="169329" indent="0">
              <a:buNone/>
            </a:pPr>
            <a:endParaRPr lang="en-US" dirty="0"/>
          </a:p>
          <a:p>
            <a:pPr lvl="1"/>
            <a:r>
              <a:rPr lang="en-US" b="1" dirty="0"/>
              <a:t>Definition</a:t>
            </a:r>
            <a:r>
              <a:rPr lang="en-US" dirty="0"/>
              <a:t>: “That element or capability which allows the enemy to execute their mission or scheme of maneuver successfully.”</a:t>
            </a:r>
          </a:p>
          <a:p>
            <a:pPr lvl="1"/>
            <a:endParaRPr lang="en-US" dirty="0"/>
          </a:p>
          <a:p>
            <a:pPr lvl="1"/>
            <a:r>
              <a:rPr lang="en-US" b="1" dirty="0"/>
              <a:t>Key</a:t>
            </a:r>
            <a:r>
              <a:rPr lang="en-US" dirty="0"/>
              <a:t> </a:t>
            </a:r>
            <a:r>
              <a:rPr lang="en-US" b="1" dirty="0"/>
              <a:t>Question</a:t>
            </a:r>
            <a:r>
              <a:rPr lang="en-US" dirty="0"/>
              <a:t>: Based on the EMLCOA, what is the one thing that is most critical for the enemy’s success?</a:t>
            </a:r>
          </a:p>
          <a:p>
            <a:pPr lvl="1"/>
            <a:endParaRPr lang="en-US" dirty="0"/>
          </a:p>
          <a:p>
            <a:pPr lvl="2"/>
            <a:r>
              <a:rPr lang="en-US" b="1" dirty="0"/>
              <a:t>Example</a:t>
            </a:r>
            <a:r>
              <a:rPr lang="en-US" dirty="0"/>
              <a:t>: The enemy’s COG is their persistent, undetected access achieved through a combination of stealth and compromised administrative credentials.</a:t>
            </a:r>
          </a:p>
        </p:txBody>
      </p:sp>
      <p:sp>
        <p:nvSpPr>
          <p:cNvPr id="3" name="Title 2">
            <a:extLst>
              <a:ext uri="{FF2B5EF4-FFF2-40B4-BE49-F238E27FC236}">
                <a16:creationId xmlns:a16="http://schemas.microsoft.com/office/drawing/2014/main" id="{DA13EE4F-2716-2603-74CD-BA9E19A1068F}"/>
              </a:ext>
            </a:extLst>
          </p:cNvPr>
          <p:cNvSpPr>
            <a:spLocks noGrp="1"/>
          </p:cNvSpPr>
          <p:nvPr>
            <p:ph type="title"/>
          </p:nvPr>
        </p:nvSpPr>
        <p:spPr/>
        <p:txBody>
          <a:bodyPr/>
          <a:lstStyle/>
          <a:p>
            <a:r>
              <a:rPr lang="en-US" dirty="0"/>
              <a:t>Center of Gravity &amp; Critical Vulnerability</a:t>
            </a:r>
          </a:p>
        </p:txBody>
      </p:sp>
    </p:spTree>
    <p:extLst>
      <p:ext uri="{BB962C8B-B14F-4D97-AF65-F5344CB8AC3E}">
        <p14:creationId xmlns:p14="http://schemas.microsoft.com/office/powerpoint/2010/main" val="2529316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9544C8-27F9-A68E-709D-70F01516FA46}"/>
              </a:ext>
            </a:extLst>
          </p:cNvPr>
          <p:cNvSpPr>
            <a:spLocks noGrp="1"/>
          </p:cNvSpPr>
          <p:nvPr>
            <p:ph type="body" idx="1"/>
          </p:nvPr>
        </p:nvSpPr>
        <p:spPr/>
        <p:txBody>
          <a:bodyPr/>
          <a:lstStyle/>
          <a:p>
            <a:r>
              <a:rPr lang="en-US" b="1" dirty="0"/>
              <a:t>Critical Vulnerability (CV):</a:t>
            </a:r>
          </a:p>
          <a:p>
            <a:pPr marL="169329" indent="0">
              <a:buNone/>
            </a:pPr>
            <a:endParaRPr lang="en-US" dirty="0"/>
          </a:p>
          <a:p>
            <a:pPr lvl="1"/>
            <a:r>
              <a:rPr lang="en-US" b="1" dirty="0"/>
              <a:t>Definition</a:t>
            </a:r>
            <a:r>
              <a:rPr lang="en-US" dirty="0"/>
              <a:t>: “A vulnerability that, if exploited, will render the enemy’s center of gravity ineffective.”</a:t>
            </a:r>
          </a:p>
          <a:p>
            <a:pPr lvl="1"/>
            <a:endParaRPr lang="en-US" dirty="0"/>
          </a:p>
          <a:p>
            <a:pPr lvl="1"/>
            <a:r>
              <a:rPr lang="en-US" b="1" dirty="0"/>
              <a:t>Key</a:t>
            </a:r>
            <a:r>
              <a:rPr lang="en-US" dirty="0"/>
              <a:t> </a:t>
            </a:r>
            <a:r>
              <a:rPr lang="en-US" b="1" dirty="0"/>
              <a:t>Question</a:t>
            </a:r>
            <a:r>
              <a:rPr lang="en-US" dirty="0"/>
              <a:t>: How can we attack the enemy’s COG?</a:t>
            </a:r>
          </a:p>
          <a:p>
            <a:pPr lvl="1"/>
            <a:endParaRPr lang="en-US" dirty="0"/>
          </a:p>
          <a:p>
            <a:pPr lvl="2"/>
            <a:r>
              <a:rPr lang="en-US" b="1" dirty="0"/>
              <a:t>Example</a:t>
            </a:r>
            <a:r>
              <a:rPr lang="en-US" dirty="0"/>
              <a:t>: The enemy’s reliance on a single set of credentials for all lateral movement is a critical vulnerability. Removing their access to those credentials will neutralize their COG.</a:t>
            </a:r>
          </a:p>
        </p:txBody>
      </p:sp>
      <p:sp>
        <p:nvSpPr>
          <p:cNvPr id="3" name="Title 2">
            <a:extLst>
              <a:ext uri="{FF2B5EF4-FFF2-40B4-BE49-F238E27FC236}">
                <a16:creationId xmlns:a16="http://schemas.microsoft.com/office/drawing/2014/main" id="{DA13EE4F-2716-2603-74CD-BA9E19A1068F}"/>
              </a:ext>
            </a:extLst>
          </p:cNvPr>
          <p:cNvSpPr>
            <a:spLocks noGrp="1"/>
          </p:cNvSpPr>
          <p:nvPr>
            <p:ph type="title"/>
          </p:nvPr>
        </p:nvSpPr>
        <p:spPr/>
        <p:txBody>
          <a:bodyPr/>
          <a:lstStyle/>
          <a:p>
            <a:r>
              <a:rPr lang="en-US" dirty="0"/>
              <a:t>Center of Gravity &amp; Critical Vulnerability</a:t>
            </a:r>
          </a:p>
        </p:txBody>
      </p:sp>
    </p:spTree>
    <p:extLst>
      <p:ext uri="{BB962C8B-B14F-4D97-AF65-F5344CB8AC3E}">
        <p14:creationId xmlns:p14="http://schemas.microsoft.com/office/powerpoint/2010/main" val="18615489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CADB-5AA7-CEF6-0C28-02F9C75203EC}"/>
              </a:ext>
            </a:extLst>
          </p:cNvPr>
          <p:cNvSpPr>
            <a:spLocks noGrp="1"/>
          </p:cNvSpPr>
          <p:nvPr>
            <p:ph type="title"/>
          </p:nvPr>
        </p:nvSpPr>
        <p:spPr/>
        <p:txBody>
          <a:bodyPr/>
          <a:lstStyle/>
          <a:p>
            <a:r>
              <a:rPr lang="en-US" dirty="0"/>
              <a:t>The Exploitation Plan</a:t>
            </a:r>
          </a:p>
        </p:txBody>
      </p:sp>
    </p:spTree>
    <p:extLst>
      <p:ext uri="{BB962C8B-B14F-4D97-AF65-F5344CB8AC3E}">
        <p14:creationId xmlns:p14="http://schemas.microsoft.com/office/powerpoint/2010/main" val="2846219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A2C1E3-C36D-3F77-A2EE-DE1CF14E54B9}"/>
              </a:ext>
            </a:extLst>
          </p:cNvPr>
          <p:cNvSpPr>
            <a:spLocks noGrp="1"/>
          </p:cNvSpPr>
          <p:nvPr>
            <p:ph type="body" idx="1"/>
          </p:nvPr>
        </p:nvSpPr>
        <p:spPr/>
        <p:txBody>
          <a:bodyPr/>
          <a:lstStyle/>
          <a:p>
            <a:r>
              <a:rPr lang="en-US" b="1" dirty="0"/>
              <a:t>Key Question: What specific action(s) will we take to neutralize the enemy’s COG by exploiting their CV?</a:t>
            </a:r>
          </a:p>
          <a:p>
            <a:endParaRPr lang="en-US" dirty="0"/>
          </a:p>
          <a:p>
            <a:pPr lvl="1"/>
            <a:r>
              <a:rPr lang="en-US" b="1" dirty="0"/>
              <a:t>Cyberspace Applications:</a:t>
            </a:r>
          </a:p>
          <a:p>
            <a:pPr lvl="1"/>
            <a:endParaRPr lang="en-US" dirty="0"/>
          </a:p>
          <a:p>
            <a:pPr lvl="2"/>
            <a:r>
              <a:rPr lang="en-US" dirty="0"/>
              <a:t>For defensive or “blue space” operations, the MITRE D3FEND framework is a valuable starting point.</a:t>
            </a:r>
          </a:p>
          <a:p>
            <a:pPr marL="1430831" lvl="2" indent="0">
              <a:buNone/>
            </a:pPr>
            <a:endParaRPr lang="en-US" dirty="0"/>
          </a:p>
          <a:p>
            <a:pPr lvl="2"/>
            <a:r>
              <a:rPr lang="en-US" dirty="0"/>
              <a:t>D3FEND provides specific countermeasures that directly map to adversary techniques identified in MITRE ATT&amp;CK.</a:t>
            </a:r>
          </a:p>
          <a:p>
            <a:pPr lvl="2"/>
            <a:endParaRPr lang="en-US" dirty="0"/>
          </a:p>
          <a:p>
            <a:pPr lvl="2"/>
            <a:r>
              <a:rPr lang="en-US" b="1" dirty="0"/>
              <a:t>Example</a:t>
            </a:r>
            <a:r>
              <a:rPr lang="en-US" dirty="0"/>
              <a:t>: If the adversary’s TTP is “Use of Valid Accounts” (ATT&amp;CK), the exploitation plan might involve “Credential Isolation” and “User Account Permissions” (D3FEND).</a:t>
            </a:r>
          </a:p>
        </p:txBody>
      </p:sp>
      <p:sp>
        <p:nvSpPr>
          <p:cNvPr id="3" name="Title 2">
            <a:extLst>
              <a:ext uri="{FF2B5EF4-FFF2-40B4-BE49-F238E27FC236}">
                <a16:creationId xmlns:a16="http://schemas.microsoft.com/office/drawing/2014/main" id="{7C2663DD-F298-335B-E328-173062EDA696}"/>
              </a:ext>
            </a:extLst>
          </p:cNvPr>
          <p:cNvSpPr>
            <a:spLocks noGrp="1"/>
          </p:cNvSpPr>
          <p:nvPr>
            <p:ph type="title"/>
          </p:nvPr>
        </p:nvSpPr>
        <p:spPr/>
        <p:txBody>
          <a:bodyPr/>
          <a:lstStyle/>
          <a:p>
            <a:r>
              <a:rPr lang="en-US" dirty="0"/>
              <a:t>The Exploitation Plan</a:t>
            </a:r>
          </a:p>
        </p:txBody>
      </p:sp>
    </p:spTree>
    <p:extLst>
      <p:ext uri="{BB962C8B-B14F-4D97-AF65-F5344CB8AC3E}">
        <p14:creationId xmlns:p14="http://schemas.microsoft.com/office/powerpoint/2010/main" val="941458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75AB8-B307-6CF5-E0F4-D4B6D9EAED72}"/>
              </a:ext>
            </a:extLst>
          </p:cNvPr>
          <p:cNvSpPr>
            <a:spLocks noGrp="1"/>
          </p:cNvSpPr>
          <p:nvPr>
            <p:ph type="title"/>
          </p:nvPr>
        </p:nvSpPr>
        <p:spPr/>
        <p:txBody>
          <a:bodyPr/>
          <a:lstStyle/>
          <a:p>
            <a:r>
              <a:rPr lang="en-US" dirty="0"/>
              <a:t>Scheme of Maneuver, Fire Support Plan, and Tasks</a:t>
            </a:r>
          </a:p>
        </p:txBody>
      </p:sp>
    </p:spTree>
    <p:extLst>
      <p:ext uri="{BB962C8B-B14F-4D97-AF65-F5344CB8AC3E}">
        <p14:creationId xmlns:p14="http://schemas.microsoft.com/office/powerpoint/2010/main" val="3051111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3530E7-2F45-360F-474D-D3497817FE18}"/>
              </a:ext>
            </a:extLst>
          </p:cNvPr>
          <p:cNvSpPr>
            <a:spLocks noGrp="1"/>
          </p:cNvSpPr>
          <p:nvPr>
            <p:ph type="body" idx="1"/>
          </p:nvPr>
        </p:nvSpPr>
        <p:spPr/>
        <p:txBody>
          <a:bodyPr/>
          <a:lstStyle/>
          <a:p>
            <a:r>
              <a:rPr lang="en-US" b="1" dirty="0"/>
              <a:t>Scheme of Maneuver:</a:t>
            </a:r>
          </a:p>
          <a:p>
            <a:pPr lvl="1"/>
            <a:r>
              <a:rPr lang="en-US" dirty="0"/>
              <a:t>Describes how the elements of the exploitation plan will be implemented in a coordinated manner, often through designated phases of the operation.</a:t>
            </a:r>
          </a:p>
          <a:p>
            <a:pPr lvl="1"/>
            <a:endParaRPr lang="en-US" dirty="0"/>
          </a:p>
          <a:p>
            <a:r>
              <a:rPr lang="en-US" b="1" dirty="0"/>
              <a:t>Fire Support Plan:</a:t>
            </a:r>
          </a:p>
          <a:p>
            <a:pPr lvl="1"/>
            <a:r>
              <a:rPr lang="en-US" dirty="0"/>
              <a:t>A parallel concept in cyberspace operations.</a:t>
            </a:r>
          </a:p>
          <a:p>
            <a:pPr lvl="1"/>
            <a:r>
              <a:rPr lang="en-US" dirty="0"/>
              <a:t>Coordinates the use of rear echelon support (e.g., forensics, national agencies) with the tactical actions on the network.</a:t>
            </a:r>
          </a:p>
          <a:p>
            <a:pPr lvl="1"/>
            <a:r>
              <a:rPr lang="en-US" dirty="0"/>
              <a:t>Ensures actions are deconflicted and mutually supporting.</a:t>
            </a:r>
          </a:p>
          <a:p>
            <a:pPr lvl="1"/>
            <a:endParaRPr lang="en-US" dirty="0"/>
          </a:p>
          <a:p>
            <a:r>
              <a:rPr lang="en-US" b="1" dirty="0"/>
              <a:t>Tasks</a:t>
            </a:r>
            <a:r>
              <a:rPr lang="en-US" dirty="0"/>
              <a:t>:</a:t>
            </a:r>
          </a:p>
          <a:p>
            <a:pPr lvl="1"/>
            <a:r>
              <a:rPr lang="en-US" dirty="0"/>
              <a:t>Clear, concise tasking assigned to individual operators or teams.</a:t>
            </a:r>
          </a:p>
          <a:p>
            <a:pPr lvl="1"/>
            <a:r>
              <a:rPr lang="en-US" dirty="0"/>
              <a:t>Crucial for transitioning from a collection of individuals into a synchronized team executing a unified plan.</a:t>
            </a:r>
          </a:p>
        </p:txBody>
      </p:sp>
      <p:sp>
        <p:nvSpPr>
          <p:cNvPr id="3" name="Title 2">
            <a:extLst>
              <a:ext uri="{FF2B5EF4-FFF2-40B4-BE49-F238E27FC236}">
                <a16:creationId xmlns:a16="http://schemas.microsoft.com/office/drawing/2014/main" id="{E1641AB1-F400-D33C-602B-8D424AA7C4C3}"/>
              </a:ext>
            </a:extLst>
          </p:cNvPr>
          <p:cNvSpPr>
            <a:spLocks noGrp="1"/>
          </p:cNvSpPr>
          <p:nvPr>
            <p:ph type="title"/>
          </p:nvPr>
        </p:nvSpPr>
        <p:spPr/>
        <p:txBody>
          <a:bodyPr/>
          <a:lstStyle/>
          <a:p>
            <a:r>
              <a:rPr lang="en-US" dirty="0"/>
              <a:t>Scheme of Maneuver, Fire Support Plan, and Tasks</a:t>
            </a:r>
          </a:p>
        </p:txBody>
      </p:sp>
    </p:spTree>
    <p:extLst>
      <p:ext uri="{BB962C8B-B14F-4D97-AF65-F5344CB8AC3E}">
        <p14:creationId xmlns:p14="http://schemas.microsoft.com/office/powerpoint/2010/main" val="3426744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629BB1-B16E-C102-383F-4D9ADB55076A}"/>
              </a:ext>
            </a:extLst>
          </p:cNvPr>
          <p:cNvSpPr>
            <a:spLocks noGrp="1"/>
          </p:cNvSpPr>
          <p:nvPr>
            <p:ph type="body" idx="1"/>
          </p:nvPr>
        </p:nvSpPr>
        <p:spPr/>
        <p:txBody>
          <a:bodyPr/>
          <a:lstStyle/>
          <a:p>
            <a:r>
              <a:rPr lang="en-US" dirty="0"/>
              <a:t>The military tactical planning processes (BAMCIS, METT-TC) are highly relevant and directly applicable to cyberspace operations.</a:t>
            </a:r>
          </a:p>
          <a:p>
            <a:endParaRPr lang="en-US" dirty="0"/>
          </a:p>
          <a:p>
            <a:r>
              <a:rPr lang="en-US" dirty="0"/>
              <a:t>Structured analysis (SALUTE, DRAW-D, OCOKAW) is essential for understanding the complex cyber domain.</a:t>
            </a:r>
          </a:p>
          <a:p>
            <a:endParaRPr lang="en-US" dirty="0"/>
          </a:p>
          <a:p>
            <a:r>
              <a:rPr lang="en-US" dirty="0"/>
              <a:t>The goal of planning is to move beyond reaction and proactively impose costs on the adversary.</a:t>
            </a:r>
          </a:p>
          <a:p>
            <a:endParaRPr lang="en-US" dirty="0"/>
          </a:p>
          <a:p>
            <a:r>
              <a:rPr lang="en-US" dirty="0"/>
              <a:t>This is accomplished by identifying the enemy’s Center of Gravity, targeting their Critical Vulnerability, and executing a well-defined Exploitation Plan.</a:t>
            </a:r>
          </a:p>
        </p:txBody>
      </p:sp>
      <p:sp>
        <p:nvSpPr>
          <p:cNvPr id="2" name="Title 1">
            <a:extLst>
              <a:ext uri="{FF2B5EF4-FFF2-40B4-BE49-F238E27FC236}">
                <a16:creationId xmlns:a16="http://schemas.microsoft.com/office/drawing/2014/main" id="{439AAE67-A4AA-F691-83EA-23D65D177DF0}"/>
              </a:ext>
            </a:extLst>
          </p:cNvPr>
          <p:cNvSpPr>
            <a:spLocks noGrp="1"/>
          </p:cNvSpPr>
          <p:nvPr>
            <p:ph type="title"/>
          </p:nvPr>
        </p:nvSpPr>
        <p:spPr/>
        <p:txBody>
          <a:bodyPr/>
          <a:lstStyle/>
          <a:p>
            <a:r>
              <a:rPr lang="en-US" dirty="0"/>
              <a:t>Lesson Summary</a:t>
            </a:r>
          </a:p>
        </p:txBody>
      </p:sp>
    </p:spTree>
    <p:extLst>
      <p:ext uri="{BB962C8B-B14F-4D97-AF65-F5344CB8AC3E}">
        <p14:creationId xmlns:p14="http://schemas.microsoft.com/office/powerpoint/2010/main" val="246277644"/>
      </p:ext>
    </p:extLst>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800" dirty="0" smtClean="0">
            <a:solidFill>
              <a:schemeClr val="tx1"/>
            </a:solidFill>
          </a:defRPr>
        </a:defPPr>
      </a:lstStyle>
    </a:txDef>
  </a:objectDefaults>
  <a:extraClrSchemeLst/>
  <a:extLst>
    <a:ext uri="{05A4C25C-085E-4340-85A3-A5531E510DB2}">
      <thm15:themeFamily xmlns:thm15="http://schemas.microsoft.com/office/thememl/2012/main" name="Lecture Guide Template_AOC_20230414" id="{8959DFD7-926F-4406-8670-4DF5FDEA2D75}" vid="{199B4965-A47D-45F3-92F8-17A6BA23EC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882</TotalTime>
  <Words>3208</Words>
  <Application>Microsoft Office PowerPoint</Application>
  <PresentationFormat>Widescreen</PresentationFormat>
  <Paragraphs>418</Paragraphs>
  <Slides>47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Aptos</vt:lpstr>
      <vt:lpstr>Arial</vt:lpstr>
      <vt:lpstr>Calibri</vt:lpstr>
      <vt:lpstr>Courier New</vt:lpstr>
      <vt:lpstr>CyberTemplateL_Green Unclass</vt:lpstr>
      <vt:lpstr>Military Tactical Planning</vt:lpstr>
      <vt:lpstr>Lesson Objectives</vt:lpstr>
      <vt:lpstr>Lesson Overview</vt:lpstr>
      <vt:lpstr>Introduction to Military Tactical Planning</vt:lpstr>
      <vt:lpstr>Introduction to Military Tactical Planning</vt:lpstr>
      <vt:lpstr>Introduction to Military Tactical Planning</vt:lpstr>
      <vt:lpstr>Tactical Tasks</vt:lpstr>
      <vt:lpstr>Tactical Tasks</vt:lpstr>
      <vt:lpstr>Tactical Tasks</vt:lpstr>
      <vt:lpstr>Tactical Tasks</vt:lpstr>
      <vt:lpstr>Tactical Tasks</vt:lpstr>
      <vt:lpstr>Tactical Tasks</vt:lpstr>
      <vt:lpstr>Tactical Tasks</vt:lpstr>
      <vt:lpstr>Tactical Tasks</vt:lpstr>
      <vt:lpstr>Tactical Tasks</vt:lpstr>
      <vt:lpstr>Tactical Tasks</vt:lpstr>
      <vt:lpstr>Tactical Tasks</vt:lpstr>
      <vt:lpstr>Tactical Task Activity</vt:lpstr>
      <vt:lpstr>Tactical Planning Process</vt:lpstr>
      <vt:lpstr>Tactical Planning Process</vt:lpstr>
      <vt:lpstr>Tactical Planning Process</vt:lpstr>
      <vt:lpstr>Mission Analysis</vt:lpstr>
      <vt:lpstr>Mission Analysis</vt:lpstr>
      <vt:lpstr>Enemy Analysis</vt:lpstr>
      <vt:lpstr>Enemy Analysis: SALUTE</vt:lpstr>
      <vt:lpstr>Enemy Analysis: SALUTE</vt:lpstr>
      <vt:lpstr>Enemy Analysis: DRAW-D</vt:lpstr>
      <vt:lpstr>Enemy Analysis: DRAW-D</vt:lpstr>
      <vt:lpstr>Enemy Analysis: DRAW-D</vt:lpstr>
      <vt:lpstr>Friendly Forces Analysis</vt:lpstr>
      <vt:lpstr>Friendly Forces Analysis</vt:lpstr>
      <vt:lpstr>Terrain Analysis: OCOKAW</vt:lpstr>
      <vt:lpstr>Terrain Analysis: OCOKAW</vt:lpstr>
      <vt:lpstr>Terrain Analysis: OCOKAW</vt:lpstr>
      <vt:lpstr>Time/Space/Logistics &amp; Civilian Considerations</vt:lpstr>
      <vt:lpstr>Time/Space/Logistics &amp; Civilian Considerations</vt:lpstr>
      <vt:lpstr>Time/Space/Logistics &amp; Civilian Considerations</vt:lpstr>
      <vt:lpstr>Enemy’s Most Likely Course of Action (EMLCOA)</vt:lpstr>
      <vt:lpstr>EMLCOA</vt:lpstr>
      <vt:lpstr>Center of Gravity &amp; Critical Vulnerability</vt:lpstr>
      <vt:lpstr>Center of Gravity &amp; Critical Vulnerability</vt:lpstr>
      <vt:lpstr>Center of Gravity &amp; Critical Vulnerability</vt:lpstr>
      <vt:lpstr>The Exploitation Plan</vt:lpstr>
      <vt:lpstr>The Exploitation Plan</vt:lpstr>
      <vt:lpstr>Scheme of Maneuver, Fire Support Plan, and Tasks</vt:lpstr>
      <vt:lpstr>Scheme of Maneuver, Fire Support Plan, and Tasks</vt:lpstr>
      <vt:lpstr>Lesson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Mattson, Sarah E</dc:creator>
  <cp:lastModifiedBy>Mattson, Sarah E</cp:lastModifiedBy>
  <cp:revision>32</cp:revision>
  <dcterms:created xsi:type="dcterms:W3CDTF">2026-02-13T13:45:24Z</dcterms:created>
  <dcterms:modified xsi:type="dcterms:W3CDTF">2026-03-30T13:15:41Z</dcterms:modified>
</cp:coreProperties>
</file>