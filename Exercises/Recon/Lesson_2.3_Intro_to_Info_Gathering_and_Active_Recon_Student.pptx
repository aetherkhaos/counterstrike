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71"/>
  </p:notesMasterIdLst>
  <p:handoutMasterIdLst>
    <p:handoutMasterId r:id="rId72"/>
  </p:handoutMasterIdLst>
  <p:sldIdLst>
    <p:sldId id="259" r:id="rId3"/>
    <p:sldId id="264" r:id="rId4"/>
    <p:sldId id="265" r:id="rId5"/>
    <p:sldId id="323" r:id="rId6"/>
    <p:sldId id="267" r:id="rId7"/>
    <p:sldId id="268" r:id="rId8"/>
    <p:sldId id="269" r:id="rId9"/>
    <p:sldId id="270" r:id="rId10"/>
    <p:sldId id="271" r:id="rId11"/>
    <p:sldId id="328" r:id="rId12"/>
    <p:sldId id="273" r:id="rId13"/>
    <p:sldId id="274" r:id="rId14"/>
    <p:sldId id="329" r:id="rId15"/>
    <p:sldId id="322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324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330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25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26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27" r:id="rId64"/>
    <p:sldId id="319" r:id="rId65"/>
    <p:sldId id="320" r:id="rId66"/>
    <p:sldId id="321" r:id="rId67"/>
    <p:sldId id="266" r:id="rId68"/>
    <p:sldId id="331" r:id="rId69"/>
    <p:sldId id="263" r:id="rId7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FD5087-3FCC-96D0-7A67-D0563177C9A1}" name="Easton Robert G USA GOV" initials="RGE" userId="Easton Robert G USA GOV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oss, Clayton D" initials="CCD" lastIdx="1" clrIdx="0">
    <p:extLst>
      <p:ext uri="{19B8F6BF-5375-455C-9EA6-DF929625EA0E}">
        <p15:presenceInfo xmlns:p15="http://schemas.microsoft.com/office/powerpoint/2012/main" userId="Cross, Clayton 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378" autoAdjust="0"/>
  </p:normalViewPr>
  <p:slideViewPr>
    <p:cSldViewPr snapToGrid="0">
      <p:cViewPr varScale="1">
        <p:scale>
          <a:sx n="49" d="100"/>
          <a:sy n="49" d="100"/>
        </p:scale>
        <p:origin x="133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238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commentAuthors" Target="commentAuthors.xml"/><Relationship Id="rId78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5B5D0-340B-4E36-9CF9-185D0E66E27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283BF-5CBE-4454-B8C7-2AC6C6C0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3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 9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References: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Key Points: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Explanation of any images/charts/graphics: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Questions students are most likely to ask:</a:t>
            </a: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Amplifying Details: </a:t>
            </a:r>
            <a:endParaRPr lang="en-US" sz="12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0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14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47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78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20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8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7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61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86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609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693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900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37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77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88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765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235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971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69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874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433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368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037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067708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657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14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23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0029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336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521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46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765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182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93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88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318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633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299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3159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787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5403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770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0153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27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6323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052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147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623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83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340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2032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39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6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450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0286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720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8776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286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8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 hasCustomPrompt="1"/>
          </p:nvPr>
        </p:nvSpPr>
        <p:spPr>
          <a:xfrm>
            <a:off x="2062480" y="89884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3533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Objective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ELOs covered in the lesson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Objectives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70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Overview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Brief Explanation of Lesson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Overview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15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1723854" y="3429000"/>
            <a:ext cx="9963493" cy="2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13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248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749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Comparis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1141622" y="1000540"/>
            <a:ext cx="4874101" cy="4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2" hasCustomPrompt="1"/>
          </p:nvPr>
        </p:nvSpPr>
        <p:spPr>
          <a:xfrm>
            <a:off x="1141621" y="1582321"/>
            <a:ext cx="4854344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0"/>
            <a:endParaRPr dirty="0"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3"/>
          </p:nvPr>
        </p:nvSpPr>
        <p:spPr>
          <a:xfrm>
            <a:off x="6195272" y="1000540"/>
            <a:ext cx="5603200" cy="4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4" hasCustomPrompt="1"/>
          </p:nvPr>
        </p:nvSpPr>
        <p:spPr>
          <a:xfrm>
            <a:off x="6199877" y="1582323"/>
            <a:ext cx="5598400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0"/>
            <a:endParaRPr dirty="0"/>
          </a:p>
        </p:txBody>
      </p:sp>
      <p:cxnSp>
        <p:nvCxnSpPr>
          <p:cNvPr id="38" name="Google Shape;38;p17"/>
          <p:cNvCxnSpPr>
            <a:cxnSpLocks/>
          </p:cNvCxnSpPr>
          <p:nvPr/>
        </p:nvCxnSpPr>
        <p:spPr>
          <a:xfrm>
            <a:off x="1141622" y="974035"/>
            <a:ext cx="1083024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17"/>
          <p:cNvCxnSpPr/>
          <p:nvPr/>
        </p:nvCxnSpPr>
        <p:spPr>
          <a:xfrm>
            <a:off x="6095137" y="974035"/>
            <a:ext cx="800" cy="53824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17"/>
          <p:cNvCxnSpPr>
            <a:cxnSpLocks/>
          </p:cNvCxnSpPr>
          <p:nvPr/>
        </p:nvCxnSpPr>
        <p:spPr>
          <a:xfrm>
            <a:off x="1141621" y="1504121"/>
            <a:ext cx="1083024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885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1363363" y="952052"/>
            <a:ext cx="3098248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1" hasCustomPrompt="1"/>
          </p:nvPr>
        </p:nvSpPr>
        <p:spPr>
          <a:xfrm>
            <a:off x="4720611" y="952053"/>
            <a:ext cx="7091600" cy="5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57189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44025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2pPr>
            <a:lvl3pPr marL="1828754" marR="0" lvl="2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3pPr>
            <a:lvl4pPr marL="2438339" marR="0" lvl="3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4pPr>
            <a:lvl5pPr marL="3047924" marR="0" lvl="4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5pPr>
            <a:lvl6pPr marL="3657509" marR="0" lvl="5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6pPr>
            <a:lvl7pPr marL="4267093" marR="0" lvl="6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7pPr>
            <a:lvl8pPr marL="4876678" marR="0" lvl="7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8pPr>
            <a:lvl9pPr marL="5316934" marR="0" lvl="8" indent="-2285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  <a:defRPr sz="1333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9pPr>
          </a:lstStyle>
          <a:p>
            <a:r>
              <a:rPr lang="en-US" dirty="0"/>
              <a:t>Text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Text</a:t>
            </a:r>
          </a:p>
          <a:p>
            <a:pPr lvl="3"/>
            <a:r>
              <a:rPr lang="en-US" dirty="0"/>
              <a:t>Text</a:t>
            </a:r>
          </a:p>
          <a:p>
            <a:pPr lvl="4"/>
            <a:r>
              <a:rPr lang="en-US" dirty="0"/>
              <a:t>Text</a:t>
            </a:r>
          </a:p>
          <a:p>
            <a:pPr lvl="5"/>
            <a:r>
              <a:rPr lang="en-US" dirty="0"/>
              <a:t>Text</a:t>
            </a:r>
          </a:p>
          <a:p>
            <a:pPr lvl="6"/>
            <a:r>
              <a:rPr lang="en-US" dirty="0"/>
              <a:t>Text</a:t>
            </a:r>
          </a:p>
          <a:p>
            <a:pPr lvl="7"/>
            <a:r>
              <a:rPr lang="en-US" dirty="0"/>
              <a:t>Text</a:t>
            </a:r>
          </a:p>
          <a:p>
            <a:pPr lvl="8"/>
            <a:r>
              <a:rPr lang="en-US" dirty="0"/>
              <a:t>Text</a:t>
            </a:r>
          </a:p>
          <a:p>
            <a:pPr lvl="8"/>
            <a:endParaRPr lang="en-US" dirty="0"/>
          </a:p>
          <a:p>
            <a:pPr lvl="8"/>
            <a:endParaRPr lang="en-US" dirty="0"/>
          </a:p>
          <a:p>
            <a:pPr lvl="0"/>
            <a:endParaRPr lang="en-US" dirty="0"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2"/>
          </p:nvPr>
        </p:nvSpPr>
        <p:spPr>
          <a:xfrm>
            <a:off x="1363363" y="2552252"/>
            <a:ext cx="3098248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30479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marL="1219170" marR="0" lvl="1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30479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52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1301578" y="987425"/>
            <a:ext cx="306142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>
          <a:xfrm>
            <a:off x="4666821" y="987425"/>
            <a:ext cx="7102000" cy="5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1301578" y="2587625"/>
            <a:ext cx="306142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1867" dirty="0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indent="-304792">
              <a:buClr>
                <a:schemeClr val="dk1"/>
              </a:buClr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843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 preserve="1">
  <p:cSld name="11_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8049777" y="6566743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218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Use" preserve="1" userDrawn="1">
  <p:cSld name="Master Us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;p14"/>
          <p:cNvSpPr txBox="1">
            <a:spLocks noGrp="1"/>
          </p:cNvSpPr>
          <p:nvPr>
            <p:ph type="title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74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Lesson Summar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body" idx="1" hasCustomPrompt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44025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1pPr>
            <a:lvl2pPr marL="1219170" marR="0" lvl="1" indent="-4233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2pPr>
            <a:lvl3pPr marL="1828754" marR="0" lvl="2" indent="-39792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3pPr>
            <a:lvl4pPr marL="2438339" marR="0" lvl="3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4pPr>
            <a:lvl5pPr marL="3047924" marR="0" lvl="4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5pPr>
            <a:lvl6pPr marL="3657509" marR="0" lvl="5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7pPr>
            <a:lvl8pPr marL="4876678" marR="0" lvl="7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8pPr>
            <a:lvl9pPr marL="5486263" marR="0" lvl="8" indent="-38945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 dirty="0"/>
              <a:t>Brief Summary of Lesson</a:t>
            </a:r>
            <a:endParaRPr dirty="0"/>
          </a:p>
        </p:txBody>
      </p:sp>
      <p:sp>
        <p:nvSpPr>
          <p:cNvPr id="21" name="Google Shape;21;p14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;p14"/>
          <p:cNvSpPr txBox="1">
            <a:spLocks noGrp="1"/>
          </p:cNvSpPr>
          <p:nvPr>
            <p:ph type="title" hasCustomPrompt="1"/>
          </p:nvPr>
        </p:nvSpPr>
        <p:spPr>
          <a:xfrm>
            <a:off x="1510028" y="519084"/>
            <a:ext cx="10361371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Lesson Summary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0084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Questio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 hasCustomPrompt="1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Questions?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8481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C8531C-6664-AC0C-ED00-3D1957BC281F}"/>
              </a:ext>
            </a:extLst>
          </p:cNvPr>
          <p:cNvSpPr/>
          <p:nvPr userDrawn="1"/>
        </p:nvSpPr>
        <p:spPr>
          <a:xfrm>
            <a:off x="-1" y="-20168"/>
            <a:ext cx="12191999" cy="26361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018CF-85D7-A3C5-985F-E66425541490}"/>
              </a:ext>
            </a:extLst>
          </p:cNvPr>
          <p:cNvSpPr/>
          <p:nvPr userDrawn="1"/>
        </p:nvSpPr>
        <p:spPr>
          <a:xfrm>
            <a:off x="1" y="243443"/>
            <a:ext cx="1128108" cy="6614557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Google Shape;7;p10"/>
          <p:cNvSpPr txBox="1">
            <a:spLocks noGrp="1"/>
          </p:cNvSpPr>
          <p:nvPr>
            <p:ph type="title"/>
          </p:nvPr>
        </p:nvSpPr>
        <p:spPr>
          <a:xfrm>
            <a:off x="1189403" y="646322"/>
            <a:ext cx="10682000" cy="57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 </a:t>
            </a:r>
            <a:endParaRPr dirty="0"/>
          </a:p>
        </p:txBody>
      </p:sp>
      <p:sp>
        <p:nvSpPr>
          <p:cNvPr id="8" name="Google Shape;8;p10"/>
          <p:cNvSpPr txBox="1">
            <a:spLocks noGrp="1"/>
          </p:cNvSpPr>
          <p:nvPr>
            <p:ph type="body" idx="1"/>
          </p:nvPr>
        </p:nvSpPr>
        <p:spPr>
          <a:xfrm>
            <a:off x="1189401" y="1384879"/>
            <a:ext cx="10682000" cy="485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endParaRPr dirty="0"/>
          </a:p>
        </p:txBody>
      </p:sp>
      <p:pic>
        <p:nvPicPr>
          <p:cNvPr id="9" name="Google Shape;9;p10"/>
          <p:cNvPicPr preferRelativeResize="0"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713" y="231455"/>
            <a:ext cx="928680" cy="92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>
            <a:spLocks noGrp="1"/>
          </p:cNvSpPr>
          <p:nvPr>
            <p:ph type="sldNum" idx="12"/>
          </p:nvPr>
        </p:nvSpPr>
        <p:spPr>
          <a:xfrm>
            <a:off x="10058399" y="6641435"/>
            <a:ext cx="2133600" cy="2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C8531C-6664-AC0C-ED00-3D1957BC281F}"/>
              </a:ext>
            </a:extLst>
          </p:cNvPr>
          <p:cNvSpPr/>
          <p:nvPr userDrawn="1"/>
        </p:nvSpPr>
        <p:spPr>
          <a:xfrm>
            <a:off x="-2" y="6594389"/>
            <a:ext cx="12191999" cy="26361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34" name="Group 33"/>
          <p:cNvGrpSpPr/>
          <p:nvPr userDrawn="1"/>
        </p:nvGrpSpPr>
        <p:grpSpPr>
          <a:xfrm>
            <a:off x="254537" y="37012"/>
            <a:ext cx="4123292" cy="140365"/>
            <a:chOff x="5526083" y="4992009"/>
            <a:chExt cx="3092469" cy="105274"/>
          </a:xfrm>
          <a:gradFill flip="none" rotWithShape="1">
            <a:gsLst>
              <a:gs pos="0">
                <a:schemeClr val="accent1"/>
              </a:gs>
              <a:gs pos="0">
                <a:schemeClr val="accent1"/>
              </a:gs>
            </a:gsLst>
            <a:lin ang="2700000" scaled="1"/>
            <a:tileRect/>
          </a:gradFill>
        </p:grpSpPr>
        <p:sp>
          <p:nvSpPr>
            <p:cNvPr id="35" name="Chevron 34"/>
            <p:cNvSpPr/>
            <p:nvPr userDrawn="1"/>
          </p:nvSpPr>
          <p:spPr>
            <a:xfrm>
              <a:off x="833915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6" name="Chevron 35"/>
            <p:cNvSpPr/>
            <p:nvPr userDrawn="1"/>
          </p:nvSpPr>
          <p:spPr>
            <a:xfrm>
              <a:off x="8059751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7" name="Chevron 36"/>
            <p:cNvSpPr/>
            <p:nvPr userDrawn="1"/>
          </p:nvSpPr>
          <p:spPr>
            <a:xfrm>
              <a:off x="7773998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8" name="Chevron 37"/>
            <p:cNvSpPr/>
            <p:nvPr userDrawn="1"/>
          </p:nvSpPr>
          <p:spPr>
            <a:xfrm>
              <a:off x="749459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9" name="Chevron 38"/>
            <p:cNvSpPr/>
            <p:nvPr userDrawn="1"/>
          </p:nvSpPr>
          <p:spPr>
            <a:xfrm>
              <a:off x="7215195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0" name="Chevron 39"/>
            <p:cNvSpPr/>
            <p:nvPr userDrawn="1"/>
          </p:nvSpPr>
          <p:spPr>
            <a:xfrm>
              <a:off x="692944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1" name="Chevron 40"/>
            <p:cNvSpPr/>
            <p:nvPr userDrawn="1"/>
          </p:nvSpPr>
          <p:spPr>
            <a:xfrm>
              <a:off x="6650040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Chevron 41"/>
            <p:cNvSpPr/>
            <p:nvPr userDrawn="1"/>
          </p:nvSpPr>
          <p:spPr>
            <a:xfrm>
              <a:off x="6370639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3" name="Chevron 42"/>
            <p:cNvSpPr/>
            <p:nvPr userDrawn="1"/>
          </p:nvSpPr>
          <p:spPr>
            <a:xfrm>
              <a:off x="608488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4" name="Chevron 43"/>
            <p:cNvSpPr/>
            <p:nvPr userDrawn="1"/>
          </p:nvSpPr>
          <p:spPr>
            <a:xfrm>
              <a:off x="5805484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45" name="Chevron 44"/>
            <p:cNvSpPr/>
            <p:nvPr userDrawn="1"/>
          </p:nvSpPr>
          <p:spPr>
            <a:xfrm>
              <a:off x="5526083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 Placeholder 16"/>
          <p:cNvSpPr txBox="1">
            <a:spLocks/>
          </p:cNvSpPr>
          <p:nvPr userDrawn="1"/>
        </p:nvSpPr>
        <p:spPr>
          <a:xfrm flipH="1">
            <a:off x="1043632" y="6366806"/>
            <a:ext cx="4211863" cy="221589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UNCLASSIFIED</a:t>
            </a:r>
          </a:p>
        </p:txBody>
      </p:sp>
      <p:sp>
        <p:nvSpPr>
          <p:cNvPr id="49" name="Text Placeholder 16"/>
          <p:cNvSpPr txBox="1">
            <a:spLocks/>
          </p:cNvSpPr>
          <p:nvPr userDrawn="1"/>
        </p:nvSpPr>
        <p:spPr>
          <a:xfrm>
            <a:off x="5482963" y="207088"/>
            <a:ext cx="6767512" cy="21210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 baseline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UNCLASSIFIED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ADCA60-3BD1-B7C2-7897-A83E6D91411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-2150855" y="3445521"/>
            <a:ext cx="5429815" cy="99117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6701C421-A6F9-D749-8480-ECF6D94627DA}"/>
              </a:ext>
            </a:extLst>
          </p:cNvPr>
          <p:cNvGrpSpPr/>
          <p:nvPr userDrawn="1"/>
        </p:nvGrpSpPr>
        <p:grpSpPr>
          <a:xfrm>
            <a:off x="7996753" y="6659805"/>
            <a:ext cx="4123292" cy="140365"/>
            <a:chOff x="5526083" y="4992009"/>
            <a:chExt cx="3092469" cy="105274"/>
          </a:xfrm>
          <a:gradFill flip="none" rotWithShape="1">
            <a:gsLst>
              <a:gs pos="0">
                <a:schemeClr val="accent1"/>
              </a:gs>
              <a:gs pos="0">
                <a:schemeClr val="accent1"/>
              </a:gs>
            </a:gsLst>
            <a:lin ang="2700000" scaled="1"/>
            <a:tileRect/>
          </a:gradFill>
        </p:grpSpPr>
        <p:sp>
          <p:nvSpPr>
            <p:cNvPr id="52" name="Chevron 34">
              <a:extLst>
                <a:ext uri="{FF2B5EF4-FFF2-40B4-BE49-F238E27FC236}">
                  <a16:creationId xmlns:a16="http://schemas.microsoft.com/office/drawing/2014/main" id="{A3DA9578-59FE-86FB-A354-142255DA60DA}"/>
                </a:ext>
              </a:extLst>
            </p:cNvPr>
            <p:cNvSpPr/>
            <p:nvPr userDrawn="1"/>
          </p:nvSpPr>
          <p:spPr>
            <a:xfrm>
              <a:off x="833915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3" name="Chevron 35">
              <a:extLst>
                <a:ext uri="{FF2B5EF4-FFF2-40B4-BE49-F238E27FC236}">
                  <a16:creationId xmlns:a16="http://schemas.microsoft.com/office/drawing/2014/main" id="{B04AF141-545B-B49E-C1E8-94740B9919BB}"/>
                </a:ext>
              </a:extLst>
            </p:cNvPr>
            <p:cNvSpPr/>
            <p:nvPr userDrawn="1"/>
          </p:nvSpPr>
          <p:spPr>
            <a:xfrm>
              <a:off x="8059751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4" name="Chevron 36">
              <a:extLst>
                <a:ext uri="{FF2B5EF4-FFF2-40B4-BE49-F238E27FC236}">
                  <a16:creationId xmlns:a16="http://schemas.microsoft.com/office/drawing/2014/main" id="{1A4E42AC-7995-9220-EB0F-FB2C216318D3}"/>
                </a:ext>
              </a:extLst>
            </p:cNvPr>
            <p:cNvSpPr/>
            <p:nvPr userDrawn="1"/>
          </p:nvSpPr>
          <p:spPr>
            <a:xfrm>
              <a:off x="7773998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5" name="Chevron 37">
              <a:extLst>
                <a:ext uri="{FF2B5EF4-FFF2-40B4-BE49-F238E27FC236}">
                  <a16:creationId xmlns:a16="http://schemas.microsoft.com/office/drawing/2014/main" id="{53C22C0C-6ECA-E350-C18D-0954C59A74BA}"/>
                </a:ext>
              </a:extLst>
            </p:cNvPr>
            <p:cNvSpPr/>
            <p:nvPr userDrawn="1"/>
          </p:nvSpPr>
          <p:spPr>
            <a:xfrm>
              <a:off x="749459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6" name="Chevron 38">
              <a:extLst>
                <a:ext uri="{FF2B5EF4-FFF2-40B4-BE49-F238E27FC236}">
                  <a16:creationId xmlns:a16="http://schemas.microsoft.com/office/drawing/2014/main" id="{F7C7267B-65F6-7F5D-55FA-BFF8A364F42B}"/>
                </a:ext>
              </a:extLst>
            </p:cNvPr>
            <p:cNvSpPr/>
            <p:nvPr userDrawn="1"/>
          </p:nvSpPr>
          <p:spPr>
            <a:xfrm>
              <a:off x="7215195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7" name="Chevron 39">
              <a:extLst>
                <a:ext uri="{FF2B5EF4-FFF2-40B4-BE49-F238E27FC236}">
                  <a16:creationId xmlns:a16="http://schemas.microsoft.com/office/drawing/2014/main" id="{7B9AD0EA-9215-55F3-CBC7-713862E4C839}"/>
                </a:ext>
              </a:extLst>
            </p:cNvPr>
            <p:cNvSpPr/>
            <p:nvPr userDrawn="1"/>
          </p:nvSpPr>
          <p:spPr>
            <a:xfrm>
              <a:off x="6929442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8" name="Chevron 40">
              <a:extLst>
                <a:ext uri="{FF2B5EF4-FFF2-40B4-BE49-F238E27FC236}">
                  <a16:creationId xmlns:a16="http://schemas.microsoft.com/office/drawing/2014/main" id="{BCD4AD2F-0902-4385-94F7-5ACB01D22A41}"/>
                </a:ext>
              </a:extLst>
            </p:cNvPr>
            <p:cNvSpPr/>
            <p:nvPr userDrawn="1"/>
          </p:nvSpPr>
          <p:spPr>
            <a:xfrm>
              <a:off x="6650040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9" name="Chevron 41">
              <a:extLst>
                <a:ext uri="{FF2B5EF4-FFF2-40B4-BE49-F238E27FC236}">
                  <a16:creationId xmlns:a16="http://schemas.microsoft.com/office/drawing/2014/main" id="{9C796D23-978C-FFFF-4038-1C937EE690D7}"/>
                </a:ext>
              </a:extLst>
            </p:cNvPr>
            <p:cNvSpPr/>
            <p:nvPr userDrawn="1"/>
          </p:nvSpPr>
          <p:spPr>
            <a:xfrm>
              <a:off x="6370639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0" name="Chevron 42">
              <a:extLst>
                <a:ext uri="{FF2B5EF4-FFF2-40B4-BE49-F238E27FC236}">
                  <a16:creationId xmlns:a16="http://schemas.microsoft.com/office/drawing/2014/main" id="{9080B428-A3B2-6A7E-177F-CF4DC7356652}"/>
                </a:ext>
              </a:extLst>
            </p:cNvPr>
            <p:cNvSpPr/>
            <p:nvPr userDrawn="1"/>
          </p:nvSpPr>
          <p:spPr>
            <a:xfrm>
              <a:off x="6084886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1" name="Chevron 43">
              <a:extLst>
                <a:ext uri="{FF2B5EF4-FFF2-40B4-BE49-F238E27FC236}">
                  <a16:creationId xmlns:a16="http://schemas.microsoft.com/office/drawing/2014/main" id="{54FDEC70-BB7A-14BD-BF44-B0F7EFDD1AA4}"/>
                </a:ext>
              </a:extLst>
            </p:cNvPr>
            <p:cNvSpPr/>
            <p:nvPr userDrawn="1"/>
          </p:nvSpPr>
          <p:spPr>
            <a:xfrm>
              <a:off x="5805484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2" name="Chevron 44">
              <a:extLst>
                <a:ext uri="{FF2B5EF4-FFF2-40B4-BE49-F238E27FC236}">
                  <a16:creationId xmlns:a16="http://schemas.microsoft.com/office/drawing/2014/main" id="{B3E053BC-053D-4B7F-17DA-2B8D0B40E67E}"/>
                </a:ext>
              </a:extLst>
            </p:cNvPr>
            <p:cNvSpPr/>
            <p:nvPr userDrawn="1"/>
          </p:nvSpPr>
          <p:spPr>
            <a:xfrm>
              <a:off x="5526083" y="4992009"/>
              <a:ext cx="279400" cy="105274"/>
            </a:xfrm>
            <a:prstGeom prst="chevron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1094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742" r:id="rId3"/>
    <p:sldLayoutId id="2147483738" r:id="rId4"/>
    <p:sldLayoutId id="2147483741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743" r:id="rId11"/>
    <p:sldLayoutId id="214748374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69329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6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BFBF38-23A7-0F2E-D8BE-EA155B607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Information Gathering and Active Reconnaissance </a:t>
            </a:r>
          </a:p>
        </p:txBody>
      </p:sp>
    </p:spTree>
    <p:extLst>
      <p:ext uri="{BB962C8B-B14F-4D97-AF65-F5344CB8AC3E}">
        <p14:creationId xmlns:p14="http://schemas.microsoft.com/office/powerpoint/2010/main" val="376691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2BCD14-3A7E-DE0E-CFB4-F73342F9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100" dirty="0">
                <a:solidFill>
                  <a:srgbClr val="00004C"/>
                </a:solidFill>
              </a:rPr>
              <a:t>Define active reconnaissance in the context of cyber threat hunting and counterstrike operations.</a:t>
            </a:r>
          </a:p>
          <a:p>
            <a:r>
              <a:rPr lang="en-US" sz="2100" dirty="0">
                <a:solidFill>
                  <a:srgbClr val="00004C"/>
                </a:solidFill>
              </a:rPr>
              <a:t>Understand the importance of information collection and reconnaissance in the context of cyber threat hunting and counterstrike operations.</a:t>
            </a:r>
          </a:p>
          <a:p>
            <a:r>
              <a:rPr lang="en-US" sz="2100" dirty="0">
                <a:solidFill>
                  <a:srgbClr val="00004C"/>
                </a:solidFill>
              </a:rPr>
              <a:t>Identify the active reconnaissance techniques from MITRE attack</a:t>
            </a:r>
          </a:p>
          <a:p>
            <a:r>
              <a:rPr lang="en-US" sz="2100" dirty="0">
                <a:solidFill>
                  <a:srgbClr val="00004C"/>
                </a:solidFill>
              </a:rPr>
              <a:t>Understand how to utilize active reconnaissance techniques from MITRE attack against threat actors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BF48D-7E62-D2FC-1F55-6E386664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Lesson Objectives</a:t>
            </a:r>
          </a:p>
        </p:txBody>
      </p:sp>
    </p:spTree>
    <p:extLst>
      <p:ext uri="{BB962C8B-B14F-4D97-AF65-F5344CB8AC3E}">
        <p14:creationId xmlns:p14="http://schemas.microsoft.com/office/powerpoint/2010/main" val="65691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DAA81-2548-A29E-6AC6-0AA51265A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</a:p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</a:p>
          <a:p>
            <a:r>
              <a:rPr lang="en-US" dirty="0">
                <a:solidFill>
                  <a:srgbClr val="00004C"/>
                </a:solidFill>
              </a:rPr>
              <a:t>Nmap Deep Dive</a:t>
            </a:r>
          </a:p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</a:p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</a:p>
          <a:p>
            <a:r>
              <a:rPr lang="en-US" b="0" i="0" dirty="0">
                <a:solidFill>
                  <a:srgbClr val="00004C"/>
                </a:solidFill>
                <a:effectLst/>
              </a:rPr>
              <a:t>Mapping to MITRE ATT&amp;CK®</a:t>
            </a:r>
          </a:p>
          <a:p>
            <a:endParaRPr lang="en-US" dirty="0">
              <a:solidFill>
                <a:srgbClr val="00004C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783229-08CD-D0C0-F4EF-FDDD591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Lesson Overview</a:t>
            </a:r>
          </a:p>
        </p:txBody>
      </p:sp>
    </p:spTree>
    <p:extLst>
      <p:ext uri="{BB962C8B-B14F-4D97-AF65-F5344CB8AC3E}">
        <p14:creationId xmlns:p14="http://schemas.microsoft.com/office/powerpoint/2010/main" val="114460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18E-FF10-35E0-9F7B-C9B39F57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25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focus of today’s lesson will be on gathering intelligence on adversary infrastructure from blue space.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2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Passive Reconnaissance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Indirect methods: OSINT, DNS queries, public data sources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No direct interaction with target; low detection risk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Builds initial picture of adversary command and control or attack infrastructure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r>
              <a:rPr lang="en-US" b="1" dirty="0">
                <a:solidFill>
                  <a:srgbClr val="00004C"/>
                </a:solidFill>
              </a:rPr>
              <a:t>Active Reconnaissance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Direct probing of adversary systems (e.g., scans from blue space)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Higher yield on live services, versions, and vulnerabilities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Essential for planning counterstrikes against covert adversary nodes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Advantage in blue space: We control our probing environment, launching from networks the adversary has engaged with to blend probes as expected responses while targeting adversary infrastructure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97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72B4D"/>
                </a:solidFill>
                <a:effectLst/>
                <a:latin typeface="-apple-system"/>
              </a:rPr>
              <a:t>What is Active Recon?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Sending packets to adversary infrastructure to elicit responses.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Reveals open ports, services, OS details for exploitation planning.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In counterstrike operations: Identifies weak points in attacker's command and control servers or botnets.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Blue space advantage: Launch from networks the adversary has already engaged with and expects responses from, potentially accessing infrastructure they have blocked from external sources while blending our probes with expected traffic.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63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72B4D"/>
                </a:solidFill>
                <a:effectLst/>
              </a:rPr>
              <a:t>Transition Triggers</a:t>
            </a:r>
            <a:endParaRPr lang="en-US" b="0" i="0" dirty="0">
              <a:solidFill>
                <a:srgbClr val="172B4D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</a:rPr>
              <a:t>Passive reconnaissance identifies potential targets (e.g., IP address ranges hosting malware command and control).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</a:rPr>
              <a:t>Need confirmation of live services for counterstrike targeting.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</a:rPr>
              <a:t>Timing: After passive intelligence confirms high-value, adversary assets, transition to active methods for verification and deeper enumeration.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172B4D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72B4D"/>
                </a:solidFill>
                <a:effectLst/>
              </a:rPr>
              <a:t>Example: </a:t>
            </a:r>
            <a:r>
              <a:rPr lang="en-US" b="0" i="0" dirty="0">
                <a:solidFill>
                  <a:srgbClr val="172B4D"/>
                </a:solidFill>
                <a:effectLst/>
              </a:rPr>
              <a:t>Passive DNS yields suspect domain; active scan verifies exploitable services.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66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Key Risks in Active Recon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As experienced threat hunters, recognize that the adversary is likely hunting you too; your probes on their infrastructure could alert their defenders, mirroring the hunts you conduct in blue space.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Probing generates traffic that the adversary side can log and correlate, potentially exposing your operational patterns.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From blue space: Our position allows controlled emission, but the adversary may detect unusual probes on their infrastructure, turning the tables on your reconnaissance.</a:t>
            </a:r>
          </a:p>
          <a:p>
            <a:pPr lvl="1"/>
            <a:endParaRPr lang="en-US" dirty="0">
              <a:solidFill>
                <a:srgbClr val="00004C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3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Key Risks in Active Recon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Mitigation: </a:t>
            </a:r>
            <a:r>
              <a:rPr lang="en-US" dirty="0">
                <a:solidFill>
                  <a:srgbClr val="00004C"/>
                </a:solidFill>
              </a:rPr>
              <a:t>Use stealth techniques to mimic normal traffic, staying one step ahead in this mutual hunt.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Focus: </a:t>
            </a:r>
            <a:r>
              <a:rPr lang="en-US" dirty="0">
                <a:solidFill>
                  <a:srgbClr val="00004C"/>
                </a:solidFill>
              </a:rPr>
              <a:t>Weigh against gains in counterstrike intelligence (e.g., vulnerability discovery for disruption).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10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00004C"/>
                </a:solidFill>
                <a:effectLst/>
              </a:rPr>
              <a:t>Log Generation and Alerts</a:t>
            </a:r>
            <a:endParaRPr lang="en-US" b="0" i="0" dirty="0">
              <a:solidFill>
                <a:srgbClr val="00004C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4C"/>
                </a:solidFill>
                <a:effectLst/>
              </a:rPr>
              <a:t>Target systems log connection attempts, potentially alerting adversary operators who are actively threat hunting your activity.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4C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4C"/>
                </a:solidFill>
                <a:effectLst/>
              </a:rPr>
              <a:t>IDS/IPS on the adversary’s side may flag scans as anomalous, just as you would in defending blue space.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4C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4C"/>
                </a:solidFill>
                <a:effectLst/>
              </a:rPr>
              <a:t>Blue space leverage: We can simulate from multiple vantage points, diluting patterns and complicating the adversary’s hunt for your operations.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4C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4C"/>
                </a:solidFill>
                <a:effectLst/>
              </a:rPr>
              <a:t>Operational note: </a:t>
            </a:r>
            <a:r>
              <a:rPr lang="en-US" b="0" i="0" dirty="0">
                <a:solidFill>
                  <a:srgbClr val="00004C"/>
                </a:solidFill>
                <a:effectLst/>
              </a:rPr>
              <a:t>In a military campaign, proceed per lawful orders; prioritize intelligence for effects generation while anticipating the adversary’s defensive countermeasures.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solidFill>
                  <a:srgbClr val="00004C"/>
                </a:solidFill>
              </a:rPr>
              <a:t>Introduction to Active Reconnaissance</a:t>
            </a:r>
            <a:br>
              <a:rPr lang="en-US">
                <a:solidFill>
                  <a:srgbClr val="00004C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82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4C"/>
                </a:solidFill>
                <a:effectLst/>
              </a:rPr>
              <a:t>MITRE ATT&amp;CK® Mapping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TA0043: Reconnaissance &gt; T1595: Active Scanning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Used by adversaries against us, but we flip it; scan their infrastructure for counteroperations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Sub-techniques: IP address block scanning (T1595.001), vulnerability scanning (T1595.002)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Application: Feeds into TA0001 Initial Access for counterstrikes, exploiting discovered vulnerabilities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64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300F60-9C35-AA76-3209-6D06AC276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4C"/>
                </a:solidFill>
                <a:effectLst/>
              </a:rPr>
              <a:t>Operations and ROE in counter strike Context</a:t>
            </a:r>
          </a:p>
          <a:p>
            <a:pPr marL="169329" indent="0">
              <a:buNone/>
            </a:pPr>
            <a:endParaRPr lang="en-US" b="1" i="0" dirty="0">
              <a:solidFill>
                <a:srgbClr val="00004C"/>
              </a:solidFill>
              <a:effectLst/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ROE: </a:t>
            </a:r>
            <a:r>
              <a:rPr lang="en-US" dirty="0">
                <a:solidFill>
                  <a:srgbClr val="00004C"/>
                </a:solidFill>
              </a:rPr>
              <a:t>Exploitation of adversary infrastructure explicitly allowed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 advantages: </a:t>
            </a:r>
            <a:r>
              <a:rPr lang="en-US" dirty="0">
                <a:solidFill>
                  <a:srgbClr val="00004C"/>
                </a:solidFill>
              </a:rPr>
              <a:t>Full visibility/control for planning; target covert, unrelated assets without self-compromise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Considerations: </a:t>
            </a:r>
            <a:r>
              <a:rPr lang="en-US" dirty="0">
                <a:solidFill>
                  <a:srgbClr val="00004C"/>
                </a:solidFill>
              </a:rPr>
              <a:t>Coordinate with intelligence for target validation; ensure probes align with campaign objectives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Goal: </a:t>
            </a:r>
            <a:r>
              <a:rPr lang="en-US" dirty="0">
                <a:solidFill>
                  <a:srgbClr val="00004C"/>
                </a:solidFill>
              </a:rPr>
              <a:t>Generate effects (e.g., disrupt command and control) via precise reconnaissance-driven strikes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0AC48-7535-8E91-CEA1-F7FC65A5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Introduction to Active Reconnaissance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73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54E4-5AB5-467A-1535-774BE325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19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TCP/IP Basics for Scanning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Assume baseline: </a:t>
            </a:r>
            <a:r>
              <a:rPr lang="en-US" dirty="0">
                <a:solidFill>
                  <a:srgbClr val="00004C"/>
                </a:solidFill>
              </a:rPr>
              <a:t>Layers (Network, Transport) key for reconnaissance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IP: </a:t>
            </a:r>
            <a:r>
              <a:rPr lang="en-US" dirty="0">
                <a:solidFill>
                  <a:srgbClr val="00004C"/>
                </a:solidFill>
              </a:rPr>
              <a:t>Addressing/routing to reach adversary nodes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TCP: </a:t>
            </a:r>
            <a:r>
              <a:rPr lang="en-US" dirty="0">
                <a:solidFill>
                  <a:srgbClr val="00004C"/>
                </a:solidFill>
              </a:rPr>
              <a:t>Connection-oriented; </a:t>
            </a:r>
            <a:r>
              <a:rPr lang="en-US" b="1" dirty="0">
                <a:solidFill>
                  <a:srgbClr val="00004C"/>
                </a:solidFill>
              </a:rPr>
              <a:t>UDP:</a:t>
            </a:r>
            <a:r>
              <a:rPr lang="en-US" dirty="0">
                <a:solidFill>
                  <a:srgbClr val="00004C"/>
                </a:solidFill>
              </a:rPr>
              <a:t> Connectionless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 counteroperations: </a:t>
            </a:r>
            <a:r>
              <a:rPr lang="en-US" dirty="0">
                <a:solidFill>
                  <a:srgbClr val="00004C"/>
                </a:solidFill>
              </a:rPr>
              <a:t>Probe TCP for reliable service intelligence; UDP for stealthy discovery of hidden services on attack infrastructure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19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TCP Handshake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SYN &gt; SYN-ACK &gt; ACK: Establishes full connection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States: CLOSED, LISTEN, SYN_SENT, SYN_RCVD, ESTABLISHED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Scanning exploits this: Half-open (SYN) leaves no full connection logs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Blue space edge: Send from controlled IP addresses, observe responses to map adversary's covert network states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716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TCP Connect Scan (Full Connection)</a:t>
            </a:r>
          </a:p>
          <a:p>
            <a:pPr lvl="1"/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Uses full three-way handshake (-</a:t>
            </a:r>
            <a:r>
              <a:rPr lang="en-US" dirty="0" err="1">
                <a:solidFill>
                  <a:srgbClr val="00004C"/>
                </a:solidFill>
              </a:rPr>
              <a:t>sT</a:t>
            </a:r>
            <a:r>
              <a:rPr lang="en-US" dirty="0">
                <a:solidFill>
                  <a:srgbClr val="00004C"/>
                </a:solidFill>
              </a:rPr>
              <a:t> in Nmap)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Pros</a:t>
            </a:r>
            <a:r>
              <a:rPr lang="en-US" dirty="0">
                <a:solidFill>
                  <a:srgbClr val="00004C"/>
                </a:solidFill>
              </a:rPr>
              <a:t>: Reliable, works through stateful firewalls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Cons: </a:t>
            </a:r>
            <a:r>
              <a:rPr lang="en-US" dirty="0">
                <a:solidFill>
                  <a:srgbClr val="00004C"/>
                </a:solidFill>
              </a:rPr>
              <a:t>Noisier; creates full logs on target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Use case: </a:t>
            </a:r>
            <a:r>
              <a:rPr lang="en-US" dirty="0">
                <a:solidFill>
                  <a:srgbClr val="00004C"/>
                </a:solidFill>
              </a:rPr>
              <a:t>When stealth secondary to thoroughness in targeting adversary command and control for disruption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096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SYN Scan (Stealth, Half-Open)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Sends SYN, receives SYN-ACK (open), sends RST (no full connect)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Pros: </a:t>
            </a:r>
            <a:r>
              <a:rPr lang="en-US" dirty="0">
                <a:solidFill>
                  <a:srgbClr val="00004C"/>
                </a:solidFill>
              </a:rPr>
              <a:t>Faster, less logging (target sees failed attempt)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Cons</a:t>
            </a:r>
            <a:r>
              <a:rPr lang="en-US" dirty="0">
                <a:solidFill>
                  <a:srgbClr val="00004C"/>
                </a:solidFill>
              </a:rPr>
              <a:t>: Requires raw sockets (root/admin)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Ideal for counter strike: </a:t>
            </a:r>
            <a:r>
              <a:rPr lang="en-US" dirty="0">
                <a:solidFill>
                  <a:srgbClr val="00004C"/>
                </a:solidFill>
              </a:rPr>
              <a:t>Probe covert infrastructure without alerting adversary defenders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14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UDP Scan (Connectionless Challenges)</a:t>
            </a:r>
          </a:p>
          <a:p>
            <a:pPr marL="169329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Sends UDP packets; open ports respond (or ICMP unreachable for closed)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Pros: </a:t>
            </a:r>
            <a:r>
              <a:rPr lang="en-US" dirty="0">
                <a:solidFill>
                  <a:srgbClr val="00004C"/>
                </a:solidFill>
              </a:rPr>
              <a:t>Discovers UDP services (e.g., DNS on attack servers)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Cons: </a:t>
            </a:r>
            <a:r>
              <a:rPr lang="en-US" dirty="0">
                <a:solidFill>
                  <a:srgbClr val="00004C"/>
                </a:solidFill>
              </a:rPr>
              <a:t>Slow, unreliable (rate limiting, no handshakes)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Application: </a:t>
            </a:r>
            <a:r>
              <a:rPr lang="en-US" dirty="0">
                <a:solidFill>
                  <a:srgbClr val="00004C"/>
                </a:solidFill>
              </a:rPr>
              <a:t>Enumerate UDP-based command and control channels in adversary networks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21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Evasion Techniques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FIN Scan: </a:t>
            </a:r>
            <a:r>
              <a:rPr lang="en-US" dirty="0">
                <a:solidFill>
                  <a:srgbClr val="00004C"/>
                </a:solidFill>
              </a:rPr>
              <a:t>Sends FIN to open ports (should RST); closed ignore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NULL/Xmas: </a:t>
            </a:r>
            <a:r>
              <a:rPr lang="en-US" dirty="0">
                <a:solidFill>
                  <a:srgbClr val="00004C"/>
                </a:solidFill>
              </a:rPr>
              <a:t>Malformed packets (no flags or illegal combos) to bypass simple filters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Pros:</a:t>
            </a:r>
            <a:r>
              <a:rPr lang="en-US" dirty="0">
                <a:solidFill>
                  <a:srgbClr val="00004C"/>
                </a:solidFill>
              </a:rPr>
              <a:t> Evade basic firewalls/IDS on adversary side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Use: </a:t>
            </a:r>
            <a:r>
              <a:rPr lang="en-US" dirty="0">
                <a:solidFill>
                  <a:srgbClr val="00004C"/>
                </a:solidFill>
              </a:rPr>
              <a:t>When targeting heavily filtered covert infrastructure from blue 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88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Port States: Open, Closed, Filtered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As defenders in blue space, you can directly query systems (e.g., netstat, ss) to see listening ports and states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When scanning adversary assets for the same information: States must often be inferred from packet responses, as direct visibility is unavailable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Open: </a:t>
            </a:r>
            <a:r>
              <a:rPr lang="en-US" dirty="0">
                <a:solidFill>
                  <a:srgbClr val="00004C"/>
                </a:solidFill>
              </a:rPr>
              <a:t>Service accepting connections (SYN-ACK response; exploitable?)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Closed: </a:t>
            </a:r>
            <a:r>
              <a:rPr lang="en-US" dirty="0">
                <a:solidFill>
                  <a:srgbClr val="00004C"/>
                </a:solidFill>
              </a:rPr>
              <a:t>No service; sends RST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Filtered: </a:t>
            </a:r>
            <a:r>
              <a:rPr lang="en-US" dirty="0">
                <a:solidFill>
                  <a:srgbClr val="00004C"/>
                </a:solidFill>
              </a:rPr>
              <a:t>No response (firewall drop; implies potential stealth services)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Reconnaissance goal: </a:t>
            </a:r>
            <a:r>
              <a:rPr lang="en-US" dirty="0">
                <a:solidFill>
                  <a:srgbClr val="00004C"/>
                </a:solidFill>
              </a:rPr>
              <a:t>Map these on adversary infrastructure to prioritize counterstrike vectors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8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Scan Timing and Stealth - Aggressive vs. Slow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As threat hunters, you've seen </a:t>
            </a:r>
            <a:r>
              <a:rPr lang="en-US" b="1" dirty="0">
                <a:solidFill>
                  <a:srgbClr val="00004C"/>
                </a:solidFill>
              </a:rPr>
              <a:t>aggressive scans </a:t>
            </a:r>
            <a:r>
              <a:rPr lang="en-US" dirty="0">
                <a:solidFill>
                  <a:srgbClr val="00004C"/>
                </a:solidFill>
              </a:rPr>
              <a:t>(high packet rate) light up your IDS in blue space hunts—now, when probing adversaries, the same applies; fast scans deliver quick intelligence but risk alerting their defenders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Slow scans</a:t>
            </a:r>
            <a:r>
              <a:rPr lang="en-US" dirty="0">
                <a:solidFill>
                  <a:srgbClr val="00004C"/>
                </a:solidFill>
              </a:rPr>
              <a:t>: Spread out to evade detection thresholds, blending like the stealthy adversary probes you've analyzed and blocked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Trade-offs:</a:t>
            </a:r>
            <a:r>
              <a:rPr lang="en-US" dirty="0">
                <a:solidFill>
                  <a:srgbClr val="00004C"/>
                </a:solidFill>
              </a:rPr>
              <a:t> Speed gains intelligence fast but risks alerts (familiar from your defensive experience); slow blends in, requiring patience for operational success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space: </a:t>
            </a:r>
            <a:r>
              <a:rPr lang="en-US" dirty="0">
                <a:solidFill>
                  <a:srgbClr val="00004C"/>
                </a:solidFill>
              </a:rPr>
              <a:t>Time probes to operational windows, leveraging our network control to mirror the evasion tactics you've countered in past hunts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7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Trade-offs: Speed vs. Detectability vs. Accuracy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Speed: </a:t>
            </a:r>
            <a:r>
              <a:rPr lang="en-US" dirty="0">
                <a:solidFill>
                  <a:srgbClr val="00004C"/>
                </a:solidFill>
              </a:rPr>
              <a:t>Quick mapping of adversary IP address blocks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Detectability: </a:t>
            </a:r>
            <a:r>
              <a:rPr lang="en-US" dirty="0">
                <a:solidFill>
                  <a:srgbClr val="00004C"/>
                </a:solidFill>
              </a:rPr>
              <a:t>Slow pacing reduces SIEM hits on their side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Accuracy: </a:t>
            </a:r>
            <a:r>
              <a:rPr lang="en-US" dirty="0">
                <a:solidFill>
                  <a:srgbClr val="00004C"/>
                </a:solidFill>
              </a:rPr>
              <a:t>Comprehensive scans confirm vulnerabilities for countereffects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Strategy: </a:t>
            </a:r>
            <a:r>
              <a:rPr lang="en-US" dirty="0">
                <a:solidFill>
                  <a:srgbClr val="00004C"/>
                </a:solidFill>
              </a:rPr>
              <a:t>Start slow from blue vantage, escalate if ROE permits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4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Timing Considerations for Operational Environment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Align with adversary patterns (e.g., scan during their peak to blend)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 advantage: </a:t>
            </a:r>
            <a:r>
              <a:rPr lang="en-US" dirty="0">
                <a:solidFill>
                  <a:srgbClr val="00004C"/>
                </a:solidFill>
              </a:rPr>
              <a:t>Monitor global traffic, choose low-visibility paths to their covert infrastructure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Avoid patterns: </a:t>
            </a:r>
            <a:r>
              <a:rPr lang="en-US" dirty="0">
                <a:solidFill>
                  <a:srgbClr val="00004C"/>
                </a:solidFill>
              </a:rPr>
              <a:t>Randomize intervals for anti-correlation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99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Firewall and IDS Evasion – Fragmentation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Break packets into fragments to reassemble on target, bypassing filters that inspect full packets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Effective against basic firewalls/IDS on adversary side, similar to evasion techniques you've dissected in defensive hunts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Tool: Nmap --</a:t>
            </a:r>
            <a:r>
              <a:rPr lang="en-US" dirty="0" err="1">
                <a:solidFill>
                  <a:srgbClr val="00004C"/>
                </a:solidFill>
              </a:rPr>
              <a:t>mtu</a:t>
            </a:r>
            <a:r>
              <a:rPr lang="en-US" dirty="0">
                <a:solidFill>
                  <a:srgbClr val="00004C"/>
                </a:solidFill>
              </a:rPr>
              <a:t>; use against adversary firewalls protecting attack nodes to maintain stealth in counteroperations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2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7F9A85-BD19-3E35-36EF-2F4FB313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Evasion - Decoys, Source Port Manipulation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Decoys: </a:t>
            </a:r>
            <a:r>
              <a:rPr lang="en-US" dirty="0">
                <a:solidFill>
                  <a:srgbClr val="00004C"/>
                </a:solidFill>
              </a:rPr>
              <a:t>Spoof multiple source IP addresses to dilute logs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Source Port Manipulation: </a:t>
            </a:r>
            <a:r>
              <a:rPr lang="en-US" dirty="0">
                <a:solidFill>
                  <a:srgbClr val="00004C"/>
                </a:solidFill>
              </a:rPr>
              <a:t>Use common ports (e.g., 53) to mimic legit traffic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Timing Adjustments: </a:t>
            </a:r>
            <a:r>
              <a:rPr lang="en-US" dirty="0">
                <a:solidFill>
                  <a:srgbClr val="00004C"/>
                </a:solidFill>
              </a:rPr>
              <a:t>Pause/resume to evade rate-based IDS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Advantage: </a:t>
            </a:r>
            <a:r>
              <a:rPr lang="en-US" dirty="0">
                <a:solidFill>
                  <a:srgbClr val="00004C"/>
                </a:solidFill>
              </a:rPr>
              <a:t>From blue space, layer with proxies for untraceable probes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A094EE-3A7A-3767-F7D6-09065C02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Network Scanning Fundamentals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51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D8A7-7AED-9576-BD79-97160FE1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197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Nmap: The Reconnaissance Workhorse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Open-source scanner for network discovery/host enumeration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Capabilities: </a:t>
            </a:r>
            <a:r>
              <a:rPr lang="en-US" dirty="0">
                <a:solidFill>
                  <a:srgbClr val="00004C"/>
                </a:solidFill>
              </a:rPr>
              <a:t>Port scanning, service/version detection, OS fingering, scripting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 counteroperations: </a:t>
            </a:r>
            <a:r>
              <a:rPr lang="en-US" dirty="0">
                <a:solidFill>
                  <a:srgbClr val="00004C"/>
                </a:solidFill>
              </a:rPr>
              <a:t>Primary tool for active intelligence on adversary infrastructure from blue 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452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Basic Nmap Syntax - Target Specification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Target: </a:t>
            </a:r>
            <a:r>
              <a:rPr lang="en-US" dirty="0">
                <a:solidFill>
                  <a:srgbClr val="00004C"/>
                </a:solidFill>
              </a:rPr>
              <a:t>IP address/range (e.g., 192.168.1.0/24), domain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10.0.0.1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For blocks</a:t>
            </a:r>
            <a:r>
              <a:rPr lang="en-US" dirty="0">
                <a:solidFill>
                  <a:srgbClr val="00004C"/>
                </a:solidFill>
              </a:rPr>
              <a:t>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203.0.113.0/24 (scan adversary IP address ranges)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36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 Port Specification and Scan Types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-p: Specify ports (e.g., -p 80,22 or -p- for all)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sS</a:t>
            </a:r>
            <a:r>
              <a:rPr lang="en-US" dirty="0">
                <a:solidFill>
                  <a:srgbClr val="00004C"/>
                </a:solidFill>
              </a:rPr>
              <a:t>: SYN scan (stealth)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sT</a:t>
            </a:r>
            <a:r>
              <a:rPr lang="en-US" dirty="0">
                <a:solidFill>
                  <a:srgbClr val="00004C"/>
                </a:solidFill>
              </a:rPr>
              <a:t>: TCP Connect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sU</a:t>
            </a:r>
            <a:r>
              <a:rPr lang="en-US" dirty="0">
                <a:solidFill>
                  <a:srgbClr val="00004C"/>
                </a:solidFill>
              </a:rPr>
              <a:t>: UDP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</a:t>
            </a:r>
            <a:r>
              <a:rPr lang="en-US" dirty="0" err="1">
                <a:solidFill>
                  <a:srgbClr val="00004C"/>
                </a:solidFill>
              </a:rPr>
              <a:t>sS</a:t>
            </a:r>
            <a:r>
              <a:rPr lang="en-US" dirty="0">
                <a:solidFill>
                  <a:srgbClr val="00004C"/>
                </a:solidFill>
              </a:rPr>
              <a:t> -p- target (full port SYN on covert command and control)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08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Timing: -T0 to -T5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T0: </a:t>
            </a:r>
            <a:r>
              <a:rPr lang="en-US" dirty="0">
                <a:solidFill>
                  <a:srgbClr val="00004C"/>
                </a:solidFill>
              </a:rPr>
              <a:t>Paranoid (very slow, stealthy)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T5: </a:t>
            </a:r>
            <a:r>
              <a:rPr lang="en-US" dirty="0">
                <a:solidFill>
                  <a:srgbClr val="00004C"/>
                </a:solidFill>
              </a:rPr>
              <a:t>Insane (fast, detectable)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Output: </a:t>
            </a:r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oN</a:t>
            </a:r>
            <a:r>
              <a:rPr lang="en-US" dirty="0">
                <a:solidFill>
                  <a:srgbClr val="00004C"/>
                </a:solidFill>
              </a:rPr>
              <a:t> (normal), -</a:t>
            </a:r>
            <a:r>
              <a:rPr lang="en-US" dirty="0" err="1">
                <a:solidFill>
                  <a:srgbClr val="00004C"/>
                </a:solidFill>
              </a:rPr>
              <a:t>oX</a:t>
            </a:r>
            <a:r>
              <a:rPr lang="en-US" dirty="0">
                <a:solidFill>
                  <a:srgbClr val="00004C"/>
                </a:solidFill>
              </a:rPr>
              <a:t> (XML), -</a:t>
            </a:r>
            <a:r>
              <a:rPr lang="en-US" dirty="0" err="1">
                <a:solidFill>
                  <a:srgbClr val="00004C"/>
                </a:solidFill>
              </a:rPr>
              <a:t>oA</a:t>
            </a:r>
            <a:r>
              <a:rPr lang="en-US" dirty="0">
                <a:solidFill>
                  <a:srgbClr val="00004C"/>
                </a:solidFill>
              </a:rPr>
              <a:t> (all) for analysis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Use T3-T4 for balanced counter strike reconnaissance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08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Service and Version Detection –</a:t>
            </a:r>
            <a:r>
              <a:rPr lang="en-US" b="1" dirty="0" err="1">
                <a:solidFill>
                  <a:srgbClr val="00004C"/>
                </a:solidFill>
              </a:rPr>
              <a:t>sV</a:t>
            </a:r>
            <a:endParaRPr lang="en-US" b="1" dirty="0">
              <a:solidFill>
                <a:srgbClr val="00004C"/>
              </a:solidFill>
            </a:endParaRP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How it works: </a:t>
            </a:r>
            <a:r>
              <a:rPr lang="en-US" dirty="0">
                <a:solidFill>
                  <a:srgbClr val="00004C"/>
                </a:solidFill>
              </a:rPr>
              <a:t>After identifying open ports, -</a:t>
            </a:r>
            <a:r>
              <a:rPr lang="en-US" dirty="0" err="1">
                <a:solidFill>
                  <a:srgbClr val="00004C"/>
                </a:solidFill>
              </a:rPr>
              <a:t>sV</a:t>
            </a:r>
            <a:r>
              <a:rPr lang="en-US" dirty="0">
                <a:solidFill>
                  <a:srgbClr val="00004C"/>
                </a:solidFill>
              </a:rPr>
              <a:t> sends crafted probes (e.g., HTTP GET for port 80, SMTP HELO for 25) to elicit banners/responses revealing service name and version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Relies on: </a:t>
            </a:r>
            <a:r>
              <a:rPr lang="en-US" dirty="0">
                <a:solidFill>
                  <a:srgbClr val="00004C"/>
                </a:solidFill>
              </a:rPr>
              <a:t>Nmap's database of known service signatures to match and fingerprint (e.g., Apache 2.4.41 from server header)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Reveals: </a:t>
            </a:r>
            <a:r>
              <a:rPr lang="en-US" dirty="0">
                <a:solidFill>
                  <a:srgbClr val="00004C"/>
                </a:solidFill>
              </a:rPr>
              <a:t>exploitable software on adversary systems, including patch levels for targeted vulnerabilities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</a:t>
            </a:r>
            <a:r>
              <a:rPr lang="en-US" dirty="0" err="1">
                <a:solidFill>
                  <a:srgbClr val="00004C"/>
                </a:solidFill>
              </a:rPr>
              <a:t>sV</a:t>
            </a:r>
            <a:r>
              <a:rPr lang="en-US" dirty="0">
                <a:solidFill>
                  <a:srgbClr val="00004C"/>
                </a:solidFill>
              </a:rPr>
              <a:t> -p 80,443 target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Ties to counterstrikes:</a:t>
            </a:r>
            <a:r>
              <a:rPr lang="en-US" dirty="0">
                <a:solidFill>
                  <a:srgbClr val="00004C"/>
                </a:solidFill>
              </a:rPr>
              <a:t> Version intelligence enables selection of specific exploits (e.g., CVE matching the detected version) for counteroperations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326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OS Detection –O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How it works: </a:t>
            </a:r>
            <a:r>
              <a:rPr lang="en-US" dirty="0">
                <a:solidFill>
                  <a:srgbClr val="00004C"/>
                </a:solidFill>
              </a:rPr>
              <a:t>Sends specialized probes (e.g., TCP SYN with unusual flags, ICMP variations, TCP/IP stack options) to elicit responses that reveal OS-specific quirks in TCP sequence numbers, window sizes, TTL values, and packet handling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Compares responses against Nmap's OS fingerprint database (</a:t>
            </a:r>
            <a:r>
              <a:rPr lang="en-US" dirty="0" err="1">
                <a:solidFill>
                  <a:srgbClr val="00004C"/>
                </a:solidFill>
              </a:rPr>
              <a:t>nmap-os-db</a:t>
            </a:r>
            <a:r>
              <a:rPr lang="en-US" dirty="0">
                <a:solidFill>
                  <a:srgbClr val="00004C"/>
                </a:solidFill>
              </a:rPr>
              <a:t>) to match and identify OS family, version, and device type (e.g., Linux 5.x kernel on attack server)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Value: </a:t>
            </a:r>
            <a:r>
              <a:rPr lang="en-US" dirty="0">
                <a:solidFill>
                  <a:srgbClr val="00004C"/>
                </a:solidFill>
              </a:rPr>
              <a:t>OS-specific exploits for countereffects, enabling selection of kernel vulnerabilities or misconfigurations for precise counterstrikes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-O target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Ties to counteroperations: </a:t>
            </a:r>
            <a:r>
              <a:rPr lang="en-US" dirty="0">
                <a:solidFill>
                  <a:srgbClr val="00004C"/>
                </a:solidFill>
              </a:rPr>
              <a:t>OS intelligence informs privilege escalation or persistence techniques tailored to the adversary's detected platform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49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Aggressive Scan –A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Combines -</a:t>
            </a:r>
            <a:r>
              <a:rPr lang="en-US" dirty="0" err="1">
                <a:solidFill>
                  <a:srgbClr val="00004C"/>
                </a:solidFill>
              </a:rPr>
              <a:t>sV</a:t>
            </a:r>
            <a:r>
              <a:rPr lang="en-US" dirty="0">
                <a:solidFill>
                  <a:srgbClr val="00004C"/>
                </a:solidFill>
              </a:rPr>
              <a:t> (service/version detection: ~10-20 probes per open port to elicit banners and signatures), -O (OS detection: ~15-20 specialized TCP/ICMP packets for stack fingerprinting), script scan, and traceroute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Comprehensive but noisy; increases packet volume significantly, making it more detectable than basic port scans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Use sparingly:</a:t>
            </a:r>
            <a:r>
              <a:rPr lang="en-US" dirty="0">
                <a:solidFill>
                  <a:srgbClr val="00004C"/>
                </a:solidFill>
              </a:rPr>
              <a:t>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-A target for deep dive on high-value adversary node when stealth is secondary to thorough intelligence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Ties to counteroperations: </a:t>
            </a:r>
            <a:r>
              <a:rPr lang="en-US" dirty="0">
                <a:solidFill>
                  <a:srgbClr val="00004C"/>
                </a:solidFill>
              </a:rPr>
              <a:t>Provides layered intel (services, OS, vulns) for comprehensive counterstrike planning, but balance with OPSEC risks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840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Script Scanning -</a:t>
            </a:r>
            <a:r>
              <a:rPr lang="en-US" b="1" dirty="0" err="1">
                <a:solidFill>
                  <a:srgbClr val="00004C"/>
                </a:solidFill>
              </a:rPr>
              <a:t>sC</a:t>
            </a:r>
            <a:r>
              <a:rPr lang="en-US" b="1" dirty="0">
                <a:solidFill>
                  <a:srgbClr val="00004C"/>
                </a:solidFill>
              </a:rPr>
              <a:t>, --script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Nmap Scripting Engine (NSE): </a:t>
            </a:r>
            <a:r>
              <a:rPr lang="en-US" dirty="0">
                <a:solidFill>
                  <a:srgbClr val="00004C"/>
                </a:solidFill>
              </a:rPr>
              <a:t>Scripts written in Lua (lightweight scripting language), allowing modular extensions for advanced enumeration, exploitation checks, and data processing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-</a:t>
            </a:r>
            <a:r>
              <a:rPr lang="en-US" b="1" dirty="0" err="1">
                <a:solidFill>
                  <a:srgbClr val="00004C"/>
                </a:solidFill>
              </a:rPr>
              <a:t>sC</a:t>
            </a:r>
            <a:r>
              <a:rPr lang="en-US" b="1" dirty="0">
                <a:solidFill>
                  <a:srgbClr val="00004C"/>
                </a:solidFill>
              </a:rPr>
              <a:t>: </a:t>
            </a:r>
            <a:r>
              <a:rPr lang="en-US" dirty="0">
                <a:solidFill>
                  <a:srgbClr val="00004C"/>
                </a:solidFill>
              </a:rPr>
              <a:t>Runs the default set of ~150 built-in scripts (e.g., http-title for web page titles, </a:t>
            </a:r>
            <a:r>
              <a:rPr lang="en-US" dirty="0" err="1">
                <a:solidFill>
                  <a:srgbClr val="00004C"/>
                </a:solidFill>
              </a:rPr>
              <a:t>smb</a:t>
            </a:r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os</a:t>
            </a:r>
            <a:r>
              <a:rPr lang="en-US" dirty="0">
                <a:solidFill>
                  <a:srgbClr val="00004C"/>
                </a:solidFill>
              </a:rPr>
              <a:t>-discovery for Windows OS details, </a:t>
            </a:r>
            <a:r>
              <a:rPr lang="en-US" dirty="0" err="1">
                <a:solidFill>
                  <a:srgbClr val="00004C"/>
                </a:solidFill>
              </a:rPr>
              <a:t>dns-nsid</a:t>
            </a:r>
            <a:r>
              <a:rPr lang="en-US" dirty="0">
                <a:solidFill>
                  <a:srgbClr val="00004C"/>
                </a:solidFill>
              </a:rPr>
              <a:t> for DNS server info) for common enumeration on discovered services, providing quick insights without custom selection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87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Script Scanning -</a:t>
            </a:r>
            <a:r>
              <a:rPr lang="en-US" b="1" dirty="0" err="1">
                <a:solidFill>
                  <a:srgbClr val="00004C"/>
                </a:solidFill>
              </a:rPr>
              <a:t>sC</a:t>
            </a:r>
            <a:r>
              <a:rPr lang="en-US" b="1" dirty="0">
                <a:solidFill>
                  <a:srgbClr val="00004C"/>
                </a:solidFill>
              </a:rPr>
              <a:t>, --script (cont’d)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--script: </a:t>
            </a:r>
            <a:r>
              <a:rPr lang="en-US" dirty="0">
                <a:solidFill>
                  <a:srgbClr val="00004C"/>
                </a:solidFill>
              </a:rPr>
              <a:t>Target specific scripts or categories (e.g., --script "vuln" for vulnerability checks like </a:t>
            </a:r>
            <a:r>
              <a:rPr lang="en-US" dirty="0" err="1">
                <a:solidFill>
                  <a:srgbClr val="00004C"/>
                </a:solidFill>
              </a:rPr>
              <a:t>ssl-heartbleed</a:t>
            </a:r>
            <a:r>
              <a:rPr lang="en-US" dirty="0">
                <a:solidFill>
                  <a:srgbClr val="00004C"/>
                </a:solidFill>
              </a:rPr>
              <a:t>, --script discovery for host mapping like broadcast-</a:t>
            </a:r>
            <a:r>
              <a:rPr lang="en-US" dirty="0" err="1">
                <a:solidFill>
                  <a:srgbClr val="00004C"/>
                </a:solidFill>
              </a:rPr>
              <a:t>dhcp</a:t>
            </a:r>
            <a:r>
              <a:rPr lang="en-US" dirty="0">
                <a:solidFill>
                  <a:srgbClr val="00004C"/>
                </a:solidFill>
              </a:rPr>
              <a:t>-discover)</a:t>
            </a:r>
          </a:p>
          <a:p>
            <a:pPr lvl="1"/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Incorporating external scripts: </a:t>
            </a:r>
            <a:r>
              <a:rPr lang="en-US" dirty="0">
                <a:solidFill>
                  <a:srgbClr val="00004C"/>
                </a:solidFill>
              </a:rPr>
              <a:t>Download from NSE repository or community sources; place .</a:t>
            </a:r>
            <a:r>
              <a:rPr lang="en-US" dirty="0" err="1">
                <a:solidFill>
                  <a:srgbClr val="00004C"/>
                </a:solidFill>
              </a:rPr>
              <a:t>nse</a:t>
            </a:r>
            <a:r>
              <a:rPr lang="en-US" dirty="0">
                <a:solidFill>
                  <a:srgbClr val="00004C"/>
                </a:solidFill>
              </a:rPr>
              <a:t> files in ~/.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/scripts/ or specify full path with --script /path/to/custom-</a:t>
            </a:r>
            <a:r>
              <a:rPr lang="en-US" dirty="0" err="1">
                <a:solidFill>
                  <a:srgbClr val="00004C"/>
                </a:solidFill>
              </a:rPr>
              <a:t>script.nse</a:t>
            </a:r>
            <a:r>
              <a:rPr lang="en-US" dirty="0">
                <a:solidFill>
                  <a:srgbClr val="00004C"/>
                </a:solidFill>
              </a:rPr>
              <a:t>; update database with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--script-</a:t>
            </a:r>
            <a:r>
              <a:rPr lang="en-US" dirty="0" err="1">
                <a:solidFill>
                  <a:srgbClr val="00004C"/>
                </a:solidFill>
              </a:rPr>
              <a:t>updatedb</a:t>
            </a:r>
            <a:r>
              <a:rPr lang="en-US" dirty="0">
                <a:solidFill>
                  <a:srgbClr val="00004C"/>
                </a:solidFill>
              </a:rPr>
              <a:t> to include new signatures and ensure compatibility</a:t>
            </a:r>
          </a:p>
          <a:p>
            <a:pPr lvl="1"/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Enhances reconnaissance for counterstrike planning by automating vuln detection and service details on adversary infrastructure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40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Nmap Scripting Engine (NSE) - Categories</a:t>
            </a:r>
          </a:p>
          <a:p>
            <a:pPr lvl="1"/>
            <a:endParaRPr lang="en-US" dirty="0"/>
          </a:p>
          <a:p>
            <a:pPr marL="1164147" lvl="1" indent="-342900"/>
            <a:r>
              <a:rPr lang="en-US" b="1" dirty="0">
                <a:solidFill>
                  <a:srgbClr val="00004C"/>
                </a:solidFill>
              </a:rPr>
              <a:t>Discovery: </a:t>
            </a:r>
            <a:r>
              <a:rPr lang="en-US" dirty="0">
                <a:solidFill>
                  <a:srgbClr val="00004C"/>
                </a:solidFill>
              </a:rPr>
              <a:t>Host/service detection (e.g., scripts you've used to map intruders in blue space hunts)</a:t>
            </a:r>
          </a:p>
          <a:p>
            <a:pPr marL="1164147" lvl="1" indent="-342900"/>
            <a:r>
              <a:rPr lang="en-US" b="1" dirty="0">
                <a:solidFill>
                  <a:srgbClr val="00004C"/>
                </a:solidFill>
              </a:rPr>
              <a:t>Vulnerability: </a:t>
            </a:r>
            <a:r>
              <a:rPr lang="en-US" dirty="0">
                <a:solidFill>
                  <a:srgbClr val="00004C"/>
                </a:solidFill>
              </a:rPr>
              <a:t>Vulnerability scanning</a:t>
            </a:r>
          </a:p>
          <a:p>
            <a:pPr marL="1164147" lvl="1" indent="-342900"/>
            <a:r>
              <a:rPr lang="en-US" b="1" dirty="0">
                <a:solidFill>
                  <a:srgbClr val="00004C"/>
                </a:solidFill>
              </a:rPr>
              <a:t>Exploit: </a:t>
            </a:r>
            <a:r>
              <a:rPr lang="en-US" dirty="0">
                <a:solidFill>
                  <a:srgbClr val="00004C"/>
                </a:solidFill>
              </a:rPr>
              <a:t>Safe exploit checks (non-destructive)</a:t>
            </a:r>
          </a:p>
          <a:p>
            <a:pPr marL="1164147" lvl="1" indent="-342900"/>
            <a:r>
              <a:rPr lang="en-US" b="1" dirty="0">
                <a:solidFill>
                  <a:srgbClr val="00004C"/>
                </a:solidFill>
              </a:rPr>
              <a:t>Brute: </a:t>
            </a:r>
            <a:r>
              <a:rPr lang="en-US" dirty="0">
                <a:solidFill>
                  <a:srgbClr val="00004C"/>
                </a:solidFill>
              </a:rPr>
              <a:t>Credential guessing (careful in operations)</a:t>
            </a:r>
          </a:p>
          <a:p>
            <a:pPr marL="1164147" lvl="1" indent="-342900"/>
            <a:r>
              <a:rPr lang="en-US" b="1" dirty="0">
                <a:solidFill>
                  <a:srgbClr val="00004C"/>
                </a:solidFill>
              </a:rPr>
              <a:t>Focus: </a:t>
            </a:r>
            <a:r>
              <a:rPr lang="en-US" dirty="0">
                <a:solidFill>
                  <a:srgbClr val="00004C"/>
                </a:solidFill>
              </a:rPr>
              <a:t>Vulnerability/discovery for adversary targeting, flipping the scripts adversaries use against us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04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Useful Scripts for Reconnaissance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http-</a:t>
            </a:r>
            <a:r>
              <a:rPr lang="en-US" b="1" dirty="0" err="1">
                <a:solidFill>
                  <a:srgbClr val="00004C"/>
                </a:solidFill>
              </a:rPr>
              <a:t>enum</a:t>
            </a:r>
            <a:r>
              <a:rPr lang="en-US" b="1" dirty="0">
                <a:solidFill>
                  <a:srgbClr val="00004C"/>
                </a:solidFill>
              </a:rPr>
              <a:t>: </a:t>
            </a:r>
            <a:r>
              <a:rPr lang="en-US" dirty="0">
                <a:solidFill>
                  <a:srgbClr val="00004C"/>
                </a:solidFill>
              </a:rPr>
              <a:t>Web directories on command and control web servers</a:t>
            </a:r>
          </a:p>
          <a:p>
            <a:pPr lvl="1"/>
            <a:r>
              <a:rPr lang="en-US" b="1" dirty="0" err="1">
                <a:solidFill>
                  <a:srgbClr val="00004C"/>
                </a:solidFill>
              </a:rPr>
              <a:t>smb</a:t>
            </a:r>
            <a:r>
              <a:rPr lang="en-US" b="1" dirty="0">
                <a:solidFill>
                  <a:srgbClr val="00004C"/>
                </a:solidFill>
              </a:rPr>
              <a:t>-</a:t>
            </a:r>
            <a:r>
              <a:rPr lang="en-US" b="1" dirty="0" err="1">
                <a:solidFill>
                  <a:srgbClr val="00004C"/>
                </a:solidFill>
              </a:rPr>
              <a:t>os</a:t>
            </a:r>
            <a:r>
              <a:rPr lang="en-US" b="1" dirty="0">
                <a:solidFill>
                  <a:srgbClr val="00004C"/>
                </a:solidFill>
              </a:rPr>
              <a:t>-discovery: </a:t>
            </a:r>
            <a:r>
              <a:rPr lang="en-US" dirty="0">
                <a:solidFill>
                  <a:srgbClr val="00004C"/>
                </a:solidFill>
              </a:rPr>
              <a:t>SMB details on Windows attack hosts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Vulnerability scripts: </a:t>
            </a:r>
            <a:r>
              <a:rPr lang="en-US" dirty="0">
                <a:solidFill>
                  <a:srgbClr val="00004C"/>
                </a:solidFill>
              </a:rPr>
              <a:t>e.g., </a:t>
            </a:r>
            <a:r>
              <a:rPr lang="en-US" dirty="0" err="1">
                <a:solidFill>
                  <a:srgbClr val="00004C"/>
                </a:solidFill>
              </a:rPr>
              <a:t>ssl-heartbleed</a:t>
            </a:r>
            <a:r>
              <a:rPr lang="en-US" dirty="0">
                <a:solidFill>
                  <a:srgbClr val="00004C"/>
                </a:solidFill>
              </a:rPr>
              <a:t> for quick wins, akin to the vuln checks you've run on compromised systems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--script http-</a:t>
            </a:r>
            <a:r>
              <a:rPr lang="en-US" dirty="0" err="1">
                <a:solidFill>
                  <a:srgbClr val="00004C"/>
                </a:solidFill>
              </a:rPr>
              <a:t>enum</a:t>
            </a:r>
            <a:r>
              <a:rPr lang="en-US" dirty="0">
                <a:solidFill>
                  <a:srgbClr val="00004C"/>
                </a:solidFill>
              </a:rPr>
              <a:t> target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3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Examples - http-</a:t>
            </a:r>
            <a:r>
              <a:rPr lang="en-US" b="1" dirty="0" err="1">
                <a:solidFill>
                  <a:srgbClr val="00004C"/>
                </a:solidFill>
              </a:rPr>
              <a:t>enum</a:t>
            </a:r>
            <a:r>
              <a:rPr lang="en-US" b="1" dirty="0">
                <a:solidFill>
                  <a:srgbClr val="00004C"/>
                </a:solidFill>
              </a:rPr>
              <a:t>, </a:t>
            </a:r>
            <a:r>
              <a:rPr lang="en-US" b="1" dirty="0" err="1">
                <a:solidFill>
                  <a:srgbClr val="00004C"/>
                </a:solidFill>
              </a:rPr>
              <a:t>smb</a:t>
            </a:r>
            <a:r>
              <a:rPr lang="en-US" b="1" dirty="0">
                <a:solidFill>
                  <a:srgbClr val="00004C"/>
                </a:solidFill>
              </a:rPr>
              <a:t>-</a:t>
            </a:r>
            <a:r>
              <a:rPr lang="en-US" b="1" dirty="0" err="1">
                <a:solidFill>
                  <a:srgbClr val="00004C"/>
                </a:solidFill>
              </a:rPr>
              <a:t>os</a:t>
            </a:r>
            <a:r>
              <a:rPr lang="en-US" b="1" dirty="0">
                <a:solidFill>
                  <a:srgbClr val="00004C"/>
                </a:solidFill>
              </a:rPr>
              <a:t>-discovery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--script http-</a:t>
            </a:r>
            <a:r>
              <a:rPr lang="en-US" dirty="0" err="1">
                <a:solidFill>
                  <a:srgbClr val="00004C"/>
                </a:solidFill>
              </a:rPr>
              <a:t>enum,smb</a:t>
            </a:r>
            <a:r>
              <a:rPr lang="en-US" dirty="0">
                <a:solidFill>
                  <a:srgbClr val="00004C"/>
                </a:solidFill>
              </a:rPr>
              <a:t>-</a:t>
            </a:r>
            <a:r>
              <a:rPr lang="en-US" dirty="0" err="1">
                <a:solidFill>
                  <a:srgbClr val="00004C"/>
                </a:solidFill>
              </a:rPr>
              <a:t>os</a:t>
            </a:r>
            <a:r>
              <a:rPr lang="en-US" dirty="0">
                <a:solidFill>
                  <a:srgbClr val="00004C"/>
                </a:solidFill>
              </a:rPr>
              <a:t>-discovery -p 80,445 target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Output: Enumerates paths, OS versions for exploit selection in counterstrikes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812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Live Demo: Lab Target (Adversary Sim)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Environment: </a:t>
            </a:r>
            <a:r>
              <a:rPr lang="en-US" dirty="0">
                <a:solidFill>
                  <a:srgbClr val="00004C"/>
                </a:solidFill>
              </a:rPr>
              <a:t>Isolated lab mimicking covert infrastructure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Tools: </a:t>
            </a:r>
            <a:r>
              <a:rPr lang="en-US" dirty="0">
                <a:solidFill>
                  <a:srgbClr val="00004C"/>
                </a:solidFill>
              </a:rPr>
              <a:t>Nmap on controlled blue space host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Goal: </a:t>
            </a:r>
            <a:r>
              <a:rPr lang="en-US" dirty="0">
                <a:solidFill>
                  <a:srgbClr val="00004C"/>
                </a:solidFill>
              </a:rPr>
              <a:t>Show real-time reconnaissance for counterstrike planning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352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Basic Scan: </a:t>
            </a:r>
            <a:r>
              <a:rPr lang="en-US" b="1" dirty="0" err="1">
                <a:solidFill>
                  <a:srgbClr val="00004C"/>
                </a:solidFill>
              </a:rPr>
              <a:t>nmap</a:t>
            </a:r>
            <a:r>
              <a:rPr lang="en-US" b="1" dirty="0">
                <a:solidFill>
                  <a:srgbClr val="00004C"/>
                </a:solidFill>
              </a:rPr>
              <a:t> -</a:t>
            </a:r>
            <a:r>
              <a:rPr lang="en-US" b="1" dirty="0" err="1">
                <a:solidFill>
                  <a:srgbClr val="00004C"/>
                </a:solidFill>
              </a:rPr>
              <a:t>sS</a:t>
            </a:r>
            <a:r>
              <a:rPr lang="en-US" b="1" dirty="0">
                <a:solidFill>
                  <a:srgbClr val="00004C"/>
                </a:solidFill>
              </a:rPr>
              <a:t> -p- target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Command execution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Results: Open ports (e.g., 22,80,443)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Interpretation: Potential SSH/web entry points on simulated adversary node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599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Service Detection: </a:t>
            </a:r>
            <a:r>
              <a:rPr lang="en-US" b="1" dirty="0" err="1">
                <a:solidFill>
                  <a:srgbClr val="00004C"/>
                </a:solidFill>
              </a:rPr>
              <a:t>nmap</a:t>
            </a:r>
            <a:r>
              <a:rPr lang="en-US" b="1" dirty="0">
                <a:solidFill>
                  <a:srgbClr val="00004C"/>
                </a:solidFill>
              </a:rPr>
              <a:t> -</a:t>
            </a:r>
            <a:r>
              <a:rPr lang="en-US" b="1" dirty="0" err="1">
                <a:solidFill>
                  <a:srgbClr val="00004C"/>
                </a:solidFill>
              </a:rPr>
              <a:t>sV</a:t>
            </a:r>
            <a:r>
              <a:rPr lang="en-US" b="1" dirty="0">
                <a:solidFill>
                  <a:srgbClr val="00004C"/>
                </a:solidFill>
              </a:rPr>
              <a:t> -p [ports] target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Command: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-</a:t>
            </a:r>
            <a:r>
              <a:rPr lang="en-US" dirty="0" err="1">
                <a:solidFill>
                  <a:srgbClr val="00004C"/>
                </a:solidFill>
              </a:rPr>
              <a:t>sV</a:t>
            </a:r>
            <a:r>
              <a:rPr lang="en-US" dirty="0">
                <a:solidFill>
                  <a:srgbClr val="00004C"/>
                </a:solidFill>
              </a:rPr>
              <a:t> -p 22,80,443 target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Results: </a:t>
            </a:r>
            <a:r>
              <a:rPr lang="en-US" dirty="0">
                <a:solidFill>
                  <a:srgbClr val="00004C"/>
                </a:solidFill>
              </a:rPr>
              <a:t>Versions (e.g., OpenSSH 8.0, nginx 1.18)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Tie-in: </a:t>
            </a:r>
            <a:r>
              <a:rPr lang="en-US" dirty="0">
                <a:solidFill>
                  <a:srgbClr val="00004C"/>
                </a:solidFill>
              </a:rPr>
              <a:t>Research exploits for these in counteroperations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9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F2D24-E6CE-D263-8BCA-8AB0D96B1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Script Scan: </a:t>
            </a:r>
            <a:r>
              <a:rPr lang="en-US" b="1" dirty="0" err="1">
                <a:solidFill>
                  <a:srgbClr val="00004C"/>
                </a:solidFill>
              </a:rPr>
              <a:t>nmap</a:t>
            </a:r>
            <a:r>
              <a:rPr lang="en-US" b="1" dirty="0">
                <a:solidFill>
                  <a:srgbClr val="00004C"/>
                </a:solidFill>
              </a:rPr>
              <a:t> -</a:t>
            </a:r>
            <a:r>
              <a:rPr lang="en-US" b="1" dirty="0" err="1">
                <a:solidFill>
                  <a:srgbClr val="00004C"/>
                </a:solidFill>
              </a:rPr>
              <a:t>sC</a:t>
            </a:r>
            <a:r>
              <a:rPr lang="en-US" b="1" dirty="0">
                <a:solidFill>
                  <a:srgbClr val="00004C"/>
                </a:solidFill>
              </a:rPr>
              <a:t> -</a:t>
            </a:r>
            <a:r>
              <a:rPr lang="en-US" b="1" dirty="0" err="1">
                <a:solidFill>
                  <a:srgbClr val="00004C"/>
                </a:solidFill>
              </a:rPr>
              <a:t>sV</a:t>
            </a:r>
            <a:r>
              <a:rPr lang="en-US" b="1" dirty="0">
                <a:solidFill>
                  <a:srgbClr val="00004C"/>
                </a:solidFill>
              </a:rPr>
              <a:t> target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Command execution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Results: </a:t>
            </a:r>
            <a:r>
              <a:rPr lang="en-US" dirty="0">
                <a:solidFill>
                  <a:srgbClr val="00004C"/>
                </a:solidFill>
              </a:rPr>
              <a:t>Vulnerabilities, enumeration data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Interpretation: </a:t>
            </a:r>
            <a:r>
              <a:rPr lang="en-US" dirty="0">
                <a:solidFill>
                  <a:srgbClr val="00004C"/>
                </a:solidFill>
              </a:rPr>
              <a:t>Build profile (e.g., vulnerable to known CVE for disruption)</a:t>
            </a:r>
          </a:p>
          <a:p>
            <a:pPr marL="169329" indent="0">
              <a:buNone/>
            </a:pPr>
            <a:endParaRPr lang="en-US" b="1" dirty="0">
              <a:solidFill>
                <a:srgbClr val="00004C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C658EA-7DAF-CF4A-3B1F-5F5C8003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Nmap Deep Dive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961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39CE-ED1E-667E-13DF-E89BBCF1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784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From Nmap to Deep Enumeration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Use Nmap output to select follow-up tools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Goal: </a:t>
            </a:r>
            <a:r>
              <a:rPr lang="en-US" dirty="0">
                <a:solidFill>
                  <a:srgbClr val="00004C"/>
                </a:solidFill>
              </a:rPr>
              <a:t>Detailed intelligence on services for targeted counterstrikes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space: </a:t>
            </a:r>
            <a:r>
              <a:rPr lang="en-US" dirty="0">
                <a:solidFill>
                  <a:srgbClr val="00004C"/>
                </a:solidFill>
              </a:rPr>
              <a:t>Chain tools from secure vantage to profile adversary assets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212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Protocol-Specific Enumeration - HTTP/HTTPS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Tools: </a:t>
            </a:r>
            <a:r>
              <a:rPr lang="en-US" dirty="0" err="1">
                <a:solidFill>
                  <a:srgbClr val="00004C"/>
                </a:solidFill>
              </a:rPr>
              <a:t>Whatweb</a:t>
            </a:r>
            <a:r>
              <a:rPr lang="en-US" dirty="0">
                <a:solidFill>
                  <a:srgbClr val="00004C"/>
                </a:solidFill>
              </a:rPr>
              <a:t> (fingerprinting), </a:t>
            </a:r>
            <a:r>
              <a:rPr lang="en-US" dirty="0" err="1">
                <a:solidFill>
                  <a:srgbClr val="00004C"/>
                </a:solidFill>
              </a:rPr>
              <a:t>Nikto</a:t>
            </a:r>
            <a:r>
              <a:rPr lang="en-US" dirty="0">
                <a:solidFill>
                  <a:srgbClr val="00004C"/>
                </a:solidFill>
              </a:rPr>
              <a:t> (web vulnerabilities), </a:t>
            </a:r>
            <a:r>
              <a:rPr lang="en-US" dirty="0" err="1">
                <a:solidFill>
                  <a:srgbClr val="00004C"/>
                </a:solidFill>
              </a:rPr>
              <a:t>dirbuster</a:t>
            </a:r>
            <a:r>
              <a:rPr lang="en-US" dirty="0">
                <a:solidFill>
                  <a:srgbClr val="00004C"/>
                </a:solidFill>
              </a:rPr>
              <a:t>/</a:t>
            </a:r>
            <a:r>
              <a:rPr lang="en-US" dirty="0" err="1">
                <a:solidFill>
                  <a:srgbClr val="00004C"/>
                </a:solidFill>
              </a:rPr>
              <a:t>gobuster</a:t>
            </a:r>
            <a:r>
              <a:rPr lang="en-US" dirty="0">
                <a:solidFill>
                  <a:srgbClr val="00004C"/>
                </a:solidFill>
              </a:rPr>
              <a:t> (brute-force directories)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whatweb</a:t>
            </a:r>
            <a:r>
              <a:rPr lang="en-US" dirty="0">
                <a:solidFill>
                  <a:srgbClr val="00004C"/>
                </a:solidFill>
              </a:rPr>
              <a:t> target; reveals CMS (e.g., WordPress on command and control site)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Counterstrike value: </a:t>
            </a:r>
            <a:r>
              <a:rPr lang="en-US" dirty="0">
                <a:solidFill>
                  <a:srgbClr val="00004C"/>
                </a:solidFill>
              </a:rPr>
              <a:t>Web application exploits for defacement/disruption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solidFill>
                  <a:srgbClr val="00004C"/>
                </a:solidFill>
              </a:rPr>
              <a:t>Service Enumeration Beyond Nmap</a:t>
            </a:r>
            <a:br>
              <a:rPr lang="en-US">
                <a:solidFill>
                  <a:srgbClr val="00004C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44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 SMB Enumeration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Tools: </a:t>
            </a:r>
            <a:r>
              <a:rPr lang="en-US" dirty="0">
                <a:solidFill>
                  <a:srgbClr val="00004C"/>
                </a:solidFill>
              </a:rPr>
              <a:t>enum4linux (shares/users), </a:t>
            </a:r>
            <a:r>
              <a:rPr lang="en-US" dirty="0" err="1">
                <a:solidFill>
                  <a:srgbClr val="00004C"/>
                </a:solidFill>
              </a:rPr>
              <a:t>smbclient</a:t>
            </a:r>
            <a:r>
              <a:rPr lang="en-US" dirty="0">
                <a:solidFill>
                  <a:srgbClr val="00004C"/>
                </a:solidFill>
              </a:rPr>
              <a:t> (connect), </a:t>
            </a:r>
            <a:r>
              <a:rPr lang="en-US" dirty="0" err="1">
                <a:solidFill>
                  <a:srgbClr val="00004C"/>
                </a:solidFill>
              </a:rPr>
              <a:t>smbmap</a:t>
            </a:r>
            <a:r>
              <a:rPr lang="en-US" dirty="0">
                <a:solidFill>
                  <a:srgbClr val="00004C"/>
                </a:solidFill>
              </a:rPr>
              <a:t> (remote shares)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>
                <a:solidFill>
                  <a:srgbClr val="00004C"/>
                </a:solidFill>
              </a:rPr>
              <a:t>enum4linux -a target; lists users, shares on Windows attack hosts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Application: </a:t>
            </a:r>
            <a:r>
              <a:rPr lang="en-US" dirty="0">
                <a:solidFill>
                  <a:srgbClr val="00004C"/>
                </a:solidFill>
              </a:rPr>
              <a:t>Credential attacks for lateral movement in counteroperations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solidFill>
                  <a:srgbClr val="00004C"/>
                </a:solidFill>
              </a:rPr>
              <a:t>Service Enumeration Beyond Nmap</a:t>
            </a:r>
            <a:br>
              <a:rPr lang="en-US">
                <a:solidFill>
                  <a:srgbClr val="00004C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60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SNMP Enumeration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Tools: </a:t>
            </a:r>
            <a:r>
              <a:rPr lang="en-US" dirty="0" err="1">
                <a:solidFill>
                  <a:srgbClr val="00004C"/>
                </a:solidFill>
              </a:rPr>
              <a:t>snmpwalk</a:t>
            </a:r>
            <a:r>
              <a:rPr lang="en-US" dirty="0">
                <a:solidFill>
                  <a:srgbClr val="00004C"/>
                </a:solidFill>
              </a:rPr>
              <a:t> (MIB traversal), </a:t>
            </a:r>
            <a:r>
              <a:rPr lang="en-US" dirty="0" err="1">
                <a:solidFill>
                  <a:srgbClr val="00004C"/>
                </a:solidFill>
              </a:rPr>
              <a:t>snmp</a:t>
            </a:r>
            <a:r>
              <a:rPr lang="en-US" dirty="0">
                <a:solidFill>
                  <a:srgbClr val="00004C"/>
                </a:solidFill>
              </a:rPr>
              <a:t>-check (community strings)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snmpwalk</a:t>
            </a:r>
            <a:r>
              <a:rPr lang="en-US" dirty="0">
                <a:solidFill>
                  <a:srgbClr val="00004C"/>
                </a:solidFill>
              </a:rPr>
              <a:t> -v2c -c public target; dumps device information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Use: </a:t>
            </a:r>
            <a:r>
              <a:rPr lang="en-US" dirty="0">
                <a:solidFill>
                  <a:srgbClr val="00004C"/>
                </a:solidFill>
              </a:rPr>
              <a:t>Map internal adversary network for broader strikes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solidFill>
                  <a:srgbClr val="00004C"/>
                </a:solidFill>
              </a:rPr>
              <a:t>Service Enumeration Beyond Nmap</a:t>
            </a:r>
            <a:br>
              <a:rPr lang="en-US">
                <a:solidFill>
                  <a:srgbClr val="00004C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12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DNS Enumeration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Zone transfers (dig </a:t>
            </a:r>
            <a:r>
              <a:rPr lang="en-US" dirty="0" err="1">
                <a:solidFill>
                  <a:srgbClr val="00004C"/>
                </a:solidFill>
              </a:rPr>
              <a:t>axfr</a:t>
            </a:r>
            <a:r>
              <a:rPr lang="en-US" dirty="0">
                <a:solidFill>
                  <a:srgbClr val="00004C"/>
                </a:solidFill>
              </a:rPr>
              <a:t>), record enumeration (</a:t>
            </a:r>
            <a:r>
              <a:rPr lang="en-US" dirty="0" err="1">
                <a:solidFill>
                  <a:srgbClr val="00004C"/>
                </a:solidFill>
              </a:rPr>
              <a:t>dnsenum</a:t>
            </a:r>
            <a:r>
              <a:rPr lang="en-US" dirty="0">
                <a:solidFill>
                  <a:srgbClr val="00004C"/>
                </a:solidFill>
              </a:rPr>
              <a:t>, fierce)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>
                <a:solidFill>
                  <a:srgbClr val="00004C"/>
                </a:solidFill>
              </a:rPr>
              <a:t>dig @target ns example.com; reveals subdomains hosting attacks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Ties to reconnaissance: </a:t>
            </a:r>
            <a:r>
              <a:rPr lang="en-US" dirty="0">
                <a:solidFill>
                  <a:srgbClr val="00004C"/>
                </a:solidFill>
              </a:rPr>
              <a:t>Uncover hidden command and control domains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58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FTP, SSH, RDP - Banner Grabbing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Tools: </a:t>
            </a:r>
            <a:r>
              <a:rPr lang="en-US" dirty="0" err="1">
                <a:solidFill>
                  <a:srgbClr val="00004C"/>
                </a:solidFill>
              </a:rPr>
              <a:t>netcat</a:t>
            </a:r>
            <a:r>
              <a:rPr lang="en-US" dirty="0">
                <a:solidFill>
                  <a:srgbClr val="00004C"/>
                </a:solidFill>
              </a:rPr>
              <a:t> (</a:t>
            </a:r>
            <a:r>
              <a:rPr lang="en-US" dirty="0" err="1">
                <a:solidFill>
                  <a:srgbClr val="00004C"/>
                </a:solidFill>
              </a:rPr>
              <a:t>nc</a:t>
            </a:r>
            <a:r>
              <a:rPr lang="en-US" dirty="0">
                <a:solidFill>
                  <a:srgbClr val="00004C"/>
                </a:solidFill>
              </a:rPr>
              <a:t>), telnet for versions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Example: </a:t>
            </a:r>
            <a:r>
              <a:rPr lang="en-US" dirty="0" err="1">
                <a:solidFill>
                  <a:srgbClr val="00004C"/>
                </a:solidFill>
              </a:rPr>
              <a:t>nc</a:t>
            </a:r>
            <a:r>
              <a:rPr lang="en-US" dirty="0">
                <a:solidFill>
                  <a:srgbClr val="00004C"/>
                </a:solidFill>
              </a:rPr>
              <a:t> target 22 (SSH banner: version information)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RDP: </a:t>
            </a:r>
            <a:r>
              <a:rPr lang="en-US" dirty="0" err="1">
                <a:solidFill>
                  <a:srgbClr val="00004C"/>
                </a:solidFill>
              </a:rPr>
              <a:t>xfreerdp</a:t>
            </a:r>
            <a:r>
              <a:rPr lang="en-US" dirty="0">
                <a:solidFill>
                  <a:srgbClr val="00004C"/>
                </a:solidFill>
              </a:rPr>
              <a:t> or Nmap scripts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Value: </a:t>
            </a:r>
            <a:r>
              <a:rPr lang="en-US" dirty="0">
                <a:solidFill>
                  <a:srgbClr val="00004C"/>
                </a:solidFill>
              </a:rPr>
              <a:t>Version-specific exploits for access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325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Live Demo: HTTP Enumeration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Target: </a:t>
            </a:r>
            <a:r>
              <a:rPr lang="en-US" dirty="0">
                <a:solidFill>
                  <a:srgbClr val="00004C"/>
                </a:solidFill>
              </a:rPr>
              <a:t>Lab web server (adversary simulation)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Commands: </a:t>
            </a:r>
            <a:r>
              <a:rPr lang="en-US" dirty="0" err="1">
                <a:solidFill>
                  <a:srgbClr val="00004C"/>
                </a:solidFill>
              </a:rPr>
              <a:t>whatweb</a:t>
            </a:r>
            <a:r>
              <a:rPr lang="en-US" dirty="0">
                <a:solidFill>
                  <a:srgbClr val="00004C"/>
                </a:solidFill>
              </a:rPr>
              <a:t> target; </a:t>
            </a:r>
            <a:r>
              <a:rPr lang="en-US" dirty="0" err="1">
                <a:solidFill>
                  <a:srgbClr val="00004C"/>
                </a:solidFill>
              </a:rPr>
              <a:t>nikto</a:t>
            </a:r>
            <a:r>
              <a:rPr lang="en-US" dirty="0">
                <a:solidFill>
                  <a:srgbClr val="00004C"/>
                </a:solidFill>
              </a:rPr>
              <a:t> -h target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Results: </a:t>
            </a:r>
            <a:r>
              <a:rPr lang="en-US" dirty="0">
                <a:solidFill>
                  <a:srgbClr val="00004C"/>
                </a:solidFill>
              </a:rPr>
              <a:t>Technology stack, potential vulnerabilities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Interpretation: </a:t>
            </a:r>
            <a:r>
              <a:rPr lang="en-US" dirty="0">
                <a:solidFill>
                  <a:srgbClr val="00004C"/>
                </a:solidFill>
              </a:rPr>
              <a:t>Plan web-based countereffects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>
                <a:solidFill>
                  <a:srgbClr val="00004C"/>
                </a:solidFill>
              </a:rPr>
              <a:t>Service Enumeration Beyond Nmap</a:t>
            </a:r>
            <a:br>
              <a:rPr lang="en-US">
                <a:solidFill>
                  <a:srgbClr val="00004C"/>
                </a:solidFill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896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5D1C6F-F51D-512C-4FCE-1010228C2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Building Target Profile from Enumeration Data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Compile: </a:t>
            </a:r>
            <a:r>
              <a:rPr lang="en-US" dirty="0">
                <a:solidFill>
                  <a:srgbClr val="00004C"/>
                </a:solidFill>
              </a:rPr>
              <a:t>Ports &gt; Services &gt; Versions &gt; Vulnerabilities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Example Profile: </a:t>
            </a:r>
            <a:r>
              <a:rPr lang="en-US" dirty="0">
                <a:solidFill>
                  <a:srgbClr val="00004C"/>
                </a:solidFill>
              </a:rPr>
              <a:t>IP: X.X.X.X, OS: Linux, Services: SSH v7.4 (vulnerable to CVE-2023), Web: Apache w/ directory /admin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 use: </a:t>
            </a:r>
            <a:r>
              <a:rPr lang="en-US" dirty="0">
                <a:solidFill>
                  <a:srgbClr val="00004C"/>
                </a:solidFill>
              </a:rPr>
              <a:t>Feed into planning for precise counterstrikes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466EF-F1A7-214B-C587-276DCD3F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Service Enumeration Beyond Nmap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105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67CD-17F6-8800-E79F-AC3DE5AF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57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How Active Recon Appears to Defenders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Our probes look like incoming scans on their infrastructure, the same patterns you've hunted in blue space.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Logs: </a:t>
            </a:r>
            <a:r>
              <a:rPr lang="en-US" dirty="0">
                <a:solidFill>
                  <a:srgbClr val="00004C"/>
                </a:solidFill>
              </a:rPr>
              <a:t>Unusual SYN floods, port probes.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In their SIEM: </a:t>
            </a:r>
            <a:r>
              <a:rPr lang="en-US" dirty="0">
                <a:solidFill>
                  <a:srgbClr val="00004C"/>
                </a:solidFill>
              </a:rPr>
              <a:t>Correlated as reconnaissance activity (ironic flip, as they hunt us while we hunt them).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094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Firewall Logs and IDS/IPS Alerts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Firewall: </a:t>
            </a:r>
            <a:r>
              <a:rPr lang="en-US" dirty="0">
                <a:solidFill>
                  <a:srgbClr val="00004C"/>
                </a:solidFill>
              </a:rPr>
              <a:t>Dropped packets, connection attempts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IDS/IPS: </a:t>
            </a:r>
            <a:r>
              <a:rPr lang="en-US" dirty="0">
                <a:solidFill>
                  <a:srgbClr val="00004C"/>
                </a:solidFill>
              </a:rPr>
              <a:t>Signature matches (e.g., Nmap patterns)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 OPSEC: </a:t>
            </a:r>
            <a:r>
              <a:rPr lang="en-US" dirty="0">
                <a:solidFill>
                  <a:srgbClr val="00004C"/>
                </a:solidFill>
              </a:rPr>
              <a:t>Use evasion to minimize footprints on their covert systems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4635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Application Logs and SIEM Correlation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Applications log failed logins, enumeration attempts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SIEM: </a:t>
            </a:r>
            <a:r>
              <a:rPr lang="en-US" dirty="0">
                <a:solidFill>
                  <a:srgbClr val="00004C"/>
                </a:solidFill>
              </a:rPr>
              <a:t>Aggregates for threat hunting (their hunters spotting us)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Counter: </a:t>
            </a:r>
            <a:r>
              <a:rPr lang="en-US" dirty="0">
                <a:solidFill>
                  <a:srgbClr val="00004C"/>
                </a:solidFill>
              </a:rPr>
              <a:t>Blend with legitimate traffic from blue vantage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38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Indicators of Scanning Activity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As seasoned defenders, you've hunted these IOCs in blue space; high-port scan volume, sequential IP address probes, or unusual source IP addresses (our masked blue vantage points) that could trigger your own SIEM alerts.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When conducting active recon on adversaries, anticipate they'll spot the same patterns you've used to detect intruders—e.g., rapid port sweeps mirroring the aggressive scans you've blocked.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Mitigation: Randomize timing and sources, fragment packets, and deploy decoys to complicate their threat hunting, just as you've evaded or countered similar tactics in operations.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77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Blending with Normal Traffic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Leverage your defensive experience; mimic legitimate user agents and source ports (e.g., HTTP from port 80/443) to appear as expected traffic on adversary infrastructure, similar to how you've analyzed benign vs. malicious flows.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Distribute probes over time and multiple IP addresses from blue infrastructure, diluting the signal like the low-and-slow persistence you've hunted in past incidents.</a:t>
            </a:r>
          </a:p>
          <a:p>
            <a:pPr lvl="1"/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Goal: </a:t>
            </a:r>
            <a:r>
              <a:rPr lang="en-US" dirty="0">
                <a:solidFill>
                  <a:srgbClr val="00004C"/>
                </a:solidFill>
              </a:rPr>
              <a:t>Appear as benign noise to adversary defenders, forcing them to sift through false positives as you do in blue space threat hunting.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941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Timing and Pacing to Avoid Detection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Draw from your hunts: </a:t>
            </a:r>
            <a:r>
              <a:rPr lang="en-US" dirty="0">
                <a:solidFill>
                  <a:srgbClr val="00004C"/>
                </a:solidFill>
              </a:rPr>
              <a:t>Use intervals of 1–5 minutes between probes to evade rate-based detection, replicating the patient pacing of adversaries you've tracked over days or weeks.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Volume control: </a:t>
            </a:r>
            <a:r>
              <a:rPr lang="en-US" dirty="0">
                <a:solidFill>
                  <a:srgbClr val="00004C"/>
                </a:solidFill>
              </a:rPr>
              <a:t>Limit to &lt;100 ports per hour if stealth is critical, avoiding the bursty patterns that light up your IDS in defensive scenarios.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Operational:</a:t>
            </a:r>
            <a:r>
              <a:rPr lang="en-US" dirty="0">
                <a:solidFill>
                  <a:srgbClr val="00004C"/>
                </a:solidFill>
              </a:rPr>
              <a:t> Pause during adversary monitoring peaks (e.g., business hours on their side), timing probes to blend with their expected traffic volumes you’ve learned to anticipate in counterintelligence.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035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Using Operational Infrastructure</a:t>
            </a:r>
          </a:p>
          <a:p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As experienced threat hunters, </a:t>
            </a:r>
            <a:r>
              <a:rPr lang="en-US" b="1" dirty="0">
                <a:solidFill>
                  <a:srgbClr val="00004C"/>
                </a:solidFill>
              </a:rPr>
              <a:t>use your blue space vantage;</a:t>
            </a:r>
            <a:r>
              <a:rPr lang="en-US" dirty="0">
                <a:solidFill>
                  <a:srgbClr val="00004C"/>
                </a:solidFill>
              </a:rPr>
              <a:t> route probes through networks the adversary has already engaged with and expects responses from.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Controlled emission: </a:t>
            </a:r>
            <a:r>
              <a:rPr lang="en-US" dirty="0">
                <a:solidFill>
                  <a:srgbClr val="00004C"/>
                </a:solidFill>
              </a:rPr>
              <a:t>Launch from defended infrastructure the adversary has established communication with, potentially accessing blocked adversary assets while blending with anticipated traffic flows you've analyzed in past hunts.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Advantage vs. covert adversary: </a:t>
            </a:r>
            <a:r>
              <a:rPr lang="en-US" dirty="0">
                <a:solidFill>
                  <a:srgbClr val="00004C"/>
                </a:solidFill>
              </a:rPr>
              <a:t>We plan from full visibility and control, mirroring their covert setups but turning the tables—our position allows precise targeting of unrelated infrastructure without self-exposure, while the adversary reacts blindly to our effects.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969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35577-766D-E663-3F73-612010CC0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Operational Risk vs. Intelligence Gain Trade-off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High risk: </a:t>
            </a:r>
            <a:r>
              <a:rPr lang="en-US" dirty="0">
                <a:solidFill>
                  <a:srgbClr val="00004C"/>
                </a:solidFill>
              </a:rPr>
              <a:t>Aggressive scans for quick vulnerabilities, but may alert adversary hunters just as yours would detect them.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Low risk: </a:t>
            </a:r>
            <a:r>
              <a:rPr lang="en-US" dirty="0">
                <a:solidFill>
                  <a:srgbClr val="00004C"/>
                </a:solidFill>
              </a:rPr>
              <a:t>Passive follow-up for confirmation.</a:t>
            </a:r>
          </a:p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Decision: </a:t>
            </a:r>
            <a:r>
              <a:rPr lang="en-US" dirty="0">
                <a:solidFill>
                  <a:srgbClr val="00004C"/>
                </a:solidFill>
              </a:rPr>
              <a:t>Per ROE, prioritize effects (e.g., disrupt active command and control) over perfect stealth, leveraging blue space control to manage the hunt.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4A36D4-F412-F5B9-B6B1-B8122DFC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solidFill>
                  <a:srgbClr val="00004C"/>
                </a:solidFill>
              </a:rPr>
              <a:t>OPSEC and Detection Considerations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31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85A8-CEDC-9ED6-41C1-28C9DD21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Mapping to MITRE ATT&amp;CK®</a:t>
            </a:r>
            <a:br>
              <a:rPr lang="en-US" dirty="0">
                <a:solidFill>
                  <a:srgbClr val="00004C"/>
                </a:solidFill>
              </a:rPr>
            </a:br>
            <a:endParaRPr lang="en-US" dirty="0">
              <a:solidFill>
                <a:srgbClr val="0000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531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2ED1AE-F41A-D249-DED8-9D3AFF336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T1595: Active Scanning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Technique: </a:t>
            </a:r>
            <a:r>
              <a:rPr lang="en-US" dirty="0">
                <a:solidFill>
                  <a:srgbClr val="00004C"/>
                </a:solidFill>
              </a:rPr>
              <a:t>Active Scanning for reconnaissance on targets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Our use: </a:t>
            </a:r>
            <a:r>
              <a:rPr lang="en-US" dirty="0">
                <a:solidFill>
                  <a:srgbClr val="00004C"/>
                </a:solidFill>
              </a:rPr>
              <a:t>Scan adversary infrastructure to enable </a:t>
            </a:r>
            <a:r>
              <a:rPr lang="en-US" dirty="0" err="1">
                <a:solidFill>
                  <a:srgbClr val="00004C"/>
                </a:solidFill>
              </a:rPr>
              <a:t>counteraccess</a:t>
            </a: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Subset: </a:t>
            </a:r>
            <a:r>
              <a:rPr lang="en-US" dirty="0">
                <a:solidFill>
                  <a:srgbClr val="00004C"/>
                </a:solidFill>
              </a:rPr>
              <a:t>Scanning IP address Blocks (T1595.001) for broad mapping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475BAD-8A4E-0076-B7CE-6E25B4C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i="0" dirty="0">
                <a:solidFill>
                  <a:srgbClr val="00004C"/>
                </a:solidFill>
                <a:effectLst/>
                <a:latin typeface="+mj-lt"/>
              </a:rPr>
              <a:t>Mapping to MITRE ATT&amp;CK®</a:t>
            </a:r>
            <a:br>
              <a:rPr lang="en-US" i="0" dirty="0">
                <a:solidFill>
                  <a:srgbClr val="00004C"/>
                </a:solidFill>
                <a:effectLst/>
                <a:latin typeface="+mj-lt"/>
              </a:rPr>
            </a:br>
            <a:endParaRPr lang="en-US" dirty="0">
              <a:solidFill>
                <a:srgbClr val="00004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07383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2ED1AE-F41A-D249-DED8-9D3AFF336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 T1595.001 and .002</a:t>
            </a:r>
          </a:p>
          <a:p>
            <a:endParaRPr lang="en-US" dirty="0"/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T1595.001: </a:t>
            </a:r>
            <a:r>
              <a:rPr lang="en-US" dirty="0">
                <a:solidFill>
                  <a:srgbClr val="00004C"/>
                </a:solidFill>
              </a:rPr>
              <a:t>IP address Blocks - </a:t>
            </a:r>
            <a:r>
              <a:rPr lang="en-US" dirty="0" err="1">
                <a:solidFill>
                  <a:srgbClr val="00004C"/>
                </a:solidFill>
              </a:rPr>
              <a:t>nmap</a:t>
            </a:r>
            <a:r>
              <a:rPr lang="en-US" dirty="0">
                <a:solidFill>
                  <a:srgbClr val="00004C"/>
                </a:solidFill>
              </a:rPr>
              <a:t> ranges on suspected attack networks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T1595.002: </a:t>
            </a:r>
            <a:r>
              <a:rPr lang="en-US" dirty="0">
                <a:solidFill>
                  <a:srgbClr val="00004C"/>
                </a:solidFill>
              </a:rPr>
              <a:t>Vulnerability Scanning - -</a:t>
            </a:r>
            <a:r>
              <a:rPr lang="en-US" dirty="0" err="1">
                <a:solidFill>
                  <a:srgbClr val="00004C"/>
                </a:solidFill>
              </a:rPr>
              <a:t>sV</a:t>
            </a:r>
            <a:r>
              <a:rPr lang="en-US" dirty="0">
                <a:solidFill>
                  <a:srgbClr val="00004C"/>
                </a:solidFill>
              </a:rPr>
              <a:t> and scripts for exploit intelligence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Blue space: </a:t>
            </a:r>
            <a:r>
              <a:rPr lang="en-US" dirty="0">
                <a:solidFill>
                  <a:srgbClr val="00004C"/>
                </a:solidFill>
              </a:rPr>
              <a:t>Enhances planning by confirming unrelated covert targets, launching from engaged networks to blend and access blocked assets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475BAD-8A4E-0076-B7CE-6E25B4C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i="0" dirty="0">
                <a:solidFill>
                  <a:srgbClr val="00004C"/>
                </a:solidFill>
                <a:effectLst/>
                <a:latin typeface="+mj-lt"/>
              </a:rPr>
              <a:t>Mapping to MITRE ATT&amp;CK®</a:t>
            </a:r>
            <a:br>
              <a:rPr lang="en-US" i="0" dirty="0">
                <a:solidFill>
                  <a:srgbClr val="00004C"/>
                </a:solidFill>
                <a:effectLst/>
                <a:latin typeface="+mj-lt"/>
              </a:rPr>
            </a:br>
            <a:endParaRPr lang="en-US" dirty="0">
              <a:solidFill>
                <a:srgbClr val="00004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79935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2ED1AE-F41A-D249-DED8-9D3AFF336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4C"/>
                </a:solidFill>
              </a:rPr>
              <a:t>How Active Recon Feeds into Initial Access</a:t>
            </a:r>
          </a:p>
          <a:p>
            <a:endParaRPr lang="en-US" b="1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Reconnaissance &gt; TA0001 Initial Access (e.g., T1190 Exploit Public-Facing Application)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Example: Scan reveals vulnerability &gt; Exploit for disruption</a:t>
            </a:r>
          </a:p>
          <a:p>
            <a:pPr lvl="1"/>
            <a:r>
              <a:rPr lang="en-US" b="1" dirty="0">
                <a:solidFill>
                  <a:srgbClr val="00004C"/>
                </a:solidFill>
              </a:rPr>
              <a:t>Campaign integration: </a:t>
            </a:r>
            <a:r>
              <a:rPr lang="en-US" dirty="0">
                <a:solidFill>
                  <a:srgbClr val="00004C"/>
                </a:solidFill>
              </a:rPr>
              <a:t>Builds effects chain from blue dominance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475BAD-8A4E-0076-B7CE-6E25B4C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i="0" dirty="0">
                <a:solidFill>
                  <a:srgbClr val="00004C"/>
                </a:solidFill>
                <a:effectLst/>
                <a:latin typeface="+mj-lt"/>
              </a:rPr>
              <a:t>Mapping to MITRE ATT&amp;CK®</a:t>
            </a:r>
            <a:br>
              <a:rPr lang="en-US" i="0" dirty="0">
                <a:solidFill>
                  <a:srgbClr val="00004C"/>
                </a:solidFill>
                <a:effectLst/>
                <a:latin typeface="+mj-lt"/>
              </a:rPr>
            </a:br>
            <a:endParaRPr lang="en-US" dirty="0">
              <a:solidFill>
                <a:srgbClr val="0000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7941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4A4350-6C7C-7BFB-E772-95E452C2D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In this lesson, we covered: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00004C"/>
                </a:solidFill>
              </a:rPr>
              <a:t>Passive to active transition for deep intelligence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Nmap scans (SYN, UDP, scripts) + enumeration tools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Evasion/OPSEC from blue space advantages</a:t>
            </a:r>
          </a:p>
          <a:p>
            <a:pPr lvl="1"/>
            <a:r>
              <a:rPr lang="en-US" dirty="0">
                <a:solidFill>
                  <a:srgbClr val="00004C"/>
                </a:solidFill>
              </a:rPr>
              <a:t>ATT&amp;CK® T1595 for structured reconnaissance in counteroperations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61D3D1-8977-E69D-1703-187C35C7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Lesson Summary</a:t>
            </a:r>
          </a:p>
        </p:txBody>
      </p:sp>
    </p:spTree>
    <p:extLst>
      <p:ext uri="{BB962C8B-B14F-4D97-AF65-F5344CB8AC3E}">
        <p14:creationId xmlns:p14="http://schemas.microsoft.com/office/powerpoint/2010/main" val="18705825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4A4350-6C7C-7BFB-E772-95E452C2D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95847" lvl="1" indent="0">
              <a:buNone/>
            </a:pPr>
            <a:endParaRPr lang="en-US" dirty="0">
              <a:solidFill>
                <a:srgbClr val="00004C"/>
              </a:solidFill>
            </a:endParaRPr>
          </a:p>
          <a:p>
            <a:pPr lvl="1"/>
            <a:r>
              <a:rPr lang="en-US" dirty="0">
                <a:solidFill>
                  <a:srgbClr val="00004C"/>
                </a:solidFill>
              </a:rPr>
              <a:t>The next lesson will be a lab where you will have an opportunity to practice what you learned during today’s lesson by scanning simulated adversary targets, building profiles, and planning mock counterstrikes.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61D3D1-8977-E69D-1703-187C35C7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4C"/>
                </a:solidFill>
              </a:rPr>
              <a:t>Lesson Summary</a:t>
            </a:r>
          </a:p>
        </p:txBody>
      </p:sp>
    </p:spTree>
    <p:extLst>
      <p:ext uri="{BB962C8B-B14F-4D97-AF65-F5344CB8AC3E}">
        <p14:creationId xmlns:p14="http://schemas.microsoft.com/office/powerpoint/2010/main" val="42323561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(U) Questions?</a:t>
            </a:r>
          </a:p>
        </p:txBody>
      </p:sp>
    </p:spTree>
    <p:extLst>
      <p:ext uri="{BB962C8B-B14F-4D97-AF65-F5344CB8AC3E}">
        <p14:creationId xmlns:p14="http://schemas.microsoft.com/office/powerpoint/2010/main" val="2036068300"/>
      </p:ext>
    </p:extLst>
  </p:cSld>
  <p:clrMapOvr>
    <a:masterClrMapping/>
  </p:clrMapOvr>
</p:sld>
</file>

<file path=ppt/theme/theme1.xml><?xml version="1.0" encoding="utf-8"?>
<a:theme xmlns:a="http://schemas.openxmlformats.org/drawingml/2006/main" name="CyberTemplateL_Green Unclas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8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 Template Primary" id="{3FAB2691-938F-4A4F-BEE8-49EC265A7425}" vid="{8C052DBC-2246-405A-94F7-2BD3C078A3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08ab3ad5-43d9-4692-81ca-47747515fe3c</TitusGUID>
  <TitusMetadata xmlns="">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==</TitusMetadata>
</titus>
</file>

<file path=customXml/itemProps1.xml><?xml version="1.0" encoding="utf-8"?>
<ds:datastoreItem xmlns:ds="http://schemas.openxmlformats.org/officeDocument/2006/customXml" ds:itemID="{9ED1A20F-9DE4-4159-9A6D-18E30615BA76}">
  <ds:schemaRefs>
    <ds:schemaRef ds:uri="http://schemas.titus.com/TitusProperties/"/>
    <ds:schemaRef ds:uri="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66d73691-ea97-48b1-95d5-e94f0a46b87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Lecture Template</Template>
  <TotalTime>300</TotalTime>
  <Words>3905</Words>
  <Application>Microsoft Office PowerPoint</Application>
  <PresentationFormat>Widescreen</PresentationFormat>
  <Paragraphs>414</Paragraphs>
  <Slides>68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-apple-system</vt:lpstr>
      <vt:lpstr>Arial</vt:lpstr>
      <vt:lpstr>Calibri</vt:lpstr>
      <vt:lpstr>CyberTemplateL_Green Unclass</vt:lpstr>
      <vt:lpstr>Information Gathering and Active Reconnaissance </vt:lpstr>
      <vt:lpstr>Lesson Objectives</vt:lpstr>
      <vt:lpstr>Lesson Overview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Introduction to Active Reconnaissance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Network Scanning Fundamentals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Nmap Deep Dive </vt:lpstr>
      <vt:lpstr>Service Enumeration Beyond Nmap </vt:lpstr>
      <vt:lpstr>Service Enumeration Beyond Nmap </vt:lpstr>
      <vt:lpstr>Service Enumeration Beyond Nmap </vt:lpstr>
      <vt:lpstr>Service Enumeration Beyond Nmap </vt:lpstr>
      <vt:lpstr>Service Enumeration Beyond Nmap </vt:lpstr>
      <vt:lpstr>Service Enumeration Beyond Nmap </vt:lpstr>
      <vt:lpstr>Service Enumeration Beyond Nmap </vt:lpstr>
      <vt:lpstr>Service Enumeration Beyond Nmap </vt:lpstr>
      <vt:lpstr>Service Enumeration Beyond Nmap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OPSEC and Detection Considerations </vt:lpstr>
      <vt:lpstr>Mapping to MITRE ATT&amp;CK® </vt:lpstr>
      <vt:lpstr>Mapping to MITRE ATT&amp;CK® </vt:lpstr>
      <vt:lpstr>Mapping to MITRE ATT&amp;CK® </vt:lpstr>
      <vt:lpstr>Mapping to MITRE ATT&amp;CK® </vt:lpstr>
      <vt:lpstr>Lesson Summary</vt:lpstr>
      <vt:lpstr>Lesson Summary</vt:lpstr>
      <vt:lpstr>(U)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Mattson Sarah E USA CTR</dc:creator>
  <cp:lastModifiedBy>Mattson, Sarah (Chiron)</cp:lastModifiedBy>
  <cp:revision>53</cp:revision>
  <dcterms:created xsi:type="dcterms:W3CDTF">2026-02-17T14:22:52Z</dcterms:created>
  <dcterms:modified xsi:type="dcterms:W3CDTF">2026-05-15T11:48:40Z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08ab3ad5-43d9-4692-81ca-47747515fe3c</vt:lpwstr>
  </property>
  <property fmtid="{D5CDD505-2E9C-101B-9397-08002B2CF9AE}" pid="3" name="ClassificationTitus">
    <vt:lpwstr>BLANK</vt:lpwstr>
  </property>
</Properties>
</file>