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"/>
  </p:sldMasterIdLst>
  <p:notesMasterIdLst>
    <p:notesMasterId r:id="rId74"/>
  </p:notesMasterIdLst>
  <p:handoutMasterIdLst>
    <p:handoutMasterId r:id="rId75"/>
  </p:handoutMasterIdLst>
  <p:sldIdLst>
    <p:sldId id="259" r:id="rId3"/>
    <p:sldId id="264" r:id="rId4"/>
    <p:sldId id="265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92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301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9" r:id="rId54"/>
    <p:sldId id="330" r:id="rId55"/>
    <p:sldId id="331" r:id="rId56"/>
    <p:sldId id="332" r:id="rId57"/>
    <p:sldId id="333" r:id="rId58"/>
    <p:sldId id="334" r:id="rId59"/>
    <p:sldId id="335" r:id="rId60"/>
    <p:sldId id="336" r:id="rId61"/>
    <p:sldId id="340" r:id="rId62"/>
    <p:sldId id="341" r:id="rId63"/>
    <p:sldId id="342" r:id="rId64"/>
    <p:sldId id="343" r:id="rId65"/>
    <p:sldId id="344" r:id="rId66"/>
    <p:sldId id="345" r:id="rId67"/>
    <p:sldId id="346" r:id="rId68"/>
    <p:sldId id="347" r:id="rId69"/>
    <p:sldId id="348" r:id="rId70"/>
    <p:sldId id="266" r:id="rId71"/>
    <p:sldId id="349" r:id="rId72"/>
    <p:sldId id="263" r:id="rId73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ross, Clayton D" initials="CCD" lastIdx="1" clrIdx="0">
    <p:extLst>
      <p:ext uri="{19B8F6BF-5375-455C-9EA6-DF929625EA0E}">
        <p15:presenceInfo xmlns:p15="http://schemas.microsoft.com/office/powerpoint/2012/main" userId="Cross, Clayton 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4C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7" autoAdjust="0"/>
    <p:restoredTop sz="74281" autoAdjust="0"/>
  </p:normalViewPr>
  <p:slideViewPr>
    <p:cSldViewPr snapToGrid="0">
      <p:cViewPr varScale="1">
        <p:scale>
          <a:sx n="47" d="100"/>
          <a:sy n="47" d="100"/>
        </p:scale>
        <p:origin x="1224" y="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6" d="100"/>
          <a:sy n="116" d="100"/>
        </p:scale>
        <p:origin x="238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notesMaster" Target="notesMasters/notesMaster1.xml"/><Relationship Id="rId79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commentAuthors" Target="commentAuthor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1.xml"/><Relationship Id="rId29" Type="http://schemas.openxmlformats.org/officeDocument/2006/relationships/slide" Target="slides/slide2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F5B5D0-340B-4E36-9CF9-185D0E66E27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D283BF-5CBE-4454-B8C7-2AC6C6C06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563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 9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sz="12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References:</a:t>
            </a:r>
            <a:endParaRPr lang="en-US" sz="12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Key Points:</a:t>
            </a:r>
            <a:endParaRPr lang="en-US" sz="12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Explanation of any images/charts/graphics:</a:t>
            </a:r>
            <a:endParaRPr lang="en-US" sz="12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Questions students are most likely to ask:</a:t>
            </a:r>
          </a:p>
          <a:p>
            <a:r>
              <a:rPr lang="en-US" sz="12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Amplifying Details: </a:t>
            </a:r>
            <a:endParaRPr lang="en-US" sz="12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4004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014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851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11646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957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48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30641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66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582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515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57429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2422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0022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24238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534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4502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0269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91308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2440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9894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35163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82146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609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6539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663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700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75256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9281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56841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1134970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9287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69820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7134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9220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10820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23224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51641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2411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63024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7182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8375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4981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396717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172533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78214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2784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74455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2199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730829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457374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3963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39199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190567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0873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0513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63808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21844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830092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47207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91261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938115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121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91333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4087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1"/>
          <p:cNvSpPr txBox="1">
            <a:spLocks noGrp="1"/>
          </p:cNvSpPr>
          <p:nvPr>
            <p:ph type="ctrTitle" hasCustomPrompt="1"/>
          </p:nvPr>
        </p:nvSpPr>
        <p:spPr>
          <a:xfrm>
            <a:off x="2062480" y="89884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4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Lesson 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93533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preserve="1" userDrawn="1">
  <p:cSld name="Lesson Objective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>
            <a:spLocks noGrp="1"/>
          </p:cNvSpPr>
          <p:nvPr>
            <p:ph type="body" idx="1" hasCustomPrompt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0" lvl="0" indent="-440256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1pPr>
            <a:lvl2pPr marL="1219170" marR="0" lvl="1" indent="-4233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2pPr>
            <a:lvl3pPr marL="1828754" marR="0" lvl="2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3pPr>
            <a:lvl4pPr marL="2438339" marR="0" lvl="3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4pPr>
            <a:lvl5pPr marL="3047924" marR="0" lvl="4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5pPr>
            <a:lvl6pPr marL="3657509" marR="0" lvl="5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7pPr>
            <a:lvl8pPr marL="4876678" marR="0" lvl="7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8pPr>
            <a:lvl9pPr marL="5486263" marR="0" lvl="8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en-US" dirty="0"/>
              <a:t>ELOs covered in the lesson</a:t>
            </a:r>
            <a:endParaRPr dirty="0"/>
          </a:p>
        </p:txBody>
      </p:sp>
      <p:sp>
        <p:nvSpPr>
          <p:cNvPr id="21" name="Google Shape;21;p14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4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9;p14"/>
          <p:cNvSpPr txBox="1">
            <a:spLocks noGrp="1"/>
          </p:cNvSpPr>
          <p:nvPr>
            <p:ph type="title" hasCustomPrompt="1"/>
          </p:nvPr>
        </p:nvSpPr>
        <p:spPr>
          <a:xfrm>
            <a:off x="1510028" y="519084"/>
            <a:ext cx="10361371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Lesson Objectives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77703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preserve="1" userDrawn="1">
  <p:cSld name="Lesson Overview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>
            <a:spLocks noGrp="1"/>
          </p:cNvSpPr>
          <p:nvPr>
            <p:ph type="body" idx="1" hasCustomPrompt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0" lvl="0" indent="-440256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1pPr>
            <a:lvl2pPr marL="1219170" marR="0" lvl="1" indent="-4233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2pPr>
            <a:lvl3pPr marL="1828754" marR="0" lvl="2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3pPr>
            <a:lvl4pPr marL="2438339" marR="0" lvl="3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4pPr>
            <a:lvl5pPr marL="3047924" marR="0" lvl="4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5pPr>
            <a:lvl6pPr marL="3657509" marR="0" lvl="5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7pPr>
            <a:lvl8pPr marL="4876678" marR="0" lvl="7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8pPr>
            <a:lvl9pPr marL="5486263" marR="0" lvl="8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en-US" dirty="0"/>
              <a:t>Brief Explanation of Lesson</a:t>
            </a:r>
            <a:endParaRPr dirty="0"/>
          </a:p>
        </p:txBody>
      </p:sp>
      <p:sp>
        <p:nvSpPr>
          <p:cNvPr id="21" name="Google Shape;21;p14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4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9;p14"/>
          <p:cNvSpPr txBox="1">
            <a:spLocks noGrp="1"/>
          </p:cNvSpPr>
          <p:nvPr>
            <p:ph type="title" hasCustomPrompt="1"/>
          </p:nvPr>
        </p:nvSpPr>
        <p:spPr>
          <a:xfrm>
            <a:off x="1510028" y="519084"/>
            <a:ext cx="10361371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Lesson Overview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0154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1_Section 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17" name="Google Shape;17;p12"/>
          <p:cNvSpPr txBox="1">
            <a:spLocks noGrp="1"/>
          </p:cNvSpPr>
          <p:nvPr>
            <p:ph type="body" idx="1"/>
          </p:nvPr>
        </p:nvSpPr>
        <p:spPr>
          <a:xfrm>
            <a:off x="1723854" y="3429000"/>
            <a:ext cx="9963493" cy="21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0" lvl="0" indent="-304792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+mn-lt"/>
                <a:ea typeface="Calibri"/>
                <a:cs typeface="Calibri"/>
                <a:sym typeface="Calibri"/>
              </a:defRPr>
            </a:lvl1pPr>
            <a:lvl2pPr marL="1219170" marR="0" lvl="1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6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100"/>
              <a:buFont typeface="Arial"/>
              <a:buNone/>
              <a:defRPr sz="1333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1248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preserve="1" userDrawn="1">
  <p:cSld name="1_Title and Content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0" lvl="0" indent="-440256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1pPr>
            <a:lvl2pPr marL="1219170" marR="0" lvl="1" indent="-4233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2pPr>
            <a:lvl3pPr marL="1828754" marR="0" lvl="2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3pPr>
            <a:lvl4pPr marL="2438339" marR="0" lvl="3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4pPr>
            <a:lvl5pPr marL="3047924" marR="0" lvl="4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5pPr>
            <a:lvl6pPr marL="3657509" marR="0" lvl="5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7pPr>
            <a:lvl8pPr marL="4876678" marR="0" lvl="7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8pPr>
            <a:lvl9pPr marL="5486263" marR="0" lvl="8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21" name="Google Shape;21;p14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4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9;p14"/>
          <p:cNvSpPr txBox="1">
            <a:spLocks noGrp="1"/>
          </p:cNvSpPr>
          <p:nvPr>
            <p:ph type="title"/>
          </p:nvPr>
        </p:nvSpPr>
        <p:spPr>
          <a:xfrm>
            <a:off x="1510028" y="519084"/>
            <a:ext cx="10361371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74952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preserve="1" userDrawn="1">
  <p:cSld name="Comparison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>
            <a:spLocks noGrp="1"/>
          </p:cNvSpPr>
          <p:nvPr>
            <p:ph type="body" idx="1"/>
          </p:nvPr>
        </p:nvSpPr>
        <p:spPr>
          <a:xfrm>
            <a:off x="1141622" y="1000540"/>
            <a:ext cx="4874101" cy="4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609585" marR="0" lvl="0" indent="-304792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1pPr>
            <a:lvl2pPr marL="1219170" marR="0" lvl="1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Google Shape;35;p17"/>
          <p:cNvSpPr txBox="1">
            <a:spLocks noGrp="1"/>
          </p:cNvSpPr>
          <p:nvPr>
            <p:ph type="body" idx="2" hasCustomPrompt="1"/>
          </p:nvPr>
        </p:nvSpPr>
        <p:spPr>
          <a:xfrm>
            <a:off x="1141621" y="1582321"/>
            <a:ext cx="4854344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0" lvl="0" indent="-440256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1pPr>
            <a:lvl2pPr marL="1219170" marR="0" lvl="1" indent="-4233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2pPr>
            <a:lvl3pPr marL="1828754" marR="0" lvl="2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3pPr>
            <a:lvl4pPr marL="2438339" marR="0" lvl="3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4pPr>
            <a:lvl5pPr marL="3047924" marR="0" lvl="4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5pPr>
            <a:lvl6pPr marL="3657509" marR="0" lvl="5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6pPr>
            <a:lvl7pPr marL="4267093" marR="0" lvl="6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7pPr>
            <a:lvl8pPr marL="4876678" marR="0" lvl="7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8pPr>
            <a:lvl9pPr marL="5486263" marR="0" lvl="8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Text</a:t>
            </a:r>
          </a:p>
          <a:p>
            <a:pPr lvl="1"/>
            <a:r>
              <a:rPr lang="en-US" dirty="0"/>
              <a:t>Text</a:t>
            </a:r>
          </a:p>
          <a:p>
            <a:pPr lvl="2"/>
            <a:r>
              <a:rPr lang="en-US" dirty="0"/>
              <a:t>Text</a:t>
            </a:r>
          </a:p>
          <a:p>
            <a:pPr lvl="3"/>
            <a:r>
              <a:rPr lang="en-US" dirty="0"/>
              <a:t>Text</a:t>
            </a:r>
          </a:p>
          <a:p>
            <a:pPr lvl="4"/>
            <a:r>
              <a:rPr lang="en-US" dirty="0"/>
              <a:t>Text</a:t>
            </a:r>
          </a:p>
          <a:p>
            <a:pPr lvl="5"/>
            <a:r>
              <a:rPr lang="en-US" dirty="0"/>
              <a:t>Text</a:t>
            </a:r>
          </a:p>
          <a:p>
            <a:pPr lvl="6"/>
            <a:r>
              <a:rPr lang="en-US" dirty="0"/>
              <a:t>Text</a:t>
            </a:r>
          </a:p>
          <a:p>
            <a:pPr lvl="7"/>
            <a:r>
              <a:rPr lang="en-US" dirty="0"/>
              <a:t>Text</a:t>
            </a:r>
          </a:p>
          <a:p>
            <a:pPr lvl="0"/>
            <a:endParaRPr dirty="0"/>
          </a:p>
        </p:txBody>
      </p:sp>
      <p:sp>
        <p:nvSpPr>
          <p:cNvPr id="36" name="Google Shape;36;p17"/>
          <p:cNvSpPr txBox="1">
            <a:spLocks noGrp="1"/>
          </p:cNvSpPr>
          <p:nvPr>
            <p:ph type="body" idx="3"/>
          </p:nvPr>
        </p:nvSpPr>
        <p:spPr>
          <a:xfrm>
            <a:off x="6195272" y="1000540"/>
            <a:ext cx="5603200" cy="4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609585" marR="0" lvl="0" indent="-304792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1pPr>
            <a:lvl2pPr marL="1219170" marR="0" lvl="1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Google Shape;37;p17"/>
          <p:cNvSpPr txBox="1">
            <a:spLocks noGrp="1"/>
          </p:cNvSpPr>
          <p:nvPr>
            <p:ph type="body" idx="4" hasCustomPrompt="1"/>
          </p:nvPr>
        </p:nvSpPr>
        <p:spPr>
          <a:xfrm>
            <a:off x="6199877" y="1582323"/>
            <a:ext cx="5598400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0" lvl="0" indent="-440256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1pPr>
            <a:lvl2pPr marL="1219170" marR="0" lvl="1" indent="-4233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2pPr>
            <a:lvl3pPr marL="1828754" marR="0" lvl="2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3pPr>
            <a:lvl4pPr marL="2438339" marR="0" lvl="3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4pPr>
            <a:lvl5pPr marL="3047924" marR="0" lvl="4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5pPr>
            <a:lvl6pPr marL="3657509" marR="0" lvl="5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6pPr>
            <a:lvl7pPr marL="4267093" marR="0" lvl="6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7pPr>
            <a:lvl8pPr marL="4876678" marR="0" lvl="7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8pPr>
            <a:lvl9pPr marL="5486263" marR="0" lvl="8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en-US" dirty="0"/>
              <a:t>Text</a:t>
            </a:r>
          </a:p>
          <a:p>
            <a:pPr lvl="1"/>
            <a:r>
              <a:rPr lang="en-US" dirty="0"/>
              <a:t>Text</a:t>
            </a:r>
          </a:p>
          <a:p>
            <a:pPr lvl="2"/>
            <a:r>
              <a:rPr lang="en-US" dirty="0"/>
              <a:t>Text</a:t>
            </a:r>
          </a:p>
          <a:p>
            <a:pPr lvl="3"/>
            <a:r>
              <a:rPr lang="en-US" dirty="0"/>
              <a:t>Text</a:t>
            </a:r>
          </a:p>
          <a:p>
            <a:pPr lvl="4"/>
            <a:r>
              <a:rPr lang="en-US" dirty="0"/>
              <a:t>Text</a:t>
            </a:r>
          </a:p>
          <a:p>
            <a:pPr lvl="5"/>
            <a:r>
              <a:rPr lang="en-US" dirty="0"/>
              <a:t>Text</a:t>
            </a:r>
          </a:p>
          <a:p>
            <a:pPr lvl="6"/>
            <a:r>
              <a:rPr lang="en-US" dirty="0"/>
              <a:t>Text</a:t>
            </a:r>
          </a:p>
          <a:p>
            <a:pPr lvl="7"/>
            <a:r>
              <a:rPr lang="en-US" dirty="0"/>
              <a:t>Text</a:t>
            </a:r>
          </a:p>
          <a:p>
            <a:pPr lvl="0"/>
            <a:endParaRPr dirty="0"/>
          </a:p>
        </p:txBody>
      </p:sp>
      <p:cxnSp>
        <p:nvCxnSpPr>
          <p:cNvPr id="38" name="Google Shape;38;p17"/>
          <p:cNvCxnSpPr>
            <a:cxnSpLocks/>
          </p:cNvCxnSpPr>
          <p:nvPr/>
        </p:nvCxnSpPr>
        <p:spPr>
          <a:xfrm>
            <a:off x="1141622" y="974035"/>
            <a:ext cx="10830241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39" name="Google Shape;39;p17"/>
          <p:cNvCxnSpPr/>
          <p:nvPr/>
        </p:nvCxnSpPr>
        <p:spPr>
          <a:xfrm>
            <a:off x="6095137" y="974035"/>
            <a:ext cx="800" cy="538240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40" name="Google Shape;40;p17"/>
          <p:cNvCxnSpPr>
            <a:cxnSpLocks/>
          </p:cNvCxnSpPr>
          <p:nvPr/>
        </p:nvCxnSpPr>
        <p:spPr>
          <a:xfrm>
            <a:off x="1141621" y="1504121"/>
            <a:ext cx="10830240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" name="Google Shape;19;p14"/>
          <p:cNvSpPr txBox="1">
            <a:spLocks noGrp="1"/>
          </p:cNvSpPr>
          <p:nvPr>
            <p:ph type="title"/>
          </p:nvPr>
        </p:nvSpPr>
        <p:spPr>
          <a:xfrm>
            <a:off x="1510028" y="519084"/>
            <a:ext cx="10361371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38853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9"/>
          <p:cNvSpPr txBox="1">
            <a:spLocks noGrp="1"/>
          </p:cNvSpPr>
          <p:nvPr>
            <p:ph type="title"/>
          </p:nvPr>
        </p:nvSpPr>
        <p:spPr>
          <a:xfrm>
            <a:off x="1363363" y="952052"/>
            <a:ext cx="3098248" cy="16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1" hasCustomPrompt="1"/>
          </p:nvPr>
        </p:nvSpPr>
        <p:spPr>
          <a:xfrm>
            <a:off x="4720611" y="952053"/>
            <a:ext cx="7091600" cy="54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0" lvl="0" indent="-457189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667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1pPr>
            <a:lvl2pPr marL="1219170" marR="0" lvl="1" indent="-440256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2pPr>
            <a:lvl3pPr marL="1828754" marR="0" lvl="2" indent="-4233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3pPr>
            <a:lvl4pPr marL="2438339" marR="0" lvl="3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4pPr>
            <a:lvl5pPr marL="3047924" marR="0" lvl="4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5pPr>
            <a:lvl6pPr marL="3657509" marR="0" lvl="5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6pPr>
            <a:lvl7pPr marL="4267093" marR="0" lvl="6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7pPr>
            <a:lvl8pPr marL="4876678" marR="0" lvl="7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8pPr>
            <a:lvl9pPr marL="5316934" marR="0" lvl="8" indent="-228594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defRPr sz="1333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9pPr>
          </a:lstStyle>
          <a:p>
            <a:r>
              <a:rPr lang="en-US" dirty="0"/>
              <a:t>Text</a:t>
            </a:r>
          </a:p>
          <a:p>
            <a:pPr lvl="1"/>
            <a:r>
              <a:rPr lang="en-US" dirty="0"/>
              <a:t>Text</a:t>
            </a:r>
          </a:p>
          <a:p>
            <a:pPr lvl="2"/>
            <a:r>
              <a:rPr lang="en-US" dirty="0"/>
              <a:t>Text</a:t>
            </a:r>
          </a:p>
          <a:p>
            <a:pPr lvl="3"/>
            <a:r>
              <a:rPr lang="en-US" dirty="0"/>
              <a:t>Text</a:t>
            </a:r>
          </a:p>
          <a:p>
            <a:pPr lvl="4"/>
            <a:r>
              <a:rPr lang="en-US" dirty="0"/>
              <a:t>Text</a:t>
            </a:r>
          </a:p>
          <a:p>
            <a:pPr lvl="5"/>
            <a:r>
              <a:rPr lang="en-US" dirty="0"/>
              <a:t>Text</a:t>
            </a:r>
          </a:p>
          <a:p>
            <a:pPr lvl="6"/>
            <a:r>
              <a:rPr lang="en-US" dirty="0"/>
              <a:t>Text</a:t>
            </a:r>
          </a:p>
          <a:p>
            <a:pPr lvl="7"/>
            <a:r>
              <a:rPr lang="en-US" dirty="0"/>
              <a:t>Text</a:t>
            </a:r>
          </a:p>
          <a:p>
            <a:pPr lvl="8"/>
            <a:r>
              <a:rPr lang="en-US" dirty="0"/>
              <a:t>Text</a:t>
            </a:r>
          </a:p>
          <a:p>
            <a:pPr lvl="8"/>
            <a:endParaRPr lang="en-US" dirty="0"/>
          </a:p>
          <a:p>
            <a:pPr lvl="8"/>
            <a:endParaRPr lang="en-US" dirty="0"/>
          </a:p>
          <a:p>
            <a:pPr lvl="0"/>
            <a:endParaRPr lang="en-US" dirty="0"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2"/>
          </p:nvPr>
        </p:nvSpPr>
        <p:spPr>
          <a:xfrm>
            <a:off x="1363363" y="2552252"/>
            <a:ext cx="3098248" cy="38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0" lvl="0" indent="-304792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Calibri"/>
              </a:defRPr>
            </a:lvl1pPr>
            <a:lvl2pPr marL="1219170" marR="0" lvl="1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0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30479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3527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1301578" y="987425"/>
            <a:ext cx="3061420" cy="16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49" name="Google Shape;49;p20"/>
          <p:cNvSpPr>
            <a:spLocks noGrp="1"/>
          </p:cNvSpPr>
          <p:nvPr>
            <p:ph type="pic" idx="2"/>
          </p:nvPr>
        </p:nvSpPr>
        <p:spPr>
          <a:xfrm>
            <a:off x="4666821" y="987425"/>
            <a:ext cx="7102000" cy="5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1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>
          <a:xfrm>
            <a:off x="1301578" y="2587625"/>
            <a:ext cx="3061420" cy="38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>
              <a:defRPr sz="1867" dirty="0">
                <a:solidFill>
                  <a:schemeClr val="dk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indent="-304792">
              <a:buClr>
                <a:schemeClr val="dk1"/>
              </a:buClr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08430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Title Slide" preserve="1">
  <p:cSld name="11_Title Slide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8049777" y="6566743"/>
            <a:ext cx="3860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1" i="0" u="none" strike="noStrike" cap="non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02184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ster Use" preserve="1" userDrawn="1">
  <p:cSld name="Master Us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9;p14"/>
          <p:cNvSpPr txBox="1">
            <a:spLocks noGrp="1"/>
          </p:cNvSpPr>
          <p:nvPr>
            <p:ph type="title"/>
          </p:nvPr>
        </p:nvSpPr>
        <p:spPr>
          <a:xfrm>
            <a:off x="1510028" y="519084"/>
            <a:ext cx="10361371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8747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preserve="1" userDrawn="1">
  <p:cSld name="Lesson Summar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>
            <a:spLocks noGrp="1"/>
          </p:cNvSpPr>
          <p:nvPr>
            <p:ph type="body" idx="1" hasCustomPrompt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marR="0" lvl="0" indent="-440256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1pPr>
            <a:lvl2pPr marL="1219170" marR="0" lvl="1" indent="-4233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2pPr>
            <a:lvl3pPr marL="1828754" marR="0" lvl="2" indent="-39792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3pPr>
            <a:lvl4pPr marL="2438339" marR="0" lvl="3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4pPr>
            <a:lvl5pPr marL="3047924" marR="0" lvl="4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5pPr>
            <a:lvl6pPr marL="3657509" marR="0" lvl="5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7pPr>
            <a:lvl8pPr marL="4876678" marR="0" lvl="7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8pPr>
            <a:lvl9pPr marL="5486263" marR="0" lvl="8" indent="-389457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en-US" dirty="0"/>
              <a:t>Brief Summary of Lesson</a:t>
            </a:r>
            <a:endParaRPr dirty="0"/>
          </a:p>
        </p:txBody>
      </p:sp>
      <p:sp>
        <p:nvSpPr>
          <p:cNvPr id="21" name="Google Shape;21;p14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4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9;p14"/>
          <p:cNvSpPr txBox="1">
            <a:spLocks noGrp="1"/>
          </p:cNvSpPr>
          <p:nvPr>
            <p:ph type="title" hasCustomPrompt="1"/>
          </p:nvPr>
        </p:nvSpPr>
        <p:spPr>
          <a:xfrm>
            <a:off x="1510028" y="519084"/>
            <a:ext cx="10361371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Lesson Summary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00841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Questions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title" hasCustomPrompt="1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Questions?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84814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3C8531C-6664-AC0C-ED00-3D1957BC281F}"/>
              </a:ext>
            </a:extLst>
          </p:cNvPr>
          <p:cNvSpPr/>
          <p:nvPr userDrawn="1"/>
        </p:nvSpPr>
        <p:spPr>
          <a:xfrm>
            <a:off x="-1" y="-20168"/>
            <a:ext cx="12191999" cy="263611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D018CF-85D7-A3C5-985F-E66425541490}"/>
              </a:ext>
            </a:extLst>
          </p:cNvPr>
          <p:cNvSpPr/>
          <p:nvPr userDrawn="1"/>
        </p:nvSpPr>
        <p:spPr>
          <a:xfrm>
            <a:off x="1" y="243443"/>
            <a:ext cx="1128108" cy="6614557"/>
          </a:xfrm>
          <a:prstGeom prst="rect">
            <a:avLst/>
          </a:prstGeom>
          <a:ln>
            <a:noFill/>
          </a:ln>
          <a:effectLst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Google Shape;7;p10"/>
          <p:cNvSpPr txBox="1">
            <a:spLocks noGrp="1"/>
          </p:cNvSpPr>
          <p:nvPr>
            <p:ph type="title"/>
          </p:nvPr>
        </p:nvSpPr>
        <p:spPr>
          <a:xfrm>
            <a:off x="1189403" y="646322"/>
            <a:ext cx="10682000" cy="57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 </a:t>
            </a:r>
            <a:endParaRPr dirty="0"/>
          </a:p>
        </p:txBody>
      </p:sp>
      <p:sp>
        <p:nvSpPr>
          <p:cNvPr id="8" name="Google Shape;8;p10"/>
          <p:cNvSpPr txBox="1">
            <a:spLocks noGrp="1"/>
          </p:cNvSpPr>
          <p:nvPr>
            <p:ph type="body" idx="1"/>
          </p:nvPr>
        </p:nvSpPr>
        <p:spPr>
          <a:xfrm>
            <a:off x="1189401" y="1384879"/>
            <a:ext cx="10682000" cy="485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/>
            <a:endParaRPr dirty="0"/>
          </a:p>
        </p:txBody>
      </p:sp>
      <p:pic>
        <p:nvPicPr>
          <p:cNvPr id="9" name="Google Shape;9;p10"/>
          <p:cNvPicPr preferRelativeResize="0"/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713" y="231455"/>
            <a:ext cx="928680" cy="9286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0"/>
          <p:cNvSpPr txBox="1">
            <a:spLocks noGrp="1"/>
          </p:cNvSpPr>
          <p:nvPr>
            <p:ph type="sldNum" idx="12"/>
          </p:nvPr>
        </p:nvSpPr>
        <p:spPr>
          <a:xfrm>
            <a:off x="10058399" y="6641435"/>
            <a:ext cx="2133600" cy="2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C8531C-6664-AC0C-ED00-3D1957BC281F}"/>
              </a:ext>
            </a:extLst>
          </p:cNvPr>
          <p:cNvSpPr/>
          <p:nvPr userDrawn="1"/>
        </p:nvSpPr>
        <p:spPr>
          <a:xfrm>
            <a:off x="-2" y="6594389"/>
            <a:ext cx="12191999" cy="263611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grpSp>
        <p:nvGrpSpPr>
          <p:cNvPr id="34" name="Group 33"/>
          <p:cNvGrpSpPr/>
          <p:nvPr userDrawn="1"/>
        </p:nvGrpSpPr>
        <p:grpSpPr>
          <a:xfrm>
            <a:off x="254537" y="37012"/>
            <a:ext cx="4123292" cy="140365"/>
            <a:chOff x="5526083" y="4992009"/>
            <a:chExt cx="3092469" cy="105274"/>
          </a:xfrm>
          <a:gradFill flip="none" rotWithShape="1">
            <a:gsLst>
              <a:gs pos="0">
                <a:schemeClr val="accent1"/>
              </a:gs>
              <a:gs pos="0">
                <a:schemeClr val="accent1"/>
              </a:gs>
            </a:gsLst>
            <a:lin ang="2700000" scaled="1"/>
            <a:tileRect/>
          </a:gradFill>
        </p:grpSpPr>
        <p:sp>
          <p:nvSpPr>
            <p:cNvPr id="35" name="Chevron 34"/>
            <p:cNvSpPr/>
            <p:nvPr userDrawn="1"/>
          </p:nvSpPr>
          <p:spPr>
            <a:xfrm>
              <a:off x="8339152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36" name="Chevron 35"/>
            <p:cNvSpPr/>
            <p:nvPr userDrawn="1"/>
          </p:nvSpPr>
          <p:spPr>
            <a:xfrm>
              <a:off x="8059751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37" name="Chevron 36"/>
            <p:cNvSpPr/>
            <p:nvPr userDrawn="1"/>
          </p:nvSpPr>
          <p:spPr>
            <a:xfrm>
              <a:off x="7773998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38" name="Chevron 37"/>
            <p:cNvSpPr/>
            <p:nvPr userDrawn="1"/>
          </p:nvSpPr>
          <p:spPr>
            <a:xfrm>
              <a:off x="7494596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39" name="Chevron 38"/>
            <p:cNvSpPr/>
            <p:nvPr userDrawn="1"/>
          </p:nvSpPr>
          <p:spPr>
            <a:xfrm>
              <a:off x="7215195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40" name="Chevron 39"/>
            <p:cNvSpPr/>
            <p:nvPr userDrawn="1"/>
          </p:nvSpPr>
          <p:spPr>
            <a:xfrm>
              <a:off x="6929442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41" name="Chevron 40"/>
            <p:cNvSpPr/>
            <p:nvPr userDrawn="1"/>
          </p:nvSpPr>
          <p:spPr>
            <a:xfrm>
              <a:off x="6650040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42" name="Chevron 41"/>
            <p:cNvSpPr/>
            <p:nvPr userDrawn="1"/>
          </p:nvSpPr>
          <p:spPr>
            <a:xfrm>
              <a:off x="6370639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43" name="Chevron 42"/>
            <p:cNvSpPr/>
            <p:nvPr userDrawn="1"/>
          </p:nvSpPr>
          <p:spPr>
            <a:xfrm>
              <a:off x="6084886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44" name="Chevron 43"/>
            <p:cNvSpPr/>
            <p:nvPr userDrawn="1"/>
          </p:nvSpPr>
          <p:spPr>
            <a:xfrm>
              <a:off x="5805484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45" name="Chevron 44"/>
            <p:cNvSpPr/>
            <p:nvPr userDrawn="1"/>
          </p:nvSpPr>
          <p:spPr>
            <a:xfrm>
              <a:off x="5526083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</p:grpSp>
      <p:sp>
        <p:nvSpPr>
          <p:cNvPr id="48" name="Text Placeholder 16"/>
          <p:cNvSpPr txBox="1">
            <a:spLocks/>
          </p:cNvSpPr>
          <p:nvPr userDrawn="1"/>
        </p:nvSpPr>
        <p:spPr>
          <a:xfrm flipH="1">
            <a:off x="1043632" y="6366806"/>
            <a:ext cx="4211863" cy="221589"/>
          </a:xfrm>
          <a:prstGeom prst="rect">
            <a:avLst/>
          </a:prstGeom>
        </p:spPr>
        <p:txBody>
          <a:bodyPr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1" i="0" u="none" strike="noStrike" cap="none">
                <a:solidFill>
                  <a:srgbClr val="00B05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kern="0" dirty="0"/>
              <a:t>UNCLASSIFIED</a:t>
            </a:r>
          </a:p>
        </p:txBody>
      </p:sp>
      <p:sp>
        <p:nvSpPr>
          <p:cNvPr id="49" name="Text Placeholder 16"/>
          <p:cNvSpPr txBox="1">
            <a:spLocks/>
          </p:cNvSpPr>
          <p:nvPr userDrawn="1"/>
        </p:nvSpPr>
        <p:spPr>
          <a:xfrm>
            <a:off x="5482963" y="207088"/>
            <a:ext cx="6767512" cy="212103"/>
          </a:xfrm>
          <a:prstGeom prst="rect">
            <a:avLst/>
          </a:prstGeom>
        </p:spPr>
        <p:txBody>
          <a:bodyPr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1" i="0" u="none" strike="noStrike" cap="none" baseline="0">
                <a:solidFill>
                  <a:srgbClr val="00B05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21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kern="0" dirty="0"/>
              <a:t>UNCLASSIFIED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2ADCA60-3BD1-B7C2-7897-A83E6D914113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-5400000">
            <a:off x="-2150855" y="3445521"/>
            <a:ext cx="5429815" cy="99117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6701C421-A6F9-D749-8480-ECF6D94627DA}"/>
              </a:ext>
            </a:extLst>
          </p:cNvPr>
          <p:cNvGrpSpPr/>
          <p:nvPr userDrawn="1"/>
        </p:nvGrpSpPr>
        <p:grpSpPr>
          <a:xfrm>
            <a:off x="7996753" y="6659805"/>
            <a:ext cx="4123292" cy="140365"/>
            <a:chOff x="5526083" y="4992009"/>
            <a:chExt cx="3092469" cy="105274"/>
          </a:xfrm>
          <a:gradFill flip="none" rotWithShape="1">
            <a:gsLst>
              <a:gs pos="0">
                <a:schemeClr val="accent1"/>
              </a:gs>
              <a:gs pos="0">
                <a:schemeClr val="accent1"/>
              </a:gs>
            </a:gsLst>
            <a:lin ang="2700000" scaled="1"/>
            <a:tileRect/>
          </a:gradFill>
        </p:grpSpPr>
        <p:sp>
          <p:nvSpPr>
            <p:cNvPr id="52" name="Chevron 34">
              <a:extLst>
                <a:ext uri="{FF2B5EF4-FFF2-40B4-BE49-F238E27FC236}">
                  <a16:creationId xmlns:a16="http://schemas.microsoft.com/office/drawing/2014/main" id="{A3DA9578-59FE-86FB-A354-142255DA60DA}"/>
                </a:ext>
              </a:extLst>
            </p:cNvPr>
            <p:cNvSpPr/>
            <p:nvPr userDrawn="1"/>
          </p:nvSpPr>
          <p:spPr>
            <a:xfrm>
              <a:off x="8339152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53" name="Chevron 35">
              <a:extLst>
                <a:ext uri="{FF2B5EF4-FFF2-40B4-BE49-F238E27FC236}">
                  <a16:creationId xmlns:a16="http://schemas.microsoft.com/office/drawing/2014/main" id="{B04AF141-545B-B49E-C1E8-94740B9919BB}"/>
                </a:ext>
              </a:extLst>
            </p:cNvPr>
            <p:cNvSpPr/>
            <p:nvPr userDrawn="1"/>
          </p:nvSpPr>
          <p:spPr>
            <a:xfrm>
              <a:off x="8059751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54" name="Chevron 36">
              <a:extLst>
                <a:ext uri="{FF2B5EF4-FFF2-40B4-BE49-F238E27FC236}">
                  <a16:creationId xmlns:a16="http://schemas.microsoft.com/office/drawing/2014/main" id="{1A4E42AC-7995-9220-EB0F-FB2C216318D3}"/>
                </a:ext>
              </a:extLst>
            </p:cNvPr>
            <p:cNvSpPr/>
            <p:nvPr userDrawn="1"/>
          </p:nvSpPr>
          <p:spPr>
            <a:xfrm>
              <a:off x="7773998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55" name="Chevron 37">
              <a:extLst>
                <a:ext uri="{FF2B5EF4-FFF2-40B4-BE49-F238E27FC236}">
                  <a16:creationId xmlns:a16="http://schemas.microsoft.com/office/drawing/2014/main" id="{53C22C0C-6ECA-E350-C18D-0954C59A74BA}"/>
                </a:ext>
              </a:extLst>
            </p:cNvPr>
            <p:cNvSpPr/>
            <p:nvPr userDrawn="1"/>
          </p:nvSpPr>
          <p:spPr>
            <a:xfrm>
              <a:off x="7494596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56" name="Chevron 38">
              <a:extLst>
                <a:ext uri="{FF2B5EF4-FFF2-40B4-BE49-F238E27FC236}">
                  <a16:creationId xmlns:a16="http://schemas.microsoft.com/office/drawing/2014/main" id="{F7C7267B-65F6-7F5D-55FA-BFF8A364F42B}"/>
                </a:ext>
              </a:extLst>
            </p:cNvPr>
            <p:cNvSpPr/>
            <p:nvPr userDrawn="1"/>
          </p:nvSpPr>
          <p:spPr>
            <a:xfrm>
              <a:off x="7215195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57" name="Chevron 39">
              <a:extLst>
                <a:ext uri="{FF2B5EF4-FFF2-40B4-BE49-F238E27FC236}">
                  <a16:creationId xmlns:a16="http://schemas.microsoft.com/office/drawing/2014/main" id="{7B9AD0EA-9215-55F3-CBC7-713862E4C839}"/>
                </a:ext>
              </a:extLst>
            </p:cNvPr>
            <p:cNvSpPr/>
            <p:nvPr userDrawn="1"/>
          </p:nvSpPr>
          <p:spPr>
            <a:xfrm>
              <a:off x="6929442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58" name="Chevron 40">
              <a:extLst>
                <a:ext uri="{FF2B5EF4-FFF2-40B4-BE49-F238E27FC236}">
                  <a16:creationId xmlns:a16="http://schemas.microsoft.com/office/drawing/2014/main" id="{BCD4AD2F-0902-4385-94F7-5ACB01D22A41}"/>
                </a:ext>
              </a:extLst>
            </p:cNvPr>
            <p:cNvSpPr/>
            <p:nvPr userDrawn="1"/>
          </p:nvSpPr>
          <p:spPr>
            <a:xfrm>
              <a:off x="6650040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1"/>
                </a:solidFill>
              </a:endParaRPr>
            </a:p>
          </p:txBody>
        </p:sp>
        <p:sp>
          <p:nvSpPr>
            <p:cNvPr id="59" name="Chevron 41">
              <a:extLst>
                <a:ext uri="{FF2B5EF4-FFF2-40B4-BE49-F238E27FC236}">
                  <a16:creationId xmlns:a16="http://schemas.microsoft.com/office/drawing/2014/main" id="{9C796D23-978C-FFFF-4038-1C937EE690D7}"/>
                </a:ext>
              </a:extLst>
            </p:cNvPr>
            <p:cNvSpPr/>
            <p:nvPr userDrawn="1"/>
          </p:nvSpPr>
          <p:spPr>
            <a:xfrm>
              <a:off x="6370639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60" name="Chevron 42">
              <a:extLst>
                <a:ext uri="{FF2B5EF4-FFF2-40B4-BE49-F238E27FC236}">
                  <a16:creationId xmlns:a16="http://schemas.microsoft.com/office/drawing/2014/main" id="{9080B428-A3B2-6A7E-177F-CF4DC7356652}"/>
                </a:ext>
              </a:extLst>
            </p:cNvPr>
            <p:cNvSpPr/>
            <p:nvPr userDrawn="1"/>
          </p:nvSpPr>
          <p:spPr>
            <a:xfrm>
              <a:off x="6084886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61" name="Chevron 43">
              <a:extLst>
                <a:ext uri="{FF2B5EF4-FFF2-40B4-BE49-F238E27FC236}">
                  <a16:creationId xmlns:a16="http://schemas.microsoft.com/office/drawing/2014/main" id="{54FDEC70-BB7A-14BD-BF44-B0F7EFDD1AA4}"/>
                </a:ext>
              </a:extLst>
            </p:cNvPr>
            <p:cNvSpPr/>
            <p:nvPr userDrawn="1"/>
          </p:nvSpPr>
          <p:spPr>
            <a:xfrm>
              <a:off x="5805484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  <p:sp>
          <p:nvSpPr>
            <p:cNvPr id="62" name="Chevron 44">
              <a:extLst>
                <a:ext uri="{FF2B5EF4-FFF2-40B4-BE49-F238E27FC236}">
                  <a16:creationId xmlns:a16="http://schemas.microsoft.com/office/drawing/2014/main" id="{B3E053BC-053D-4B7F-17DA-2B8D0B40E67E}"/>
                </a:ext>
              </a:extLst>
            </p:cNvPr>
            <p:cNvSpPr/>
            <p:nvPr userDrawn="1"/>
          </p:nvSpPr>
          <p:spPr>
            <a:xfrm>
              <a:off x="5526083" y="4992009"/>
              <a:ext cx="279400" cy="105274"/>
            </a:xfrm>
            <a:prstGeom prst="chevron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410949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742" r:id="rId3"/>
    <p:sldLayoutId id="2147483738" r:id="rId4"/>
    <p:sldLayoutId id="2147483741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743" r:id="rId11"/>
    <p:sldLayoutId id="214748374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69329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667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BFBF38-23A7-0F2E-D8BE-EA155B607E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Situational Awareness, Execution Environments, and User Context</a:t>
            </a:r>
          </a:p>
        </p:txBody>
      </p:sp>
    </p:spTree>
    <p:extLst>
      <p:ext uri="{BB962C8B-B14F-4D97-AF65-F5344CB8AC3E}">
        <p14:creationId xmlns:p14="http://schemas.microsoft.com/office/powerpoint/2010/main" val="3766918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2BCD14-3A7E-DE0E-CFB4-F73342F97E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Understand different execution environments</a:t>
            </a:r>
          </a:p>
          <a:p>
            <a:r>
              <a:rPr lang="en-US" dirty="0">
                <a:solidFill>
                  <a:srgbClr val="00004C"/>
                </a:solidFill>
              </a:rPr>
              <a:t>Understand different user contexts</a:t>
            </a:r>
          </a:p>
          <a:p>
            <a:r>
              <a:rPr lang="en-US" dirty="0">
                <a:solidFill>
                  <a:srgbClr val="00004C"/>
                </a:solidFill>
              </a:rPr>
              <a:t>Knowledge and understanding of MITRE ATT&amp;CK® discovery techniques</a:t>
            </a:r>
          </a:p>
          <a:p>
            <a:r>
              <a:rPr lang="en-US" dirty="0">
                <a:solidFill>
                  <a:srgbClr val="00004C"/>
                </a:solidFill>
              </a:rPr>
              <a:t>Understand development and utilization of survey scripts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8BF48D-7E62-D2FC-1F55-6E3866649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Lesson Objectives</a:t>
            </a:r>
          </a:p>
        </p:txBody>
      </p:sp>
    </p:spTree>
    <p:extLst>
      <p:ext uri="{BB962C8B-B14F-4D97-AF65-F5344CB8AC3E}">
        <p14:creationId xmlns:p14="http://schemas.microsoft.com/office/powerpoint/2010/main" val="656910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F6DAA81-2548-A29E-6AC6-0AA51265A1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Introduction to On-Objective Operations</a:t>
            </a:r>
          </a:p>
          <a:p>
            <a:r>
              <a:rPr lang="en-US" dirty="0">
                <a:solidFill>
                  <a:srgbClr val="00004C"/>
                </a:solidFill>
              </a:rPr>
              <a:t>Execution Environments</a:t>
            </a:r>
          </a:p>
          <a:p>
            <a:r>
              <a:rPr lang="en-US" dirty="0">
                <a:solidFill>
                  <a:srgbClr val="00004C"/>
                </a:solidFill>
              </a:rPr>
              <a:t>User Context and Privileges</a:t>
            </a:r>
          </a:p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  <a:p>
            <a:r>
              <a:rPr lang="en-US" dirty="0">
                <a:solidFill>
                  <a:srgbClr val="00004C"/>
                </a:solidFill>
              </a:rPr>
              <a:t>Survey Scripts and Automation </a:t>
            </a:r>
          </a:p>
          <a:p>
            <a:r>
              <a:rPr lang="en-US" dirty="0">
                <a:solidFill>
                  <a:srgbClr val="00004C"/>
                </a:solidFill>
              </a:rPr>
              <a:t>OPSEC Considerations for Discovery 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783229-08CD-D0C0-F4EF-FDDD591DB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Lesson Overview</a:t>
            </a:r>
          </a:p>
        </p:txBody>
      </p:sp>
    </p:spTree>
    <p:extLst>
      <p:ext uri="{BB962C8B-B14F-4D97-AF65-F5344CB8AC3E}">
        <p14:creationId xmlns:p14="http://schemas.microsoft.com/office/powerpoint/2010/main" val="1144609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D776-B4A7-E80B-38B5-289F4F031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Introduction to On-Objective Operations </a:t>
            </a:r>
          </a:p>
        </p:txBody>
      </p:sp>
    </p:spTree>
    <p:extLst>
      <p:ext uri="{BB962C8B-B14F-4D97-AF65-F5344CB8AC3E}">
        <p14:creationId xmlns:p14="http://schemas.microsoft.com/office/powerpoint/2010/main" val="379512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B045A2-4945-8284-6409-720DC41A4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On-Objective Phase Objectives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Understand where you are (system, network, environment)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Understand what you can do (user context, privileges, tooling constraints)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Gather intelligence on the target environment to support follow-on actions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Identify adversary mission and infrastructure relevant to operational objectives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4638B9-EAF6-21D9-1D3B-D5DA8FA3E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Introduction to On-Objective Operations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613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B045A2-4945-8284-6409-720DC41A4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MITRE ATT&amp;CK® Discovery (TA0007) Overview</a:t>
            </a: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Core purpose: </a:t>
            </a:r>
            <a:r>
              <a:rPr lang="en-US" dirty="0">
                <a:solidFill>
                  <a:srgbClr val="00004C"/>
                </a:solidFill>
              </a:rPr>
              <a:t>Build situational awareness (where you are, who you are, what’s running, and what your access can reach)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Enables OPSEC: </a:t>
            </a:r>
            <a:r>
              <a:rPr lang="en-US" dirty="0">
                <a:solidFill>
                  <a:srgbClr val="00004C"/>
                </a:solidFill>
              </a:rPr>
              <a:t>Focus discovery to reduce unnecessary noise and limit detection opportunities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Enables performance:</a:t>
            </a:r>
            <a:r>
              <a:rPr lang="en-US" dirty="0">
                <a:solidFill>
                  <a:srgbClr val="00004C"/>
                </a:solidFill>
              </a:rPr>
              <a:t> Prevent wrong assumptions and wrong playbooks, increasing speed and accuracy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Informs next steps: </a:t>
            </a:r>
            <a:r>
              <a:rPr lang="en-US" dirty="0">
                <a:solidFill>
                  <a:srgbClr val="00004C"/>
                </a:solidFill>
              </a:rPr>
              <a:t>Understand the art of the possible (what actions are feasible now) and what must be enabled first (privilege, tooling, access paths)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4638B9-EAF6-21D9-1D3B-D5DA8FA3E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Introduction to On-Objective Operations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630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B045A2-4945-8284-6409-720DC41A4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OPSEC Is Critical During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Why Discovery Gets You Caught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High command volume (especially scripts) creates log spikes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Unusual parent/child processes stand out (shells, interpreters)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Network enumeration can generate alerts and correlation hits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4638B9-EAF6-21D9-1D3B-D5DA8FA3E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Introduction to On-Objective Operations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6627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B045A2-4945-8284-6409-720DC41A4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Discovery Efficiency Principle (Collect Once, Parse Locally)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Prefer fewer, higher-yield commands (collect broad data once)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Parse/filter locally to answer specific questions without additional on-objective commands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Example: </a:t>
            </a:r>
            <a:r>
              <a:rPr lang="en-US" dirty="0" err="1">
                <a:solidFill>
                  <a:srgbClr val="00004C"/>
                </a:solidFill>
              </a:rPr>
              <a:t>ps</a:t>
            </a:r>
            <a:r>
              <a:rPr lang="en-US" dirty="0">
                <a:solidFill>
                  <a:srgbClr val="00004C"/>
                </a:solidFill>
              </a:rPr>
              <a:t> -</a:t>
            </a:r>
            <a:r>
              <a:rPr lang="en-US" dirty="0" err="1">
                <a:solidFill>
                  <a:srgbClr val="00004C"/>
                </a:solidFill>
              </a:rPr>
              <a:t>ef</a:t>
            </a:r>
            <a:r>
              <a:rPr lang="en-US" dirty="0">
                <a:solidFill>
                  <a:srgbClr val="00004C"/>
                </a:solidFill>
              </a:rPr>
              <a:t> once + local filtering beats many small process queries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Example: </a:t>
            </a:r>
            <a:r>
              <a:rPr lang="en-US" dirty="0">
                <a:solidFill>
                  <a:srgbClr val="00004C"/>
                </a:solidFill>
              </a:rPr>
              <a:t>ss -</a:t>
            </a:r>
            <a:r>
              <a:rPr lang="en-US" dirty="0" err="1">
                <a:solidFill>
                  <a:srgbClr val="00004C"/>
                </a:solidFill>
              </a:rPr>
              <a:t>tunap</a:t>
            </a:r>
            <a:r>
              <a:rPr lang="en-US" dirty="0">
                <a:solidFill>
                  <a:srgbClr val="00004C"/>
                </a:solidFill>
              </a:rPr>
              <a:t> once + local filtering beats repeated targeted socket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4638B9-EAF6-21D9-1D3B-D5DA8FA3E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Introduction to On-Objective Operations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7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B045A2-4945-8284-6409-720DC41A4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The Operator’s First-Minute Checklist</a:t>
            </a:r>
          </a:p>
          <a:p>
            <a:pPr marL="169329" indent="0">
              <a:buNone/>
            </a:pPr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Answer These Questions Early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What OS/environment am I in (Windows, Linux, container, cloud)?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What user context do I have (who am I, groups, privileges)?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What is the host role (server/workstation, domain-joined, services)?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What is my current network situation (IP address, routes, DNS, connectivity)?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4638B9-EAF6-21D9-1D3B-D5DA8FA3E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Introduction to On-Objective Operations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9437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B045A2-4945-8284-6409-720DC41A4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Blue Space Advantage On-Objective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Why CPT Threat Hunters Have an Edge</a:t>
            </a:r>
          </a:p>
          <a:p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Arrive with validated intel (IOCs, telemetry, known adversary TTP)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Correlate discoveries with defensive data (logs/PCAP/EDR) to reduce guesswork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Use blue-space observations to prioritize what to look for on target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4638B9-EAF6-21D9-1D3B-D5DA8FA3E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Introduction to On-Objective Operations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193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B045A2-4945-8284-6409-720DC41A4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What ‘Good’ Looks Like (Outputs)</a:t>
            </a:r>
          </a:p>
          <a:p>
            <a:pPr marL="169329" indent="0">
              <a:buNone/>
            </a:pPr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Document for Handover and Follow-On Actions</a:t>
            </a:r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Environment summary (OS/build, domain/workgroup, container/cloud indicators)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User context summary (account, groups, privileges, tokens)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Key services/processes and why they matter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Network summary (interfaces, routes, name resolution, connections)</a:t>
            </a:r>
          </a:p>
          <a:p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Gaps/unknowns and next discovery steps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4638B9-EAF6-21D9-1D3B-D5DA8FA3E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Introduction to On-Objective Operations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313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481A0-07D5-538F-4C48-D9FE80840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Execution Environments</a:t>
            </a:r>
          </a:p>
        </p:txBody>
      </p:sp>
    </p:spTree>
    <p:extLst>
      <p:ext uri="{BB962C8B-B14F-4D97-AF65-F5344CB8AC3E}">
        <p14:creationId xmlns:p14="http://schemas.microsoft.com/office/powerpoint/2010/main" val="3646400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What Is an Execution Environment?</a:t>
            </a:r>
          </a:p>
          <a:p>
            <a:pPr lvl="1"/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Definition</a:t>
            </a:r>
          </a:p>
          <a:p>
            <a:pPr lvl="1"/>
            <a:endParaRPr lang="en-US" b="1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The system/platform where your commands and code execute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Determines available tools, filesystem layout, and security controls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Affects your options for discovery, persistence, and effects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Execution Environments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3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Linux Environments: What to Identify</a:t>
            </a: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Key Linux Environment Indicators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Kernel and architecture: </a:t>
            </a:r>
            <a:r>
              <a:rPr lang="en-US" dirty="0" err="1">
                <a:solidFill>
                  <a:srgbClr val="00004C"/>
                </a:solidFill>
              </a:rPr>
              <a:t>uname</a:t>
            </a:r>
            <a:r>
              <a:rPr lang="en-US" dirty="0">
                <a:solidFill>
                  <a:srgbClr val="00004C"/>
                </a:solidFill>
              </a:rPr>
              <a:t> -a, </a:t>
            </a:r>
            <a:r>
              <a:rPr lang="en-US" dirty="0" err="1">
                <a:solidFill>
                  <a:srgbClr val="00004C"/>
                </a:solidFill>
              </a:rPr>
              <a:t>uname</a:t>
            </a:r>
            <a:r>
              <a:rPr lang="en-US" dirty="0">
                <a:solidFill>
                  <a:srgbClr val="00004C"/>
                </a:solidFill>
              </a:rPr>
              <a:t> -m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Distribution and version: /</a:t>
            </a:r>
            <a:r>
              <a:rPr lang="en-US" dirty="0" err="1">
                <a:solidFill>
                  <a:srgbClr val="00004C"/>
                </a:solidFill>
              </a:rPr>
              <a:t>etc</a:t>
            </a:r>
            <a:r>
              <a:rPr lang="en-US" dirty="0">
                <a:solidFill>
                  <a:srgbClr val="00004C"/>
                </a:solidFill>
              </a:rPr>
              <a:t>/</a:t>
            </a:r>
            <a:r>
              <a:rPr lang="en-US" dirty="0" err="1">
                <a:solidFill>
                  <a:srgbClr val="00004C"/>
                </a:solidFill>
              </a:rPr>
              <a:t>os</a:t>
            </a:r>
            <a:r>
              <a:rPr lang="en-US" dirty="0">
                <a:solidFill>
                  <a:srgbClr val="00004C"/>
                </a:solidFill>
              </a:rPr>
              <a:t>-release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Hostname and role clues: hostname, </a:t>
            </a:r>
            <a:r>
              <a:rPr lang="en-US" dirty="0" err="1">
                <a:solidFill>
                  <a:srgbClr val="00004C"/>
                </a:solidFill>
              </a:rPr>
              <a:t>hostnamectl</a:t>
            </a:r>
            <a:endParaRPr lang="en-US" dirty="0">
              <a:solidFill>
                <a:srgbClr val="00004C"/>
              </a:solidFill>
            </a:endParaRP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Processes and </a:t>
            </a:r>
            <a:r>
              <a:rPr lang="en-US" dirty="0" err="1">
                <a:solidFill>
                  <a:srgbClr val="00004C"/>
                </a:solidFill>
              </a:rPr>
              <a:t>init</a:t>
            </a:r>
            <a:r>
              <a:rPr lang="en-US" dirty="0">
                <a:solidFill>
                  <a:srgbClr val="00004C"/>
                </a:solidFill>
              </a:rPr>
              <a:t>/system manager (high-yield): </a:t>
            </a:r>
            <a:r>
              <a:rPr lang="en-US" dirty="0" err="1">
                <a:solidFill>
                  <a:srgbClr val="00004C"/>
                </a:solidFill>
              </a:rPr>
              <a:t>ps</a:t>
            </a:r>
            <a:r>
              <a:rPr lang="en-US" dirty="0">
                <a:solidFill>
                  <a:srgbClr val="00004C"/>
                </a:solidFill>
              </a:rPr>
              <a:t> -</a:t>
            </a:r>
            <a:r>
              <a:rPr lang="en-US" dirty="0" err="1">
                <a:solidFill>
                  <a:srgbClr val="00004C"/>
                </a:solidFill>
              </a:rPr>
              <a:t>ef</a:t>
            </a:r>
            <a:r>
              <a:rPr lang="en-US" dirty="0">
                <a:solidFill>
                  <a:srgbClr val="00004C"/>
                </a:solidFill>
              </a:rPr>
              <a:t> (parse locally for PID 1 and parent/child relationships)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839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Linux: Key Directories and Configs (Operator View)</a:t>
            </a:r>
          </a:p>
          <a:p>
            <a:pPr marL="169329" indent="0">
              <a:buNone/>
            </a:pPr>
            <a:endParaRPr lang="en-US" dirty="0"/>
          </a:p>
          <a:p>
            <a:pPr lvl="1"/>
            <a:r>
              <a:rPr lang="en-US" dirty="0">
                <a:solidFill>
                  <a:srgbClr val="00004C"/>
                </a:solidFill>
              </a:rPr>
              <a:t>/</a:t>
            </a:r>
            <a:r>
              <a:rPr lang="en-US" dirty="0" err="1">
                <a:solidFill>
                  <a:srgbClr val="00004C"/>
                </a:solidFill>
              </a:rPr>
              <a:t>etc</a:t>
            </a:r>
            <a:r>
              <a:rPr lang="en-US" dirty="0">
                <a:solidFill>
                  <a:srgbClr val="00004C"/>
                </a:solidFill>
              </a:rPr>
              <a:t>/ system configuration (users, services, network)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/var/ logs, spool, application state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/home/ user activity and artifacts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/</a:t>
            </a:r>
            <a:r>
              <a:rPr lang="en-US" dirty="0" err="1">
                <a:solidFill>
                  <a:srgbClr val="00004C"/>
                </a:solidFill>
              </a:rPr>
              <a:t>tmp</a:t>
            </a:r>
            <a:r>
              <a:rPr lang="en-US" dirty="0">
                <a:solidFill>
                  <a:srgbClr val="00004C"/>
                </a:solidFill>
              </a:rPr>
              <a:t>/ and /dev/</a:t>
            </a:r>
            <a:r>
              <a:rPr lang="en-US" dirty="0" err="1">
                <a:solidFill>
                  <a:srgbClr val="00004C"/>
                </a:solidFill>
              </a:rPr>
              <a:t>shm</a:t>
            </a:r>
            <a:r>
              <a:rPr lang="en-US" dirty="0">
                <a:solidFill>
                  <a:srgbClr val="00004C"/>
                </a:solidFill>
              </a:rPr>
              <a:t>/ common execution locations (high detection interest)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313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 Linux: Process/Service Management (Discovery Angle)</a:t>
            </a:r>
          </a:p>
          <a:p>
            <a:pPr marL="169329" indent="0">
              <a:buNone/>
            </a:pPr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Processes (high-yield): </a:t>
            </a:r>
            <a:r>
              <a:rPr lang="en-US" dirty="0" err="1">
                <a:solidFill>
                  <a:srgbClr val="00004C"/>
                </a:solidFill>
              </a:rPr>
              <a:t>ps</a:t>
            </a:r>
            <a:r>
              <a:rPr lang="en-US" dirty="0">
                <a:solidFill>
                  <a:srgbClr val="00004C"/>
                </a:solidFill>
              </a:rPr>
              <a:t> -</a:t>
            </a:r>
            <a:r>
              <a:rPr lang="en-US" dirty="0" err="1">
                <a:solidFill>
                  <a:srgbClr val="00004C"/>
                </a:solidFill>
              </a:rPr>
              <a:t>ef</a:t>
            </a:r>
            <a:r>
              <a:rPr lang="en-US" dirty="0">
                <a:solidFill>
                  <a:srgbClr val="00004C"/>
                </a:solidFill>
              </a:rPr>
              <a:t> or </a:t>
            </a:r>
            <a:r>
              <a:rPr lang="en-US" dirty="0" err="1">
                <a:solidFill>
                  <a:srgbClr val="00004C"/>
                </a:solidFill>
              </a:rPr>
              <a:t>ps</a:t>
            </a:r>
            <a:r>
              <a:rPr lang="en-US" dirty="0">
                <a:solidFill>
                  <a:srgbClr val="00004C"/>
                </a:solidFill>
              </a:rPr>
              <a:t> aux (collect once, parse locally); </a:t>
            </a:r>
            <a:r>
              <a:rPr lang="en-US" dirty="0" err="1">
                <a:solidFill>
                  <a:srgbClr val="00004C"/>
                </a:solidFill>
              </a:rPr>
              <a:t>pstree</a:t>
            </a:r>
            <a:r>
              <a:rPr lang="en-US" dirty="0">
                <a:solidFill>
                  <a:srgbClr val="00004C"/>
                </a:solidFill>
              </a:rPr>
              <a:t> -a (if available)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Services: </a:t>
            </a:r>
            <a:r>
              <a:rPr lang="en-US" dirty="0" err="1">
                <a:solidFill>
                  <a:srgbClr val="00004C"/>
                </a:solidFill>
              </a:rPr>
              <a:t>systemctl</a:t>
            </a:r>
            <a:r>
              <a:rPr lang="en-US" dirty="0">
                <a:solidFill>
                  <a:srgbClr val="00004C"/>
                </a:solidFill>
              </a:rPr>
              <a:t> list-units --type=service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Listening ports: </a:t>
            </a:r>
            <a:r>
              <a:rPr lang="en-US" dirty="0">
                <a:solidFill>
                  <a:srgbClr val="00004C"/>
                </a:solidFill>
              </a:rPr>
              <a:t>ss -</a:t>
            </a:r>
            <a:r>
              <a:rPr lang="en-US" dirty="0" err="1">
                <a:solidFill>
                  <a:srgbClr val="00004C"/>
                </a:solidFill>
              </a:rPr>
              <a:t>lntup</a:t>
            </a:r>
            <a:endParaRPr lang="en-US" dirty="0">
              <a:solidFill>
                <a:srgbClr val="00004C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4887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Linux: Security Controls (What Can Block You)</a:t>
            </a:r>
          </a:p>
          <a:p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 err="1">
                <a:solidFill>
                  <a:srgbClr val="00004C"/>
                </a:solidFill>
              </a:rPr>
              <a:t>SELinux</a:t>
            </a:r>
            <a:r>
              <a:rPr lang="en-US" dirty="0">
                <a:solidFill>
                  <a:srgbClr val="00004C"/>
                </a:solidFill>
              </a:rPr>
              <a:t>/</a:t>
            </a:r>
            <a:r>
              <a:rPr lang="en-US" dirty="0" err="1">
                <a:solidFill>
                  <a:srgbClr val="00004C"/>
                </a:solidFill>
              </a:rPr>
              <a:t>AppArmor</a:t>
            </a:r>
            <a:r>
              <a:rPr lang="en-US" dirty="0">
                <a:solidFill>
                  <a:srgbClr val="00004C"/>
                </a:solidFill>
              </a:rPr>
              <a:t> can restrict actions even as root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Host firewall may limit outbound connectivity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EDR/monitoring may flag common enumeration tools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308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Windows Environments: What to Identify</a:t>
            </a:r>
          </a:p>
          <a:p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Key Windows Environment Indicators</a:t>
            </a:r>
          </a:p>
          <a:p>
            <a:pPr marL="795847" lvl="1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OS version/build and host info: </a:t>
            </a:r>
            <a:r>
              <a:rPr lang="en-US" dirty="0" err="1">
                <a:solidFill>
                  <a:srgbClr val="00004C"/>
                </a:solidFill>
              </a:rPr>
              <a:t>systeminfo</a:t>
            </a:r>
            <a:endParaRPr lang="en-US" dirty="0">
              <a:solidFill>
                <a:srgbClr val="00004C"/>
              </a:solidFill>
            </a:endParaRP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Domain/workgroup: </a:t>
            </a:r>
            <a:r>
              <a:rPr lang="en-US" dirty="0" err="1">
                <a:solidFill>
                  <a:srgbClr val="00004C"/>
                </a:solidFill>
              </a:rPr>
              <a:t>systeminfo</a:t>
            </a:r>
            <a:r>
              <a:rPr lang="en-US" dirty="0">
                <a:solidFill>
                  <a:srgbClr val="00004C"/>
                </a:solidFill>
              </a:rPr>
              <a:t> (Domain field), </a:t>
            </a:r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 /all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dirty="0">
                <a:solidFill>
                  <a:srgbClr val="00004C"/>
                </a:solidFill>
              </a:rPr>
              <a:t>Local security posture clues: AV/EDR presence, policies, PowerShell language mode (as applicable)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0254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Windows: AD vs Workgroup (Why It Matters)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rgbClr val="00004C"/>
                </a:solidFill>
              </a:rPr>
              <a:t>Domain-joined hosts introduce AD discovery requirements and handoff considerations for follow-on operations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Workgroup hosts constrain trust relationships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Your discovery plan changes based on this early answer (what you must document for a clean handoff)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7833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Windows: Processes, Services, and Networking (Discovery Angle)</a:t>
            </a:r>
          </a:p>
          <a:p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Processes: </a:t>
            </a:r>
            <a:r>
              <a:rPr lang="en-US" dirty="0" err="1">
                <a:solidFill>
                  <a:srgbClr val="00004C"/>
                </a:solidFill>
              </a:rPr>
              <a:t>tasklist</a:t>
            </a:r>
            <a:r>
              <a:rPr lang="en-US" dirty="0">
                <a:solidFill>
                  <a:srgbClr val="00004C"/>
                </a:solidFill>
              </a:rPr>
              <a:t> or PowerShell Get-Process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Services: </a:t>
            </a:r>
            <a:r>
              <a:rPr lang="en-US" dirty="0" err="1">
                <a:solidFill>
                  <a:srgbClr val="00004C"/>
                </a:solidFill>
              </a:rPr>
              <a:t>sc</a:t>
            </a:r>
            <a:r>
              <a:rPr lang="en-US" dirty="0">
                <a:solidFill>
                  <a:srgbClr val="00004C"/>
                </a:solidFill>
              </a:rPr>
              <a:t> query or Get-Service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Network config</a:t>
            </a:r>
            <a:r>
              <a:rPr lang="en-US" dirty="0">
                <a:solidFill>
                  <a:srgbClr val="00004C"/>
                </a:solidFill>
              </a:rPr>
              <a:t>: ipconfig /all, route print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Connections: </a:t>
            </a:r>
            <a:r>
              <a:rPr lang="en-US" dirty="0">
                <a:solidFill>
                  <a:srgbClr val="00004C"/>
                </a:solidFill>
              </a:rPr>
              <a:t>netstat -</a:t>
            </a:r>
            <a:r>
              <a:rPr lang="en-US" dirty="0" err="1">
                <a:solidFill>
                  <a:srgbClr val="00004C"/>
                </a:solidFill>
              </a:rPr>
              <a:t>ano</a:t>
            </a:r>
            <a:endParaRPr lang="en-US" dirty="0">
              <a:solidFill>
                <a:srgbClr val="00004C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8020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Windows: Security Controls (What Can Block You)</a:t>
            </a:r>
          </a:p>
          <a:p>
            <a:endParaRPr lang="en-US" dirty="0"/>
          </a:p>
          <a:p>
            <a:pPr lvl="1"/>
            <a:r>
              <a:rPr lang="en-US" dirty="0">
                <a:solidFill>
                  <a:srgbClr val="00004C"/>
                </a:solidFill>
              </a:rPr>
              <a:t>Defender/EDR can flag common tooling and scripts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Group Policy can restrict execution and access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Token/privilege boundaries matter even as "Administrator"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85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Cloud Environments (Brief Overview)</a:t>
            </a:r>
          </a:p>
          <a:p>
            <a:pPr marL="169329" indent="0">
              <a:buNone/>
            </a:pPr>
            <a:endParaRPr lang="en-US" dirty="0"/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Common platforms: </a:t>
            </a:r>
            <a:r>
              <a:rPr lang="en-US" dirty="0">
                <a:solidFill>
                  <a:srgbClr val="00004C"/>
                </a:solidFill>
              </a:rPr>
              <a:t>AWS, Azure, GCP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Indicators: </a:t>
            </a:r>
            <a:r>
              <a:rPr lang="en-US" dirty="0">
                <a:solidFill>
                  <a:srgbClr val="00004C"/>
                </a:solidFill>
              </a:rPr>
              <a:t>cloud-</a:t>
            </a:r>
            <a:r>
              <a:rPr lang="en-US" dirty="0" err="1">
                <a:solidFill>
                  <a:srgbClr val="00004C"/>
                </a:solidFill>
              </a:rPr>
              <a:t>init</a:t>
            </a:r>
            <a:r>
              <a:rPr lang="en-US" dirty="0">
                <a:solidFill>
                  <a:srgbClr val="00004C"/>
                </a:solidFill>
              </a:rPr>
              <a:t> artifacts, instance metadata services, cloud agents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Operational note: </a:t>
            </a:r>
            <a:r>
              <a:rPr lang="en-US" dirty="0">
                <a:solidFill>
                  <a:srgbClr val="00004C"/>
                </a:solidFill>
              </a:rPr>
              <a:t>metadata queries can be logged/monitored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Execution Environments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55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Container Environments (Brief Overview)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Indicators: </a:t>
            </a:r>
            <a:r>
              <a:rPr lang="en-US" dirty="0">
                <a:solidFill>
                  <a:srgbClr val="00004C"/>
                </a:solidFill>
              </a:rPr>
              <a:t>limited filesystem, </a:t>
            </a:r>
            <a:r>
              <a:rPr lang="en-US" dirty="0" err="1">
                <a:solidFill>
                  <a:srgbClr val="00004C"/>
                </a:solidFill>
              </a:rPr>
              <a:t>cgroup</a:t>
            </a:r>
            <a:r>
              <a:rPr lang="en-US" dirty="0">
                <a:solidFill>
                  <a:srgbClr val="00004C"/>
                </a:solidFill>
              </a:rPr>
              <a:t> markers, container runtime artifacts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Operational note: </a:t>
            </a:r>
            <a:r>
              <a:rPr lang="en-US" dirty="0">
                <a:solidFill>
                  <a:srgbClr val="00004C"/>
                </a:solidFill>
              </a:rPr>
              <a:t>container escape considerations exist but are highly situational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Priority: </a:t>
            </a:r>
            <a:r>
              <a:rPr lang="en-US" dirty="0">
                <a:solidFill>
                  <a:srgbClr val="00004C"/>
                </a:solidFill>
              </a:rPr>
              <a:t>identify you are in a container before assuming host-level access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1015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03E1F-51C2-898F-92E6-F01F94B0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Demonstration: Identifying Execution Environment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Demo Flow (Example)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 err="1">
                <a:solidFill>
                  <a:srgbClr val="00004C"/>
                </a:solidFill>
              </a:rPr>
              <a:t>uname</a:t>
            </a:r>
            <a:r>
              <a:rPr lang="en-US" dirty="0">
                <a:solidFill>
                  <a:srgbClr val="00004C"/>
                </a:solidFill>
              </a:rPr>
              <a:t> -a → /</a:t>
            </a:r>
            <a:r>
              <a:rPr lang="en-US" dirty="0" err="1">
                <a:solidFill>
                  <a:srgbClr val="00004C"/>
                </a:solidFill>
              </a:rPr>
              <a:t>etc</a:t>
            </a:r>
            <a:r>
              <a:rPr lang="en-US" dirty="0">
                <a:solidFill>
                  <a:srgbClr val="00004C"/>
                </a:solidFill>
              </a:rPr>
              <a:t>/</a:t>
            </a:r>
            <a:r>
              <a:rPr lang="en-US" dirty="0" err="1">
                <a:solidFill>
                  <a:srgbClr val="00004C"/>
                </a:solidFill>
              </a:rPr>
              <a:t>os</a:t>
            </a:r>
            <a:r>
              <a:rPr lang="en-US" dirty="0">
                <a:solidFill>
                  <a:srgbClr val="00004C"/>
                </a:solidFill>
              </a:rPr>
              <a:t>-release → id → </a:t>
            </a:r>
            <a:r>
              <a:rPr lang="en-US" dirty="0" err="1">
                <a:solidFill>
                  <a:srgbClr val="00004C"/>
                </a:solidFill>
              </a:rPr>
              <a:t>ps</a:t>
            </a:r>
            <a:r>
              <a:rPr lang="en-US" dirty="0">
                <a:solidFill>
                  <a:srgbClr val="00004C"/>
                </a:solidFill>
              </a:rPr>
              <a:t> -</a:t>
            </a:r>
            <a:r>
              <a:rPr lang="en-US" dirty="0" err="1">
                <a:solidFill>
                  <a:srgbClr val="00004C"/>
                </a:solidFill>
              </a:rPr>
              <a:t>ef</a:t>
            </a:r>
            <a:r>
              <a:rPr lang="en-US" dirty="0">
                <a:solidFill>
                  <a:srgbClr val="00004C"/>
                </a:solidFill>
              </a:rPr>
              <a:t> → ss -</a:t>
            </a:r>
            <a:r>
              <a:rPr lang="en-US" dirty="0" err="1">
                <a:solidFill>
                  <a:srgbClr val="00004C"/>
                </a:solidFill>
              </a:rPr>
              <a:t>lntup</a:t>
            </a:r>
            <a:endParaRPr lang="en-US" dirty="0">
              <a:solidFill>
                <a:srgbClr val="00004C"/>
              </a:solidFill>
            </a:endParaRP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pPr lvl="2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 err="1">
                <a:solidFill>
                  <a:srgbClr val="00004C"/>
                </a:solidFill>
              </a:rPr>
              <a:t>systeminfo</a:t>
            </a:r>
            <a:r>
              <a:rPr lang="en-US" dirty="0">
                <a:solidFill>
                  <a:srgbClr val="00004C"/>
                </a:solidFill>
              </a:rPr>
              <a:t> → </a:t>
            </a:r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 /all → ipconfig /all → netstat -</a:t>
            </a:r>
            <a:r>
              <a:rPr lang="en-US" dirty="0" err="1">
                <a:solidFill>
                  <a:srgbClr val="00004C"/>
                </a:solidFill>
              </a:rPr>
              <a:t>ano</a:t>
            </a:r>
            <a:endParaRPr lang="en-US" dirty="0">
              <a:solidFill>
                <a:srgbClr val="00004C"/>
              </a:solidFill>
            </a:endParaRPr>
          </a:p>
          <a:p>
            <a:pPr lvl="2"/>
            <a:endParaRPr lang="en-US" dirty="0">
              <a:solidFill>
                <a:srgbClr val="00004C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E58526-83C7-6F55-8FA4-3C851E94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Execution Environments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20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6C051-00BB-09F9-54C0-396A3922B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User Context and Privileges</a:t>
            </a:r>
          </a:p>
        </p:txBody>
      </p:sp>
    </p:spTree>
    <p:extLst>
      <p:ext uri="{BB962C8B-B14F-4D97-AF65-F5344CB8AC3E}">
        <p14:creationId xmlns:p14="http://schemas.microsoft.com/office/powerpoint/2010/main" val="19189631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E7B36E6-291B-9C31-71F5-E0379D3A4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What Is User Context?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Definition: </a:t>
            </a:r>
            <a:r>
              <a:rPr lang="en-US" dirty="0">
                <a:solidFill>
                  <a:srgbClr val="00004C"/>
                </a:solidFill>
              </a:rPr>
              <a:t>who you are and what you can do on the target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Drives access decisions: </a:t>
            </a:r>
            <a:r>
              <a:rPr lang="en-US" dirty="0">
                <a:solidFill>
                  <a:srgbClr val="00004C"/>
                </a:solidFill>
              </a:rPr>
              <a:t>discovery depth, privilege escalation need, lateral movement options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Determines risk: </a:t>
            </a:r>
            <a:r>
              <a:rPr lang="en-US" dirty="0">
                <a:solidFill>
                  <a:srgbClr val="00004C"/>
                </a:solidFill>
              </a:rPr>
              <a:t>some actions require elevated privileges and create different audit artifacts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3D072D-099F-36D8-8C17-175A8DF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User Context and Privileges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6759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E7B36E6-291B-9C31-71F5-E0379D3A4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Linux User Context: </a:t>
            </a:r>
            <a:r>
              <a:rPr lang="en-US" b="1" dirty="0" err="1">
                <a:solidFill>
                  <a:srgbClr val="00004C"/>
                </a:solidFill>
              </a:rPr>
              <a:t>whoami</a:t>
            </a:r>
            <a:r>
              <a:rPr lang="en-US" b="1" dirty="0">
                <a:solidFill>
                  <a:srgbClr val="00004C"/>
                </a:solidFill>
              </a:rPr>
              <a:t> and id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 identifies current user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id shows UID/GID and group memberships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Groups can reveal capability (e.g., </a:t>
            </a:r>
            <a:r>
              <a:rPr lang="en-US" dirty="0" err="1">
                <a:solidFill>
                  <a:srgbClr val="00004C"/>
                </a:solidFill>
              </a:rPr>
              <a:t>sudo</a:t>
            </a:r>
            <a:r>
              <a:rPr lang="en-US" dirty="0">
                <a:solidFill>
                  <a:srgbClr val="00004C"/>
                </a:solidFill>
              </a:rPr>
              <a:t>, docker, service accounts)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3D072D-099F-36D8-8C17-175A8DF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User Context and Privileges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4225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E7B36E6-291B-9C31-71F5-E0379D3A4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Linux Privileges: </a:t>
            </a:r>
            <a:r>
              <a:rPr lang="en-US" b="1" dirty="0" err="1">
                <a:solidFill>
                  <a:srgbClr val="00004C"/>
                </a:solidFill>
              </a:rPr>
              <a:t>sudo</a:t>
            </a:r>
            <a:r>
              <a:rPr lang="en-US" b="1" dirty="0">
                <a:solidFill>
                  <a:srgbClr val="00004C"/>
                </a:solidFill>
              </a:rPr>
              <a:t> -l and Practical Interpretation</a:t>
            </a:r>
          </a:p>
          <a:p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 err="1">
                <a:solidFill>
                  <a:srgbClr val="00004C"/>
                </a:solidFill>
              </a:rPr>
              <a:t>sudo</a:t>
            </a:r>
            <a:r>
              <a:rPr lang="en-US" dirty="0">
                <a:solidFill>
                  <a:srgbClr val="00004C"/>
                </a:solidFill>
              </a:rPr>
              <a:t> -l enumerates allowed privileged commands (if permitted)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Root vs non-root changes: filesystem access, service control, credential access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Operator note: </a:t>
            </a:r>
            <a:r>
              <a:rPr lang="en-US" dirty="0">
                <a:solidFill>
                  <a:srgbClr val="00004C"/>
                </a:solidFill>
              </a:rPr>
              <a:t>avoid repeated failed privilege attempts (noise)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3D072D-099F-36D8-8C17-175A8DF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User Context and Privileges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982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E7B36E6-291B-9C31-71F5-E0379D3A4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Linux Accounts: /</a:t>
            </a:r>
            <a:r>
              <a:rPr lang="en-US" b="1" dirty="0" err="1">
                <a:solidFill>
                  <a:srgbClr val="00004C"/>
                </a:solidFill>
              </a:rPr>
              <a:t>etc</a:t>
            </a:r>
            <a:r>
              <a:rPr lang="en-US" b="1" dirty="0">
                <a:solidFill>
                  <a:srgbClr val="00004C"/>
                </a:solidFill>
              </a:rPr>
              <a:t>/passwd and /</a:t>
            </a:r>
            <a:r>
              <a:rPr lang="en-US" b="1" dirty="0" err="1">
                <a:solidFill>
                  <a:srgbClr val="00004C"/>
                </a:solidFill>
              </a:rPr>
              <a:t>etc</a:t>
            </a:r>
            <a:r>
              <a:rPr lang="en-US" b="1" dirty="0">
                <a:solidFill>
                  <a:srgbClr val="00004C"/>
                </a:solidFill>
              </a:rPr>
              <a:t>/shadow</a:t>
            </a:r>
          </a:p>
          <a:p>
            <a:endParaRPr lang="en-US" dirty="0"/>
          </a:p>
          <a:p>
            <a:pPr lvl="1"/>
            <a:r>
              <a:rPr lang="en-US" dirty="0">
                <a:solidFill>
                  <a:srgbClr val="00004C"/>
                </a:solidFill>
              </a:rPr>
              <a:t>/</a:t>
            </a:r>
            <a:r>
              <a:rPr lang="en-US" dirty="0" err="1">
                <a:solidFill>
                  <a:srgbClr val="00004C"/>
                </a:solidFill>
              </a:rPr>
              <a:t>etc</a:t>
            </a:r>
            <a:r>
              <a:rPr lang="en-US" dirty="0">
                <a:solidFill>
                  <a:srgbClr val="00004C"/>
                </a:solidFill>
              </a:rPr>
              <a:t>/passwd lists local accounts and shells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/</a:t>
            </a:r>
            <a:r>
              <a:rPr lang="en-US" dirty="0" err="1">
                <a:solidFill>
                  <a:srgbClr val="00004C"/>
                </a:solidFill>
              </a:rPr>
              <a:t>etc</a:t>
            </a:r>
            <a:r>
              <a:rPr lang="en-US" dirty="0">
                <a:solidFill>
                  <a:srgbClr val="00004C"/>
                </a:solidFill>
              </a:rPr>
              <a:t>/shadow contains password hashes (access may require root)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Operator focus: </a:t>
            </a:r>
            <a:r>
              <a:rPr lang="en-US" dirty="0">
                <a:solidFill>
                  <a:srgbClr val="00004C"/>
                </a:solidFill>
              </a:rPr>
              <a:t>identify service accounts and interactive users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3D072D-099F-36D8-8C17-175A8DF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User Context and Privileges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470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E7B36E6-291B-9C31-71F5-E0379D3A4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Windows User Context: </a:t>
            </a:r>
            <a:r>
              <a:rPr lang="en-US" b="1" dirty="0" err="1">
                <a:solidFill>
                  <a:srgbClr val="00004C"/>
                </a:solidFill>
              </a:rPr>
              <a:t>whoami</a:t>
            </a:r>
            <a:endParaRPr lang="en-US" b="1" dirty="0">
              <a:solidFill>
                <a:srgbClr val="00004C"/>
              </a:solidFill>
            </a:endParaRP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 identifies the current principal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 /groups and </a:t>
            </a:r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 /</a:t>
            </a:r>
            <a:r>
              <a:rPr lang="en-US" dirty="0" err="1">
                <a:solidFill>
                  <a:srgbClr val="00004C"/>
                </a:solidFill>
              </a:rPr>
              <a:t>priv</a:t>
            </a:r>
            <a:r>
              <a:rPr lang="en-US" dirty="0">
                <a:solidFill>
                  <a:srgbClr val="00004C"/>
                </a:solidFill>
              </a:rPr>
              <a:t> show effective groups/privileges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Distinguish local vs domain identity early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3D072D-099F-36D8-8C17-175A8DF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User Context and Privileges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9412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E7B36E6-291B-9C31-71F5-E0379D3A4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Windows Accounts: Local vs Domain (Operational Impact)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Local admin on one host is not the same as domain admin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Domain context enables AD-based discovery and movement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Token/privilege differences matter for what actions will succeed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3D072D-099F-36D8-8C17-175A8DF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User Context and Privileges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9340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E7B36E6-291B-9C31-71F5-E0379D3A4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Token Privileges (Example: </a:t>
            </a:r>
            <a:r>
              <a:rPr lang="en-US" b="1" dirty="0" err="1">
                <a:solidFill>
                  <a:srgbClr val="00004C"/>
                </a:solidFill>
              </a:rPr>
              <a:t>SeDebugPrivilege</a:t>
            </a:r>
            <a:r>
              <a:rPr lang="en-US" b="1" dirty="0">
                <a:solidFill>
                  <a:srgbClr val="00004C"/>
                </a:solidFill>
              </a:rPr>
              <a:t>)</a:t>
            </a: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Token privileges influence what processes and secrets you can access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Presence of high-impact privileges changes what is feasible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Operator note: </a:t>
            </a:r>
            <a:r>
              <a:rPr lang="en-US" dirty="0">
                <a:solidFill>
                  <a:srgbClr val="00004C"/>
                </a:solidFill>
              </a:rPr>
              <a:t>avoid "try everything"; choose actions based on privileges observed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3D072D-099F-36D8-8C17-175A8DF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User Context and Privileges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613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E7B36E6-291B-9C31-71F5-E0379D3A4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Why User Context Matters (Decision Points)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Determines what you can access now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Informs privilege escalation requirements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Affects lateral movement options and OPSEC risk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Shapes what discovery is worth doing immediately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3D072D-099F-36D8-8C17-175A8DF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User Context and Privileges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1799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E7B36E6-291B-9C31-71F5-E0379D3A4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Demonstration: Checking User Context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Linux: </a:t>
            </a:r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, id, </a:t>
            </a:r>
            <a:r>
              <a:rPr lang="en-US" dirty="0" err="1">
                <a:solidFill>
                  <a:srgbClr val="00004C"/>
                </a:solidFill>
              </a:rPr>
              <a:t>sudo</a:t>
            </a:r>
            <a:r>
              <a:rPr lang="en-US" dirty="0">
                <a:solidFill>
                  <a:srgbClr val="00004C"/>
                </a:solidFill>
              </a:rPr>
              <a:t> -l (if applicable)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Windows: </a:t>
            </a:r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 /all, net user %username% (as applicable)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Instructor focus: </a:t>
            </a:r>
            <a:r>
              <a:rPr lang="en-US" dirty="0">
                <a:solidFill>
                  <a:srgbClr val="00004C"/>
                </a:solidFill>
              </a:rPr>
              <a:t>produce a short capability statement (what can we do now?)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3D072D-099F-36D8-8C17-175A8DF9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00004C"/>
                </a:solidFill>
              </a:rPr>
              <a:t>User Context and Privileges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07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65D23-016C-AC96-92EA-A49308D78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28782572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Discovery Techniques: How to Use This Section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For each technique: </a:t>
            </a:r>
            <a:r>
              <a:rPr lang="en-US" dirty="0">
                <a:solidFill>
                  <a:srgbClr val="00004C"/>
                </a:solidFill>
              </a:rPr>
              <a:t>purpose, a small set of commands (Linux/Windows), what good output looks like, and OPSEC considerations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Operator approach: </a:t>
            </a:r>
            <a:r>
              <a:rPr lang="en-US" dirty="0">
                <a:solidFill>
                  <a:srgbClr val="00004C"/>
                </a:solidFill>
              </a:rPr>
              <a:t>select techniques based on objectives and current context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4256971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T1082 System Information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OS version, hostname, hardware clues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 err="1">
                <a:solidFill>
                  <a:srgbClr val="00004C"/>
                </a:solidFill>
              </a:rPr>
              <a:t>uname</a:t>
            </a:r>
            <a:r>
              <a:rPr lang="en-US" dirty="0">
                <a:solidFill>
                  <a:srgbClr val="00004C"/>
                </a:solidFill>
              </a:rPr>
              <a:t> -a, </a:t>
            </a:r>
            <a:r>
              <a:rPr lang="en-US" dirty="0" err="1">
                <a:solidFill>
                  <a:srgbClr val="00004C"/>
                </a:solidFill>
              </a:rPr>
              <a:t>hostnamectl</a:t>
            </a:r>
            <a:r>
              <a:rPr lang="en-US" dirty="0">
                <a:solidFill>
                  <a:srgbClr val="00004C"/>
                </a:solidFill>
              </a:rPr>
              <a:t>, </a:t>
            </a:r>
            <a:r>
              <a:rPr lang="en-US" dirty="0" err="1">
                <a:solidFill>
                  <a:srgbClr val="00004C"/>
                </a:solidFill>
              </a:rPr>
              <a:t>lscpu</a:t>
            </a:r>
            <a:r>
              <a:rPr lang="en-US" dirty="0">
                <a:solidFill>
                  <a:srgbClr val="00004C"/>
                </a:solidFill>
              </a:rPr>
              <a:t> (as available)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 err="1">
                <a:solidFill>
                  <a:srgbClr val="00004C"/>
                </a:solidFill>
              </a:rPr>
              <a:t>systeminfo</a:t>
            </a:r>
            <a:r>
              <a:rPr lang="en-US" dirty="0">
                <a:solidFill>
                  <a:srgbClr val="00004C"/>
                </a:solidFill>
              </a:rPr>
              <a:t>, wmic </a:t>
            </a:r>
            <a:r>
              <a:rPr lang="en-US" dirty="0" err="1">
                <a:solidFill>
                  <a:srgbClr val="00004C"/>
                </a:solidFill>
              </a:rPr>
              <a:t>os</a:t>
            </a:r>
            <a:r>
              <a:rPr lang="en-US" dirty="0">
                <a:solidFill>
                  <a:srgbClr val="00004C"/>
                </a:solidFill>
              </a:rPr>
              <a:t> get </a:t>
            </a:r>
            <a:r>
              <a:rPr lang="en-US" dirty="0" err="1">
                <a:solidFill>
                  <a:srgbClr val="00004C"/>
                </a:solidFill>
              </a:rPr>
              <a:t>Caption,Version,BuildNumber</a:t>
            </a:r>
            <a:r>
              <a:rPr lang="en-US" dirty="0">
                <a:solidFill>
                  <a:srgbClr val="00004C"/>
                </a:solidFill>
              </a:rPr>
              <a:t> (if available)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prefer fewer commands; collect high-yield output once and extract only needed fields locally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7918458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T1033 System Owner/User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current/logged-on users and usage patterns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, w, last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, </a:t>
            </a:r>
            <a:r>
              <a:rPr lang="en-US" dirty="0" err="1">
                <a:solidFill>
                  <a:srgbClr val="00004C"/>
                </a:solidFill>
              </a:rPr>
              <a:t>quser</a:t>
            </a:r>
            <a:r>
              <a:rPr lang="en-US" dirty="0">
                <a:solidFill>
                  <a:srgbClr val="00004C"/>
                </a:solidFill>
              </a:rPr>
              <a:t>, </a:t>
            </a:r>
            <a:r>
              <a:rPr lang="en-US" dirty="0" err="1">
                <a:solidFill>
                  <a:srgbClr val="00004C"/>
                </a:solidFill>
              </a:rPr>
              <a:t>qwinsta</a:t>
            </a:r>
            <a:endParaRPr lang="en-US" dirty="0">
              <a:solidFill>
                <a:srgbClr val="00004C"/>
              </a:solidFill>
            </a:endParaRP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user enumeration can be monitored; avoid excessive querying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27677992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T1057 Process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running processes and suspicious/unexpected tooling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 err="1">
                <a:solidFill>
                  <a:srgbClr val="00004C"/>
                </a:solidFill>
              </a:rPr>
              <a:t>ps</a:t>
            </a:r>
            <a:r>
              <a:rPr lang="en-US" dirty="0">
                <a:solidFill>
                  <a:srgbClr val="00004C"/>
                </a:solidFill>
              </a:rPr>
              <a:t> -</a:t>
            </a:r>
            <a:r>
              <a:rPr lang="en-US" dirty="0" err="1">
                <a:solidFill>
                  <a:srgbClr val="00004C"/>
                </a:solidFill>
              </a:rPr>
              <a:t>ef</a:t>
            </a:r>
            <a:r>
              <a:rPr lang="en-US" dirty="0">
                <a:solidFill>
                  <a:srgbClr val="00004C"/>
                </a:solidFill>
              </a:rPr>
              <a:t> or </a:t>
            </a:r>
            <a:r>
              <a:rPr lang="en-US" dirty="0" err="1">
                <a:solidFill>
                  <a:srgbClr val="00004C"/>
                </a:solidFill>
              </a:rPr>
              <a:t>ps</a:t>
            </a:r>
            <a:r>
              <a:rPr lang="en-US" dirty="0">
                <a:solidFill>
                  <a:srgbClr val="00004C"/>
                </a:solidFill>
              </a:rPr>
              <a:t> aux (collect once, parse locally); top (interactive)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 err="1">
                <a:solidFill>
                  <a:srgbClr val="00004C"/>
                </a:solidFill>
              </a:rPr>
              <a:t>tasklist</a:t>
            </a:r>
            <a:r>
              <a:rPr lang="en-US" dirty="0">
                <a:solidFill>
                  <a:srgbClr val="00004C"/>
                </a:solidFill>
              </a:rPr>
              <a:t>, PowerShell Get-Process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avoid heavy memory inspection unless required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9290887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T1007 System Service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services/daemons and their configuration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 err="1">
                <a:solidFill>
                  <a:srgbClr val="00004C"/>
                </a:solidFill>
              </a:rPr>
              <a:t>systemctl</a:t>
            </a:r>
            <a:r>
              <a:rPr lang="en-US" dirty="0">
                <a:solidFill>
                  <a:srgbClr val="00004C"/>
                </a:solidFill>
              </a:rPr>
              <a:t> list-units --type=service, service --status-all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 err="1">
                <a:solidFill>
                  <a:srgbClr val="00004C"/>
                </a:solidFill>
              </a:rPr>
              <a:t>sc</a:t>
            </a:r>
            <a:r>
              <a:rPr lang="en-US" dirty="0">
                <a:solidFill>
                  <a:srgbClr val="00004C"/>
                </a:solidFill>
              </a:rPr>
              <a:t> query, PowerShell Get-Service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service queries are generally low-noise; avoid repeated remote queries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23698451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T1083 File and Directory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locate sensitive files, configs, and operational artifacts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>
                <a:solidFill>
                  <a:srgbClr val="00004C"/>
                </a:solidFill>
              </a:rPr>
              <a:t>prefer one high-yield listing per directory of interest (for example, ls -la on likely locations), then parse locally; use find carefully and scope tightly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>
                <a:solidFill>
                  <a:srgbClr val="00004C"/>
                </a:solidFill>
              </a:rPr>
              <a:t>prefer one high-yield listing per directory of interest (for example, </a:t>
            </a:r>
            <a:r>
              <a:rPr lang="en-US" dirty="0" err="1">
                <a:solidFill>
                  <a:srgbClr val="00004C"/>
                </a:solidFill>
              </a:rPr>
              <a:t>dir</a:t>
            </a:r>
            <a:r>
              <a:rPr lang="en-US" dirty="0">
                <a:solidFill>
                  <a:srgbClr val="00004C"/>
                </a:solidFill>
              </a:rPr>
              <a:t> /a or scoped Get-</a:t>
            </a:r>
            <a:r>
              <a:rPr lang="en-US" dirty="0" err="1">
                <a:solidFill>
                  <a:srgbClr val="00004C"/>
                </a:solidFill>
              </a:rPr>
              <a:t>ChildItem</a:t>
            </a:r>
            <a:r>
              <a:rPr lang="en-US" dirty="0">
                <a:solidFill>
                  <a:srgbClr val="00004C"/>
                </a:solidFill>
              </a:rPr>
              <a:t>), then parse locally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broad recursive searches are noisy; start narrow, collect what you need once, and justify any expansion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812764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T1087 Account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local/domain accounts present on the system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>
                <a:solidFill>
                  <a:srgbClr val="00004C"/>
                </a:solidFill>
              </a:rPr>
              <a:t>cat /</a:t>
            </a:r>
            <a:r>
              <a:rPr lang="en-US" dirty="0" err="1">
                <a:solidFill>
                  <a:srgbClr val="00004C"/>
                </a:solidFill>
              </a:rPr>
              <a:t>etc</a:t>
            </a:r>
            <a:r>
              <a:rPr lang="en-US" dirty="0">
                <a:solidFill>
                  <a:srgbClr val="00004C"/>
                </a:solidFill>
              </a:rPr>
              <a:t>/passwd, </a:t>
            </a:r>
            <a:r>
              <a:rPr lang="en-US" dirty="0" err="1">
                <a:solidFill>
                  <a:srgbClr val="00004C"/>
                </a:solidFill>
              </a:rPr>
              <a:t>getent</a:t>
            </a:r>
            <a:r>
              <a:rPr lang="en-US" dirty="0">
                <a:solidFill>
                  <a:srgbClr val="00004C"/>
                </a:solidFill>
              </a:rPr>
              <a:t> passwd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>
                <a:solidFill>
                  <a:srgbClr val="00004C"/>
                </a:solidFill>
              </a:rPr>
              <a:t>net user, net </a:t>
            </a:r>
            <a:r>
              <a:rPr lang="en-US" dirty="0" err="1">
                <a:solidFill>
                  <a:srgbClr val="00004C"/>
                </a:solidFill>
              </a:rPr>
              <a:t>localgroup</a:t>
            </a:r>
            <a:r>
              <a:rPr lang="en-US" dirty="0">
                <a:solidFill>
                  <a:srgbClr val="00004C"/>
                </a:solidFill>
              </a:rPr>
              <a:t>, (domain as applicable)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domain-wide queries are more visible; prefer local context first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41212352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T1069 Permission Groups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group memberships and implied privilege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>
                <a:solidFill>
                  <a:srgbClr val="00004C"/>
                </a:solidFill>
              </a:rPr>
              <a:t>id, groups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 err="1">
                <a:solidFill>
                  <a:srgbClr val="00004C"/>
                </a:solidFill>
              </a:rPr>
              <a:t>whoami</a:t>
            </a:r>
            <a:r>
              <a:rPr lang="en-US" dirty="0">
                <a:solidFill>
                  <a:srgbClr val="00004C"/>
                </a:solidFill>
              </a:rPr>
              <a:t> /groups, net </a:t>
            </a:r>
            <a:r>
              <a:rPr lang="en-US" dirty="0" err="1">
                <a:solidFill>
                  <a:srgbClr val="00004C"/>
                </a:solidFill>
              </a:rPr>
              <a:t>localgroup</a:t>
            </a:r>
            <a:endParaRPr lang="en-US" dirty="0">
              <a:solidFill>
                <a:srgbClr val="00004C"/>
              </a:solidFill>
            </a:endParaRP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group info is high value; one query often enough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22256566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T1018 Remote System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other reachable hosts and potential pivots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 err="1">
                <a:solidFill>
                  <a:srgbClr val="00004C"/>
                </a:solidFill>
              </a:rPr>
              <a:t>arp</a:t>
            </a:r>
            <a:r>
              <a:rPr lang="en-US" dirty="0">
                <a:solidFill>
                  <a:srgbClr val="00004C"/>
                </a:solidFill>
              </a:rPr>
              <a:t> -a, limited ping, carefully-scoped </a:t>
            </a:r>
            <a:r>
              <a:rPr lang="en-US" dirty="0" err="1">
                <a:solidFill>
                  <a:srgbClr val="00004C"/>
                </a:solidFill>
              </a:rPr>
              <a:t>nmap</a:t>
            </a:r>
            <a:r>
              <a:rPr lang="en-US" dirty="0">
                <a:solidFill>
                  <a:srgbClr val="00004C"/>
                </a:solidFill>
              </a:rPr>
              <a:t> (if required)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 err="1">
                <a:solidFill>
                  <a:srgbClr val="00004C"/>
                </a:solidFill>
              </a:rPr>
              <a:t>arp</a:t>
            </a:r>
            <a:r>
              <a:rPr lang="en-US" dirty="0">
                <a:solidFill>
                  <a:srgbClr val="00004C"/>
                </a:solidFill>
              </a:rPr>
              <a:t> -a, ping, </a:t>
            </a:r>
            <a:r>
              <a:rPr lang="en-US" dirty="0" err="1">
                <a:solidFill>
                  <a:srgbClr val="00004C"/>
                </a:solidFill>
              </a:rPr>
              <a:t>nltest</a:t>
            </a:r>
            <a:r>
              <a:rPr lang="en-US" dirty="0">
                <a:solidFill>
                  <a:srgbClr val="00004C"/>
                </a:solidFill>
              </a:rPr>
              <a:t> /</a:t>
            </a:r>
            <a:r>
              <a:rPr lang="en-US" dirty="0" err="1">
                <a:solidFill>
                  <a:srgbClr val="00004C"/>
                </a:solidFill>
              </a:rPr>
              <a:t>dclist</a:t>
            </a:r>
            <a:r>
              <a:rPr lang="en-US" dirty="0">
                <a:solidFill>
                  <a:srgbClr val="00004C"/>
                </a:solidFill>
              </a:rPr>
              <a:t>:&lt;domain&gt; (domain context)</a:t>
            </a:r>
          </a:p>
          <a:p>
            <a:pPr lvl="1"/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network scanning is high risk; prefer passive/low-rate discovery where possible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17917103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T1016 System Network Configuration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interfaces, routing, DNS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 err="1">
                <a:solidFill>
                  <a:srgbClr val="00004C"/>
                </a:solidFill>
              </a:rPr>
              <a:t>ip</a:t>
            </a:r>
            <a:r>
              <a:rPr lang="en-US" dirty="0">
                <a:solidFill>
                  <a:srgbClr val="00004C"/>
                </a:solidFill>
              </a:rPr>
              <a:t> </a:t>
            </a:r>
            <a:r>
              <a:rPr lang="en-US" dirty="0" err="1">
                <a:solidFill>
                  <a:srgbClr val="00004C"/>
                </a:solidFill>
              </a:rPr>
              <a:t>addr</a:t>
            </a:r>
            <a:r>
              <a:rPr lang="en-US" dirty="0">
                <a:solidFill>
                  <a:srgbClr val="00004C"/>
                </a:solidFill>
              </a:rPr>
              <a:t>, </a:t>
            </a:r>
            <a:r>
              <a:rPr lang="en-US" dirty="0" err="1">
                <a:solidFill>
                  <a:srgbClr val="00004C"/>
                </a:solidFill>
              </a:rPr>
              <a:t>ip</a:t>
            </a:r>
            <a:r>
              <a:rPr lang="en-US" dirty="0">
                <a:solidFill>
                  <a:srgbClr val="00004C"/>
                </a:solidFill>
              </a:rPr>
              <a:t> route, cat /</a:t>
            </a:r>
            <a:r>
              <a:rPr lang="en-US" dirty="0" err="1">
                <a:solidFill>
                  <a:srgbClr val="00004C"/>
                </a:solidFill>
              </a:rPr>
              <a:t>etc</a:t>
            </a:r>
            <a:r>
              <a:rPr lang="en-US" dirty="0">
                <a:solidFill>
                  <a:srgbClr val="00004C"/>
                </a:solidFill>
              </a:rPr>
              <a:t>/</a:t>
            </a:r>
            <a:r>
              <a:rPr lang="en-US" dirty="0" err="1">
                <a:solidFill>
                  <a:srgbClr val="00004C"/>
                </a:solidFill>
              </a:rPr>
              <a:t>resolv.conf</a:t>
            </a:r>
            <a:endParaRPr lang="en-US" dirty="0">
              <a:solidFill>
                <a:srgbClr val="00004C"/>
              </a:solidFill>
            </a:endParaRP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>
                <a:solidFill>
                  <a:srgbClr val="00004C"/>
                </a:solidFill>
              </a:rPr>
              <a:t>ipconfig /all, route print, </a:t>
            </a:r>
            <a:r>
              <a:rPr lang="en-US" dirty="0" err="1">
                <a:solidFill>
                  <a:srgbClr val="00004C"/>
                </a:solidFill>
              </a:rPr>
              <a:t>nslookup</a:t>
            </a:r>
            <a:endParaRPr lang="en-US" dirty="0">
              <a:solidFill>
                <a:srgbClr val="00004C"/>
              </a:solidFill>
            </a:endParaRP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mostly local; avoid repeated DNS queries if monitored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24216847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T1049 System Network Connections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active connections and potential C2/management sessions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>
                <a:solidFill>
                  <a:srgbClr val="00004C"/>
                </a:solidFill>
              </a:rPr>
              <a:t>ss -</a:t>
            </a:r>
            <a:r>
              <a:rPr lang="en-US" dirty="0" err="1">
                <a:solidFill>
                  <a:srgbClr val="00004C"/>
                </a:solidFill>
              </a:rPr>
              <a:t>tunap</a:t>
            </a:r>
            <a:r>
              <a:rPr lang="en-US" dirty="0">
                <a:solidFill>
                  <a:srgbClr val="00004C"/>
                </a:solidFill>
              </a:rPr>
              <a:t> (collect once, parse locally by PID/port/remote IP address)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>
                <a:solidFill>
                  <a:srgbClr val="00004C"/>
                </a:solidFill>
              </a:rPr>
              <a:t>netstat -</a:t>
            </a:r>
            <a:r>
              <a:rPr lang="en-US" dirty="0" err="1">
                <a:solidFill>
                  <a:srgbClr val="00004C"/>
                </a:solidFill>
              </a:rPr>
              <a:t>ano</a:t>
            </a:r>
            <a:r>
              <a:rPr lang="en-US" dirty="0">
                <a:solidFill>
                  <a:srgbClr val="00004C"/>
                </a:solidFill>
              </a:rPr>
              <a:t>, Get-</a:t>
            </a:r>
            <a:r>
              <a:rPr lang="en-US" dirty="0" err="1">
                <a:solidFill>
                  <a:srgbClr val="00004C"/>
                </a:solidFill>
              </a:rPr>
              <a:t>NetTCPConnection</a:t>
            </a:r>
            <a:endParaRPr lang="en-US" dirty="0">
              <a:solidFill>
                <a:srgbClr val="00004C"/>
              </a:solidFill>
            </a:endParaRP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local command; collect once and interpret locally (remote IP </a:t>
            </a:r>
            <a:r>
              <a:rPr lang="en-US" dirty="0" err="1">
                <a:solidFill>
                  <a:srgbClr val="00004C"/>
                </a:solidFill>
              </a:rPr>
              <a:t>addreasses</a:t>
            </a:r>
            <a:r>
              <a:rPr lang="en-US" dirty="0">
                <a:solidFill>
                  <a:srgbClr val="00004C"/>
                </a:solidFill>
              </a:rPr>
              <a:t>, ports, PIDs)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39217885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T1135 Network Share Discovery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Purpose: </a:t>
            </a:r>
            <a:r>
              <a:rPr lang="en-US" dirty="0">
                <a:solidFill>
                  <a:srgbClr val="00004C"/>
                </a:solidFill>
              </a:rPr>
              <a:t>identify shares and mounts for access and data movement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Linux: </a:t>
            </a:r>
            <a:r>
              <a:rPr lang="en-US" dirty="0">
                <a:solidFill>
                  <a:srgbClr val="00004C"/>
                </a:solidFill>
              </a:rPr>
              <a:t>mount, </a:t>
            </a:r>
            <a:r>
              <a:rPr lang="en-US" dirty="0" err="1">
                <a:solidFill>
                  <a:srgbClr val="00004C"/>
                </a:solidFill>
              </a:rPr>
              <a:t>showmount</a:t>
            </a:r>
            <a:r>
              <a:rPr lang="en-US" dirty="0">
                <a:solidFill>
                  <a:srgbClr val="00004C"/>
                </a:solidFill>
              </a:rPr>
              <a:t> (if applicable), </a:t>
            </a:r>
            <a:r>
              <a:rPr lang="en-US" dirty="0" err="1">
                <a:solidFill>
                  <a:srgbClr val="00004C"/>
                </a:solidFill>
              </a:rPr>
              <a:t>smbclient</a:t>
            </a:r>
            <a:r>
              <a:rPr lang="en-US" dirty="0">
                <a:solidFill>
                  <a:srgbClr val="00004C"/>
                </a:solidFill>
              </a:rPr>
              <a:t> -L (as applicable)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Windows: </a:t>
            </a:r>
            <a:r>
              <a:rPr lang="en-US" dirty="0">
                <a:solidFill>
                  <a:srgbClr val="00004C"/>
                </a:solidFill>
              </a:rPr>
              <a:t>net share, net view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OPSEC: </a:t>
            </a:r>
            <a:r>
              <a:rPr lang="en-US" dirty="0">
                <a:solidFill>
                  <a:srgbClr val="00004C"/>
                </a:solidFill>
              </a:rPr>
              <a:t>remote share enumeration can be logged; scope to what you need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966451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Demonstration: Execute Selected Discovery Techniques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Pick 3–5 techniques and run only 1–2 commands each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After each: </a:t>
            </a:r>
            <a:r>
              <a:rPr lang="en-US" dirty="0">
                <a:solidFill>
                  <a:srgbClr val="00004C"/>
                </a:solidFill>
              </a:rPr>
              <a:t>state what you learned, what you assume, and what you will verify next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End with a short written summary (environment + user context + key findings)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598129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Common Failure Modes</a:t>
            </a: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Run large scripts immediately without context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Perform broad file searches or network scans without objectives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Collect output without interpreting it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Forget to document findings for handover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13010588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Technique Selection (Objective-Driven)</a:t>
            </a: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If objective is privilege escalation: </a:t>
            </a:r>
            <a:r>
              <a:rPr lang="en-US" dirty="0">
                <a:solidFill>
                  <a:srgbClr val="00004C"/>
                </a:solidFill>
              </a:rPr>
              <a:t>prioritize user/groups, services, configs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If follow-on operations require lateral movement: </a:t>
            </a:r>
            <a:r>
              <a:rPr lang="en-US" dirty="0">
                <a:solidFill>
                  <a:srgbClr val="00004C"/>
                </a:solidFill>
              </a:rPr>
              <a:t>prioritize network config, connections, remote systems to support a CMT handoff (scope is enablement and documentation, not execution)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If objective is effects on adversary infrastructure: </a:t>
            </a:r>
            <a:r>
              <a:rPr lang="en-US" dirty="0">
                <a:solidFill>
                  <a:srgbClr val="00004C"/>
                </a:solidFill>
              </a:rPr>
              <a:t>prioritize processes/services and mission artifacts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38149427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6BEE5C-A7F7-98D1-78D5-BC6F22910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Quick Documentation Template 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Host: </a:t>
            </a:r>
            <a:r>
              <a:rPr lang="en-US" dirty="0">
                <a:solidFill>
                  <a:srgbClr val="00004C"/>
                </a:solidFill>
              </a:rPr>
              <a:t>[hostname/IP]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Environment: </a:t>
            </a:r>
            <a:r>
              <a:rPr lang="en-US" dirty="0">
                <a:solidFill>
                  <a:srgbClr val="00004C"/>
                </a:solidFill>
              </a:rPr>
              <a:t>[OS/build, domain/workgroup, container/cloud indicators]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User context: </a:t>
            </a:r>
            <a:r>
              <a:rPr lang="en-US" dirty="0">
                <a:solidFill>
                  <a:srgbClr val="00004C"/>
                </a:solidFill>
              </a:rPr>
              <a:t>[user, groups, key privileges]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Key findings: </a:t>
            </a:r>
            <a:r>
              <a:rPr lang="en-US" dirty="0">
                <a:solidFill>
                  <a:srgbClr val="00004C"/>
                </a:solidFill>
              </a:rPr>
              <a:t>[services/processes/network indicators]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OPSEC notes: </a:t>
            </a:r>
            <a:r>
              <a:rPr lang="en-US" dirty="0">
                <a:solidFill>
                  <a:srgbClr val="00004C"/>
                </a:solidFill>
              </a:rPr>
              <a:t>[what might have logged/alerted]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Next steps: </a:t>
            </a:r>
            <a:r>
              <a:rPr lang="en-US" dirty="0">
                <a:solidFill>
                  <a:srgbClr val="00004C"/>
                </a:solidFill>
              </a:rPr>
              <a:t>[what to verify/do next]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6EC29F-0DE5-A6C3-5281-9A218BAE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</p:txBody>
      </p:sp>
    </p:spTree>
    <p:extLst>
      <p:ext uri="{BB962C8B-B14F-4D97-AF65-F5344CB8AC3E}">
        <p14:creationId xmlns:p14="http://schemas.microsoft.com/office/powerpoint/2010/main" val="30066251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59268-A8F9-09E0-45C7-0A6B3DCE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Survey Scripts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30664798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8E485B-9CB7-9EAC-494E-E952B46DA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Why Survey Scripts Exist</a:t>
            </a: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Speed, completeness, repeatability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Reduce operator error under stress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Provide standardized output for teams and handover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568B5-96CF-CFF4-982C-34AF473A6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Survey Scripts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1322325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8E485B-9CB7-9EAC-494E-E952B46DA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Survey Script OPSEC Considerations</a:t>
            </a: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Many commands executed quickly can trigger detections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Script artifacts on disk may be found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Output files can contain sensitive details; treat and move carefully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568B5-96CF-CFF4-982C-34AF473A6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Survey Scripts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8836967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8E485B-9CB7-9EAC-494E-E952B46DA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Types of Survey Scripts</a:t>
            </a: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Linux enumeration scripts: </a:t>
            </a:r>
            <a:r>
              <a:rPr lang="en-US" dirty="0" err="1">
                <a:solidFill>
                  <a:srgbClr val="00004C"/>
                </a:solidFill>
              </a:rPr>
              <a:t>LinPEAS</a:t>
            </a:r>
            <a:r>
              <a:rPr lang="en-US" dirty="0">
                <a:solidFill>
                  <a:srgbClr val="00004C"/>
                </a:solidFill>
              </a:rPr>
              <a:t>, </a:t>
            </a:r>
            <a:r>
              <a:rPr lang="en-US" dirty="0" err="1">
                <a:solidFill>
                  <a:srgbClr val="00004C"/>
                </a:solidFill>
              </a:rPr>
              <a:t>LinEnum</a:t>
            </a:r>
            <a:r>
              <a:rPr lang="en-US" dirty="0">
                <a:solidFill>
                  <a:srgbClr val="00004C"/>
                </a:solidFill>
              </a:rPr>
              <a:t>, custom</a:t>
            </a: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Windows enumeration scripts: </a:t>
            </a:r>
            <a:r>
              <a:rPr lang="en-US" dirty="0" err="1">
                <a:solidFill>
                  <a:srgbClr val="00004C"/>
                </a:solidFill>
              </a:rPr>
              <a:t>WinPEAS</a:t>
            </a:r>
            <a:r>
              <a:rPr lang="en-US" dirty="0">
                <a:solidFill>
                  <a:srgbClr val="00004C"/>
                </a:solidFill>
              </a:rPr>
              <a:t>, </a:t>
            </a:r>
            <a:r>
              <a:rPr lang="en-US" dirty="0" err="1">
                <a:solidFill>
                  <a:srgbClr val="00004C"/>
                </a:solidFill>
              </a:rPr>
              <a:t>PowerUp</a:t>
            </a:r>
            <a:r>
              <a:rPr lang="en-US" dirty="0">
                <a:solidFill>
                  <a:srgbClr val="00004C"/>
                </a:solidFill>
              </a:rPr>
              <a:t>, custom</a:t>
            </a: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Custom mission scripts: </a:t>
            </a:r>
            <a:r>
              <a:rPr lang="en-US" dirty="0">
                <a:solidFill>
                  <a:srgbClr val="00004C"/>
                </a:solidFill>
              </a:rPr>
              <a:t>built to answer specific questions fast</a:t>
            </a: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Format varies by environment and constraints:</a:t>
            </a:r>
          </a:p>
          <a:p>
            <a:pPr lvl="2"/>
            <a:r>
              <a:rPr lang="en-US" dirty="0">
                <a:solidFill>
                  <a:srgbClr val="00004C"/>
                </a:solidFill>
              </a:rPr>
              <a:t>Executable scripts (when appropriate): shell scripts (.</a:t>
            </a:r>
            <a:r>
              <a:rPr lang="en-US" dirty="0" err="1">
                <a:solidFill>
                  <a:srgbClr val="00004C"/>
                </a:solidFill>
              </a:rPr>
              <a:t>sh</a:t>
            </a:r>
            <a:r>
              <a:rPr lang="en-US" dirty="0">
                <a:solidFill>
                  <a:srgbClr val="00004C"/>
                </a:solidFill>
              </a:rPr>
              <a:t>), Python (.</a:t>
            </a:r>
            <a:r>
              <a:rPr lang="en-US" dirty="0" err="1">
                <a:solidFill>
                  <a:srgbClr val="00004C"/>
                </a:solidFill>
              </a:rPr>
              <a:t>py</a:t>
            </a:r>
            <a:r>
              <a:rPr lang="en-US" dirty="0">
                <a:solidFill>
                  <a:srgbClr val="00004C"/>
                </a:solidFill>
              </a:rPr>
              <a:t>), PHP (.</a:t>
            </a:r>
            <a:r>
              <a:rPr lang="en-US" dirty="0" err="1">
                <a:solidFill>
                  <a:srgbClr val="00004C"/>
                </a:solidFill>
              </a:rPr>
              <a:t>php</a:t>
            </a:r>
            <a:r>
              <a:rPr lang="en-US" dirty="0">
                <a:solidFill>
                  <a:srgbClr val="00004C"/>
                </a:solidFill>
              </a:rPr>
              <a:t>), or other interpreter-supported formats</a:t>
            </a:r>
          </a:p>
          <a:p>
            <a:pPr lvl="2"/>
            <a:r>
              <a:rPr lang="en-US" dirty="0">
                <a:solidFill>
                  <a:srgbClr val="00004C"/>
                </a:solidFill>
              </a:rPr>
              <a:t>Operator-driven command lists (often preferred for OPSEC control): a curated list of commands kept in a text editor for deliberate copy/paste and pacing</a:t>
            </a:r>
          </a:p>
          <a:p>
            <a:pPr lvl="2"/>
            <a:endParaRPr lang="en-US" dirty="0">
              <a:solidFill>
                <a:srgbClr val="00004C"/>
              </a:solidFill>
            </a:endParaRPr>
          </a:p>
          <a:p>
            <a:r>
              <a:rPr lang="en-US" b="1" dirty="0">
                <a:solidFill>
                  <a:srgbClr val="00004C"/>
                </a:solidFill>
              </a:rPr>
              <a:t>Operator Control Principle</a:t>
            </a:r>
          </a:p>
          <a:p>
            <a:pPr lvl="1"/>
            <a:r>
              <a:rPr lang="en-US" dirty="0">
                <a:solidFill>
                  <a:srgbClr val="00004C"/>
                </a:solidFill>
              </a:rPr>
              <a:t>Whenever possible, prefer approaches that are observable and interruptible while running (watch output in real time, stop if you see risk, then switch to local parsing and interpretation)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568B5-96CF-CFF4-982C-34AF473A6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Survey Scripts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1103282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8E485B-9CB7-9EAC-494E-E952B46DA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Example Survey Script Structure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System info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User/account enumeration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Network discovery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Process/service discovery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Filesystem reconnaissance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Output formatting and collection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568B5-96CF-CFF4-982C-34AF473A6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Survey Scripts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15870780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8E485B-9CB7-9EAC-494E-E952B46DA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Demonstration: Run a Survey Script and Review Output</a:t>
            </a: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Run a basic script in a lab environment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Review output sections; identify 3 high-value findings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Discuss what noise/logs the script likely created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568B5-96CF-CFF4-982C-34AF473A6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Survey Scripts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15765775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8E485B-9CB7-9EAC-494E-E952B46DA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Developing Custom Scripts (Brief)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Bash basics (Linux): </a:t>
            </a:r>
            <a:r>
              <a:rPr lang="en-US" dirty="0">
                <a:solidFill>
                  <a:srgbClr val="00004C"/>
                </a:solidFill>
              </a:rPr>
              <a:t>functions, command existence checks, output formatting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PowerShell basics (Windows): </a:t>
            </a:r>
            <a:r>
              <a:rPr lang="en-US" dirty="0">
                <a:solidFill>
                  <a:srgbClr val="00004C"/>
                </a:solidFill>
              </a:rPr>
              <a:t>cmdlets, error handling, structured output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Tailor to operational objectives; keep scope minimal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568B5-96CF-CFF4-982C-34AF473A6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Survey Scripts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10074720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8E485B-9CB7-9EAC-494E-E952B46DA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Automation Decision Rule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If you don’t know where you are: start manual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If you need speed and accept noise: use automation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If you need stealth: use targeted manual discovery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Always document what you ran and why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568B5-96CF-CFF4-982C-34AF473A6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Survey Scripts and Automation</a:t>
            </a:r>
          </a:p>
        </p:txBody>
      </p:sp>
    </p:spTree>
    <p:extLst>
      <p:ext uri="{BB962C8B-B14F-4D97-AF65-F5344CB8AC3E}">
        <p14:creationId xmlns:p14="http://schemas.microsoft.com/office/powerpoint/2010/main" val="4194262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6538B-5F6C-0731-1A9A-F7330156D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OPSEC Considerations for Discovery</a:t>
            </a:r>
          </a:p>
        </p:txBody>
      </p:sp>
    </p:spTree>
    <p:extLst>
      <p:ext uri="{BB962C8B-B14F-4D97-AF65-F5344CB8AC3E}">
        <p14:creationId xmlns:p14="http://schemas.microsoft.com/office/powerpoint/2010/main" val="19115508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1C2D46-3D5F-CBF2-1BD1-C35D7B5A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Discovery Activities Are Noisy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Generate logs (process, auth, file access, command history)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Trigger alerts (rapid enumeration, suspicious tools)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Feed correlation systems (SIEM)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F7CFCE-D427-9EEE-3547-A2B3977D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OPSEC Considerations for Discovery</a:t>
            </a:r>
          </a:p>
        </p:txBody>
      </p:sp>
    </p:spTree>
    <p:extLst>
      <p:ext uri="{BB962C8B-B14F-4D97-AF65-F5344CB8AC3E}">
        <p14:creationId xmlns:p14="http://schemas.microsoft.com/office/powerpoint/2010/main" val="41510543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1C2D46-3D5F-CBF2-1BD1-C35D7B5A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Balance Speed vs Stealth</a:t>
            </a: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Survey scripts are fast but noisy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Manual discovery is slower but often quieter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Context determines approach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F7CFCE-D427-9EEE-3547-A2B3977D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OPSEC Considerations for Discovery</a:t>
            </a:r>
          </a:p>
        </p:txBody>
      </p:sp>
    </p:spTree>
    <p:extLst>
      <p:ext uri="{BB962C8B-B14F-4D97-AF65-F5344CB8AC3E}">
        <p14:creationId xmlns:p14="http://schemas.microsoft.com/office/powerpoint/2010/main" val="324541787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1C2D46-3D5F-CBF2-1BD1-C35D7B5A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Blend With Normal Activity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Mimic admin behavior and timing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Use legitimate tools where possible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Avoid obvious attacker tradecraft patterns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F7CFCE-D427-9EEE-3547-A2B3977D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OPSEC Considerations for Discovery</a:t>
            </a:r>
          </a:p>
        </p:txBody>
      </p:sp>
    </p:spTree>
    <p:extLst>
      <p:ext uri="{BB962C8B-B14F-4D97-AF65-F5344CB8AC3E}">
        <p14:creationId xmlns:p14="http://schemas.microsoft.com/office/powerpoint/2010/main" val="4448379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1C2D46-3D5F-CBF2-1BD1-C35D7B5A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Document for Operational Handover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What you learned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Critical findings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What you did not learn (gaps)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What should happen next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F7CFCE-D427-9EEE-3547-A2B3977D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OPSEC Considerations for Discovery</a:t>
            </a:r>
          </a:p>
        </p:txBody>
      </p:sp>
    </p:spTree>
    <p:extLst>
      <p:ext uri="{BB962C8B-B14F-4D97-AF65-F5344CB8AC3E}">
        <p14:creationId xmlns:p14="http://schemas.microsoft.com/office/powerpoint/2010/main" val="8166539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1C2D46-3D5F-CBF2-1BD1-C35D7B5A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OPSEC Checklist (Preview)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Rate-limit and prioritize commands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Avoid broad scans and recursive searches unless justified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Prefer local discovery over remote where possible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Track artifacts you create (files, scripts, outputs)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Summarize and hand over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F7CFCE-D427-9EEE-3547-A2B3977D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OPSEC Considerations for Discovery</a:t>
            </a:r>
          </a:p>
        </p:txBody>
      </p:sp>
    </p:spTree>
    <p:extLst>
      <p:ext uri="{BB962C8B-B14F-4D97-AF65-F5344CB8AC3E}">
        <p14:creationId xmlns:p14="http://schemas.microsoft.com/office/powerpoint/2010/main" val="38285870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1C2D46-3D5F-CBF2-1BD1-C35D7B5A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Common OPSEC Pitfalls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Running large third-party tools without review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Creating obvious filenames and leaving artifacts behind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Forgetting that discovery can trigger defensive correlation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F7CFCE-D427-9EEE-3547-A2B3977D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OPSEC Considerations for Discovery</a:t>
            </a:r>
          </a:p>
        </p:txBody>
      </p:sp>
    </p:spTree>
    <p:extLst>
      <p:ext uri="{BB962C8B-B14F-4D97-AF65-F5344CB8AC3E}">
        <p14:creationId xmlns:p14="http://schemas.microsoft.com/office/powerpoint/2010/main" val="19095871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1C2D46-3D5F-CBF2-1BD1-C35D7B5A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Course Tie-In: This Enables Four Days of Labs</a:t>
            </a:r>
          </a:p>
          <a:p>
            <a:pPr marL="169329" indent="0">
              <a:buNone/>
            </a:pPr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Day 1–4 labs depend on environment identification and disciplined discovery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Expectation:</a:t>
            </a:r>
            <a:r>
              <a:rPr lang="en-US" dirty="0">
                <a:solidFill>
                  <a:srgbClr val="00004C"/>
                </a:solidFill>
              </a:rPr>
              <a:t> you will repeatedly apply these workflows, not memorize commands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b="1" dirty="0">
                <a:solidFill>
                  <a:srgbClr val="00004C"/>
                </a:solidFill>
              </a:rPr>
              <a:t>Success metric: </a:t>
            </a:r>
            <a:r>
              <a:rPr lang="en-US" dirty="0">
                <a:solidFill>
                  <a:srgbClr val="00004C"/>
                </a:solidFill>
              </a:rPr>
              <a:t>accurate summaries and sound next-step decisions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F7CFCE-D427-9EEE-3547-A2B3977D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OPSEC Considerations for Discovery</a:t>
            </a:r>
          </a:p>
        </p:txBody>
      </p:sp>
    </p:spTree>
    <p:extLst>
      <p:ext uri="{BB962C8B-B14F-4D97-AF65-F5344CB8AC3E}">
        <p14:creationId xmlns:p14="http://schemas.microsoft.com/office/powerpoint/2010/main" val="231969422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1C2D46-3D5F-CBF2-1BD1-C35D7B5A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4C"/>
                </a:solidFill>
              </a:rPr>
              <a:t>Knowledge Check </a:t>
            </a:r>
          </a:p>
          <a:p>
            <a:endParaRPr lang="en-US" b="1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If Windows domain joined, what discovery changes first?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What is the minimum set of commands to identify Linux environment and user context?</a:t>
            </a:r>
          </a:p>
          <a:p>
            <a:pPr lvl="1"/>
            <a:endParaRPr lang="en-US" dirty="0">
              <a:solidFill>
                <a:srgbClr val="00004C"/>
              </a:solidFill>
            </a:endParaRPr>
          </a:p>
          <a:p>
            <a:pPr lvl="1"/>
            <a:r>
              <a:rPr lang="en-US" dirty="0">
                <a:solidFill>
                  <a:srgbClr val="00004C"/>
                </a:solidFill>
              </a:rPr>
              <a:t>Name one OPSEC risk of automation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F7CFCE-D427-9EEE-3547-A2B3977D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OPSEC Considerations for Discovery</a:t>
            </a:r>
          </a:p>
        </p:txBody>
      </p:sp>
    </p:spTree>
    <p:extLst>
      <p:ext uri="{BB962C8B-B14F-4D97-AF65-F5344CB8AC3E}">
        <p14:creationId xmlns:p14="http://schemas.microsoft.com/office/powerpoint/2010/main" val="14372160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54A4350-6C7C-7BFB-E772-95E452C2D1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9329" indent="0">
              <a:buNone/>
            </a:pPr>
            <a:r>
              <a:rPr lang="en-US" dirty="0">
                <a:solidFill>
                  <a:srgbClr val="00004C"/>
                </a:solidFill>
              </a:rPr>
              <a:t>In this lesson you became familiar with:</a:t>
            </a:r>
          </a:p>
          <a:p>
            <a:endParaRPr lang="en-US" dirty="0">
              <a:solidFill>
                <a:srgbClr val="00004C"/>
              </a:solidFill>
            </a:endParaRPr>
          </a:p>
          <a:p>
            <a:r>
              <a:rPr lang="en-US" dirty="0">
                <a:solidFill>
                  <a:srgbClr val="00004C"/>
                </a:solidFill>
              </a:rPr>
              <a:t>On-Objective Operations</a:t>
            </a:r>
          </a:p>
          <a:p>
            <a:r>
              <a:rPr lang="en-US" dirty="0">
                <a:solidFill>
                  <a:srgbClr val="00004C"/>
                </a:solidFill>
              </a:rPr>
              <a:t>Execution Environments</a:t>
            </a:r>
          </a:p>
          <a:p>
            <a:r>
              <a:rPr lang="en-US" dirty="0">
                <a:solidFill>
                  <a:srgbClr val="00004C"/>
                </a:solidFill>
              </a:rPr>
              <a:t>User Context and Privileges</a:t>
            </a:r>
          </a:p>
          <a:p>
            <a:r>
              <a:rPr lang="en-US" dirty="0">
                <a:solidFill>
                  <a:srgbClr val="00004C"/>
                </a:solidFill>
              </a:rPr>
              <a:t>MITRE ATT&amp;CK® Discovery Techniques</a:t>
            </a:r>
          </a:p>
          <a:p>
            <a:r>
              <a:rPr lang="en-US" dirty="0">
                <a:solidFill>
                  <a:srgbClr val="00004C"/>
                </a:solidFill>
              </a:rPr>
              <a:t>Survey Scripts and Automation </a:t>
            </a:r>
          </a:p>
          <a:p>
            <a:r>
              <a:rPr lang="en-US" dirty="0">
                <a:solidFill>
                  <a:srgbClr val="00004C"/>
                </a:solidFill>
              </a:rPr>
              <a:t>OPSEC Considerations for Discovery </a:t>
            </a:r>
          </a:p>
          <a:p>
            <a:endParaRPr lang="en-US" dirty="0">
              <a:solidFill>
                <a:srgbClr val="00004C"/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61D3D1-8977-E69D-1703-187C35C70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Lesson Summary</a:t>
            </a:r>
          </a:p>
        </p:txBody>
      </p:sp>
    </p:spTree>
    <p:extLst>
      <p:ext uri="{BB962C8B-B14F-4D97-AF65-F5344CB8AC3E}">
        <p14:creationId xmlns:p14="http://schemas.microsoft.com/office/powerpoint/2010/main" val="18705825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54A4350-6C7C-7BFB-E772-95E452C2D1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9329" indent="0">
              <a:buNone/>
            </a:pPr>
            <a:r>
              <a:rPr lang="en-US" dirty="0">
                <a:solidFill>
                  <a:srgbClr val="00004C"/>
                </a:solidFill>
              </a:rPr>
              <a:t>In the following labs you will have the opportunity to practice applying your knowledge by:</a:t>
            </a:r>
          </a:p>
          <a:p>
            <a:pPr marL="169329" indent="0">
              <a:buNone/>
            </a:pPr>
            <a:endParaRPr lang="en-US" dirty="0">
              <a:solidFill>
                <a:srgbClr val="00004C"/>
              </a:solidFill>
            </a:endParaRPr>
          </a:p>
          <a:p>
            <a:pPr marL="1121814" lvl="1" indent="-342900"/>
            <a:r>
              <a:rPr lang="en-US" b="1" dirty="0">
                <a:solidFill>
                  <a:srgbClr val="00004C"/>
                </a:solidFill>
              </a:rPr>
              <a:t>Performing today’s workflow repeatedly in curated labs</a:t>
            </a:r>
          </a:p>
          <a:p>
            <a:pPr marL="1121814" lvl="1" indent="-342900"/>
            <a:endParaRPr lang="en-US" b="1" dirty="0">
              <a:solidFill>
                <a:srgbClr val="00004C"/>
              </a:solidFill>
            </a:endParaRPr>
          </a:p>
          <a:p>
            <a:pPr marL="1121814" lvl="1" indent="-342900"/>
            <a:r>
              <a:rPr lang="en-US" b="1" dirty="0">
                <a:solidFill>
                  <a:srgbClr val="00004C"/>
                </a:solidFill>
              </a:rPr>
              <a:t>Expecting progressive complexity across Linux, Windows, and AD contexts</a:t>
            </a:r>
          </a:p>
          <a:p>
            <a:pPr marL="1121814" lvl="1" indent="-342900"/>
            <a:endParaRPr lang="en-US" b="1" dirty="0">
              <a:solidFill>
                <a:srgbClr val="00004C"/>
              </a:solidFill>
            </a:endParaRPr>
          </a:p>
          <a:p>
            <a:pPr marL="1121814" lvl="1" indent="-342900"/>
            <a:r>
              <a:rPr lang="en-US" b="1" dirty="0">
                <a:solidFill>
                  <a:srgbClr val="00004C"/>
                </a:solidFill>
              </a:rPr>
              <a:t>Focusing on disciplined discovery, OPSEC, and clear reporting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61D3D1-8977-E69D-1703-187C35C70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Lesson Summary</a:t>
            </a:r>
          </a:p>
        </p:txBody>
      </p:sp>
    </p:spTree>
    <p:extLst>
      <p:ext uri="{BB962C8B-B14F-4D97-AF65-F5344CB8AC3E}">
        <p14:creationId xmlns:p14="http://schemas.microsoft.com/office/powerpoint/2010/main" val="18124562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004C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036068300"/>
      </p:ext>
    </p:extLst>
  </p:cSld>
  <p:clrMapOvr>
    <a:masterClrMapping/>
  </p:clrMapOvr>
</p:sld>
</file>

<file path=ppt/theme/theme1.xml><?xml version="1.0" encoding="utf-8"?>
<a:theme xmlns:a="http://schemas.openxmlformats.org/drawingml/2006/main" name="CyberTemplateL_Green Unclas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800" dirty="0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Lecture Template Primary" id="{3FAB2691-938F-4A4F-BEE8-49EC265A7425}" vid="{8C052DBC-2246-405A-94F7-2BD3C078A3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titus xmlns="http://schemas.titus.com/TitusProperties/">
  <TitusGUID xmlns="">08ab3ad5-43d9-4692-81ca-47747515fe3c</TitusGUID>
  <TitusMetadata xmlns="">eyJucyI6Imh0dHA6XC9cL3d3dy50aXR1cy5jb21cL25zXC9Kb2ludCBTZXJ2aWNlIFByb3ZpZGVyIiwicHJvcHMiOlt7Im4iOiJDbGFzc2lmaWNhdGlvblRpdHVzIiwidmFscyI6W3sidmFsdWUiOiJCTEFOSyJ9XX0seyJuIjoiU2NpVGl0dXMiLCJ2YWxzIjpbXX0seyJuIjoiRGlzc2VtVGl0dXMiLCJ2YWxzIjpbXX0seyJuIjoiUmVsVGl0dXMiLCJ2YWxzIjpbXX0seyJuIjoiQ2xhc3NpZmllZEJ5IiwidmFscyI6W119LHsibiI6IkRlcml2ZWRGcm9tIiwidmFscyI6W119LHsibiI6IkRhdGVkIiwidmFscyI6W119LHsibiI6IkRlY2xhc3NpZnlPbiIsInZhbHMiOltdfSx7Im4iOiJBZGRpdGlvbmFsRmllbGRzIiwidmFscyI6W119LHsibiI6IkFFQU1hcmtpbmdzIiwidmFscyI6W119LHsibiI6IkZHSU1hcmtpbmdzIiwidmFscyI6W119LHsibiI6IkFDQ01NYXJraW5ncyIsInZhbHMiOltdfSx7Im4iOiJQcml2YWN5U2Vuc2l0aXZlIiwidmFscyI6W119LHsibiI6IkNVSUJ1dHRvbiIsInZhbHMiOltdfSx7Im4iOiJDb250cm9sbGVkQnkiLCJ2YWxzIjpbXX0seyJuIjoiQ1VJQ2F0ZWdvcnkiLCJ2YWxzIjpbXX0seyJuIjoiTGltaXRlZERpc3NlbWluYXRpb25Db250cm9sIiwidmFscyI6W119LHsibiI6IlBPQyIsInZhbHMiOltdfSx7Im4iOiJDcml0aWNhbEluZnJhc3RydWN0dXJlIiwidmFscyI6W119LHsibiI6IkRlZmVuc2UiLCJ2YWxzIjpbXX0seyJuIjoiRXhwb3J0Q29udHJvbGxlZCIsInZhbHMiOltdfSx7Im4iOiJGaW5hbmNpYWwiLCJ2YWxzIjpbXX0seyJuIjoiSW1taWdyYXRpb24iLCJ2YWxzIjpbXX0seyJuIjoiSW50ZWxsaWdlbmNlIiwidmFscyI6W119LHsibiI6IkludGVybmF0aW9uYWxBZ3JlZW1lbnRzIiwidmFscyI6W119LHsibiI6Ikxhd0VuZm9yY2VtZW50IiwidmFscyI6W119LHsibiI6IkxlZ2FsIiwidmFscyI6W119LHsibiI6Ik5hdHVyYWxDdWx0dXJhbFJlc291cmNlcyIsInZhbHMiOltdfSx7Im4iOiJOb3J0aEF0bGFudGljVHJlYXR5T3JnYW5pemF0aW9uIiwidmFscyI6W119LHsibiI6Ik5VQ0xFQVIiLCJ2YWxzIjpbXX0seyJuIjoiUGF0aWVudCIsInZhbHMiOltdfSx7Im4iOiJQcml2YWN5IiwidmFscyI6W119LHsibiI6IlByb2N1cmVtZW50QWNxdWlzaXRpb24iLCJ2YWxzIjpbXX0seyJuIjoiUHJvcHJpZXRhcnlCdXNpbmVzc0luZm9ybWF0aW9uIiwidmFscyI6W119LHsibiI6IlN0YXRpc3RpY2FsIiwidmFscyI6W119LHsibiI6IlRheCIsInZhbHMiOltdfSx7Im4iOiJUcmFuc3BvcnRhdGlvbiIsInZhbHMiOltdfSx7Im4iOiJSRUxDVUkiLCJ2YWxzIjpbXX1dfQ==</TitusMetadata>
</titus>
</file>

<file path=customXml/itemProps1.xml><?xml version="1.0" encoding="utf-8"?>
<ds:datastoreItem xmlns:ds="http://schemas.openxmlformats.org/officeDocument/2006/customXml" ds:itemID="{9ED1A20F-9DE4-4159-9A6D-18E30615BA76}">
  <ds:schemaRefs>
    <ds:schemaRef ds:uri="http://schemas.titus.com/TitusProperties/"/>
    <ds:schemaRef ds:uri=""/>
  </ds:schemaRefs>
</ds:datastoreItem>
</file>

<file path=docMetadata/LabelInfo.xml><?xml version="1.0" encoding="utf-8"?>
<clbl:labelList xmlns:clbl="http://schemas.microsoft.com/office/2020/mipLabelMetadata">
  <clbl:label id="{3de9faa6-9fe1-49b3-9a08-227a296b54a6}" enabled="1" method="Privileged" siteId="{66d73691-ea97-48b1-95d5-e94f0a46b87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Lecture Template</Template>
  <TotalTime>297</TotalTime>
  <Words>3126</Words>
  <Application>Microsoft Office PowerPoint</Application>
  <PresentationFormat>Widescreen</PresentationFormat>
  <Paragraphs>593</Paragraphs>
  <Slides>71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5" baseType="lpstr">
      <vt:lpstr>-apple-system</vt:lpstr>
      <vt:lpstr>Arial</vt:lpstr>
      <vt:lpstr>Calibri</vt:lpstr>
      <vt:lpstr>CyberTemplateL_Green Unclass</vt:lpstr>
      <vt:lpstr>Situational Awareness, Execution Environments, and User Context</vt:lpstr>
      <vt:lpstr>Lesson Objectives</vt:lpstr>
      <vt:lpstr>Lesson Overview</vt:lpstr>
      <vt:lpstr>Introduction to On-Objective Operations </vt:lpstr>
      <vt:lpstr>Introduction to On-Objective Operations </vt:lpstr>
      <vt:lpstr>Introduction to On-Objective Operations </vt:lpstr>
      <vt:lpstr>Introduction to On-Objective Operations </vt:lpstr>
      <vt:lpstr>Introduction to On-Objective Operations </vt:lpstr>
      <vt:lpstr>Introduction to On-Objective Operations </vt:lpstr>
      <vt:lpstr>Introduction to On-Objective Operations </vt:lpstr>
      <vt:lpstr>Introduction to On-Objective Operations </vt:lpstr>
      <vt:lpstr>Execution Environments</vt:lpstr>
      <vt:lpstr>Execution Environments</vt:lpstr>
      <vt:lpstr>Execution Environments</vt:lpstr>
      <vt:lpstr>Execution Environments</vt:lpstr>
      <vt:lpstr>Execution Environments</vt:lpstr>
      <vt:lpstr>Execution Environments</vt:lpstr>
      <vt:lpstr>Execution Environments</vt:lpstr>
      <vt:lpstr>Execution Environments</vt:lpstr>
      <vt:lpstr>Execution Environments</vt:lpstr>
      <vt:lpstr>Execution Environments</vt:lpstr>
      <vt:lpstr>Execution Environments</vt:lpstr>
      <vt:lpstr>Execution Environments</vt:lpstr>
      <vt:lpstr>Execution Environments</vt:lpstr>
      <vt:lpstr>User Context and Privileges</vt:lpstr>
      <vt:lpstr>User Context and Privileges</vt:lpstr>
      <vt:lpstr>User Context and Privileges</vt:lpstr>
      <vt:lpstr>User Context and Privileges</vt:lpstr>
      <vt:lpstr>User Context and Privileges</vt:lpstr>
      <vt:lpstr>User Context and Privileges</vt:lpstr>
      <vt:lpstr>User Context and Privileges</vt:lpstr>
      <vt:lpstr>User Context and Privileges</vt:lpstr>
      <vt:lpstr>User Context and Privileges</vt:lpstr>
      <vt:lpstr>User Context and Privileges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MITRE ATT&amp;CK® Discovery Techniques</vt:lpstr>
      <vt:lpstr>Survey Scripts and Automation</vt:lpstr>
      <vt:lpstr>Survey Scripts and Automation</vt:lpstr>
      <vt:lpstr>Survey Scripts and Automation</vt:lpstr>
      <vt:lpstr>Survey Scripts and Automation</vt:lpstr>
      <vt:lpstr>Survey Scripts and Automation</vt:lpstr>
      <vt:lpstr>Survey Scripts and Automation</vt:lpstr>
      <vt:lpstr>Survey Scripts and Automation</vt:lpstr>
      <vt:lpstr>Survey Scripts and Automation</vt:lpstr>
      <vt:lpstr>OPSEC Considerations for Discovery</vt:lpstr>
      <vt:lpstr>OPSEC Considerations for Discovery</vt:lpstr>
      <vt:lpstr>OPSEC Considerations for Discovery</vt:lpstr>
      <vt:lpstr>OPSEC Considerations for Discovery</vt:lpstr>
      <vt:lpstr>OPSEC Considerations for Discovery</vt:lpstr>
      <vt:lpstr>OPSEC Considerations for Discovery</vt:lpstr>
      <vt:lpstr>OPSEC Considerations for Discovery</vt:lpstr>
      <vt:lpstr>OPSEC Considerations for Discovery</vt:lpstr>
      <vt:lpstr>OPSEC Considerations for Discovery</vt:lpstr>
      <vt:lpstr>Lesson Summary</vt:lpstr>
      <vt:lpstr>Lesson Summary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Mattson Sarah E USA CTR</dc:creator>
  <cp:lastModifiedBy>Mattson, Sarah (Chiron)</cp:lastModifiedBy>
  <cp:revision>32</cp:revision>
  <dcterms:created xsi:type="dcterms:W3CDTF">2026-02-24T17:56:29Z</dcterms:created>
  <dcterms:modified xsi:type="dcterms:W3CDTF">2026-05-15T13:20:52Z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08ab3ad5-43d9-4692-81ca-47747515fe3c</vt:lpwstr>
  </property>
  <property fmtid="{D5CDD505-2E9C-101B-9397-08002B2CF9AE}" pid="3" name="ClassificationTitus">
    <vt:lpwstr>BLANK</vt:lpwstr>
  </property>
</Properties>
</file>