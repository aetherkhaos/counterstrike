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Lst>
  <p:notesMasterIdLst>
    <p:notesMasterId r:id="rId42"/>
  </p:notesMasterIdLst>
  <p:handoutMasterIdLst>
    <p:handoutMasterId r:id="rId43"/>
  </p:handoutMasterIdLst>
  <p:sldIdLst>
    <p:sldId id="259" r:id="rId3"/>
    <p:sldId id="264" r:id="rId4"/>
    <p:sldId id="265" r:id="rId5"/>
    <p:sldId id="267" r:id="rId6"/>
    <p:sldId id="273" r:id="rId7"/>
    <p:sldId id="274" r:id="rId8"/>
    <p:sldId id="275" r:id="rId9"/>
    <p:sldId id="276" r:id="rId10"/>
    <p:sldId id="268" r:id="rId11"/>
    <p:sldId id="277" r:id="rId12"/>
    <p:sldId id="278" r:id="rId13"/>
    <p:sldId id="279" r:id="rId14"/>
    <p:sldId id="280" r:id="rId15"/>
    <p:sldId id="281" r:id="rId16"/>
    <p:sldId id="282" r:id="rId17"/>
    <p:sldId id="269" r:id="rId18"/>
    <p:sldId id="283" r:id="rId19"/>
    <p:sldId id="284" r:id="rId20"/>
    <p:sldId id="285" r:id="rId21"/>
    <p:sldId id="286" r:id="rId22"/>
    <p:sldId id="287" r:id="rId23"/>
    <p:sldId id="270" r:id="rId24"/>
    <p:sldId id="288" r:id="rId25"/>
    <p:sldId id="289" r:id="rId26"/>
    <p:sldId id="290" r:id="rId27"/>
    <p:sldId id="291" r:id="rId28"/>
    <p:sldId id="295" r:id="rId29"/>
    <p:sldId id="271" r:id="rId30"/>
    <p:sldId id="292" r:id="rId31"/>
    <p:sldId id="293" r:id="rId32"/>
    <p:sldId id="294" r:id="rId33"/>
    <p:sldId id="272" r:id="rId34"/>
    <p:sldId id="296" r:id="rId35"/>
    <p:sldId id="301" r:id="rId36"/>
    <p:sldId id="300" r:id="rId37"/>
    <p:sldId id="297" r:id="rId38"/>
    <p:sldId id="266" r:id="rId39"/>
    <p:sldId id="302" r:id="rId40"/>
    <p:sldId id="263" r:id="rId41"/>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oss, Clayton D" initials="CCD" lastIdx="1" clrIdx="0">
    <p:extLst>
      <p:ext uri="{19B8F6BF-5375-455C-9EA6-DF929625EA0E}">
        <p15:presenceInfo xmlns:p15="http://schemas.microsoft.com/office/powerpoint/2012/main" userId="Cross, Clayton 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C"/>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80674" autoAdjust="0"/>
  </p:normalViewPr>
  <p:slideViewPr>
    <p:cSldViewPr snapToGrid="0">
      <p:cViewPr varScale="1">
        <p:scale>
          <a:sx n="51" d="100"/>
          <a:sy n="51" d="100"/>
        </p:scale>
        <p:origin x="1296" y="3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16" d="100"/>
          <a:sy n="116" d="100"/>
        </p:scale>
        <p:origin x="238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DF5B5D0-340B-4E36-9CF9-185D0E66E274}" type="datetimeFigureOut">
              <a:rPr lang="en-US" smtClean="0"/>
              <a:t>5/15/2026</a:t>
            </a:fld>
            <a:endParaRPr lang="en-US" dirty="0"/>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4D283BF-5CBE-4454-B8C7-2AC6C6C06622}" type="slidenum">
              <a:rPr lang="en-US" smtClean="0"/>
              <a:t>‹#›</a:t>
            </a:fld>
            <a:endParaRPr lang="en-US" dirty="0"/>
          </a:p>
        </p:txBody>
      </p:sp>
    </p:spTree>
    <p:extLst>
      <p:ext uri="{BB962C8B-B14F-4D97-AF65-F5344CB8AC3E}">
        <p14:creationId xmlns:p14="http://schemas.microsoft.com/office/powerpoint/2010/main" val="3589563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Notes Placeholder 9"/>
          <p:cNvSpPr>
            <a:spLocks noGrp="1"/>
          </p:cNvSpPr>
          <p:nvPr>
            <p:ph type="body" sz="quarter" idx="3"/>
          </p:nvPr>
        </p:nvSpPr>
        <p:spPr>
          <a:xfrm>
            <a:off x="914400" y="3300413"/>
            <a:ext cx="7315200" cy="2700337"/>
          </a:xfrm>
          <a:prstGeom prst="rect">
            <a:avLst/>
          </a:prstGeom>
        </p:spPr>
        <p:txBody>
          <a:bodyPr vert="horz" lIns="91440" tIns="45720" rIns="91440" bIns="45720" rtlCol="0"/>
          <a:lstStyle/>
          <a:p>
            <a:r>
              <a:rPr lang="en-US" sz="1200" b="1" i="0" u="none" strike="noStrike" cap="none" dirty="0">
                <a:solidFill>
                  <a:srgbClr val="000000"/>
                </a:solidFill>
                <a:effectLst/>
                <a:latin typeface="Arial"/>
                <a:ea typeface="Arial"/>
                <a:cs typeface="Arial"/>
                <a:sym typeface="Arial"/>
              </a:rPr>
              <a:t>References: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Key Points: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Explanation of any images/charts/graphics: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Questions students are most likely to ask:</a:t>
            </a:r>
          </a:p>
          <a:p>
            <a:r>
              <a:rPr lang="en-US" sz="1200" b="1" i="0" u="none" strike="noStrike" cap="none" dirty="0">
                <a:solidFill>
                  <a:srgbClr val="000000"/>
                </a:solidFill>
                <a:effectLst/>
                <a:latin typeface="Arial"/>
                <a:ea typeface="Arial"/>
                <a:cs typeface="Arial"/>
                <a:sym typeface="Arial"/>
              </a:rPr>
              <a:t>Amplifying Details: </a:t>
            </a:r>
            <a:endParaRPr lang="en-US" sz="12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79400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9014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039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2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6988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88021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9792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None/>
            </a:pPr>
            <a:endParaRPr lang="en-US" dirty="0"/>
          </a:p>
        </p:txBody>
      </p:sp>
    </p:spTree>
    <p:extLst>
      <p:ext uri="{BB962C8B-B14F-4D97-AF65-F5344CB8AC3E}">
        <p14:creationId xmlns:p14="http://schemas.microsoft.com/office/powerpoint/2010/main" val="2611995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1756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577842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1573848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3641160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5067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31175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2743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72B4D"/>
                </a:solidFill>
                <a:effectLst/>
                <a:latin typeface="-apple-system"/>
              </a:rPr>
              <a:t>Purpose: Walk through T1133 execution to reinforce process without full live demo.</a:t>
            </a:r>
          </a:p>
          <a:p>
            <a:pPr algn="l">
              <a:buFont typeface="Arial" panose="020B0604020202020204" pitchFamily="34" charset="0"/>
              <a:buChar char="•"/>
            </a:pPr>
            <a:r>
              <a:rPr lang="en-US" b="0" i="0" dirty="0">
                <a:solidFill>
                  <a:srgbClr val="172B4D"/>
                </a:solidFill>
                <a:effectLst/>
                <a:latin typeface="-apple-system"/>
              </a:rPr>
              <a:t>Say/Do/Show: Verbally tie: "Input from LA 2.3 recon; vuln search via LA 2.5 NVD." Narrate steps on slide; simulate output if no live setup. Say, "Low-risk via blue space paths." Debrief: "Interpretation: Matches enable reliable entry." </a:t>
            </a:r>
          </a:p>
          <a:p>
            <a:pPr algn="l">
              <a:buFont typeface="Arial" panose="020B0604020202020204" pitchFamily="34" charset="0"/>
              <a:buChar char="•"/>
            </a:pPr>
            <a:r>
              <a:rPr lang="en-US" b="0" i="0" dirty="0">
                <a:solidFill>
                  <a:srgbClr val="172B4D"/>
                </a:solidFill>
                <a:effectLst/>
                <a:latin typeface="-apple-system"/>
              </a:rPr>
              <a:t>Transition to operations.</a:t>
            </a:r>
          </a:p>
          <a:p>
            <a:endParaRPr lang="en-US" dirty="0"/>
          </a:p>
        </p:txBody>
      </p:sp>
    </p:spTree>
    <p:extLst>
      <p:ext uri="{BB962C8B-B14F-4D97-AF65-F5344CB8AC3E}">
        <p14:creationId xmlns:p14="http://schemas.microsoft.com/office/powerpoint/2010/main" val="3690945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0376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3527794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434375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3557810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1361133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2246195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730207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3162836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78233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dirty="0"/>
          </a:p>
        </p:txBody>
      </p:sp>
    </p:spTree>
    <p:extLst>
      <p:ext uri="{BB962C8B-B14F-4D97-AF65-F5344CB8AC3E}">
        <p14:creationId xmlns:p14="http://schemas.microsoft.com/office/powerpoint/2010/main" val="3941142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32752715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72B4D"/>
              </a:solidFill>
              <a:effectLst/>
              <a:latin typeface="-apple-system"/>
            </a:endParaRPr>
          </a:p>
        </p:txBody>
      </p:sp>
    </p:spTree>
    <p:extLst>
      <p:ext uri="{BB962C8B-B14F-4D97-AF65-F5344CB8AC3E}">
        <p14:creationId xmlns:p14="http://schemas.microsoft.com/office/powerpoint/2010/main" val="3953333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9074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49547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63993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dirty="0"/>
          </a:p>
        </p:txBody>
      </p:sp>
    </p:spTree>
    <p:extLst>
      <p:ext uri="{BB962C8B-B14F-4D97-AF65-F5344CB8AC3E}">
        <p14:creationId xmlns:p14="http://schemas.microsoft.com/office/powerpoint/2010/main" val="83408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793533826"/>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bjectives">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covered in the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57770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verview">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60015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1301248561"/>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7274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53885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535271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dirty="0"/>
              <a:t>Click icon to add picture</a:t>
            </a:r>
            <a:endParaRPr dirty="0"/>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chemeClr val="dk1"/>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Click to edit Master text styles</a:t>
            </a:r>
          </a:p>
        </p:txBody>
      </p:sp>
    </p:spTree>
    <p:extLst>
      <p:ext uri="{BB962C8B-B14F-4D97-AF65-F5344CB8AC3E}">
        <p14:creationId xmlns:p14="http://schemas.microsoft.com/office/powerpoint/2010/main" val="140843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80218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2588747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Summary">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dirty="0">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3060084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Questions">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448481437"/>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grpSp>
    </p:spTree>
    <p:extLst>
      <p:ext uri="{BB962C8B-B14F-4D97-AF65-F5344CB8AC3E}">
        <p14:creationId xmlns:p14="http://schemas.microsoft.com/office/powerpoint/2010/main" val="259410949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742" r:id="rId3"/>
    <p:sldLayoutId id="2147483738" r:id="rId4"/>
    <p:sldLayoutId id="2147483741" r:id="rId5"/>
    <p:sldLayoutId id="2147483664" r:id="rId6"/>
    <p:sldLayoutId id="2147483665" r:id="rId7"/>
    <p:sldLayoutId id="2147483666" r:id="rId8"/>
    <p:sldLayoutId id="2147483667" r:id="rId9"/>
    <p:sldLayoutId id="2147483668" r:id="rId10"/>
    <p:sldLayoutId id="2147483743" r:id="rId11"/>
    <p:sldLayoutId id="2147483740"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BFBF38-23A7-0F2E-D8BE-EA155B607E27}"/>
              </a:ext>
            </a:extLst>
          </p:cNvPr>
          <p:cNvSpPr>
            <a:spLocks noGrp="1"/>
          </p:cNvSpPr>
          <p:nvPr>
            <p:ph type="ctrTitle"/>
          </p:nvPr>
        </p:nvSpPr>
        <p:spPr/>
        <p:txBody>
          <a:bodyPr/>
          <a:lstStyle/>
          <a:p>
            <a:r>
              <a:rPr lang="en-US" dirty="0">
                <a:solidFill>
                  <a:srgbClr val="00004C"/>
                </a:solidFill>
              </a:rPr>
              <a:t>Gaining Access for Cyber Protection Teams</a:t>
            </a:r>
          </a:p>
        </p:txBody>
      </p:sp>
    </p:spTree>
    <p:extLst>
      <p:ext uri="{BB962C8B-B14F-4D97-AF65-F5344CB8AC3E}">
        <p14:creationId xmlns:p14="http://schemas.microsoft.com/office/powerpoint/2010/main" val="376691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2BCD14-3A7E-DE0E-CFB4-F73342F97E67}"/>
              </a:ext>
            </a:extLst>
          </p:cNvPr>
          <p:cNvSpPr>
            <a:spLocks noGrp="1"/>
          </p:cNvSpPr>
          <p:nvPr>
            <p:ph type="body" idx="1"/>
          </p:nvPr>
        </p:nvSpPr>
        <p:spPr/>
        <p:txBody>
          <a:bodyPr/>
          <a:lstStyle/>
          <a:p>
            <a:r>
              <a:rPr lang="en-US" sz="2100" i="0" dirty="0">
                <a:solidFill>
                  <a:srgbClr val="00004C"/>
                </a:solidFill>
                <a:effectLst/>
              </a:rPr>
              <a:t>Understand how to gain initial access by exploiting vulnerabilities in public-facing applications (T1190).</a:t>
            </a:r>
          </a:p>
          <a:p>
            <a:r>
              <a:rPr lang="en-US" sz="2100" i="0" dirty="0">
                <a:solidFill>
                  <a:srgbClr val="00004C"/>
                </a:solidFill>
                <a:effectLst/>
              </a:rPr>
              <a:t>Understand how to gain initial access through compromised external remote services (T1133).</a:t>
            </a:r>
          </a:p>
          <a:p>
            <a:r>
              <a:rPr lang="en-US" sz="2100" i="0" dirty="0">
                <a:solidFill>
                  <a:srgbClr val="00004C"/>
                </a:solidFill>
                <a:effectLst/>
              </a:rPr>
              <a:t>Understand how to gain initial access using valid but compromised user accounts (T1078).</a:t>
            </a:r>
          </a:p>
          <a:p>
            <a:r>
              <a:rPr lang="en-US" sz="2100" i="0" dirty="0">
                <a:solidFill>
                  <a:srgbClr val="00004C"/>
                </a:solidFill>
                <a:effectLst/>
              </a:rPr>
              <a:t>Understand how to gain initial access through internal spear-phishing attacks (T1534).</a:t>
            </a:r>
          </a:p>
          <a:p>
            <a:endParaRPr lang="en-US" dirty="0"/>
          </a:p>
        </p:txBody>
      </p:sp>
      <p:sp>
        <p:nvSpPr>
          <p:cNvPr id="3" name="Title 2">
            <a:extLst>
              <a:ext uri="{FF2B5EF4-FFF2-40B4-BE49-F238E27FC236}">
                <a16:creationId xmlns:a16="http://schemas.microsoft.com/office/drawing/2014/main" id="{7A8BF48D-7E62-D2FC-1F55-6E3866649478}"/>
              </a:ext>
            </a:extLst>
          </p:cNvPr>
          <p:cNvSpPr>
            <a:spLocks noGrp="1"/>
          </p:cNvSpPr>
          <p:nvPr>
            <p:ph type="title"/>
          </p:nvPr>
        </p:nvSpPr>
        <p:spPr/>
        <p:txBody>
          <a:bodyPr/>
          <a:lstStyle/>
          <a:p>
            <a:r>
              <a:rPr lang="en-US" dirty="0">
                <a:solidFill>
                  <a:srgbClr val="00004C"/>
                </a:solidFill>
              </a:rPr>
              <a:t>Lesson Objectives</a:t>
            </a:r>
          </a:p>
        </p:txBody>
      </p:sp>
    </p:spTree>
    <p:extLst>
      <p:ext uri="{BB962C8B-B14F-4D97-AF65-F5344CB8AC3E}">
        <p14:creationId xmlns:p14="http://schemas.microsoft.com/office/powerpoint/2010/main" val="656910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DAA81-2548-A29E-6AC6-0AA51265A146}"/>
              </a:ext>
            </a:extLst>
          </p:cNvPr>
          <p:cNvSpPr>
            <a:spLocks noGrp="1"/>
          </p:cNvSpPr>
          <p:nvPr>
            <p:ph type="body" idx="1"/>
          </p:nvPr>
        </p:nvSpPr>
        <p:spPr/>
        <p:txBody>
          <a:bodyPr/>
          <a:lstStyle/>
          <a:p>
            <a:r>
              <a:rPr lang="en-US" dirty="0">
                <a:solidFill>
                  <a:srgbClr val="00004C"/>
                </a:solidFill>
              </a:rPr>
              <a:t>Introduction to Gaining Access</a:t>
            </a:r>
          </a:p>
          <a:p>
            <a:r>
              <a:rPr lang="en-US" dirty="0">
                <a:solidFill>
                  <a:srgbClr val="00004C"/>
                </a:solidFill>
              </a:rPr>
              <a:t>T1190 - Exploit Public-Facing Application</a:t>
            </a:r>
          </a:p>
          <a:p>
            <a:r>
              <a:rPr lang="en-US" dirty="0">
                <a:solidFill>
                  <a:srgbClr val="00004C"/>
                </a:solidFill>
              </a:rPr>
              <a:t>T1133 - External Remote Services</a:t>
            </a:r>
          </a:p>
          <a:p>
            <a:r>
              <a:rPr lang="en-US" dirty="0">
                <a:solidFill>
                  <a:srgbClr val="00004C"/>
                </a:solidFill>
              </a:rPr>
              <a:t>T1078 - Valid Accounts</a:t>
            </a:r>
          </a:p>
          <a:p>
            <a:r>
              <a:rPr lang="en-US" dirty="0">
                <a:solidFill>
                  <a:srgbClr val="00004C"/>
                </a:solidFill>
              </a:rPr>
              <a:t>T1534 - Internal Spear Phishing</a:t>
            </a:r>
          </a:p>
          <a:p>
            <a:r>
              <a:rPr lang="en-US" dirty="0">
                <a:solidFill>
                  <a:srgbClr val="00004C"/>
                </a:solidFill>
              </a:rPr>
              <a:t>Integration and Selection</a:t>
            </a:r>
          </a:p>
        </p:txBody>
      </p:sp>
      <p:sp>
        <p:nvSpPr>
          <p:cNvPr id="3" name="Title 2">
            <a:extLst>
              <a:ext uri="{FF2B5EF4-FFF2-40B4-BE49-F238E27FC236}">
                <a16:creationId xmlns:a16="http://schemas.microsoft.com/office/drawing/2014/main" id="{44783229-08CD-D0C0-F4EF-FDDD591DBCCD}"/>
              </a:ext>
            </a:extLst>
          </p:cNvPr>
          <p:cNvSpPr>
            <a:spLocks noGrp="1"/>
          </p:cNvSpPr>
          <p:nvPr>
            <p:ph type="title"/>
          </p:nvPr>
        </p:nvSpPr>
        <p:spPr/>
        <p:txBody>
          <a:bodyPr/>
          <a:lstStyle/>
          <a:p>
            <a:r>
              <a:rPr lang="en-US" dirty="0">
                <a:solidFill>
                  <a:srgbClr val="00004C"/>
                </a:solidFill>
              </a:rPr>
              <a:t>Lesson Overview</a:t>
            </a:r>
          </a:p>
        </p:txBody>
      </p:sp>
    </p:spTree>
    <p:extLst>
      <p:ext uri="{BB962C8B-B14F-4D97-AF65-F5344CB8AC3E}">
        <p14:creationId xmlns:p14="http://schemas.microsoft.com/office/powerpoint/2010/main" val="114460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74FE-E262-88C5-A216-B8C808B4CC34}"/>
              </a:ext>
            </a:extLst>
          </p:cNvPr>
          <p:cNvSpPr>
            <a:spLocks noGrp="1"/>
          </p:cNvSpPr>
          <p:nvPr>
            <p:ph type="title"/>
          </p:nvPr>
        </p:nvSpPr>
        <p:spPr/>
        <p:txBody>
          <a:bodyPr/>
          <a:lstStyle/>
          <a:p>
            <a:r>
              <a:rPr lang="en-US" dirty="0">
                <a:solidFill>
                  <a:srgbClr val="00004C"/>
                </a:solidFill>
              </a:rPr>
              <a:t>Introduction to Gaining Access</a:t>
            </a:r>
            <a:br>
              <a:rPr lang="en-US" dirty="0">
                <a:solidFill>
                  <a:srgbClr val="00004C"/>
                </a:solidFill>
              </a:rPr>
            </a:br>
            <a:endParaRPr lang="en-US" dirty="0"/>
          </a:p>
        </p:txBody>
      </p:sp>
    </p:spTree>
    <p:extLst>
      <p:ext uri="{BB962C8B-B14F-4D97-AF65-F5344CB8AC3E}">
        <p14:creationId xmlns:p14="http://schemas.microsoft.com/office/powerpoint/2010/main" val="2515894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A6EC1B-5E1C-2463-8629-4CBF5167161A}"/>
              </a:ext>
            </a:extLst>
          </p:cNvPr>
          <p:cNvSpPr>
            <a:spLocks noGrp="1"/>
          </p:cNvSpPr>
          <p:nvPr>
            <p:ph type="body" idx="1"/>
          </p:nvPr>
        </p:nvSpPr>
        <p:spPr/>
        <p:txBody>
          <a:bodyPr/>
          <a:lstStyle/>
          <a:p>
            <a:r>
              <a:rPr lang="en-US" sz="2100" dirty="0">
                <a:solidFill>
                  <a:srgbClr val="00004C"/>
                </a:solidFill>
              </a:rPr>
              <a:t>The focus of today’s lesson will be on t</a:t>
            </a:r>
            <a:r>
              <a:rPr lang="en-US" sz="2100" b="0" i="0" dirty="0">
                <a:solidFill>
                  <a:srgbClr val="00004C"/>
                </a:solidFill>
                <a:effectLst/>
              </a:rPr>
              <a:t>ransitioning from reconnaissance and exploit identification to achieving initial access on adversary infrastructure for counterstrike operations</a:t>
            </a:r>
            <a:endParaRPr lang="en-US" sz="2100" dirty="0">
              <a:solidFill>
                <a:srgbClr val="00004C"/>
              </a:solidFill>
            </a:endParaRPr>
          </a:p>
        </p:txBody>
      </p:sp>
      <p:sp>
        <p:nvSpPr>
          <p:cNvPr id="3" name="Title 2">
            <a:extLst>
              <a:ext uri="{FF2B5EF4-FFF2-40B4-BE49-F238E27FC236}">
                <a16:creationId xmlns:a16="http://schemas.microsoft.com/office/drawing/2014/main" id="{9E6917F8-3B90-F873-5603-4C26A74C338F}"/>
              </a:ext>
            </a:extLst>
          </p:cNvPr>
          <p:cNvSpPr>
            <a:spLocks noGrp="1"/>
          </p:cNvSpPr>
          <p:nvPr>
            <p:ph type="title"/>
          </p:nvPr>
        </p:nvSpPr>
        <p:spPr/>
        <p:txBody>
          <a:bodyPr anchor="t"/>
          <a:lstStyle/>
          <a:p>
            <a:r>
              <a:rPr lang="en-US" dirty="0">
                <a:solidFill>
                  <a:srgbClr val="00004C"/>
                </a:solidFill>
              </a:rPr>
              <a:t>Introduction to Gaining Access</a:t>
            </a:r>
            <a:br>
              <a:rPr lang="en-US" dirty="0">
                <a:solidFill>
                  <a:srgbClr val="00004C"/>
                </a:solidFill>
              </a:rPr>
            </a:br>
            <a:endParaRPr lang="en-US" dirty="0"/>
          </a:p>
        </p:txBody>
      </p:sp>
    </p:spTree>
    <p:extLst>
      <p:ext uri="{BB962C8B-B14F-4D97-AF65-F5344CB8AC3E}">
        <p14:creationId xmlns:p14="http://schemas.microsoft.com/office/powerpoint/2010/main" val="3469806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0E353B-E86A-DB10-E46C-08980B29DE06}"/>
              </a:ext>
            </a:extLst>
          </p:cNvPr>
          <p:cNvSpPr>
            <a:spLocks noGrp="1"/>
          </p:cNvSpPr>
          <p:nvPr>
            <p:ph type="body" idx="1"/>
          </p:nvPr>
        </p:nvSpPr>
        <p:spPr/>
        <p:txBody>
          <a:bodyPr/>
          <a:lstStyle/>
          <a:p>
            <a:pPr algn="l"/>
            <a:r>
              <a:rPr lang="en-US" i="0" dirty="0">
                <a:solidFill>
                  <a:srgbClr val="00004C"/>
                </a:solidFill>
                <a:effectLst/>
                <a:latin typeface="-apple-system"/>
              </a:rPr>
              <a:t>The Access Pipeline in </a:t>
            </a:r>
            <a:r>
              <a:rPr lang="en-US" dirty="0">
                <a:solidFill>
                  <a:srgbClr val="00004C"/>
                </a:solidFill>
                <a:latin typeface="-apple-system"/>
              </a:rPr>
              <a:t>C</a:t>
            </a:r>
            <a:r>
              <a:rPr lang="en-US" i="0" dirty="0">
                <a:solidFill>
                  <a:srgbClr val="00004C"/>
                </a:solidFill>
                <a:effectLst/>
                <a:latin typeface="-apple-system"/>
              </a:rPr>
              <a:t>ounteroperations</a:t>
            </a:r>
          </a:p>
          <a:p>
            <a:pPr lvl="1">
              <a:buFont typeface="Arial" panose="020B0604020202020204" pitchFamily="34" charset="0"/>
              <a:buChar char="•"/>
            </a:pPr>
            <a:r>
              <a:rPr lang="en-US" b="0" i="0" dirty="0">
                <a:solidFill>
                  <a:srgbClr val="172B4D"/>
                </a:solidFill>
                <a:effectLst/>
                <a:latin typeface="-apple-system"/>
              </a:rPr>
              <a:t>Use active reconnaissance data (e.g., Nmap -</a:t>
            </a:r>
            <a:r>
              <a:rPr lang="en-US" b="0" i="0" dirty="0" err="1">
                <a:solidFill>
                  <a:srgbClr val="172B4D"/>
                </a:solidFill>
                <a:effectLst/>
                <a:latin typeface="-apple-system"/>
              </a:rPr>
              <a:t>sV</a:t>
            </a:r>
            <a:r>
              <a:rPr lang="en-US" b="0" i="0" dirty="0">
                <a:solidFill>
                  <a:srgbClr val="172B4D"/>
                </a:solidFill>
                <a:effectLst/>
                <a:latin typeface="-apple-system"/>
              </a:rPr>
              <a:t>) and open-source exploits (e.g., </a:t>
            </a:r>
            <a:r>
              <a:rPr lang="en-US" b="0" i="0" dirty="0" err="1">
                <a:solidFill>
                  <a:srgbClr val="172B4D"/>
                </a:solidFill>
                <a:effectLst/>
                <a:latin typeface="-apple-system"/>
              </a:rPr>
              <a:t>Searchsploit</a:t>
            </a:r>
            <a:r>
              <a:rPr lang="en-US" b="0" i="0" dirty="0">
                <a:solidFill>
                  <a:srgbClr val="172B4D"/>
                </a:solidFill>
                <a:effectLst/>
                <a:latin typeface="-apple-system"/>
              </a:rPr>
              <a:t>/Metasploit) to execute initial access</a:t>
            </a:r>
          </a:p>
          <a:p>
            <a:pPr lvl="1">
              <a:buFont typeface="Arial" panose="020B0604020202020204" pitchFamily="34" charset="0"/>
              <a:buChar char="•"/>
            </a:pPr>
            <a:r>
              <a:rPr lang="en-US" b="0" i="0" dirty="0">
                <a:solidFill>
                  <a:srgbClr val="172B4D"/>
                </a:solidFill>
                <a:effectLst/>
                <a:latin typeface="-apple-system"/>
              </a:rPr>
              <a:t>Core Process: Enumerated services/versions → Vulnerability matching → Exploit preparation → Access achievement for effects generation (e.g., shell on adversary C2 server)</a:t>
            </a:r>
          </a:p>
          <a:p>
            <a:pPr lvl="1">
              <a:buFont typeface="Arial" panose="020B0604020202020204" pitchFamily="34" charset="0"/>
              <a:buChar char="•"/>
            </a:pPr>
            <a:r>
              <a:rPr lang="en-US" b="0" i="0" dirty="0">
                <a:solidFill>
                  <a:srgbClr val="172B4D"/>
                </a:solidFill>
                <a:effectLst/>
                <a:latin typeface="-apple-system"/>
              </a:rPr>
              <a:t>Ties to Blue Space</a:t>
            </a:r>
          </a:p>
          <a:p>
            <a:pPr lvl="1">
              <a:buFont typeface="Arial" panose="020B0604020202020204" pitchFamily="34" charset="0"/>
              <a:buChar char="•"/>
            </a:pPr>
            <a:endParaRPr lang="en-US" dirty="0">
              <a:solidFill>
                <a:srgbClr val="172B4D"/>
              </a:solidFill>
              <a:latin typeface="-apple-system"/>
            </a:endParaRPr>
          </a:p>
          <a:p>
            <a:pPr marL="169329" indent="0">
              <a:buNone/>
            </a:pPr>
            <a:r>
              <a:rPr lang="en-US" dirty="0">
                <a:solidFill>
                  <a:srgbClr val="172B4D"/>
                </a:solidFill>
                <a:latin typeface="-apple-system"/>
              </a:rPr>
              <a:t>Let’s take a look at the </a:t>
            </a:r>
            <a:r>
              <a:rPr lang="en-US" b="0" i="0" dirty="0">
                <a:solidFill>
                  <a:srgbClr val="172B4D"/>
                </a:solidFill>
                <a:effectLst/>
                <a:latin typeface="-apple-system"/>
              </a:rPr>
              <a:t>next slide to see how defended positioning enhances this pipeline…</a:t>
            </a:r>
          </a:p>
          <a:p>
            <a:pPr marL="795847" lvl="1" indent="0">
              <a:buNone/>
            </a:pPr>
            <a:endParaRPr lang="en-US" dirty="0"/>
          </a:p>
        </p:txBody>
      </p:sp>
      <p:sp>
        <p:nvSpPr>
          <p:cNvPr id="3" name="Title 2">
            <a:extLst>
              <a:ext uri="{FF2B5EF4-FFF2-40B4-BE49-F238E27FC236}">
                <a16:creationId xmlns:a16="http://schemas.microsoft.com/office/drawing/2014/main" id="{D3CC9463-D1A6-D62D-4F85-38429F938B8E}"/>
              </a:ext>
            </a:extLst>
          </p:cNvPr>
          <p:cNvSpPr>
            <a:spLocks noGrp="1"/>
          </p:cNvSpPr>
          <p:nvPr>
            <p:ph type="title"/>
          </p:nvPr>
        </p:nvSpPr>
        <p:spPr/>
        <p:txBody>
          <a:bodyPr anchor="t"/>
          <a:lstStyle/>
          <a:p>
            <a:r>
              <a:rPr lang="en-US" dirty="0">
                <a:solidFill>
                  <a:srgbClr val="00004C"/>
                </a:solidFill>
              </a:rPr>
              <a:t>Introduction to Gaining Access</a:t>
            </a:r>
            <a:br>
              <a:rPr lang="en-US" dirty="0">
                <a:solidFill>
                  <a:srgbClr val="00004C"/>
                </a:solidFill>
              </a:rPr>
            </a:br>
            <a:endParaRPr lang="en-US" dirty="0"/>
          </a:p>
        </p:txBody>
      </p:sp>
    </p:spTree>
    <p:extLst>
      <p:ext uri="{BB962C8B-B14F-4D97-AF65-F5344CB8AC3E}">
        <p14:creationId xmlns:p14="http://schemas.microsoft.com/office/powerpoint/2010/main" val="3628914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1F0743-B0C3-0264-17E4-EF9B6188AF0D}"/>
              </a:ext>
            </a:extLst>
          </p:cNvPr>
          <p:cNvSpPr>
            <a:spLocks noGrp="1"/>
          </p:cNvSpPr>
          <p:nvPr>
            <p:ph type="body" idx="1"/>
          </p:nvPr>
        </p:nvSpPr>
        <p:spPr/>
        <p:txBody>
          <a:bodyPr/>
          <a:lstStyle/>
          <a:p>
            <a:r>
              <a:rPr lang="en-US" dirty="0">
                <a:solidFill>
                  <a:srgbClr val="00004C"/>
                </a:solidFill>
              </a:rPr>
              <a:t>Initial Access in Operational Context and Multiple Vectors</a:t>
            </a:r>
          </a:p>
          <a:p>
            <a:pPr marL="169329" indent="0">
              <a:buNone/>
            </a:pPr>
            <a:endParaRPr lang="en-US" dirty="0">
              <a:solidFill>
                <a:srgbClr val="00004C"/>
              </a:solidFill>
            </a:endParaRPr>
          </a:p>
          <a:p>
            <a:pPr lvl="1"/>
            <a:r>
              <a:rPr lang="en-US" dirty="0">
                <a:solidFill>
                  <a:srgbClr val="00004C"/>
                </a:solidFill>
              </a:rPr>
              <a:t>Operational Role and Flexibility</a:t>
            </a:r>
          </a:p>
          <a:p>
            <a:pPr lvl="2"/>
            <a:r>
              <a:rPr lang="en-US" dirty="0">
                <a:solidFill>
                  <a:srgbClr val="00004C"/>
                </a:solidFill>
              </a:rPr>
              <a:t>In counterstrike, initial access secures a foothold on adversary networks to disrupt command and control, delete malware, or deny persistence—flipping adversary tactics against them.</a:t>
            </a:r>
          </a:p>
          <a:p>
            <a:pPr marL="1430831" lvl="2" indent="0">
              <a:buNone/>
            </a:pPr>
            <a:endParaRPr lang="en-US" dirty="0">
              <a:solidFill>
                <a:srgbClr val="00004C"/>
              </a:solidFill>
            </a:endParaRPr>
          </a:p>
          <a:p>
            <a:pPr lvl="2"/>
            <a:r>
              <a:rPr lang="en-US" b="1" dirty="0">
                <a:solidFill>
                  <a:srgbClr val="00004C"/>
                </a:solidFill>
              </a:rPr>
              <a:t>Multiple Vectors: </a:t>
            </a:r>
            <a:r>
              <a:rPr lang="en-US" dirty="0">
                <a:solidFill>
                  <a:srgbClr val="00004C"/>
                </a:solidFill>
              </a:rPr>
              <a:t>Combine techniques (e.g., T1190 exploit + T1078 credentials) for redundancy; select based on recon yield and requirements</a:t>
            </a:r>
          </a:p>
          <a:p>
            <a:pPr lvl="2"/>
            <a:endParaRPr lang="en-US" dirty="0">
              <a:solidFill>
                <a:srgbClr val="00004C"/>
              </a:solidFill>
            </a:endParaRPr>
          </a:p>
          <a:p>
            <a:pPr lvl="2"/>
            <a:r>
              <a:rPr lang="en-US" b="1" dirty="0">
                <a:solidFill>
                  <a:srgbClr val="00004C"/>
                </a:solidFill>
              </a:rPr>
              <a:t>Flexibility: </a:t>
            </a:r>
            <a:r>
              <a:rPr lang="en-US" dirty="0">
                <a:solidFill>
                  <a:srgbClr val="00004C"/>
                </a:solidFill>
              </a:rPr>
              <a:t>Enables rapid iteration across techniques, leveraging blue space for precise execution (detailed next)</a:t>
            </a:r>
          </a:p>
        </p:txBody>
      </p:sp>
      <p:sp>
        <p:nvSpPr>
          <p:cNvPr id="3" name="Title 2">
            <a:extLst>
              <a:ext uri="{FF2B5EF4-FFF2-40B4-BE49-F238E27FC236}">
                <a16:creationId xmlns:a16="http://schemas.microsoft.com/office/drawing/2014/main" id="{5EC73639-EB51-7FEF-DE16-A7999AACC3A2}"/>
              </a:ext>
            </a:extLst>
          </p:cNvPr>
          <p:cNvSpPr>
            <a:spLocks noGrp="1"/>
          </p:cNvSpPr>
          <p:nvPr>
            <p:ph type="title"/>
          </p:nvPr>
        </p:nvSpPr>
        <p:spPr/>
        <p:txBody>
          <a:bodyPr anchor="t"/>
          <a:lstStyle/>
          <a:p>
            <a:r>
              <a:rPr lang="en-US" dirty="0">
                <a:solidFill>
                  <a:srgbClr val="00004C"/>
                </a:solidFill>
              </a:rPr>
              <a:t>Introduction to Gaining Access</a:t>
            </a:r>
            <a:br>
              <a:rPr lang="en-US" dirty="0">
                <a:solidFill>
                  <a:srgbClr val="00004C"/>
                </a:solidFill>
              </a:rPr>
            </a:br>
            <a:endParaRPr lang="en-US" dirty="0"/>
          </a:p>
        </p:txBody>
      </p:sp>
    </p:spTree>
    <p:extLst>
      <p:ext uri="{BB962C8B-B14F-4D97-AF65-F5344CB8AC3E}">
        <p14:creationId xmlns:p14="http://schemas.microsoft.com/office/powerpoint/2010/main" val="115356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85A60-05A0-5408-2082-FEA938B8A7CF}"/>
              </a:ext>
            </a:extLst>
          </p:cNvPr>
          <p:cNvSpPr>
            <a:spLocks noGrp="1"/>
          </p:cNvSpPr>
          <p:nvPr>
            <p:ph type="body" idx="1"/>
          </p:nvPr>
        </p:nvSpPr>
        <p:spPr/>
        <p:txBody>
          <a:bodyPr/>
          <a:lstStyle/>
          <a:p>
            <a:r>
              <a:rPr lang="en-US" dirty="0">
                <a:solidFill>
                  <a:srgbClr val="00004C"/>
                </a:solidFill>
              </a:rPr>
              <a:t>Blue Space Advantages in Counterstrike Operations</a:t>
            </a:r>
          </a:p>
          <a:p>
            <a:pPr lvl="1"/>
            <a:r>
              <a:rPr lang="en-US" dirty="0">
                <a:solidFill>
                  <a:srgbClr val="00004C"/>
                </a:solidFill>
              </a:rPr>
              <a:t>Positioning Benefits for Initial Access</a:t>
            </a:r>
          </a:p>
          <a:p>
            <a:pPr lvl="2"/>
            <a:r>
              <a:rPr lang="en-US" b="1" dirty="0">
                <a:solidFill>
                  <a:srgbClr val="00004C"/>
                </a:solidFill>
              </a:rPr>
              <a:t>Vs. CMT Operations (Covert Infrastructure): </a:t>
            </a:r>
            <a:r>
              <a:rPr lang="en-US" dirty="0">
                <a:solidFill>
                  <a:srgbClr val="00004C"/>
                </a:solidFill>
              </a:rPr>
              <a:t>Direct launches via already-allowed traffic paths from defended networks that the adversary expects and engages with, accessing blocked assets while avoiding isolation risks, firewalling, and coordination delays inherent to covert approaches.</a:t>
            </a:r>
          </a:p>
          <a:p>
            <a:pPr lvl="2"/>
            <a:r>
              <a:rPr lang="en-US" b="1" dirty="0">
                <a:solidFill>
                  <a:srgbClr val="00004C"/>
                </a:solidFill>
              </a:rPr>
              <a:t>Leverage Adversary Behavior: </a:t>
            </a:r>
            <a:r>
              <a:rPr lang="en-US" dirty="0">
                <a:solidFill>
                  <a:srgbClr val="00004C"/>
                </a:solidFill>
              </a:rPr>
              <a:t>Use their attempts to steal/process content from our networks (e.g., capture creds/IOCs from malware traffic during hunts or seed lures for reverse effects like T1534 triggers).</a:t>
            </a:r>
          </a:p>
          <a:p>
            <a:pPr lvl="2"/>
            <a:r>
              <a:rPr lang="en-US" b="1" dirty="0">
                <a:solidFill>
                  <a:srgbClr val="00004C"/>
                </a:solidFill>
              </a:rPr>
              <a:t>Overall Application: </a:t>
            </a:r>
            <a:r>
              <a:rPr lang="en-US" dirty="0">
                <a:solidFill>
                  <a:srgbClr val="00004C"/>
                </a:solidFill>
              </a:rPr>
              <a:t>Blends operations with expected engagement for superior OPSEC, real-time adjustments based on live recon, and attributable effects as part of authorized campaigns.</a:t>
            </a:r>
          </a:p>
        </p:txBody>
      </p:sp>
      <p:sp>
        <p:nvSpPr>
          <p:cNvPr id="3" name="Title 2">
            <a:extLst>
              <a:ext uri="{FF2B5EF4-FFF2-40B4-BE49-F238E27FC236}">
                <a16:creationId xmlns:a16="http://schemas.microsoft.com/office/drawing/2014/main" id="{DCF9BBD0-685D-FEC8-990A-44489219407C}"/>
              </a:ext>
            </a:extLst>
          </p:cNvPr>
          <p:cNvSpPr>
            <a:spLocks noGrp="1"/>
          </p:cNvSpPr>
          <p:nvPr>
            <p:ph type="title"/>
          </p:nvPr>
        </p:nvSpPr>
        <p:spPr/>
        <p:txBody>
          <a:bodyPr anchor="t"/>
          <a:lstStyle/>
          <a:p>
            <a:r>
              <a:rPr lang="en-US" dirty="0">
                <a:solidFill>
                  <a:srgbClr val="00004C"/>
                </a:solidFill>
              </a:rPr>
              <a:t>Introduction to Gaining Access</a:t>
            </a:r>
            <a:br>
              <a:rPr lang="en-US" dirty="0">
                <a:solidFill>
                  <a:srgbClr val="00004C"/>
                </a:solidFill>
              </a:rPr>
            </a:br>
            <a:endParaRPr lang="en-US" dirty="0"/>
          </a:p>
        </p:txBody>
      </p:sp>
    </p:spTree>
    <p:extLst>
      <p:ext uri="{BB962C8B-B14F-4D97-AF65-F5344CB8AC3E}">
        <p14:creationId xmlns:p14="http://schemas.microsoft.com/office/powerpoint/2010/main" val="329304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3DEF-74F2-6E89-BDA3-DEC1E16AACCE}"/>
              </a:ext>
            </a:extLst>
          </p:cNvPr>
          <p:cNvSpPr>
            <a:spLocks noGrp="1"/>
          </p:cNvSpPr>
          <p:nvPr>
            <p:ph type="title"/>
          </p:nvPr>
        </p:nvSpPr>
        <p:spPr/>
        <p:txBody>
          <a:bodyPr/>
          <a:lstStyle/>
          <a:p>
            <a:r>
              <a:rPr lang="en-US" dirty="0">
                <a:solidFill>
                  <a:srgbClr val="00004C"/>
                </a:solidFill>
              </a:rPr>
              <a:t>T1190 Exploit Public-Facing Application</a:t>
            </a:r>
            <a:br>
              <a:rPr lang="en-US" dirty="0">
                <a:solidFill>
                  <a:srgbClr val="00004C"/>
                </a:solidFill>
              </a:rPr>
            </a:br>
            <a:endParaRPr lang="en-US" dirty="0"/>
          </a:p>
        </p:txBody>
      </p:sp>
    </p:spTree>
    <p:extLst>
      <p:ext uri="{BB962C8B-B14F-4D97-AF65-F5344CB8AC3E}">
        <p14:creationId xmlns:p14="http://schemas.microsoft.com/office/powerpoint/2010/main" val="4123051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8887EB-D24E-C458-C80B-BB30363D718C}"/>
              </a:ext>
            </a:extLst>
          </p:cNvPr>
          <p:cNvSpPr>
            <a:spLocks noGrp="1"/>
          </p:cNvSpPr>
          <p:nvPr>
            <p:ph type="body" idx="1"/>
          </p:nvPr>
        </p:nvSpPr>
        <p:spPr/>
        <p:txBody>
          <a:bodyPr/>
          <a:lstStyle/>
          <a:p>
            <a:pPr algn="l">
              <a:buFont typeface="Arial" panose="020B0604020202020204" pitchFamily="34" charset="0"/>
              <a:buChar char="•"/>
            </a:pPr>
            <a:r>
              <a:rPr lang="en-US" sz="2100" b="1" dirty="0">
                <a:solidFill>
                  <a:srgbClr val="00004C"/>
                </a:solidFill>
              </a:rPr>
              <a:t>Definition: </a:t>
            </a:r>
            <a:r>
              <a:rPr lang="en-US" sz="2100" b="0" i="0" dirty="0">
                <a:solidFill>
                  <a:srgbClr val="172B4D"/>
                </a:solidFill>
                <a:effectLst/>
              </a:rPr>
              <a:t>Leveraging vulnerabilities in internet-exposed services (e.g., web apps, databases) to gain unauthorized access on adversary infrastructure</a:t>
            </a:r>
          </a:p>
          <a:p>
            <a:pPr algn="l">
              <a:buFont typeface="Arial" panose="020B0604020202020204" pitchFamily="34" charset="0"/>
              <a:buChar char="•"/>
            </a:pPr>
            <a:r>
              <a:rPr lang="en-US" sz="2100" b="1" i="0" dirty="0">
                <a:solidFill>
                  <a:srgbClr val="172B4D"/>
                </a:solidFill>
                <a:effectLst/>
              </a:rPr>
              <a:t>Examples: </a:t>
            </a:r>
            <a:r>
              <a:rPr lang="en-US" sz="2100" b="0" i="0" dirty="0">
                <a:solidFill>
                  <a:srgbClr val="172B4D"/>
                </a:solidFill>
                <a:effectLst/>
              </a:rPr>
              <a:t>Remote Code Execution (RCE) via unpatched HTTP-based listening posts for C2 communications; SQL injection leading to command shells on web control panels for botnet management</a:t>
            </a:r>
          </a:p>
          <a:p>
            <a:pPr algn="l">
              <a:buFont typeface="Arial" panose="020B0604020202020204" pitchFamily="34" charset="0"/>
              <a:buChar char="•"/>
            </a:pPr>
            <a:r>
              <a:rPr lang="en-US" sz="2100" b="1" i="0" dirty="0">
                <a:solidFill>
                  <a:srgbClr val="172B4D"/>
                </a:solidFill>
                <a:effectLst/>
              </a:rPr>
              <a:t>Operational Value: </a:t>
            </a:r>
            <a:r>
              <a:rPr lang="en-US" sz="2100" b="0" i="0" dirty="0">
                <a:solidFill>
                  <a:srgbClr val="172B4D"/>
                </a:solidFill>
                <a:effectLst/>
              </a:rPr>
              <a:t>High-impact entry to public-facing adversary nodes, enabling disruption without authentication</a:t>
            </a:r>
          </a:p>
          <a:p>
            <a:endParaRPr lang="en-US" dirty="0">
              <a:solidFill>
                <a:srgbClr val="00004C"/>
              </a:solidFill>
            </a:endParaRPr>
          </a:p>
          <a:p>
            <a:pPr lvl="1"/>
            <a:endParaRPr lang="en-US" dirty="0"/>
          </a:p>
        </p:txBody>
      </p:sp>
      <p:sp>
        <p:nvSpPr>
          <p:cNvPr id="3" name="Title 2">
            <a:extLst>
              <a:ext uri="{FF2B5EF4-FFF2-40B4-BE49-F238E27FC236}">
                <a16:creationId xmlns:a16="http://schemas.microsoft.com/office/drawing/2014/main" id="{6FC803A6-5C11-5A98-9054-3EEB20B65F6B}"/>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p>
        </p:txBody>
      </p:sp>
    </p:spTree>
    <p:extLst>
      <p:ext uri="{BB962C8B-B14F-4D97-AF65-F5344CB8AC3E}">
        <p14:creationId xmlns:p14="http://schemas.microsoft.com/office/powerpoint/2010/main" val="470173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8887EB-D24E-C458-C80B-BB30363D718C}"/>
              </a:ext>
            </a:extLst>
          </p:cNvPr>
          <p:cNvSpPr>
            <a:spLocks noGrp="1"/>
          </p:cNvSpPr>
          <p:nvPr>
            <p:ph type="body" idx="1"/>
          </p:nvPr>
        </p:nvSpPr>
        <p:spPr/>
        <p:txBody>
          <a:bodyPr/>
          <a:lstStyle/>
          <a:p>
            <a:pPr algn="l">
              <a:buFont typeface="Arial" panose="020B0604020202020204" pitchFamily="34" charset="0"/>
              <a:buChar char="•"/>
            </a:pPr>
            <a:r>
              <a:rPr lang="en-US" sz="2100" dirty="0">
                <a:solidFill>
                  <a:srgbClr val="00004C"/>
                </a:solidFill>
              </a:rPr>
              <a:t>Common Vulnerable Services</a:t>
            </a:r>
          </a:p>
          <a:p>
            <a:pPr lvl="1">
              <a:buFont typeface="Arial" panose="020B0604020202020204" pitchFamily="34" charset="0"/>
              <a:buChar char="•"/>
            </a:pPr>
            <a:r>
              <a:rPr lang="en-US" dirty="0">
                <a:solidFill>
                  <a:srgbClr val="00004C"/>
                </a:solidFill>
              </a:rPr>
              <a:t>Common Targets for Exploitation</a:t>
            </a:r>
          </a:p>
          <a:p>
            <a:pPr lvl="2">
              <a:buFont typeface="Arial" panose="020B0604020202020204" pitchFamily="34" charset="0"/>
              <a:buChar char="•"/>
            </a:pPr>
            <a:r>
              <a:rPr lang="en-US" b="1" dirty="0">
                <a:solidFill>
                  <a:srgbClr val="00004C"/>
                </a:solidFill>
              </a:rPr>
              <a:t>Web Applications: </a:t>
            </a:r>
            <a:r>
              <a:rPr lang="en-US" dirty="0">
                <a:solidFill>
                  <a:srgbClr val="00004C"/>
                </a:solidFill>
              </a:rPr>
              <a:t>RCE in frameworks (e.g., Log4Shell CVE-2021-44228 on Java apps); SQL injection to extract/dump databases then pivot to shells.</a:t>
            </a:r>
          </a:p>
          <a:p>
            <a:pPr marL="1430831" lvl="2" indent="0">
              <a:buNone/>
            </a:pPr>
            <a:endParaRPr lang="en-US" dirty="0">
              <a:solidFill>
                <a:srgbClr val="00004C"/>
              </a:solidFill>
            </a:endParaRPr>
          </a:p>
          <a:p>
            <a:pPr lvl="2">
              <a:buFont typeface="Arial" panose="020B0604020202020204" pitchFamily="34" charset="0"/>
              <a:buChar char="•"/>
            </a:pPr>
            <a:r>
              <a:rPr lang="en-US" b="1" dirty="0">
                <a:solidFill>
                  <a:srgbClr val="00004C"/>
                </a:solidFill>
              </a:rPr>
              <a:t>Unpatched Services:</a:t>
            </a:r>
            <a:r>
              <a:rPr lang="en-US" dirty="0">
                <a:solidFill>
                  <a:srgbClr val="00004C"/>
                </a:solidFill>
              </a:rPr>
              <a:t> SMB (</a:t>
            </a:r>
            <a:r>
              <a:rPr lang="en-US" dirty="0" err="1">
                <a:solidFill>
                  <a:srgbClr val="00004C"/>
                </a:solidFill>
              </a:rPr>
              <a:t>EternalBlue</a:t>
            </a:r>
            <a:r>
              <a:rPr lang="en-US" dirty="0">
                <a:solidFill>
                  <a:srgbClr val="00004C"/>
                </a:solidFill>
              </a:rPr>
              <a:t> CVE-2017-0144 for remote shells); RDP (</a:t>
            </a:r>
            <a:r>
              <a:rPr lang="en-US" dirty="0" err="1">
                <a:solidFill>
                  <a:srgbClr val="00004C"/>
                </a:solidFill>
              </a:rPr>
              <a:t>BlueKeep</a:t>
            </a:r>
            <a:r>
              <a:rPr lang="en-US" dirty="0">
                <a:solidFill>
                  <a:srgbClr val="00004C"/>
                </a:solidFill>
              </a:rPr>
              <a:t> CVE-2019-0708 for code execution).</a:t>
            </a:r>
          </a:p>
          <a:p>
            <a:pPr marL="1430831" lvl="2" indent="0">
              <a:buNone/>
            </a:pPr>
            <a:endParaRPr lang="en-US" dirty="0">
              <a:solidFill>
                <a:srgbClr val="00004C"/>
              </a:solidFill>
            </a:endParaRPr>
          </a:p>
          <a:p>
            <a:pPr lvl="2">
              <a:buFont typeface="Arial" panose="020B0604020202020204" pitchFamily="34" charset="0"/>
              <a:buChar char="•"/>
            </a:pPr>
            <a:r>
              <a:rPr lang="en-US" b="1" dirty="0">
                <a:solidFill>
                  <a:srgbClr val="00004C"/>
                </a:solidFill>
              </a:rPr>
              <a:t>Attacker Custom Apps: </a:t>
            </a:r>
            <a:r>
              <a:rPr lang="en-US" dirty="0">
                <a:solidFill>
                  <a:srgbClr val="00004C"/>
                </a:solidFill>
              </a:rPr>
              <a:t>Many custom applications like HTTP listening posts or web control panels are built using industry-standard frameworks (e.g., Apache, PHP), inheriting their security vulnerabilities for targeted exploitation.</a:t>
            </a:r>
          </a:p>
          <a:p>
            <a:pPr lvl="1"/>
            <a:endParaRPr lang="en-US" dirty="0"/>
          </a:p>
        </p:txBody>
      </p:sp>
      <p:sp>
        <p:nvSpPr>
          <p:cNvPr id="3" name="Title 2">
            <a:extLst>
              <a:ext uri="{FF2B5EF4-FFF2-40B4-BE49-F238E27FC236}">
                <a16:creationId xmlns:a16="http://schemas.microsoft.com/office/drawing/2014/main" id="{6FC803A6-5C11-5A98-9054-3EEB20B65F6B}"/>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p>
        </p:txBody>
      </p:sp>
    </p:spTree>
    <p:extLst>
      <p:ext uri="{BB962C8B-B14F-4D97-AF65-F5344CB8AC3E}">
        <p14:creationId xmlns:p14="http://schemas.microsoft.com/office/powerpoint/2010/main" val="248382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8887EB-D24E-C458-C80B-BB30363D718C}"/>
              </a:ext>
            </a:extLst>
          </p:cNvPr>
          <p:cNvSpPr>
            <a:spLocks noGrp="1"/>
          </p:cNvSpPr>
          <p:nvPr>
            <p:ph type="body" idx="1"/>
          </p:nvPr>
        </p:nvSpPr>
        <p:spPr/>
        <p:txBody>
          <a:bodyPr/>
          <a:lstStyle/>
          <a:p>
            <a:pPr algn="l">
              <a:buFont typeface="Arial" panose="020B0604020202020204" pitchFamily="34" charset="0"/>
              <a:buChar char="•"/>
            </a:pPr>
            <a:r>
              <a:rPr lang="en-US" sz="2100" dirty="0">
                <a:solidFill>
                  <a:srgbClr val="00004C"/>
                </a:solidFill>
              </a:rPr>
              <a:t>Exploitation Process Overview</a:t>
            </a:r>
          </a:p>
          <a:p>
            <a:pPr lvl="1">
              <a:buFont typeface="Arial" panose="020B0604020202020204" pitchFamily="34" charset="0"/>
              <a:buChar char="•"/>
            </a:pPr>
            <a:r>
              <a:rPr lang="en-US" dirty="0">
                <a:solidFill>
                  <a:srgbClr val="00004C"/>
                </a:solidFill>
              </a:rPr>
              <a:t>Step-by-Step Exploitation Process</a:t>
            </a:r>
          </a:p>
          <a:p>
            <a:pPr lvl="2">
              <a:buFont typeface="Arial" panose="020B0604020202020204" pitchFamily="34" charset="0"/>
              <a:buChar char="•"/>
            </a:pPr>
            <a:r>
              <a:rPr lang="en-US" b="1" dirty="0">
                <a:solidFill>
                  <a:srgbClr val="00004C"/>
                </a:solidFill>
              </a:rPr>
              <a:t>Identify Vulnerability: </a:t>
            </a:r>
            <a:r>
              <a:rPr lang="en-US" dirty="0">
                <a:solidFill>
                  <a:srgbClr val="00004C"/>
                </a:solidFill>
              </a:rPr>
              <a:t>Match recon (e.g., nginx 1.18) to CVE via NVD</a:t>
            </a:r>
          </a:p>
          <a:p>
            <a:pPr lvl="2">
              <a:buFont typeface="Arial" panose="020B0604020202020204" pitchFamily="34" charset="0"/>
              <a:buChar char="•"/>
            </a:pPr>
            <a:r>
              <a:rPr lang="en-US" dirty="0">
                <a:solidFill>
                  <a:srgbClr val="00004C"/>
                </a:solidFill>
              </a:rPr>
              <a:t>Select/Prepare Exploit: Download/adapt from </a:t>
            </a:r>
            <a:r>
              <a:rPr lang="en-US" dirty="0" err="1">
                <a:solidFill>
                  <a:srgbClr val="00004C"/>
                </a:solidFill>
              </a:rPr>
              <a:t>ExploitDB</a:t>
            </a:r>
            <a:r>
              <a:rPr lang="en-US" dirty="0">
                <a:solidFill>
                  <a:srgbClr val="00004C"/>
                </a:solidFill>
              </a:rPr>
              <a:t> or Metasploit (e.g., modify PoC for target version)</a:t>
            </a:r>
          </a:p>
          <a:p>
            <a:pPr lvl="2">
              <a:buFont typeface="Arial" panose="020B0604020202020204" pitchFamily="34" charset="0"/>
              <a:buChar char="•"/>
            </a:pPr>
            <a:r>
              <a:rPr lang="en-US" b="1" dirty="0">
                <a:solidFill>
                  <a:srgbClr val="00004C"/>
                </a:solidFill>
              </a:rPr>
              <a:t>Execute Exploit: </a:t>
            </a:r>
            <a:r>
              <a:rPr lang="en-US" dirty="0">
                <a:solidFill>
                  <a:srgbClr val="00004C"/>
                </a:solidFill>
              </a:rPr>
              <a:t>Run against adversary IP address (e.g., </a:t>
            </a:r>
            <a:r>
              <a:rPr lang="en-US" dirty="0" err="1">
                <a:solidFill>
                  <a:srgbClr val="00004C"/>
                </a:solidFill>
              </a:rPr>
              <a:t>msfconsole</a:t>
            </a:r>
            <a:r>
              <a:rPr lang="en-US" dirty="0">
                <a:solidFill>
                  <a:srgbClr val="00004C"/>
                </a:solidFill>
              </a:rPr>
              <a:t> &gt; use exploit/multi/http/</a:t>
            </a:r>
            <a:r>
              <a:rPr lang="en-US" dirty="0" err="1">
                <a:solidFill>
                  <a:srgbClr val="00004C"/>
                </a:solidFill>
              </a:rPr>
              <a:t>nginx_chunked_size</a:t>
            </a:r>
            <a:r>
              <a:rPr lang="en-US" dirty="0">
                <a:solidFill>
                  <a:srgbClr val="00004C"/>
                </a:solidFill>
              </a:rPr>
              <a:t> &gt; set RHOSTS)</a:t>
            </a:r>
          </a:p>
          <a:p>
            <a:pPr lvl="2">
              <a:buFont typeface="Arial" panose="020B0604020202020204" pitchFamily="34" charset="0"/>
              <a:buChar char="•"/>
            </a:pPr>
            <a:r>
              <a:rPr lang="en-US" b="1" dirty="0">
                <a:solidFill>
                  <a:srgbClr val="00004C"/>
                </a:solidFill>
              </a:rPr>
              <a:t>Obtain Shell/Access: </a:t>
            </a:r>
            <a:r>
              <a:rPr lang="en-US" dirty="0">
                <a:solidFill>
                  <a:srgbClr val="00004C"/>
                </a:solidFill>
              </a:rPr>
              <a:t>Establish reverse shell or Meterpreter session for post-exploitation effects</a:t>
            </a:r>
          </a:p>
        </p:txBody>
      </p:sp>
      <p:sp>
        <p:nvSpPr>
          <p:cNvPr id="3" name="Title 2">
            <a:extLst>
              <a:ext uri="{FF2B5EF4-FFF2-40B4-BE49-F238E27FC236}">
                <a16:creationId xmlns:a16="http://schemas.microsoft.com/office/drawing/2014/main" id="{6FC803A6-5C11-5A98-9054-3EEB20B65F6B}"/>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p>
        </p:txBody>
      </p:sp>
      <p:sp>
        <p:nvSpPr>
          <p:cNvPr id="6" name="Rectangle 3">
            <a:extLst>
              <a:ext uri="{FF2B5EF4-FFF2-40B4-BE49-F238E27FC236}">
                <a16:creationId xmlns:a16="http://schemas.microsoft.com/office/drawing/2014/main" id="{E0429E15-C753-6F22-F4B3-BE95BF668662}"/>
              </a:ext>
            </a:extLst>
          </p:cNvPr>
          <p:cNvSpPr>
            <a:spLocks noChangeArrowheads="1"/>
          </p:cNvSpPr>
          <p:nvPr/>
        </p:nvSpPr>
        <p:spPr bwMode="auto">
          <a:xfrm>
            <a:off x="0" y="-170549"/>
            <a:ext cx="65" cy="341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0831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09993D-1702-B52E-97B2-E9637244A3C7}"/>
              </a:ext>
            </a:extLst>
          </p:cNvPr>
          <p:cNvSpPr>
            <a:spLocks noGrp="1"/>
          </p:cNvSpPr>
          <p:nvPr>
            <p:ph type="body" idx="1"/>
          </p:nvPr>
        </p:nvSpPr>
        <p:spPr/>
        <p:txBody>
          <a:bodyPr/>
          <a:lstStyle/>
          <a:p>
            <a:r>
              <a:rPr lang="en-US" dirty="0">
                <a:solidFill>
                  <a:srgbClr val="00004C"/>
                </a:solidFill>
              </a:rPr>
              <a:t>Live Demo: Web Application Exploitation</a:t>
            </a:r>
          </a:p>
          <a:p>
            <a:pPr lvl="1"/>
            <a:r>
              <a:rPr lang="en-US" b="1" dirty="0">
                <a:solidFill>
                  <a:srgbClr val="00004C"/>
                </a:solidFill>
              </a:rPr>
              <a:t>Setup: </a:t>
            </a:r>
            <a:r>
              <a:rPr lang="en-US" dirty="0">
                <a:solidFill>
                  <a:srgbClr val="00004C"/>
                </a:solidFill>
              </a:rPr>
              <a:t>Simulated adversary custom HTTP listening post (e.g., unpatched Java app on port 80 with Log4Shell-vulnerable dependency, version from prior recon).</a:t>
            </a:r>
          </a:p>
          <a:p>
            <a:pPr marL="795847" lvl="1" indent="0">
              <a:buNone/>
            </a:pPr>
            <a:endParaRPr lang="en-US" dirty="0">
              <a:solidFill>
                <a:srgbClr val="00004C"/>
              </a:solidFill>
            </a:endParaRPr>
          </a:p>
          <a:p>
            <a:pPr lvl="1"/>
            <a:r>
              <a:rPr lang="en-US" b="1" dirty="0">
                <a:solidFill>
                  <a:srgbClr val="00004C"/>
                </a:solidFill>
              </a:rPr>
              <a:t>Process: </a:t>
            </a:r>
            <a:r>
              <a:rPr lang="en-US" dirty="0">
                <a:solidFill>
                  <a:srgbClr val="00004C"/>
                </a:solidFill>
              </a:rPr>
              <a:t>Use Metasploit for Log4Shell RCE (e.g., use exploit/multi/http/log4shell_header_injection &gt; set payloads &gt; exploit).</a:t>
            </a:r>
          </a:p>
          <a:p>
            <a:pPr lvl="1"/>
            <a:endParaRPr lang="en-US" dirty="0">
              <a:solidFill>
                <a:srgbClr val="00004C"/>
              </a:solidFill>
            </a:endParaRPr>
          </a:p>
          <a:p>
            <a:pPr lvl="1"/>
            <a:r>
              <a:rPr lang="en-US" b="1" dirty="0">
                <a:solidFill>
                  <a:srgbClr val="00004C"/>
                </a:solidFill>
              </a:rPr>
              <a:t>Results: </a:t>
            </a:r>
            <a:r>
              <a:rPr lang="en-US" dirty="0">
                <a:solidFill>
                  <a:srgbClr val="00004C"/>
                </a:solidFill>
              </a:rPr>
              <a:t>Successful shell (e.g., command prompt on target); interpret for counterstrike (e.g., upload disruptive payload to C2 post).</a:t>
            </a:r>
          </a:p>
        </p:txBody>
      </p:sp>
      <p:sp>
        <p:nvSpPr>
          <p:cNvPr id="3" name="Title 2">
            <a:extLst>
              <a:ext uri="{FF2B5EF4-FFF2-40B4-BE49-F238E27FC236}">
                <a16:creationId xmlns:a16="http://schemas.microsoft.com/office/drawing/2014/main" id="{7B20713D-BC09-6B60-3146-AC6518503D0D}"/>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3934596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09993D-1702-B52E-97B2-E9637244A3C7}"/>
              </a:ext>
            </a:extLst>
          </p:cNvPr>
          <p:cNvSpPr>
            <a:spLocks noGrp="1"/>
          </p:cNvSpPr>
          <p:nvPr>
            <p:ph type="body" idx="1"/>
          </p:nvPr>
        </p:nvSpPr>
        <p:spPr/>
        <p:txBody>
          <a:bodyPr/>
          <a:lstStyle/>
          <a:p>
            <a:r>
              <a:rPr lang="en-US" dirty="0">
                <a:solidFill>
                  <a:srgbClr val="00004C"/>
                </a:solidFill>
              </a:rPr>
              <a:t>Operational Considerations and OPSEC for T1190</a:t>
            </a:r>
          </a:p>
          <a:p>
            <a:pPr lvl="1"/>
            <a:r>
              <a:rPr lang="en-US" dirty="0">
                <a:solidFill>
                  <a:srgbClr val="00004C"/>
                </a:solidFill>
              </a:rPr>
              <a:t>T1190 in Counterstrike Operations</a:t>
            </a:r>
          </a:p>
          <a:p>
            <a:pPr lvl="2"/>
            <a:r>
              <a:rPr lang="en-US" b="1" dirty="0">
                <a:solidFill>
                  <a:srgbClr val="00004C"/>
                </a:solidFill>
              </a:rPr>
              <a:t>Considerations: </a:t>
            </a:r>
            <a:r>
              <a:rPr lang="en-US" dirty="0">
                <a:solidFill>
                  <a:srgbClr val="00004C"/>
                </a:solidFill>
              </a:rPr>
              <a:t>Prioritize remote, unauthenticated exploits for speed; chain with payloads for immediate effects (e.g., DoS on C2)</a:t>
            </a:r>
          </a:p>
          <a:p>
            <a:pPr lvl="2"/>
            <a:r>
              <a:rPr lang="en-US" b="1" dirty="0">
                <a:solidFill>
                  <a:srgbClr val="00004C"/>
                </a:solidFill>
              </a:rPr>
              <a:t>OPSEC: </a:t>
            </a:r>
            <a:r>
              <a:rPr lang="en-US" dirty="0">
                <a:solidFill>
                  <a:srgbClr val="00004C"/>
                </a:solidFill>
              </a:rPr>
              <a:t>Modify exploits to evade signatures (e.g., custom payloads); time execution during adversary low-monitoring windows</a:t>
            </a:r>
          </a:p>
        </p:txBody>
      </p:sp>
      <p:sp>
        <p:nvSpPr>
          <p:cNvPr id="3" name="Title 2">
            <a:extLst>
              <a:ext uri="{FF2B5EF4-FFF2-40B4-BE49-F238E27FC236}">
                <a16:creationId xmlns:a16="http://schemas.microsoft.com/office/drawing/2014/main" id="{7B20713D-BC09-6B60-3146-AC6518503D0D}"/>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2766235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09993D-1702-B52E-97B2-E9637244A3C7}"/>
              </a:ext>
            </a:extLst>
          </p:cNvPr>
          <p:cNvSpPr>
            <a:spLocks noGrp="1"/>
          </p:cNvSpPr>
          <p:nvPr>
            <p:ph type="body" idx="1"/>
          </p:nvPr>
        </p:nvSpPr>
        <p:spPr/>
        <p:txBody>
          <a:bodyPr/>
          <a:lstStyle/>
          <a:p>
            <a:r>
              <a:rPr lang="en-US" dirty="0">
                <a:solidFill>
                  <a:srgbClr val="00004C"/>
                </a:solidFill>
              </a:rPr>
              <a:t> T1190 OPSEC Advantages From Blue Space</a:t>
            </a:r>
          </a:p>
          <a:p>
            <a:pPr lvl="1"/>
            <a:r>
              <a:rPr lang="en-US" dirty="0">
                <a:solidFill>
                  <a:srgbClr val="00004C"/>
                </a:solidFill>
              </a:rPr>
              <a:t>Leveraging Position for Stealthy Strikes</a:t>
            </a:r>
          </a:p>
          <a:p>
            <a:pPr lvl="2"/>
            <a:r>
              <a:rPr lang="en-US" b="1" dirty="0">
                <a:solidFill>
                  <a:srgbClr val="00004C"/>
                </a:solidFill>
              </a:rPr>
              <a:t>Application: </a:t>
            </a:r>
            <a:r>
              <a:rPr lang="en-US" dirty="0">
                <a:solidFill>
                  <a:srgbClr val="00004C"/>
                </a:solidFill>
              </a:rPr>
              <a:t>Execute T1190: Exploit Public-Facing Application with minimal footprint, generating effects (e.g., shell for malware wipe) as part of authorized campaign.</a:t>
            </a:r>
          </a:p>
        </p:txBody>
      </p:sp>
      <p:sp>
        <p:nvSpPr>
          <p:cNvPr id="3" name="Title 2">
            <a:extLst>
              <a:ext uri="{FF2B5EF4-FFF2-40B4-BE49-F238E27FC236}">
                <a16:creationId xmlns:a16="http://schemas.microsoft.com/office/drawing/2014/main" id="{7B20713D-BC09-6B60-3146-AC6518503D0D}"/>
              </a:ext>
            </a:extLst>
          </p:cNvPr>
          <p:cNvSpPr>
            <a:spLocks noGrp="1"/>
          </p:cNvSpPr>
          <p:nvPr>
            <p:ph type="title"/>
          </p:nvPr>
        </p:nvSpPr>
        <p:spPr/>
        <p:txBody>
          <a:bodyPr anchor="t"/>
          <a:lstStyle/>
          <a:p>
            <a:r>
              <a:rPr lang="en-US" dirty="0">
                <a:solidFill>
                  <a:srgbClr val="00004C"/>
                </a:solidFill>
              </a:rPr>
              <a:t>T1190 Exploit Public-Facing Application</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95115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2DFD8-F598-D9DA-7DF8-420B93F01D3C}"/>
              </a:ext>
            </a:extLst>
          </p:cNvPr>
          <p:cNvSpPr>
            <a:spLocks noGrp="1"/>
          </p:cNvSpPr>
          <p:nvPr>
            <p:ph type="title"/>
          </p:nvPr>
        </p:nvSpPr>
        <p:spPr/>
        <p:txBody>
          <a:bodyPr/>
          <a:lstStyle/>
          <a:p>
            <a:r>
              <a:rPr lang="en-US" dirty="0">
                <a:solidFill>
                  <a:srgbClr val="00004C"/>
                </a:solidFill>
              </a:rPr>
              <a:t>T1133 External Remote Services</a:t>
            </a:r>
            <a:br>
              <a:rPr lang="en-US" dirty="0">
                <a:solidFill>
                  <a:srgbClr val="00004C"/>
                </a:solidFill>
              </a:rPr>
            </a:br>
            <a:endParaRPr lang="en-US" dirty="0"/>
          </a:p>
        </p:txBody>
      </p:sp>
    </p:spTree>
    <p:extLst>
      <p:ext uri="{BB962C8B-B14F-4D97-AF65-F5344CB8AC3E}">
        <p14:creationId xmlns:p14="http://schemas.microsoft.com/office/powerpoint/2010/main" val="213589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CBD6DE-DFB7-4FE4-6698-C1D7A5849E1F}"/>
              </a:ext>
            </a:extLst>
          </p:cNvPr>
          <p:cNvSpPr>
            <a:spLocks noGrp="1"/>
          </p:cNvSpPr>
          <p:nvPr>
            <p:ph type="body" idx="1"/>
          </p:nvPr>
        </p:nvSpPr>
        <p:spPr/>
        <p:txBody>
          <a:bodyPr/>
          <a:lstStyle/>
          <a:p>
            <a:r>
              <a:rPr lang="en-US" b="1" dirty="0">
                <a:solidFill>
                  <a:srgbClr val="00004C"/>
                </a:solidFill>
              </a:rPr>
              <a:t>T1133 Definition: </a:t>
            </a:r>
            <a:r>
              <a:rPr lang="en-US" b="0" i="0" dirty="0">
                <a:solidFill>
                  <a:srgbClr val="00004C"/>
                </a:solidFill>
                <a:effectLst/>
              </a:rPr>
              <a:t>Gaining access via vulnerabilities in exposed remote access protocols on adversary infrastructure (e.g., VPN gateways, RDP desktops, SSH servers)</a:t>
            </a:r>
          </a:p>
          <a:p>
            <a:endParaRPr lang="en-US" dirty="0">
              <a:solidFill>
                <a:srgbClr val="00004C"/>
              </a:solidFill>
            </a:endParaRPr>
          </a:p>
          <a:p>
            <a:r>
              <a:rPr lang="en-US" b="1" dirty="0">
                <a:solidFill>
                  <a:srgbClr val="00004C"/>
                </a:solidFill>
              </a:rPr>
              <a:t>Common Targets: </a:t>
            </a:r>
            <a:r>
              <a:rPr lang="en-US" dirty="0">
                <a:solidFill>
                  <a:srgbClr val="00004C"/>
                </a:solidFill>
              </a:rPr>
              <a:t>VPN (IPsec/IKE vulns), RDP (port 3389), SSH (port 22).</a:t>
            </a:r>
          </a:p>
          <a:p>
            <a:endParaRPr lang="en-US" dirty="0">
              <a:solidFill>
                <a:srgbClr val="00004C"/>
              </a:solidFill>
            </a:endParaRPr>
          </a:p>
          <a:p>
            <a:r>
              <a:rPr lang="en-US" b="1" dirty="0">
                <a:solidFill>
                  <a:srgbClr val="00004C"/>
                </a:solidFill>
              </a:rPr>
              <a:t>Counterstrike Role: </a:t>
            </a:r>
            <a:r>
              <a:rPr lang="en-US" dirty="0">
                <a:solidFill>
                  <a:srgbClr val="00004C"/>
                </a:solidFill>
              </a:rPr>
              <a:t>Compromise remote entry points to reach internal adversary networks for broader disruption.</a:t>
            </a:r>
          </a:p>
        </p:txBody>
      </p:sp>
      <p:sp>
        <p:nvSpPr>
          <p:cNvPr id="3" name="Title 2">
            <a:extLst>
              <a:ext uri="{FF2B5EF4-FFF2-40B4-BE49-F238E27FC236}">
                <a16:creationId xmlns:a16="http://schemas.microsoft.com/office/drawing/2014/main" id="{3D3551D1-4170-D3AA-365C-A05E5C864EDA}"/>
              </a:ext>
            </a:extLst>
          </p:cNvPr>
          <p:cNvSpPr>
            <a:spLocks noGrp="1"/>
          </p:cNvSpPr>
          <p:nvPr>
            <p:ph type="title"/>
          </p:nvPr>
        </p:nvSpPr>
        <p:spPr/>
        <p:txBody>
          <a:bodyPr anchor="t"/>
          <a:lstStyle/>
          <a:p>
            <a:r>
              <a:rPr lang="en-US" dirty="0">
                <a:solidFill>
                  <a:srgbClr val="00004C"/>
                </a:solidFill>
              </a:rPr>
              <a:t>T1133 External Remote Services</a:t>
            </a:r>
            <a:br>
              <a:rPr lang="en-US" dirty="0">
                <a:solidFill>
                  <a:srgbClr val="00004C"/>
                </a:solidFill>
              </a:rPr>
            </a:br>
            <a:endParaRPr lang="en-US" dirty="0">
              <a:solidFill>
                <a:srgbClr val="00004C"/>
              </a:solidFill>
            </a:endParaRPr>
          </a:p>
        </p:txBody>
      </p:sp>
    </p:spTree>
    <p:extLst>
      <p:ext uri="{BB962C8B-B14F-4D97-AF65-F5344CB8AC3E}">
        <p14:creationId xmlns:p14="http://schemas.microsoft.com/office/powerpoint/2010/main" val="2724501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54FCAF-32A6-B8A0-3F15-7CCCBC83CB0F}"/>
              </a:ext>
            </a:extLst>
          </p:cNvPr>
          <p:cNvSpPr>
            <a:spLocks noGrp="1"/>
          </p:cNvSpPr>
          <p:nvPr>
            <p:ph type="body" idx="1"/>
          </p:nvPr>
        </p:nvSpPr>
        <p:spPr/>
        <p:txBody>
          <a:bodyPr/>
          <a:lstStyle/>
          <a:p>
            <a:r>
              <a:rPr lang="en-US" b="1" dirty="0">
                <a:solidFill>
                  <a:srgbClr val="00004C"/>
                </a:solidFill>
              </a:rPr>
              <a:t>Access Methods for T1133</a:t>
            </a:r>
          </a:p>
          <a:p>
            <a:pPr lvl="1"/>
            <a:r>
              <a:rPr lang="en-US" b="1" dirty="0">
                <a:solidFill>
                  <a:srgbClr val="00004C"/>
                </a:solidFill>
              </a:rPr>
              <a:t>Methods: </a:t>
            </a:r>
            <a:r>
              <a:rPr lang="en-US" dirty="0">
                <a:solidFill>
                  <a:srgbClr val="00004C"/>
                </a:solidFill>
              </a:rPr>
              <a:t>Vulnerability Exploitation</a:t>
            </a:r>
          </a:p>
          <a:p>
            <a:pPr lvl="2"/>
            <a:r>
              <a:rPr lang="en-US" b="1" dirty="0">
                <a:solidFill>
                  <a:srgbClr val="00004C"/>
                </a:solidFill>
              </a:rPr>
              <a:t>Vulnerability Exploitation: </a:t>
            </a:r>
            <a:r>
              <a:rPr lang="en-US" dirty="0">
                <a:solidFill>
                  <a:srgbClr val="00004C"/>
                </a:solidFill>
              </a:rPr>
              <a:t>CVEs in software (e.g., CVE-2019-11510 in Pulse Secure VPN for RCE; </a:t>
            </a:r>
            <a:r>
              <a:rPr lang="en-US" dirty="0" err="1">
                <a:solidFill>
                  <a:srgbClr val="00004C"/>
                </a:solidFill>
              </a:rPr>
              <a:t>BlueKeep</a:t>
            </a:r>
            <a:r>
              <a:rPr lang="en-US" dirty="0">
                <a:solidFill>
                  <a:srgbClr val="00004C"/>
                </a:solidFill>
              </a:rPr>
              <a:t> in RDP for code execution).</a:t>
            </a:r>
          </a:p>
          <a:p>
            <a:pPr marL="1430831" lvl="2" indent="0">
              <a:buNone/>
            </a:pPr>
            <a:endParaRPr lang="en-US" dirty="0">
              <a:solidFill>
                <a:srgbClr val="00004C"/>
              </a:solidFill>
            </a:endParaRPr>
          </a:p>
          <a:p>
            <a:pPr lvl="2"/>
            <a:r>
              <a:rPr lang="en-US" b="1" dirty="0">
                <a:solidFill>
                  <a:srgbClr val="00004C"/>
                </a:solidFill>
              </a:rPr>
              <a:t>Process: </a:t>
            </a:r>
            <a:r>
              <a:rPr lang="en-US" dirty="0">
                <a:solidFill>
                  <a:srgbClr val="00004C"/>
                </a:solidFill>
              </a:rPr>
              <a:t>Identify version from recon, select exploit (e.g., Metasploit module for SSH </a:t>
            </a:r>
            <a:r>
              <a:rPr lang="en-US" dirty="0" err="1">
                <a:solidFill>
                  <a:srgbClr val="00004C"/>
                </a:solidFill>
              </a:rPr>
              <a:t>regreSSHion</a:t>
            </a:r>
            <a:r>
              <a:rPr lang="en-US" dirty="0">
                <a:solidFill>
                  <a:srgbClr val="00004C"/>
                </a:solidFill>
              </a:rPr>
              <a:t> CVE-2024-6387), execute for shell.</a:t>
            </a:r>
          </a:p>
        </p:txBody>
      </p:sp>
      <p:sp>
        <p:nvSpPr>
          <p:cNvPr id="3" name="Title 2">
            <a:extLst>
              <a:ext uri="{FF2B5EF4-FFF2-40B4-BE49-F238E27FC236}">
                <a16:creationId xmlns:a16="http://schemas.microsoft.com/office/drawing/2014/main" id="{45E52078-7E26-B2C7-55AE-99F6E85FF191}"/>
              </a:ext>
            </a:extLst>
          </p:cNvPr>
          <p:cNvSpPr>
            <a:spLocks noGrp="1"/>
          </p:cNvSpPr>
          <p:nvPr>
            <p:ph type="title"/>
          </p:nvPr>
        </p:nvSpPr>
        <p:spPr/>
        <p:txBody>
          <a:bodyPr anchor="t"/>
          <a:lstStyle/>
          <a:p>
            <a:r>
              <a:rPr lang="en-US" dirty="0">
                <a:solidFill>
                  <a:srgbClr val="00004C"/>
                </a:solidFill>
              </a:rPr>
              <a:t>T1133 External Remote Services</a:t>
            </a:r>
            <a:br>
              <a:rPr lang="en-US" dirty="0">
                <a:solidFill>
                  <a:srgbClr val="00004C"/>
                </a:solidFill>
              </a:rPr>
            </a:br>
            <a:endParaRPr lang="en-US" dirty="0"/>
          </a:p>
        </p:txBody>
      </p:sp>
    </p:spTree>
    <p:extLst>
      <p:ext uri="{BB962C8B-B14F-4D97-AF65-F5344CB8AC3E}">
        <p14:creationId xmlns:p14="http://schemas.microsoft.com/office/powerpoint/2010/main" val="2720210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54FCAF-32A6-B8A0-3F15-7CCCBC83CB0F}"/>
              </a:ext>
            </a:extLst>
          </p:cNvPr>
          <p:cNvSpPr>
            <a:spLocks noGrp="1"/>
          </p:cNvSpPr>
          <p:nvPr>
            <p:ph type="body" idx="1"/>
          </p:nvPr>
        </p:nvSpPr>
        <p:spPr/>
        <p:txBody>
          <a:bodyPr/>
          <a:lstStyle/>
          <a:p>
            <a:r>
              <a:rPr lang="en-US" b="1" dirty="0">
                <a:solidFill>
                  <a:srgbClr val="00004C"/>
                </a:solidFill>
              </a:rPr>
              <a:t>Examples of RDP Brute Force, SSH with Discovered Keys, VPN Exploit:</a:t>
            </a:r>
          </a:p>
          <a:p>
            <a:pPr lvl="1"/>
            <a:r>
              <a:rPr lang="en-US" b="1" dirty="0">
                <a:solidFill>
                  <a:srgbClr val="00004C"/>
                </a:solidFill>
              </a:rPr>
              <a:t>RDP Exploit: </a:t>
            </a:r>
            <a:r>
              <a:rPr lang="en-US" dirty="0">
                <a:solidFill>
                  <a:srgbClr val="00004C"/>
                </a:solidFill>
              </a:rPr>
              <a:t>Metasploit for </a:t>
            </a:r>
            <a:r>
              <a:rPr lang="en-US" dirty="0" err="1">
                <a:solidFill>
                  <a:srgbClr val="00004C"/>
                </a:solidFill>
              </a:rPr>
              <a:t>BlueKeep</a:t>
            </a:r>
            <a:r>
              <a:rPr lang="en-US" dirty="0">
                <a:solidFill>
                  <a:srgbClr val="00004C"/>
                </a:solidFill>
              </a:rPr>
              <a:t> CVE-2019-0708 (e.g., use exploit/windows/</a:t>
            </a:r>
            <a:r>
              <a:rPr lang="en-US" dirty="0" err="1">
                <a:solidFill>
                  <a:srgbClr val="00004C"/>
                </a:solidFill>
              </a:rPr>
              <a:t>rdp</a:t>
            </a:r>
            <a:r>
              <a:rPr lang="en-US" dirty="0">
                <a:solidFill>
                  <a:srgbClr val="00004C"/>
                </a:solidFill>
              </a:rPr>
              <a:t>/cve_2019_0708_bluekeep_rce &gt; execute for shell on Windows C2 host).</a:t>
            </a:r>
          </a:p>
          <a:p>
            <a:pPr marL="795847" lvl="1" indent="0">
              <a:buNone/>
            </a:pPr>
            <a:endParaRPr lang="en-US" dirty="0">
              <a:solidFill>
                <a:srgbClr val="00004C"/>
              </a:solidFill>
            </a:endParaRPr>
          </a:p>
          <a:p>
            <a:pPr lvl="1"/>
            <a:r>
              <a:rPr lang="en-US" b="1" dirty="0">
                <a:solidFill>
                  <a:srgbClr val="00004C"/>
                </a:solidFill>
              </a:rPr>
              <a:t>SSH Exploit: </a:t>
            </a:r>
            <a:r>
              <a:rPr lang="en-US" dirty="0">
                <a:solidFill>
                  <a:srgbClr val="00004C"/>
                </a:solidFill>
              </a:rPr>
              <a:t>Use CVE-2024-6387 </a:t>
            </a:r>
            <a:r>
              <a:rPr lang="en-US" dirty="0" err="1">
                <a:solidFill>
                  <a:srgbClr val="00004C"/>
                </a:solidFill>
              </a:rPr>
              <a:t>regreSSHion</a:t>
            </a:r>
            <a:r>
              <a:rPr lang="en-US" dirty="0">
                <a:solidFill>
                  <a:srgbClr val="00004C"/>
                </a:solidFill>
              </a:rPr>
              <a:t> (e.g., custom PoC for RCE on vulnerable OpenSSH).</a:t>
            </a:r>
          </a:p>
          <a:p>
            <a:pPr marL="795847" lvl="1" indent="0">
              <a:buNone/>
            </a:pPr>
            <a:endParaRPr lang="en-US" dirty="0">
              <a:solidFill>
                <a:srgbClr val="00004C"/>
              </a:solidFill>
            </a:endParaRPr>
          </a:p>
          <a:p>
            <a:pPr lvl="1"/>
            <a:r>
              <a:rPr lang="en-US" b="1" dirty="0">
                <a:solidFill>
                  <a:srgbClr val="00004C"/>
                </a:solidFill>
              </a:rPr>
              <a:t>VPN Exploit: </a:t>
            </a:r>
            <a:r>
              <a:rPr lang="en-US" dirty="0">
                <a:solidFill>
                  <a:srgbClr val="00004C"/>
                </a:solidFill>
              </a:rPr>
              <a:t>Metasploit for CVE-2019-11510 (e.g., use exploit/</a:t>
            </a:r>
            <a:r>
              <a:rPr lang="en-US" dirty="0" err="1">
                <a:solidFill>
                  <a:srgbClr val="00004C"/>
                </a:solidFill>
              </a:rPr>
              <a:t>linux</a:t>
            </a:r>
            <a:r>
              <a:rPr lang="en-US" dirty="0">
                <a:solidFill>
                  <a:srgbClr val="00004C"/>
                </a:solidFill>
              </a:rPr>
              <a:t>/http/</a:t>
            </a:r>
            <a:r>
              <a:rPr lang="en-US" dirty="0" err="1">
                <a:solidFill>
                  <a:srgbClr val="00004C"/>
                </a:solidFill>
              </a:rPr>
              <a:t>pulse_secure_rce</a:t>
            </a:r>
            <a:r>
              <a:rPr lang="en-US" dirty="0">
                <a:solidFill>
                  <a:srgbClr val="00004C"/>
                </a:solidFill>
              </a:rPr>
              <a:t> &gt; execute for shell).</a:t>
            </a:r>
          </a:p>
          <a:p>
            <a:pPr lvl="1"/>
            <a:endParaRPr lang="en-US" dirty="0">
              <a:solidFill>
                <a:srgbClr val="00004C"/>
              </a:solidFill>
            </a:endParaRPr>
          </a:p>
          <a:p>
            <a:pPr lvl="1"/>
            <a:r>
              <a:rPr lang="en-US" b="1" dirty="0">
                <a:solidFill>
                  <a:srgbClr val="00004C"/>
                </a:solidFill>
              </a:rPr>
              <a:t>Operational: </a:t>
            </a:r>
            <a:r>
              <a:rPr lang="en-US" dirty="0">
                <a:solidFill>
                  <a:srgbClr val="00004C"/>
                </a:solidFill>
              </a:rPr>
              <a:t>Gain persistent access to adversary operations consoles for effects like data denial.</a:t>
            </a:r>
          </a:p>
          <a:p>
            <a:endParaRPr lang="en-US" dirty="0">
              <a:solidFill>
                <a:srgbClr val="00004C"/>
              </a:solidFill>
            </a:endParaRPr>
          </a:p>
        </p:txBody>
      </p:sp>
      <p:sp>
        <p:nvSpPr>
          <p:cNvPr id="3" name="Title 2">
            <a:extLst>
              <a:ext uri="{FF2B5EF4-FFF2-40B4-BE49-F238E27FC236}">
                <a16:creationId xmlns:a16="http://schemas.microsoft.com/office/drawing/2014/main" id="{45E52078-7E26-B2C7-55AE-99F6E85FF191}"/>
              </a:ext>
            </a:extLst>
          </p:cNvPr>
          <p:cNvSpPr>
            <a:spLocks noGrp="1"/>
          </p:cNvSpPr>
          <p:nvPr>
            <p:ph type="title"/>
          </p:nvPr>
        </p:nvSpPr>
        <p:spPr/>
        <p:txBody>
          <a:bodyPr anchor="t"/>
          <a:lstStyle/>
          <a:p>
            <a:r>
              <a:rPr lang="en-US" dirty="0">
                <a:solidFill>
                  <a:srgbClr val="00004C"/>
                </a:solidFill>
              </a:rPr>
              <a:t>T1133 External Remote Services</a:t>
            </a:r>
            <a:br>
              <a:rPr lang="en-US" dirty="0">
                <a:solidFill>
                  <a:srgbClr val="00004C"/>
                </a:solidFill>
              </a:rPr>
            </a:br>
            <a:endParaRPr lang="en-US" dirty="0"/>
          </a:p>
        </p:txBody>
      </p:sp>
    </p:spTree>
    <p:extLst>
      <p:ext uri="{BB962C8B-B14F-4D97-AF65-F5344CB8AC3E}">
        <p14:creationId xmlns:p14="http://schemas.microsoft.com/office/powerpoint/2010/main" val="1320508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54FCAF-32A6-B8A0-3F15-7CCCBC83CB0F}"/>
              </a:ext>
            </a:extLst>
          </p:cNvPr>
          <p:cNvSpPr>
            <a:spLocks noGrp="1"/>
          </p:cNvSpPr>
          <p:nvPr>
            <p:ph type="body" idx="1"/>
          </p:nvPr>
        </p:nvSpPr>
        <p:spPr/>
        <p:txBody>
          <a:bodyPr/>
          <a:lstStyle/>
          <a:p>
            <a:r>
              <a:rPr lang="en-US" b="1" i="0" dirty="0">
                <a:solidFill>
                  <a:srgbClr val="00004C"/>
                </a:solidFill>
                <a:effectLst/>
                <a:latin typeface="-apple-system"/>
              </a:rPr>
              <a:t>Walk-Through: SSH Vulnerability Exploitation</a:t>
            </a:r>
          </a:p>
          <a:p>
            <a:endParaRPr lang="en-US" b="1" i="0" dirty="0">
              <a:solidFill>
                <a:srgbClr val="00004C"/>
              </a:solidFill>
              <a:effectLst/>
              <a:latin typeface="-apple-system"/>
            </a:endParaRPr>
          </a:p>
          <a:p>
            <a:pPr lvl="1"/>
            <a:r>
              <a:rPr lang="en-US" b="1" dirty="0">
                <a:solidFill>
                  <a:srgbClr val="00004C"/>
                </a:solidFill>
              </a:rPr>
              <a:t>Input: </a:t>
            </a:r>
            <a:r>
              <a:rPr lang="en-US" dirty="0">
                <a:solidFill>
                  <a:srgbClr val="00004C"/>
                </a:solidFill>
              </a:rPr>
              <a:t>Recon shows SSH 7.4; vuln from CVE search (e.g., CVE-2018-15473 for user </a:t>
            </a:r>
            <a:r>
              <a:rPr lang="en-US" dirty="0" err="1">
                <a:solidFill>
                  <a:srgbClr val="00004C"/>
                </a:solidFill>
              </a:rPr>
              <a:t>enum</a:t>
            </a:r>
            <a:r>
              <a:rPr lang="en-US" dirty="0">
                <a:solidFill>
                  <a:srgbClr val="00004C"/>
                </a:solidFill>
              </a:rPr>
              <a:t> leading to RCE chain)</a:t>
            </a:r>
          </a:p>
          <a:p>
            <a:pPr marL="795847" lvl="1" indent="0">
              <a:buNone/>
            </a:pPr>
            <a:endParaRPr lang="en-US" dirty="0">
              <a:solidFill>
                <a:srgbClr val="00004C"/>
              </a:solidFill>
            </a:endParaRPr>
          </a:p>
          <a:p>
            <a:pPr lvl="1"/>
            <a:r>
              <a:rPr lang="en-US" b="1" dirty="0">
                <a:solidFill>
                  <a:srgbClr val="00004C"/>
                </a:solidFill>
              </a:rPr>
              <a:t>Steps: </a:t>
            </a:r>
            <a:r>
              <a:rPr lang="en-US" dirty="0">
                <a:solidFill>
                  <a:srgbClr val="00004C"/>
                </a:solidFill>
              </a:rPr>
              <a:t>Prepare exploit PoC; execute against target (e.g., Python script for </a:t>
            </a:r>
            <a:r>
              <a:rPr lang="en-US" dirty="0" err="1">
                <a:solidFill>
                  <a:srgbClr val="00004C"/>
                </a:solidFill>
              </a:rPr>
              <a:t>regreSSHion</a:t>
            </a:r>
            <a:r>
              <a:rPr lang="en-US" dirty="0">
                <a:solidFill>
                  <a:srgbClr val="00004C"/>
                </a:solidFill>
              </a:rPr>
              <a:t>-style attack)</a:t>
            </a:r>
          </a:p>
          <a:p>
            <a:pPr marL="795847" lvl="1" indent="0">
              <a:buNone/>
            </a:pPr>
            <a:endParaRPr lang="en-US" dirty="0">
              <a:solidFill>
                <a:srgbClr val="00004C"/>
              </a:solidFill>
            </a:endParaRPr>
          </a:p>
          <a:p>
            <a:pPr lvl="1"/>
            <a:r>
              <a:rPr lang="en-US" b="1" dirty="0">
                <a:solidFill>
                  <a:srgbClr val="00004C"/>
                </a:solidFill>
              </a:rPr>
              <a:t>Output: </a:t>
            </a:r>
            <a:r>
              <a:rPr lang="en-US" dirty="0">
                <a:solidFill>
                  <a:srgbClr val="00004C"/>
                </a:solidFill>
              </a:rPr>
              <a:t>Successful shell; pivot to internal effects</a:t>
            </a:r>
          </a:p>
        </p:txBody>
      </p:sp>
      <p:sp>
        <p:nvSpPr>
          <p:cNvPr id="3" name="Title 2">
            <a:extLst>
              <a:ext uri="{FF2B5EF4-FFF2-40B4-BE49-F238E27FC236}">
                <a16:creationId xmlns:a16="http://schemas.microsoft.com/office/drawing/2014/main" id="{45E52078-7E26-B2C7-55AE-99F6E85FF191}"/>
              </a:ext>
            </a:extLst>
          </p:cNvPr>
          <p:cNvSpPr>
            <a:spLocks noGrp="1"/>
          </p:cNvSpPr>
          <p:nvPr>
            <p:ph type="title"/>
          </p:nvPr>
        </p:nvSpPr>
        <p:spPr/>
        <p:txBody>
          <a:bodyPr anchor="t"/>
          <a:lstStyle/>
          <a:p>
            <a:r>
              <a:rPr lang="en-US" dirty="0">
                <a:solidFill>
                  <a:srgbClr val="00004C"/>
                </a:solidFill>
              </a:rPr>
              <a:t>T1133 External Remote Services</a:t>
            </a:r>
            <a:br>
              <a:rPr lang="en-US" dirty="0">
                <a:solidFill>
                  <a:srgbClr val="00004C"/>
                </a:solidFill>
              </a:rPr>
            </a:br>
            <a:endParaRPr lang="en-US" dirty="0"/>
          </a:p>
        </p:txBody>
      </p:sp>
    </p:spTree>
    <p:extLst>
      <p:ext uri="{BB962C8B-B14F-4D97-AF65-F5344CB8AC3E}">
        <p14:creationId xmlns:p14="http://schemas.microsoft.com/office/powerpoint/2010/main" val="770661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54FCAF-32A6-B8A0-3F15-7CCCBC83CB0F}"/>
              </a:ext>
            </a:extLst>
          </p:cNvPr>
          <p:cNvSpPr>
            <a:spLocks noGrp="1"/>
          </p:cNvSpPr>
          <p:nvPr>
            <p:ph type="body" idx="1"/>
          </p:nvPr>
        </p:nvSpPr>
        <p:spPr/>
        <p:txBody>
          <a:bodyPr/>
          <a:lstStyle/>
          <a:p>
            <a:pPr algn="l"/>
            <a:r>
              <a:rPr lang="en-US" b="1" i="0" dirty="0">
                <a:solidFill>
                  <a:srgbClr val="172B4D"/>
                </a:solidFill>
                <a:effectLst/>
                <a:latin typeface="-apple-system"/>
              </a:rPr>
              <a:t>Operational Considerations for T1133</a:t>
            </a:r>
          </a:p>
          <a:p>
            <a:endParaRPr lang="en-US" b="1" i="0" dirty="0">
              <a:solidFill>
                <a:srgbClr val="00004C"/>
              </a:solidFill>
              <a:effectLst/>
              <a:latin typeface="-apple-system"/>
            </a:endParaRPr>
          </a:p>
          <a:p>
            <a:pPr lvl="1"/>
            <a:r>
              <a:rPr lang="en-US" b="1" dirty="0">
                <a:solidFill>
                  <a:srgbClr val="00004C"/>
                </a:solidFill>
              </a:rPr>
              <a:t>Considerations:</a:t>
            </a:r>
            <a:r>
              <a:rPr lang="en-US" dirty="0">
                <a:solidFill>
                  <a:srgbClr val="00004C"/>
                </a:solidFill>
              </a:rPr>
              <a:t> Select stable exploits to avoid crashes; chain with payloads for immediate effects (e.g., DoS on remote services).</a:t>
            </a:r>
          </a:p>
          <a:p>
            <a:pPr marL="795847" lvl="1" indent="0">
              <a:buNone/>
            </a:pPr>
            <a:endParaRPr lang="en-US" b="1" dirty="0">
              <a:solidFill>
                <a:srgbClr val="00004C"/>
              </a:solidFill>
            </a:endParaRPr>
          </a:p>
          <a:p>
            <a:pPr lvl="1"/>
            <a:r>
              <a:rPr lang="en-US" b="1" dirty="0">
                <a:solidFill>
                  <a:srgbClr val="00004C"/>
                </a:solidFill>
              </a:rPr>
              <a:t>OPSEC: </a:t>
            </a:r>
            <a:r>
              <a:rPr lang="en-US" dirty="0">
                <a:solidFill>
                  <a:srgbClr val="00004C"/>
                </a:solidFill>
              </a:rPr>
              <a:t>Time execution to low-monitoring windows; use evasion for probe traffic.</a:t>
            </a:r>
          </a:p>
        </p:txBody>
      </p:sp>
      <p:sp>
        <p:nvSpPr>
          <p:cNvPr id="3" name="Title 2">
            <a:extLst>
              <a:ext uri="{FF2B5EF4-FFF2-40B4-BE49-F238E27FC236}">
                <a16:creationId xmlns:a16="http://schemas.microsoft.com/office/drawing/2014/main" id="{45E52078-7E26-B2C7-55AE-99F6E85FF191}"/>
              </a:ext>
            </a:extLst>
          </p:cNvPr>
          <p:cNvSpPr>
            <a:spLocks noGrp="1"/>
          </p:cNvSpPr>
          <p:nvPr>
            <p:ph type="title"/>
          </p:nvPr>
        </p:nvSpPr>
        <p:spPr/>
        <p:txBody>
          <a:bodyPr anchor="t"/>
          <a:lstStyle/>
          <a:p>
            <a:r>
              <a:rPr lang="en-US" dirty="0">
                <a:solidFill>
                  <a:srgbClr val="00004C"/>
                </a:solidFill>
              </a:rPr>
              <a:t>T1133 External Remote Services</a:t>
            </a:r>
            <a:br>
              <a:rPr lang="en-US" dirty="0">
                <a:solidFill>
                  <a:srgbClr val="00004C"/>
                </a:solidFill>
              </a:rPr>
            </a:br>
            <a:endParaRPr lang="en-US" dirty="0"/>
          </a:p>
        </p:txBody>
      </p:sp>
    </p:spTree>
    <p:extLst>
      <p:ext uri="{BB962C8B-B14F-4D97-AF65-F5344CB8AC3E}">
        <p14:creationId xmlns:p14="http://schemas.microsoft.com/office/powerpoint/2010/main" val="821280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B80AD-9C5C-C761-9E4A-F669F7FD35CD}"/>
              </a:ext>
            </a:extLst>
          </p:cNvPr>
          <p:cNvSpPr>
            <a:spLocks noGrp="1"/>
          </p:cNvSpPr>
          <p:nvPr>
            <p:ph type="title"/>
          </p:nvPr>
        </p:nvSpPr>
        <p:spPr/>
        <p:txBody>
          <a:bodyPr/>
          <a:lstStyle/>
          <a:p>
            <a:r>
              <a:rPr lang="en-US" dirty="0">
                <a:solidFill>
                  <a:srgbClr val="00004C"/>
                </a:solidFill>
              </a:rPr>
              <a:t>T1078 Valid Accounts</a:t>
            </a:r>
            <a:br>
              <a:rPr lang="en-US" dirty="0">
                <a:solidFill>
                  <a:srgbClr val="00004C"/>
                </a:solidFill>
              </a:rPr>
            </a:br>
            <a:endParaRPr lang="en-US" dirty="0"/>
          </a:p>
        </p:txBody>
      </p:sp>
    </p:spTree>
    <p:extLst>
      <p:ext uri="{BB962C8B-B14F-4D97-AF65-F5344CB8AC3E}">
        <p14:creationId xmlns:p14="http://schemas.microsoft.com/office/powerpoint/2010/main" val="1893440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24823-BCD4-1CCD-3A75-8C79E296C102}"/>
              </a:ext>
            </a:extLst>
          </p:cNvPr>
          <p:cNvSpPr>
            <a:spLocks noGrp="1"/>
          </p:cNvSpPr>
          <p:nvPr>
            <p:ph type="body" idx="1"/>
          </p:nvPr>
        </p:nvSpPr>
        <p:spPr/>
        <p:txBody>
          <a:bodyPr/>
          <a:lstStyle/>
          <a:p>
            <a:r>
              <a:rPr lang="en-US" dirty="0">
                <a:solidFill>
                  <a:srgbClr val="00004C"/>
                </a:solidFill>
              </a:rPr>
              <a:t>T1078 Valid Accounts</a:t>
            </a:r>
          </a:p>
          <a:p>
            <a:pPr marL="169329" indent="0">
              <a:buNone/>
            </a:pPr>
            <a:endParaRPr lang="en-US" dirty="0">
              <a:solidFill>
                <a:srgbClr val="00004C"/>
              </a:solidFill>
            </a:endParaRPr>
          </a:p>
          <a:p>
            <a:pPr lvl="1"/>
            <a:r>
              <a:rPr lang="en-US" b="1" dirty="0">
                <a:solidFill>
                  <a:srgbClr val="00004C"/>
                </a:solidFill>
              </a:rPr>
              <a:t>Definition: </a:t>
            </a:r>
            <a:r>
              <a:rPr lang="en-US" dirty="0">
                <a:solidFill>
                  <a:srgbClr val="00004C"/>
                </a:solidFill>
              </a:rPr>
              <a:t>Authenticating with stolen, guessed, or default credentials to access adversary services/systems.</a:t>
            </a:r>
          </a:p>
          <a:p>
            <a:pPr marL="795847" lvl="1" indent="0">
              <a:buNone/>
            </a:pPr>
            <a:endParaRPr lang="en-US" dirty="0">
              <a:solidFill>
                <a:srgbClr val="00004C"/>
              </a:solidFill>
            </a:endParaRPr>
          </a:p>
          <a:p>
            <a:pPr lvl="1"/>
            <a:r>
              <a:rPr lang="en-US" b="1" dirty="0">
                <a:solidFill>
                  <a:srgbClr val="00004C"/>
                </a:solidFill>
              </a:rPr>
              <a:t>Sources: </a:t>
            </a:r>
            <a:r>
              <a:rPr lang="en-US" dirty="0">
                <a:solidFill>
                  <a:srgbClr val="00004C"/>
                </a:solidFill>
              </a:rPr>
              <a:t>Primary: unique defender intel like hardcoded credentials in malware or IOCs from network traffic; secondary: breached data/OSINT.</a:t>
            </a:r>
          </a:p>
          <a:p>
            <a:pPr marL="795847" lvl="1" indent="0">
              <a:buNone/>
            </a:pPr>
            <a:endParaRPr lang="en-US" dirty="0">
              <a:solidFill>
                <a:srgbClr val="00004C"/>
              </a:solidFill>
            </a:endParaRPr>
          </a:p>
          <a:p>
            <a:pPr lvl="1"/>
            <a:r>
              <a:rPr lang="en-US" b="1" dirty="0">
                <a:solidFill>
                  <a:srgbClr val="00004C"/>
                </a:solidFill>
              </a:rPr>
              <a:t>Counterstrike: </a:t>
            </a:r>
            <a:r>
              <a:rPr lang="en-US" dirty="0">
                <a:solidFill>
                  <a:srgbClr val="00004C"/>
                </a:solidFill>
              </a:rPr>
              <a:t>Stealthy entry mimicking normal user behavior for persistent effects.</a:t>
            </a:r>
          </a:p>
          <a:p>
            <a:endParaRPr lang="en-US" dirty="0"/>
          </a:p>
        </p:txBody>
      </p:sp>
      <p:sp>
        <p:nvSpPr>
          <p:cNvPr id="3" name="Title 2">
            <a:extLst>
              <a:ext uri="{FF2B5EF4-FFF2-40B4-BE49-F238E27FC236}">
                <a16:creationId xmlns:a16="http://schemas.microsoft.com/office/drawing/2014/main" id="{9BA2F2CB-0D64-0154-4553-747BD6859B5C}"/>
              </a:ext>
            </a:extLst>
          </p:cNvPr>
          <p:cNvSpPr>
            <a:spLocks noGrp="1"/>
          </p:cNvSpPr>
          <p:nvPr>
            <p:ph type="title"/>
          </p:nvPr>
        </p:nvSpPr>
        <p:spPr/>
        <p:txBody>
          <a:bodyPr/>
          <a:lstStyle/>
          <a:p>
            <a:r>
              <a:rPr lang="en-US" dirty="0">
                <a:solidFill>
                  <a:srgbClr val="00004C"/>
                </a:solidFill>
              </a:rPr>
              <a:t>T1078 Valid Accounts</a:t>
            </a:r>
          </a:p>
        </p:txBody>
      </p:sp>
    </p:spTree>
    <p:extLst>
      <p:ext uri="{BB962C8B-B14F-4D97-AF65-F5344CB8AC3E}">
        <p14:creationId xmlns:p14="http://schemas.microsoft.com/office/powerpoint/2010/main" val="125193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24823-BCD4-1CCD-3A75-8C79E296C102}"/>
              </a:ext>
            </a:extLst>
          </p:cNvPr>
          <p:cNvSpPr>
            <a:spLocks noGrp="1"/>
          </p:cNvSpPr>
          <p:nvPr>
            <p:ph type="body" idx="1"/>
          </p:nvPr>
        </p:nvSpPr>
        <p:spPr/>
        <p:txBody>
          <a:bodyPr/>
          <a:lstStyle/>
          <a:p>
            <a:r>
              <a:rPr lang="en-US" b="1" dirty="0">
                <a:solidFill>
                  <a:srgbClr val="00004C"/>
                </a:solidFill>
              </a:rPr>
              <a:t>Sourcing and Using Credentials</a:t>
            </a:r>
          </a:p>
          <a:p>
            <a:endParaRPr lang="en-US" dirty="0">
              <a:solidFill>
                <a:srgbClr val="00004C"/>
              </a:solidFill>
            </a:endParaRPr>
          </a:p>
          <a:p>
            <a:pPr lvl="1"/>
            <a:r>
              <a:rPr lang="en-US" b="1" dirty="0">
                <a:solidFill>
                  <a:srgbClr val="00004C"/>
                </a:solidFill>
              </a:rPr>
              <a:t>Primary: </a:t>
            </a:r>
            <a:r>
              <a:rPr lang="en-US" dirty="0">
                <a:solidFill>
                  <a:srgbClr val="00004C"/>
                </a:solidFill>
              </a:rPr>
              <a:t>Unique defender intel like hardcoded credentials in malware (e.g., discovered via analysis of captured samples in blue space hunts) or IOCs from network traffic (e.g., creds in adversary malware beacons or exfiltration attempts).</a:t>
            </a:r>
          </a:p>
          <a:p>
            <a:pPr marL="795847" lvl="1" indent="0">
              <a:buNone/>
            </a:pPr>
            <a:endParaRPr lang="en-US" dirty="0">
              <a:solidFill>
                <a:srgbClr val="00004C"/>
              </a:solidFill>
            </a:endParaRPr>
          </a:p>
          <a:p>
            <a:pPr lvl="1"/>
            <a:r>
              <a:rPr lang="en-US" b="1" dirty="0">
                <a:solidFill>
                  <a:srgbClr val="00004C"/>
                </a:solidFill>
              </a:rPr>
              <a:t>Secondary Techniques: </a:t>
            </a:r>
            <a:r>
              <a:rPr lang="en-US" dirty="0">
                <a:solidFill>
                  <a:srgbClr val="00004C"/>
                </a:solidFill>
              </a:rPr>
              <a:t>OSINT/breach data; password spraying (common </a:t>
            </a:r>
            <a:r>
              <a:rPr lang="en-US" dirty="0" err="1">
                <a:solidFill>
                  <a:srgbClr val="00004C"/>
                </a:solidFill>
              </a:rPr>
              <a:t>pwds</a:t>
            </a:r>
            <a:r>
              <a:rPr lang="en-US" dirty="0">
                <a:solidFill>
                  <a:srgbClr val="00004C"/>
                </a:solidFill>
              </a:rPr>
              <a:t> across users); credential stuffing (reused </a:t>
            </a:r>
            <a:r>
              <a:rPr lang="en-US" dirty="0" err="1">
                <a:solidFill>
                  <a:srgbClr val="00004C"/>
                </a:solidFill>
              </a:rPr>
              <a:t>pwds</a:t>
            </a:r>
            <a:r>
              <a:rPr lang="en-US" dirty="0">
                <a:solidFill>
                  <a:srgbClr val="00004C"/>
                </a:solidFill>
              </a:rPr>
              <a:t>).</a:t>
            </a:r>
            <a:endParaRPr lang="en-US" dirty="0"/>
          </a:p>
        </p:txBody>
      </p:sp>
      <p:sp>
        <p:nvSpPr>
          <p:cNvPr id="3" name="Title 2">
            <a:extLst>
              <a:ext uri="{FF2B5EF4-FFF2-40B4-BE49-F238E27FC236}">
                <a16:creationId xmlns:a16="http://schemas.microsoft.com/office/drawing/2014/main" id="{9BA2F2CB-0D64-0154-4553-747BD6859B5C}"/>
              </a:ext>
            </a:extLst>
          </p:cNvPr>
          <p:cNvSpPr>
            <a:spLocks noGrp="1"/>
          </p:cNvSpPr>
          <p:nvPr>
            <p:ph type="title"/>
          </p:nvPr>
        </p:nvSpPr>
        <p:spPr/>
        <p:txBody>
          <a:bodyPr/>
          <a:lstStyle/>
          <a:p>
            <a:r>
              <a:rPr lang="en-US" dirty="0">
                <a:solidFill>
                  <a:srgbClr val="00004C"/>
                </a:solidFill>
              </a:rPr>
              <a:t>T1078 Valid Accounts</a:t>
            </a:r>
          </a:p>
        </p:txBody>
      </p:sp>
    </p:spTree>
    <p:extLst>
      <p:ext uri="{BB962C8B-B14F-4D97-AF65-F5344CB8AC3E}">
        <p14:creationId xmlns:p14="http://schemas.microsoft.com/office/powerpoint/2010/main" val="269046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24823-BCD4-1CCD-3A75-8C79E296C102}"/>
              </a:ext>
            </a:extLst>
          </p:cNvPr>
          <p:cNvSpPr>
            <a:spLocks noGrp="1"/>
          </p:cNvSpPr>
          <p:nvPr>
            <p:ph type="body" idx="1"/>
          </p:nvPr>
        </p:nvSpPr>
        <p:spPr/>
        <p:txBody>
          <a:bodyPr/>
          <a:lstStyle/>
          <a:p>
            <a:r>
              <a:rPr lang="en-US" b="1" dirty="0">
                <a:solidFill>
                  <a:srgbClr val="00004C"/>
                </a:solidFill>
              </a:rPr>
              <a:t>Examples of SSH with Breached Credentials, RDP with Weak Password</a:t>
            </a:r>
          </a:p>
          <a:p>
            <a:pPr marL="169329" indent="0">
              <a:buNone/>
            </a:pPr>
            <a:endParaRPr lang="en-US" dirty="0">
              <a:solidFill>
                <a:srgbClr val="00004C"/>
              </a:solidFill>
            </a:endParaRPr>
          </a:p>
          <a:p>
            <a:pPr lvl="1"/>
            <a:r>
              <a:rPr lang="en-US" b="1" dirty="0">
                <a:solidFill>
                  <a:srgbClr val="00004C"/>
                </a:solidFill>
              </a:rPr>
              <a:t>SSH: </a:t>
            </a:r>
            <a:r>
              <a:rPr lang="en-US" dirty="0">
                <a:solidFill>
                  <a:srgbClr val="00004C"/>
                </a:solidFill>
              </a:rPr>
              <a:t>Use hardcoded creds from malware analysis (e.g., ssh </a:t>
            </a:r>
            <a:r>
              <a:rPr lang="en-US" dirty="0" err="1">
                <a:solidFill>
                  <a:srgbClr val="00004C"/>
                </a:solidFill>
              </a:rPr>
              <a:t>admin@target</a:t>
            </a:r>
            <a:r>
              <a:rPr lang="en-US" dirty="0">
                <a:solidFill>
                  <a:srgbClr val="00004C"/>
                </a:solidFill>
              </a:rPr>
              <a:t> with password extracted from captured C2 binary during blue space hunts).</a:t>
            </a:r>
          </a:p>
          <a:p>
            <a:pPr marL="795847" lvl="1" indent="0">
              <a:buNone/>
            </a:pPr>
            <a:endParaRPr lang="en-US" dirty="0">
              <a:solidFill>
                <a:srgbClr val="00004C"/>
              </a:solidFill>
            </a:endParaRPr>
          </a:p>
          <a:p>
            <a:pPr lvl="1"/>
            <a:r>
              <a:rPr lang="en-US" b="1" dirty="0">
                <a:solidFill>
                  <a:srgbClr val="00004C"/>
                </a:solidFill>
              </a:rPr>
              <a:t>RDP: </a:t>
            </a:r>
            <a:r>
              <a:rPr lang="en-US" dirty="0">
                <a:solidFill>
                  <a:srgbClr val="00004C"/>
                </a:solidFill>
              </a:rPr>
              <a:t>Stuffing tool like Crowbar with weak/default password from IOCs (e.g., against Windows C2 host for desktop access).</a:t>
            </a:r>
          </a:p>
          <a:p>
            <a:pPr marL="795847" lvl="1" indent="0">
              <a:buNone/>
            </a:pPr>
            <a:endParaRPr lang="en-US" dirty="0">
              <a:solidFill>
                <a:srgbClr val="00004C"/>
              </a:solidFill>
            </a:endParaRPr>
          </a:p>
          <a:p>
            <a:pPr lvl="1"/>
            <a:r>
              <a:rPr lang="en-US" b="1" dirty="0">
                <a:solidFill>
                  <a:srgbClr val="00004C"/>
                </a:solidFill>
              </a:rPr>
              <a:t>Outcome: </a:t>
            </a:r>
            <a:r>
              <a:rPr lang="en-US" dirty="0">
                <a:solidFill>
                  <a:srgbClr val="00004C"/>
                </a:solidFill>
              </a:rPr>
              <a:t>Full session for disruption (e.g., delete configs); low noise if creds valid.</a:t>
            </a:r>
            <a:endParaRPr lang="en-US" dirty="0"/>
          </a:p>
        </p:txBody>
      </p:sp>
      <p:sp>
        <p:nvSpPr>
          <p:cNvPr id="3" name="Title 2">
            <a:extLst>
              <a:ext uri="{FF2B5EF4-FFF2-40B4-BE49-F238E27FC236}">
                <a16:creationId xmlns:a16="http://schemas.microsoft.com/office/drawing/2014/main" id="{9BA2F2CB-0D64-0154-4553-747BD6859B5C}"/>
              </a:ext>
            </a:extLst>
          </p:cNvPr>
          <p:cNvSpPr>
            <a:spLocks noGrp="1"/>
          </p:cNvSpPr>
          <p:nvPr>
            <p:ph type="title"/>
          </p:nvPr>
        </p:nvSpPr>
        <p:spPr/>
        <p:txBody>
          <a:bodyPr/>
          <a:lstStyle/>
          <a:p>
            <a:r>
              <a:rPr lang="en-US" dirty="0">
                <a:solidFill>
                  <a:srgbClr val="00004C"/>
                </a:solidFill>
              </a:rPr>
              <a:t>T1078 Valid Accounts</a:t>
            </a:r>
          </a:p>
        </p:txBody>
      </p:sp>
    </p:spTree>
    <p:extLst>
      <p:ext uri="{BB962C8B-B14F-4D97-AF65-F5344CB8AC3E}">
        <p14:creationId xmlns:p14="http://schemas.microsoft.com/office/powerpoint/2010/main" val="2619904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24823-BCD4-1CCD-3A75-8C79E296C102}"/>
              </a:ext>
            </a:extLst>
          </p:cNvPr>
          <p:cNvSpPr>
            <a:spLocks noGrp="1"/>
          </p:cNvSpPr>
          <p:nvPr>
            <p:ph type="body" idx="1"/>
          </p:nvPr>
        </p:nvSpPr>
        <p:spPr/>
        <p:txBody>
          <a:bodyPr/>
          <a:lstStyle/>
          <a:p>
            <a:r>
              <a:rPr lang="en-US" b="1" dirty="0">
                <a:solidFill>
                  <a:srgbClr val="00004C"/>
                </a:solidFill>
              </a:rPr>
              <a:t>Walk-Through: Password Spraying on RDP</a:t>
            </a:r>
          </a:p>
          <a:p>
            <a:pPr marL="169329" indent="0">
              <a:buNone/>
            </a:pPr>
            <a:endParaRPr lang="en-US" dirty="0">
              <a:solidFill>
                <a:srgbClr val="00004C"/>
              </a:solidFill>
            </a:endParaRPr>
          </a:p>
          <a:p>
            <a:pPr lvl="1"/>
            <a:r>
              <a:rPr lang="en-US" b="1" dirty="0">
                <a:solidFill>
                  <a:srgbClr val="00004C"/>
                </a:solidFill>
              </a:rPr>
              <a:t>Input: </a:t>
            </a:r>
            <a:r>
              <a:rPr lang="en-US" dirty="0">
                <a:solidFill>
                  <a:srgbClr val="00004C"/>
                </a:solidFill>
              </a:rPr>
              <a:t>User list from recon; common passwords from malware IOCs (e.g., hardcoded in captured samples)</a:t>
            </a:r>
          </a:p>
          <a:p>
            <a:pPr marL="795847" lvl="1" indent="0">
              <a:buNone/>
            </a:pPr>
            <a:endParaRPr lang="en-US" b="1" dirty="0">
              <a:solidFill>
                <a:srgbClr val="00004C"/>
              </a:solidFill>
            </a:endParaRPr>
          </a:p>
          <a:p>
            <a:pPr lvl="1"/>
            <a:r>
              <a:rPr lang="en-US" b="1" dirty="0">
                <a:solidFill>
                  <a:srgbClr val="00004C"/>
                </a:solidFill>
              </a:rPr>
              <a:t>Tool: </a:t>
            </a:r>
            <a:r>
              <a:rPr lang="en-US" dirty="0">
                <a:solidFill>
                  <a:srgbClr val="00004C"/>
                </a:solidFill>
              </a:rPr>
              <a:t>hydra -L users.txt -P passwords.txt rdp://target</a:t>
            </a:r>
          </a:p>
          <a:p>
            <a:pPr marL="795847" lvl="1" indent="0">
              <a:buNone/>
            </a:pPr>
            <a:endParaRPr lang="en-US" dirty="0">
              <a:solidFill>
                <a:srgbClr val="00004C"/>
              </a:solidFill>
            </a:endParaRPr>
          </a:p>
          <a:p>
            <a:pPr lvl="1"/>
            <a:r>
              <a:rPr lang="en-US" b="1" dirty="0">
                <a:solidFill>
                  <a:srgbClr val="00004C"/>
                </a:solidFill>
              </a:rPr>
              <a:t>Results: </a:t>
            </a:r>
            <a:r>
              <a:rPr lang="en-US" dirty="0">
                <a:solidFill>
                  <a:srgbClr val="00004C"/>
                </a:solidFill>
              </a:rPr>
              <a:t>Successful login; establish session for effects</a:t>
            </a:r>
            <a:endParaRPr lang="en-US" dirty="0"/>
          </a:p>
        </p:txBody>
      </p:sp>
      <p:sp>
        <p:nvSpPr>
          <p:cNvPr id="3" name="Title 2">
            <a:extLst>
              <a:ext uri="{FF2B5EF4-FFF2-40B4-BE49-F238E27FC236}">
                <a16:creationId xmlns:a16="http://schemas.microsoft.com/office/drawing/2014/main" id="{9BA2F2CB-0D64-0154-4553-747BD6859B5C}"/>
              </a:ext>
            </a:extLst>
          </p:cNvPr>
          <p:cNvSpPr>
            <a:spLocks noGrp="1"/>
          </p:cNvSpPr>
          <p:nvPr>
            <p:ph type="title"/>
          </p:nvPr>
        </p:nvSpPr>
        <p:spPr/>
        <p:txBody>
          <a:bodyPr/>
          <a:lstStyle/>
          <a:p>
            <a:r>
              <a:rPr lang="en-US" dirty="0">
                <a:solidFill>
                  <a:srgbClr val="00004C"/>
                </a:solidFill>
              </a:rPr>
              <a:t>T1078 Valid Accounts</a:t>
            </a:r>
          </a:p>
        </p:txBody>
      </p:sp>
    </p:spTree>
    <p:extLst>
      <p:ext uri="{BB962C8B-B14F-4D97-AF65-F5344CB8AC3E}">
        <p14:creationId xmlns:p14="http://schemas.microsoft.com/office/powerpoint/2010/main" val="1768614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24823-BCD4-1CCD-3A75-8C79E296C102}"/>
              </a:ext>
            </a:extLst>
          </p:cNvPr>
          <p:cNvSpPr>
            <a:spLocks noGrp="1"/>
          </p:cNvSpPr>
          <p:nvPr>
            <p:ph type="body" idx="1"/>
          </p:nvPr>
        </p:nvSpPr>
        <p:spPr/>
        <p:txBody>
          <a:bodyPr/>
          <a:lstStyle/>
          <a:p>
            <a:r>
              <a:rPr lang="en-US" b="1" dirty="0">
                <a:solidFill>
                  <a:srgbClr val="00004C"/>
                </a:solidFill>
              </a:rPr>
              <a:t>T1078 OPSEC: Mimicking Legitimate Use</a:t>
            </a:r>
          </a:p>
          <a:p>
            <a:pPr marL="169329" indent="0">
              <a:buNone/>
            </a:pPr>
            <a:endParaRPr lang="en-US" dirty="0">
              <a:solidFill>
                <a:srgbClr val="00004C"/>
              </a:solidFill>
            </a:endParaRPr>
          </a:p>
          <a:p>
            <a:pPr lvl="1"/>
            <a:r>
              <a:rPr lang="en-US" b="1" dirty="0">
                <a:solidFill>
                  <a:srgbClr val="00004C"/>
                </a:solidFill>
              </a:rPr>
              <a:t>Blend: </a:t>
            </a:r>
            <a:r>
              <a:rPr lang="en-US" dirty="0">
                <a:solidFill>
                  <a:srgbClr val="00004C"/>
                </a:solidFill>
              </a:rPr>
              <a:t>Time logins to adversary patterns (e.g., business hours); use valid user agents.</a:t>
            </a:r>
          </a:p>
          <a:p>
            <a:pPr lvl="1"/>
            <a:endParaRPr lang="en-US" b="1" dirty="0">
              <a:solidFill>
                <a:srgbClr val="00004C"/>
              </a:solidFill>
            </a:endParaRPr>
          </a:p>
          <a:p>
            <a:pPr lvl="1"/>
            <a:r>
              <a:rPr lang="en-US" b="1" dirty="0">
                <a:solidFill>
                  <a:srgbClr val="00004C"/>
                </a:solidFill>
              </a:rPr>
              <a:t>Advantages: </a:t>
            </a:r>
            <a:r>
              <a:rPr lang="en-US" dirty="0">
                <a:solidFill>
                  <a:srgbClr val="00004C"/>
                </a:solidFill>
              </a:rPr>
              <a:t>Harder to detect than exploits; enables persistence.</a:t>
            </a:r>
            <a:endParaRPr lang="en-US" dirty="0"/>
          </a:p>
        </p:txBody>
      </p:sp>
      <p:sp>
        <p:nvSpPr>
          <p:cNvPr id="3" name="Title 2">
            <a:extLst>
              <a:ext uri="{FF2B5EF4-FFF2-40B4-BE49-F238E27FC236}">
                <a16:creationId xmlns:a16="http://schemas.microsoft.com/office/drawing/2014/main" id="{9BA2F2CB-0D64-0154-4553-747BD6859B5C}"/>
              </a:ext>
            </a:extLst>
          </p:cNvPr>
          <p:cNvSpPr>
            <a:spLocks noGrp="1"/>
          </p:cNvSpPr>
          <p:nvPr>
            <p:ph type="title"/>
          </p:nvPr>
        </p:nvSpPr>
        <p:spPr/>
        <p:txBody>
          <a:bodyPr/>
          <a:lstStyle/>
          <a:p>
            <a:r>
              <a:rPr lang="en-US" dirty="0">
                <a:solidFill>
                  <a:srgbClr val="00004C"/>
                </a:solidFill>
              </a:rPr>
              <a:t>T1078 Valid Accounts</a:t>
            </a:r>
          </a:p>
        </p:txBody>
      </p:sp>
    </p:spTree>
    <p:extLst>
      <p:ext uri="{BB962C8B-B14F-4D97-AF65-F5344CB8AC3E}">
        <p14:creationId xmlns:p14="http://schemas.microsoft.com/office/powerpoint/2010/main" val="1930132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FAD0-D404-889A-8C46-A90425723D1D}"/>
              </a:ext>
            </a:extLst>
          </p:cNvPr>
          <p:cNvSpPr>
            <a:spLocks noGrp="1"/>
          </p:cNvSpPr>
          <p:nvPr>
            <p:ph type="title"/>
          </p:nvPr>
        </p:nvSpPr>
        <p:spPr/>
        <p:txBody>
          <a:bodyPr/>
          <a:lstStyle/>
          <a:p>
            <a:r>
              <a:rPr lang="en-US" dirty="0">
                <a:solidFill>
                  <a:srgbClr val="00004C"/>
                </a:solidFill>
              </a:rPr>
              <a:t>T1534 Internal Spear Phishing</a:t>
            </a:r>
            <a:br>
              <a:rPr lang="en-US" dirty="0">
                <a:solidFill>
                  <a:srgbClr val="00004C"/>
                </a:solidFill>
              </a:rPr>
            </a:br>
            <a:endParaRPr lang="en-US" dirty="0"/>
          </a:p>
        </p:txBody>
      </p:sp>
    </p:spTree>
    <p:extLst>
      <p:ext uri="{BB962C8B-B14F-4D97-AF65-F5344CB8AC3E}">
        <p14:creationId xmlns:p14="http://schemas.microsoft.com/office/powerpoint/2010/main" val="3375569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AE699B-8F50-63CD-8C36-DB07B1924126}"/>
              </a:ext>
            </a:extLst>
          </p:cNvPr>
          <p:cNvSpPr>
            <a:spLocks noGrp="1"/>
          </p:cNvSpPr>
          <p:nvPr>
            <p:ph type="body" idx="1"/>
          </p:nvPr>
        </p:nvSpPr>
        <p:spPr/>
        <p:txBody>
          <a:bodyPr/>
          <a:lstStyle/>
          <a:p>
            <a:r>
              <a:rPr lang="en-US" b="1" dirty="0">
                <a:solidFill>
                  <a:srgbClr val="00004C"/>
                </a:solidFill>
              </a:rPr>
              <a:t>Definition: </a:t>
            </a:r>
          </a:p>
          <a:p>
            <a:pPr lvl="1"/>
            <a:r>
              <a:rPr lang="en-US" dirty="0">
                <a:solidFill>
                  <a:srgbClr val="00004C"/>
                </a:solidFill>
              </a:rPr>
              <a:t>Unique to hunt team counterstrikes—place lures (e.g., documents with embedded exploits or tracking pixels) in defended blue space networks, anticipating adversary collection/exfiltration to trigger reverse access into their red infrastructure.</a:t>
            </a:r>
          </a:p>
          <a:p>
            <a:r>
              <a:rPr lang="en-US" b="1" dirty="0">
                <a:solidFill>
                  <a:srgbClr val="00004C"/>
                </a:solidFill>
              </a:rPr>
              <a:t>Context: </a:t>
            </a:r>
          </a:p>
          <a:p>
            <a:pPr lvl="1"/>
            <a:r>
              <a:rPr lang="en-US" dirty="0">
                <a:solidFill>
                  <a:srgbClr val="00004C"/>
                </a:solidFill>
              </a:rPr>
              <a:t>Enables initial access by flipping their tactics; opportunistic based on observed adversary behavior (transition to CMT for any further actions).</a:t>
            </a:r>
          </a:p>
          <a:p>
            <a:r>
              <a:rPr lang="en-US" b="1" dirty="0">
                <a:solidFill>
                  <a:srgbClr val="00004C"/>
                </a:solidFill>
              </a:rPr>
              <a:t>Example: </a:t>
            </a:r>
          </a:p>
          <a:p>
            <a:pPr lvl="1"/>
            <a:r>
              <a:rPr lang="en-US" dirty="0">
                <a:solidFill>
                  <a:srgbClr val="00004C"/>
                </a:solidFill>
              </a:rPr>
              <a:t>Seed decoy file with beacon code on shared drive; when adversary steals/processes it, reverse shell connects from their network back to blue space for foothold.</a:t>
            </a:r>
          </a:p>
        </p:txBody>
      </p:sp>
      <p:sp>
        <p:nvSpPr>
          <p:cNvPr id="3" name="Title 2">
            <a:extLst>
              <a:ext uri="{FF2B5EF4-FFF2-40B4-BE49-F238E27FC236}">
                <a16:creationId xmlns:a16="http://schemas.microsoft.com/office/drawing/2014/main" id="{C67D79CE-945F-D136-D432-2F5906F11B06}"/>
              </a:ext>
            </a:extLst>
          </p:cNvPr>
          <p:cNvSpPr>
            <a:spLocks noGrp="1"/>
          </p:cNvSpPr>
          <p:nvPr>
            <p:ph type="title"/>
          </p:nvPr>
        </p:nvSpPr>
        <p:spPr/>
        <p:txBody>
          <a:bodyPr anchor="t"/>
          <a:lstStyle/>
          <a:p>
            <a:r>
              <a:rPr lang="en-US" dirty="0">
                <a:solidFill>
                  <a:srgbClr val="00004C"/>
                </a:solidFill>
              </a:rPr>
              <a:t>T1534 Internal Spear Phishing</a:t>
            </a:r>
            <a:br>
              <a:rPr lang="en-US" dirty="0">
                <a:solidFill>
                  <a:srgbClr val="00004C"/>
                </a:solidFill>
              </a:rPr>
            </a:br>
            <a:endParaRPr lang="en-US" dirty="0"/>
          </a:p>
        </p:txBody>
      </p:sp>
    </p:spTree>
    <p:extLst>
      <p:ext uri="{BB962C8B-B14F-4D97-AF65-F5344CB8AC3E}">
        <p14:creationId xmlns:p14="http://schemas.microsoft.com/office/powerpoint/2010/main" val="1723392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AE699B-8F50-63CD-8C36-DB07B1924126}"/>
              </a:ext>
            </a:extLst>
          </p:cNvPr>
          <p:cNvSpPr>
            <a:spLocks noGrp="1"/>
          </p:cNvSpPr>
          <p:nvPr>
            <p:ph type="body" idx="1"/>
          </p:nvPr>
        </p:nvSpPr>
        <p:spPr/>
        <p:txBody>
          <a:bodyPr/>
          <a:lstStyle/>
          <a:p>
            <a:r>
              <a:rPr lang="en-US" b="1" dirty="0">
                <a:solidFill>
                  <a:srgbClr val="00004C"/>
                </a:solidFill>
              </a:rPr>
              <a:t>T1534 in Operations</a:t>
            </a:r>
          </a:p>
          <a:p>
            <a:pPr lvl="1"/>
            <a:r>
              <a:rPr lang="en-US" b="1" dirty="0">
                <a:solidFill>
                  <a:srgbClr val="00004C"/>
                </a:solidFill>
              </a:rPr>
              <a:t>Execution: </a:t>
            </a:r>
            <a:r>
              <a:rPr lang="en-US" dirty="0">
                <a:solidFill>
                  <a:srgbClr val="00004C"/>
                </a:solidFill>
              </a:rPr>
              <a:t>Craft lures mimicking high-value intel (e.g., fake military docs with exploit code or tracking pixels) placed in monitored blue space areas (e.g., email traps, shared drives) likely to be targeted by adversary theft.</a:t>
            </a:r>
          </a:p>
          <a:p>
            <a:pPr lvl="1"/>
            <a:endParaRPr lang="en-US" dirty="0">
              <a:solidFill>
                <a:srgbClr val="00004C"/>
              </a:solidFill>
            </a:endParaRPr>
          </a:p>
          <a:p>
            <a:pPr lvl="1"/>
            <a:r>
              <a:rPr lang="en-US" b="1" dirty="0">
                <a:solidFill>
                  <a:srgbClr val="00004C"/>
                </a:solidFill>
              </a:rPr>
              <a:t>Value: </a:t>
            </a:r>
            <a:r>
              <a:rPr lang="en-US" dirty="0">
                <a:solidFill>
                  <a:srgbClr val="00004C"/>
                </a:solidFill>
              </a:rPr>
              <a:t>When adversary collects/exfils lure, trigger activates (e.g., beacon or reverse exploit) for initial access to their red infrastructure, leveraging their expected behavior from prior hunts.</a:t>
            </a:r>
          </a:p>
          <a:p>
            <a:pPr marL="795847" lvl="1" indent="0">
              <a:buNone/>
            </a:pPr>
            <a:endParaRPr lang="en-US" dirty="0">
              <a:solidFill>
                <a:srgbClr val="00004C"/>
              </a:solidFill>
            </a:endParaRPr>
          </a:p>
          <a:p>
            <a:pPr lvl="1"/>
            <a:r>
              <a:rPr lang="en-US" b="1" dirty="0">
                <a:solidFill>
                  <a:srgbClr val="00004C"/>
                </a:solidFill>
              </a:rPr>
              <a:t>Operational Note: </a:t>
            </a:r>
            <a:r>
              <a:rPr lang="en-US" dirty="0">
                <a:solidFill>
                  <a:srgbClr val="00004C"/>
                </a:solidFill>
              </a:rPr>
              <a:t>Monitor blue space for collection triggers; high OPSEC as no direct contact with adversary until they engage; transition access to CMT if lateral required.</a:t>
            </a:r>
          </a:p>
        </p:txBody>
      </p:sp>
      <p:sp>
        <p:nvSpPr>
          <p:cNvPr id="3" name="Title 2">
            <a:extLst>
              <a:ext uri="{FF2B5EF4-FFF2-40B4-BE49-F238E27FC236}">
                <a16:creationId xmlns:a16="http://schemas.microsoft.com/office/drawing/2014/main" id="{C67D79CE-945F-D136-D432-2F5906F11B06}"/>
              </a:ext>
            </a:extLst>
          </p:cNvPr>
          <p:cNvSpPr>
            <a:spLocks noGrp="1"/>
          </p:cNvSpPr>
          <p:nvPr>
            <p:ph type="title"/>
          </p:nvPr>
        </p:nvSpPr>
        <p:spPr/>
        <p:txBody>
          <a:bodyPr anchor="t"/>
          <a:lstStyle/>
          <a:p>
            <a:r>
              <a:rPr lang="en-US" dirty="0">
                <a:solidFill>
                  <a:srgbClr val="00004C"/>
                </a:solidFill>
              </a:rPr>
              <a:t>T1534 Internal Spear phishing</a:t>
            </a:r>
            <a:br>
              <a:rPr lang="en-US" dirty="0">
                <a:solidFill>
                  <a:srgbClr val="00004C"/>
                </a:solidFill>
              </a:rPr>
            </a:br>
            <a:endParaRPr lang="en-US" dirty="0"/>
          </a:p>
        </p:txBody>
      </p:sp>
    </p:spTree>
    <p:extLst>
      <p:ext uri="{BB962C8B-B14F-4D97-AF65-F5344CB8AC3E}">
        <p14:creationId xmlns:p14="http://schemas.microsoft.com/office/powerpoint/2010/main" val="2625297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AE699B-8F50-63CD-8C36-DB07B1924126}"/>
              </a:ext>
            </a:extLst>
          </p:cNvPr>
          <p:cNvSpPr>
            <a:spLocks noGrp="1"/>
          </p:cNvSpPr>
          <p:nvPr>
            <p:ph type="body" idx="1"/>
          </p:nvPr>
        </p:nvSpPr>
        <p:spPr/>
        <p:txBody>
          <a:bodyPr/>
          <a:lstStyle/>
          <a:p>
            <a:r>
              <a:rPr lang="en-US" b="1" dirty="0">
                <a:solidFill>
                  <a:srgbClr val="00004C"/>
                </a:solidFill>
              </a:rPr>
              <a:t>Preview for CMT Transition</a:t>
            </a:r>
          </a:p>
          <a:p>
            <a:pPr marL="169329" indent="0">
              <a:buNone/>
            </a:pPr>
            <a:endParaRPr lang="en-US" b="1" dirty="0">
              <a:solidFill>
                <a:srgbClr val="00004C"/>
              </a:solidFill>
            </a:endParaRPr>
          </a:p>
          <a:p>
            <a:pPr lvl="1"/>
            <a:r>
              <a:rPr lang="en-US" dirty="0">
                <a:solidFill>
                  <a:srgbClr val="00004C"/>
                </a:solidFill>
              </a:rPr>
              <a:t>Forward Look at CMT Handover: </a:t>
            </a:r>
          </a:p>
          <a:p>
            <a:pPr lvl="2"/>
            <a:endParaRPr lang="en-US" dirty="0">
              <a:solidFill>
                <a:srgbClr val="00004C"/>
              </a:solidFill>
            </a:endParaRPr>
          </a:p>
          <a:p>
            <a:pPr lvl="2"/>
            <a:r>
              <a:rPr lang="en-US" dirty="0">
                <a:solidFill>
                  <a:srgbClr val="00004C"/>
                </a:solidFill>
              </a:rPr>
              <a:t>T1534 secures initial foothold via reverse access (e.g., from lure trigger to adversary analysis node or C2.</a:t>
            </a:r>
          </a:p>
          <a:p>
            <a:pPr lvl="2"/>
            <a:endParaRPr lang="en-US" dirty="0">
              <a:solidFill>
                <a:srgbClr val="00004C"/>
              </a:solidFill>
            </a:endParaRPr>
          </a:p>
          <a:p>
            <a:pPr lvl="2"/>
            <a:r>
              <a:rPr lang="en-US" dirty="0">
                <a:solidFill>
                  <a:srgbClr val="00004C"/>
                </a:solidFill>
              </a:rPr>
              <a:t>Combine with other vectors for robust initial access; hand off to CMT for lateral movement or expansion.</a:t>
            </a:r>
          </a:p>
        </p:txBody>
      </p:sp>
      <p:sp>
        <p:nvSpPr>
          <p:cNvPr id="3" name="Title 2">
            <a:extLst>
              <a:ext uri="{FF2B5EF4-FFF2-40B4-BE49-F238E27FC236}">
                <a16:creationId xmlns:a16="http://schemas.microsoft.com/office/drawing/2014/main" id="{C67D79CE-945F-D136-D432-2F5906F11B06}"/>
              </a:ext>
            </a:extLst>
          </p:cNvPr>
          <p:cNvSpPr>
            <a:spLocks noGrp="1"/>
          </p:cNvSpPr>
          <p:nvPr>
            <p:ph type="title"/>
          </p:nvPr>
        </p:nvSpPr>
        <p:spPr/>
        <p:txBody>
          <a:bodyPr anchor="t"/>
          <a:lstStyle/>
          <a:p>
            <a:r>
              <a:rPr lang="en-US" dirty="0">
                <a:solidFill>
                  <a:srgbClr val="00004C"/>
                </a:solidFill>
              </a:rPr>
              <a:t>T1534 Internal Spear phishing</a:t>
            </a:r>
            <a:br>
              <a:rPr lang="en-US" dirty="0">
                <a:solidFill>
                  <a:srgbClr val="00004C"/>
                </a:solidFill>
              </a:rPr>
            </a:br>
            <a:endParaRPr lang="en-US" dirty="0"/>
          </a:p>
        </p:txBody>
      </p:sp>
    </p:spTree>
    <p:extLst>
      <p:ext uri="{BB962C8B-B14F-4D97-AF65-F5344CB8AC3E}">
        <p14:creationId xmlns:p14="http://schemas.microsoft.com/office/powerpoint/2010/main" val="1707106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B2645-9F74-C01D-81F7-E6DC58B95CCD}"/>
              </a:ext>
            </a:extLst>
          </p:cNvPr>
          <p:cNvSpPr>
            <a:spLocks noGrp="1"/>
          </p:cNvSpPr>
          <p:nvPr>
            <p:ph type="title"/>
          </p:nvPr>
        </p:nvSpPr>
        <p:spPr/>
        <p:txBody>
          <a:bodyPr/>
          <a:lstStyle/>
          <a:p>
            <a:r>
              <a:rPr lang="en-US" dirty="0">
                <a:solidFill>
                  <a:srgbClr val="00004C"/>
                </a:solidFill>
              </a:rPr>
              <a:t>Integration and Selection</a:t>
            </a:r>
            <a:br>
              <a:rPr lang="en-US" dirty="0">
                <a:solidFill>
                  <a:srgbClr val="00004C"/>
                </a:solidFill>
              </a:rPr>
            </a:br>
            <a:endParaRPr lang="en-US" dirty="0"/>
          </a:p>
        </p:txBody>
      </p:sp>
    </p:spTree>
    <p:extLst>
      <p:ext uri="{BB962C8B-B14F-4D97-AF65-F5344CB8AC3E}">
        <p14:creationId xmlns:p14="http://schemas.microsoft.com/office/powerpoint/2010/main" val="400805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A99525-A7F4-8AC9-4ACD-D63236F2D441}"/>
              </a:ext>
            </a:extLst>
          </p:cNvPr>
          <p:cNvSpPr>
            <a:spLocks noGrp="1"/>
          </p:cNvSpPr>
          <p:nvPr>
            <p:ph type="body" idx="1"/>
          </p:nvPr>
        </p:nvSpPr>
        <p:spPr/>
        <p:txBody>
          <a:bodyPr/>
          <a:lstStyle/>
          <a:p>
            <a:r>
              <a:rPr lang="en-US" dirty="0">
                <a:solidFill>
                  <a:srgbClr val="00004C"/>
                </a:solidFill>
              </a:rPr>
              <a:t>Integrating Vectors for Robust Access</a:t>
            </a:r>
          </a:p>
          <a:p>
            <a:pPr marL="169329" indent="0">
              <a:buNone/>
            </a:pPr>
            <a:endParaRPr lang="en-US" dirty="0">
              <a:solidFill>
                <a:srgbClr val="00004C"/>
              </a:solidFill>
            </a:endParaRPr>
          </a:p>
          <a:p>
            <a:pPr lvl="1"/>
            <a:r>
              <a:rPr lang="en-US" dirty="0">
                <a:solidFill>
                  <a:srgbClr val="00004C"/>
                </a:solidFill>
              </a:rPr>
              <a:t>Typical operations use T1190 for quick shell, fallback to T1078 creds if exploit fails; layer T1133 for remote pivots.</a:t>
            </a:r>
          </a:p>
          <a:p>
            <a:pPr marL="795847" lvl="1" indent="0">
              <a:buNone/>
            </a:pPr>
            <a:endParaRPr lang="en-US" dirty="0">
              <a:solidFill>
                <a:srgbClr val="00004C"/>
              </a:solidFill>
            </a:endParaRPr>
          </a:p>
          <a:p>
            <a:pPr lvl="1"/>
            <a:r>
              <a:rPr lang="en-US" dirty="0">
                <a:solidFill>
                  <a:srgbClr val="00004C"/>
                </a:solidFill>
              </a:rPr>
              <a:t>Multiple paths ensure effects (e.g., disrupt C2 even if one vector is patched).</a:t>
            </a:r>
          </a:p>
        </p:txBody>
      </p:sp>
      <p:sp>
        <p:nvSpPr>
          <p:cNvPr id="3" name="Title 2">
            <a:extLst>
              <a:ext uri="{FF2B5EF4-FFF2-40B4-BE49-F238E27FC236}">
                <a16:creationId xmlns:a16="http://schemas.microsoft.com/office/drawing/2014/main" id="{63DD1179-4F5E-F7A7-365A-A6FB27468051}"/>
              </a:ext>
            </a:extLst>
          </p:cNvPr>
          <p:cNvSpPr>
            <a:spLocks noGrp="1"/>
          </p:cNvSpPr>
          <p:nvPr>
            <p:ph type="title"/>
          </p:nvPr>
        </p:nvSpPr>
        <p:spPr/>
        <p:txBody>
          <a:bodyPr anchor="t"/>
          <a:lstStyle/>
          <a:p>
            <a:r>
              <a:rPr lang="en-US" dirty="0">
                <a:solidFill>
                  <a:srgbClr val="00004C"/>
                </a:solidFill>
              </a:rPr>
              <a:t>Integration and Selection</a:t>
            </a:r>
            <a:br>
              <a:rPr lang="en-US" dirty="0">
                <a:solidFill>
                  <a:srgbClr val="00004C"/>
                </a:solidFill>
              </a:rPr>
            </a:br>
            <a:endParaRPr lang="en-US" dirty="0"/>
          </a:p>
        </p:txBody>
      </p:sp>
    </p:spTree>
    <p:extLst>
      <p:ext uri="{BB962C8B-B14F-4D97-AF65-F5344CB8AC3E}">
        <p14:creationId xmlns:p14="http://schemas.microsoft.com/office/powerpoint/2010/main" val="3078832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A99525-A7F4-8AC9-4ACD-D63236F2D441}"/>
              </a:ext>
            </a:extLst>
          </p:cNvPr>
          <p:cNvSpPr>
            <a:spLocks noGrp="1"/>
          </p:cNvSpPr>
          <p:nvPr>
            <p:ph type="body" idx="1"/>
          </p:nvPr>
        </p:nvSpPr>
        <p:spPr/>
        <p:txBody>
          <a:bodyPr/>
          <a:lstStyle/>
          <a:p>
            <a:r>
              <a:rPr lang="en-US" b="1" dirty="0">
                <a:solidFill>
                  <a:srgbClr val="00004C"/>
                </a:solidFill>
              </a:rPr>
              <a:t>Selecting Techniques Based on Key Factors</a:t>
            </a:r>
          </a:p>
          <a:p>
            <a:pPr lvl="1"/>
            <a:r>
              <a:rPr lang="en-US" b="1" dirty="0">
                <a:solidFill>
                  <a:srgbClr val="00004C"/>
                </a:solidFill>
              </a:rPr>
              <a:t>Selection Criteria</a:t>
            </a:r>
          </a:p>
          <a:p>
            <a:pPr lvl="2"/>
            <a:r>
              <a:rPr lang="en-US" b="1" dirty="0">
                <a:solidFill>
                  <a:srgbClr val="00004C"/>
                </a:solidFill>
              </a:rPr>
              <a:t>Target Environment: </a:t>
            </a:r>
            <a:r>
              <a:rPr lang="en-US" dirty="0">
                <a:solidFill>
                  <a:srgbClr val="00004C"/>
                </a:solidFill>
              </a:rPr>
              <a:t>Exposed web? → T1190; Remote services with known vulns? → T1133</a:t>
            </a:r>
          </a:p>
          <a:p>
            <a:pPr marL="1430831" lvl="2" indent="0">
              <a:buNone/>
            </a:pPr>
            <a:endParaRPr lang="en-US" dirty="0">
              <a:solidFill>
                <a:srgbClr val="00004C"/>
              </a:solidFill>
            </a:endParaRPr>
          </a:p>
          <a:p>
            <a:pPr lvl="2"/>
            <a:r>
              <a:rPr lang="en-US" b="1" dirty="0">
                <a:solidFill>
                  <a:srgbClr val="00004C"/>
                </a:solidFill>
              </a:rPr>
              <a:t>Intelligence Available: </a:t>
            </a:r>
            <a:r>
              <a:rPr lang="en-US" dirty="0">
                <a:solidFill>
                  <a:srgbClr val="00004C"/>
                </a:solidFill>
              </a:rPr>
              <a:t>Vulns from research? Prioritize exploits; creds? Use T1078; Adversary exfil patterns from hunts? → T1534 lures</a:t>
            </a:r>
          </a:p>
          <a:p>
            <a:pPr marL="1430831" lvl="2" indent="0">
              <a:buNone/>
            </a:pPr>
            <a:endParaRPr lang="en-US" dirty="0">
              <a:solidFill>
                <a:srgbClr val="00004C"/>
              </a:solidFill>
            </a:endParaRPr>
          </a:p>
          <a:p>
            <a:pPr lvl="2"/>
            <a:r>
              <a:rPr lang="en-US" b="1" dirty="0">
                <a:solidFill>
                  <a:srgbClr val="00004C"/>
                </a:solidFill>
              </a:rPr>
              <a:t>Operational Requirements: </a:t>
            </a:r>
            <a:r>
              <a:rPr lang="en-US" dirty="0">
                <a:solidFill>
                  <a:srgbClr val="00004C"/>
                </a:solidFill>
              </a:rPr>
              <a:t>Speed (exploits for fast shells); Stealth (creds for blending; lures for passive triggers)</a:t>
            </a:r>
          </a:p>
          <a:p>
            <a:pPr marL="1430831" lvl="2" indent="0">
              <a:buNone/>
            </a:pPr>
            <a:endParaRPr lang="en-US" dirty="0">
              <a:solidFill>
                <a:srgbClr val="00004C"/>
              </a:solidFill>
            </a:endParaRPr>
          </a:p>
          <a:p>
            <a:pPr lvl="2"/>
            <a:r>
              <a:rPr lang="en-US" b="1" dirty="0">
                <a:solidFill>
                  <a:srgbClr val="00004C"/>
                </a:solidFill>
              </a:rPr>
              <a:t>Authorities: </a:t>
            </a:r>
            <a:r>
              <a:rPr lang="en-US" dirty="0">
                <a:solidFill>
                  <a:srgbClr val="00004C"/>
                </a:solidFill>
              </a:rPr>
              <a:t>Per ROE, all allowed on adversary infrastructure</a:t>
            </a:r>
          </a:p>
        </p:txBody>
      </p:sp>
      <p:sp>
        <p:nvSpPr>
          <p:cNvPr id="3" name="Title 2">
            <a:extLst>
              <a:ext uri="{FF2B5EF4-FFF2-40B4-BE49-F238E27FC236}">
                <a16:creationId xmlns:a16="http://schemas.microsoft.com/office/drawing/2014/main" id="{63DD1179-4F5E-F7A7-365A-A6FB27468051}"/>
              </a:ext>
            </a:extLst>
          </p:cNvPr>
          <p:cNvSpPr>
            <a:spLocks noGrp="1"/>
          </p:cNvSpPr>
          <p:nvPr>
            <p:ph type="title"/>
          </p:nvPr>
        </p:nvSpPr>
        <p:spPr/>
        <p:txBody>
          <a:bodyPr anchor="t"/>
          <a:lstStyle/>
          <a:p>
            <a:r>
              <a:rPr lang="en-US" dirty="0">
                <a:solidFill>
                  <a:srgbClr val="00004C"/>
                </a:solidFill>
              </a:rPr>
              <a:t>Integration and Selection</a:t>
            </a:r>
            <a:br>
              <a:rPr lang="en-US" dirty="0">
                <a:solidFill>
                  <a:srgbClr val="00004C"/>
                </a:solidFill>
              </a:rPr>
            </a:br>
            <a:endParaRPr lang="en-US" dirty="0"/>
          </a:p>
        </p:txBody>
      </p:sp>
    </p:spTree>
    <p:extLst>
      <p:ext uri="{BB962C8B-B14F-4D97-AF65-F5344CB8AC3E}">
        <p14:creationId xmlns:p14="http://schemas.microsoft.com/office/powerpoint/2010/main" val="1782472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A99525-A7F4-8AC9-4ACD-D63236F2D441}"/>
              </a:ext>
            </a:extLst>
          </p:cNvPr>
          <p:cNvSpPr>
            <a:spLocks noGrp="1"/>
          </p:cNvSpPr>
          <p:nvPr>
            <p:ph type="body" idx="1"/>
          </p:nvPr>
        </p:nvSpPr>
        <p:spPr/>
        <p:txBody>
          <a:bodyPr/>
          <a:lstStyle/>
          <a:p>
            <a:r>
              <a:rPr lang="en-US" b="1" dirty="0">
                <a:solidFill>
                  <a:srgbClr val="00004C"/>
                </a:solidFill>
              </a:rPr>
              <a:t>Documenting Access Method for Operational Handover</a:t>
            </a:r>
          </a:p>
          <a:p>
            <a:pPr marL="169329" indent="0">
              <a:buNone/>
            </a:pPr>
            <a:endParaRPr lang="en-US" b="1" dirty="0">
              <a:solidFill>
                <a:srgbClr val="00004C"/>
              </a:solidFill>
            </a:endParaRPr>
          </a:p>
          <a:p>
            <a:pPr lvl="1"/>
            <a:r>
              <a:rPr lang="en-US" b="1" dirty="0">
                <a:solidFill>
                  <a:srgbClr val="00004C"/>
                </a:solidFill>
              </a:rPr>
              <a:t>Documentation Best Practices</a:t>
            </a:r>
          </a:p>
          <a:p>
            <a:pPr lvl="1"/>
            <a:endParaRPr lang="en-US" dirty="0">
              <a:solidFill>
                <a:srgbClr val="00004C"/>
              </a:solidFill>
            </a:endParaRPr>
          </a:p>
          <a:p>
            <a:pPr lvl="2"/>
            <a:r>
              <a:rPr lang="en-US" b="1" dirty="0">
                <a:solidFill>
                  <a:srgbClr val="00004C"/>
                </a:solidFill>
              </a:rPr>
              <a:t>Record: </a:t>
            </a:r>
            <a:r>
              <a:rPr lang="en-US" dirty="0">
                <a:solidFill>
                  <a:srgbClr val="00004C"/>
                </a:solidFill>
              </a:rPr>
              <a:t>Technique used (e.g., "T1190 via CVE-2021-44228 Metasploit"), success metrics, IOCs generated.</a:t>
            </a:r>
          </a:p>
          <a:p>
            <a:pPr marL="1430831" lvl="2" indent="0">
              <a:buNone/>
            </a:pPr>
            <a:endParaRPr lang="en-US" dirty="0">
              <a:solidFill>
                <a:srgbClr val="00004C"/>
              </a:solidFill>
            </a:endParaRPr>
          </a:p>
          <a:p>
            <a:pPr lvl="2"/>
            <a:r>
              <a:rPr lang="en-US" b="1" dirty="0">
                <a:solidFill>
                  <a:srgbClr val="00004C"/>
                </a:solidFill>
              </a:rPr>
              <a:t>Handover: </a:t>
            </a:r>
            <a:r>
              <a:rPr lang="en-US" dirty="0">
                <a:solidFill>
                  <a:srgbClr val="00004C"/>
                </a:solidFill>
              </a:rPr>
              <a:t>Share shells/sessions with follow-on teams (e.g., initial access handover to CMT for Block III actions).</a:t>
            </a:r>
          </a:p>
          <a:p>
            <a:pPr marL="1430831" lvl="2" indent="0">
              <a:buNone/>
            </a:pPr>
            <a:endParaRPr lang="en-US" dirty="0">
              <a:solidFill>
                <a:srgbClr val="00004C"/>
              </a:solidFill>
            </a:endParaRPr>
          </a:p>
          <a:p>
            <a:pPr lvl="2"/>
            <a:r>
              <a:rPr lang="en-US" b="1" dirty="0">
                <a:solidFill>
                  <a:srgbClr val="00004C"/>
                </a:solidFill>
              </a:rPr>
              <a:t>Blue Space: </a:t>
            </a:r>
            <a:r>
              <a:rPr lang="en-US" dirty="0">
                <a:solidFill>
                  <a:srgbClr val="00004C"/>
                </a:solidFill>
              </a:rPr>
              <a:t>Log from secure vantage, supporting chain of custody in military operations.</a:t>
            </a:r>
          </a:p>
        </p:txBody>
      </p:sp>
      <p:sp>
        <p:nvSpPr>
          <p:cNvPr id="3" name="Title 2">
            <a:extLst>
              <a:ext uri="{FF2B5EF4-FFF2-40B4-BE49-F238E27FC236}">
                <a16:creationId xmlns:a16="http://schemas.microsoft.com/office/drawing/2014/main" id="{63DD1179-4F5E-F7A7-365A-A6FB27468051}"/>
              </a:ext>
            </a:extLst>
          </p:cNvPr>
          <p:cNvSpPr>
            <a:spLocks noGrp="1"/>
          </p:cNvSpPr>
          <p:nvPr>
            <p:ph type="title"/>
          </p:nvPr>
        </p:nvSpPr>
        <p:spPr/>
        <p:txBody>
          <a:bodyPr anchor="t"/>
          <a:lstStyle/>
          <a:p>
            <a:r>
              <a:rPr lang="en-US" dirty="0">
                <a:solidFill>
                  <a:srgbClr val="00004C"/>
                </a:solidFill>
              </a:rPr>
              <a:t>Integration and Selection</a:t>
            </a:r>
            <a:br>
              <a:rPr lang="en-US" dirty="0">
                <a:solidFill>
                  <a:srgbClr val="00004C"/>
                </a:solidFill>
              </a:rPr>
            </a:br>
            <a:endParaRPr lang="en-US" dirty="0"/>
          </a:p>
        </p:txBody>
      </p:sp>
    </p:spTree>
    <p:extLst>
      <p:ext uri="{BB962C8B-B14F-4D97-AF65-F5344CB8AC3E}">
        <p14:creationId xmlns:p14="http://schemas.microsoft.com/office/powerpoint/2010/main" val="3722811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A99525-A7F4-8AC9-4ACD-D63236F2D441}"/>
              </a:ext>
            </a:extLst>
          </p:cNvPr>
          <p:cNvSpPr>
            <a:spLocks noGrp="1"/>
          </p:cNvSpPr>
          <p:nvPr>
            <p:ph type="body" idx="1"/>
          </p:nvPr>
        </p:nvSpPr>
        <p:spPr/>
        <p:txBody>
          <a:bodyPr/>
          <a:lstStyle/>
          <a:p>
            <a:r>
              <a:rPr lang="en-US" b="1" dirty="0">
                <a:solidFill>
                  <a:srgbClr val="00004C"/>
                </a:solidFill>
              </a:rPr>
              <a:t>Blue Space Advantages in Selection and Execution</a:t>
            </a:r>
          </a:p>
          <a:p>
            <a:pPr marL="169329" indent="0">
              <a:buNone/>
            </a:pPr>
            <a:endParaRPr lang="en-US" dirty="0">
              <a:solidFill>
                <a:srgbClr val="00004C"/>
              </a:solidFill>
            </a:endParaRPr>
          </a:p>
          <a:p>
            <a:pPr lvl="1"/>
            <a:r>
              <a:rPr lang="en-US" b="1" dirty="0">
                <a:solidFill>
                  <a:srgbClr val="00004C"/>
                </a:solidFill>
              </a:rPr>
              <a:t>Positioning for Optimal Strikes</a:t>
            </a:r>
          </a:p>
          <a:p>
            <a:pPr lvl="2"/>
            <a:r>
              <a:rPr lang="en-US" dirty="0">
                <a:solidFill>
                  <a:srgbClr val="00004C"/>
                </a:solidFill>
              </a:rPr>
              <a:t>Enhances technique selection for initial access, ensuring precise countereffects (e.g., foothold for handover) with superior OPSEC.</a:t>
            </a:r>
          </a:p>
          <a:p>
            <a:pPr marL="1430831" lvl="2" indent="0">
              <a:buNone/>
            </a:pPr>
            <a:endParaRPr lang="en-US" dirty="0">
              <a:solidFill>
                <a:srgbClr val="00004C"/>
              </a:solidFill>
            </a:endParaRPr>
          </a:p>
          <a:p>
            <a:pPr lvl="2"/>
            <a:r>
              <a:rPr lang="en-US" dirty="0">
                <a:solidFill>
                  <a:srgbClr val="00004C"/>
                </a:solidFill>
              </a:rPr>
              <a:t>Vs. CMT Operations: Avoids risks of covert infrastructure (as detailed earlier).</a:t>
            </a:r>
          </a:p>
        </p:txBody>
      </p:sp>
      <p:sp>
        <p:nvSpPr>
          <p:cNvPr id="3" name="Title 2">
            <a:extLst>
              <a:ext uri="{FF2B5EF4-FFF2-40B4-BE49-F238E27FC236}">
                <a16:creationId xmlns:a16="http://schemas.microsoft.com/office/drawing/2014/main" id="{63DD1179-4F5E-F7A7-365A-A6FB27468051}"/>
              </a:ext>
            </a:extLst>
          </p:cNvPr>
          <p:cNvSpPr>
            <a:spLocks noGrp="1"/>
          </p:cNvSpPr>
          <p:nvPr>
            <p:ph type="title"/>
          </p:nvPr>
        </p:nvSpPr>
        <p:spPr/>
        <p:txBody>
          <a:bodyPr anchor="t"/>
          <a:lstStyle/>
          <a:p>
            <a:r>
              <a:rPr lang="en-US" dirty="0">
                <a:solidFill>
                  <a:srgbClr val="00004C"/>
                </a:solidFill>
              </a:rPr>
              <a:t>Integration and Selection</a:t>
            </a:r>
            <a:br>
              <a:rPr lang="en-US" dirty="0">
                <a:solidFill>
                  <a:srgbClr val="00004C"/>
                </a:solidFill>
              </a:rPr>
            </a:br>
            <a:endParaRPr lang="en-US" dirty="0"/>
          </a:p>
        </p:txBody>
      </p:sp>
    </p:spTree>
    <p:extLst>
      <p:ext uri="{BB962C8B-B14F-4D97-AF65-F5344CB8AC3E}">
        <p14:creationId xmlns:p14="http://schemas.microsoft.com/office/powerpoint/2010/main" val="1526869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r>
              <a:rPr lang="en-US" dirty="0">
                <a:solidFill>
                  <a:srgbClr val="00004C"/>
                </a:solidFill>
              </a:rPr>
              <a:t>In this lesson you learned about:</a:t>
            </a:r>
          </a:p>
          <a:p>
            <a:endParaRPr lang="en-US" dirty="0"/>
          </a:p>
          <a:p>
            <a:pPr lvl="1"/>
            <a:r>
              <a:rPr lang="en-US" dirty="0">
                <a:solidFill>
                  <a:srgbClr val="00004C"/>
                </a:solidFill>
              </a:rPr>
              <a:t>T1190: Exploit public apps for RCE shells (e.g., web vulns)</a:t>
            </a:r>
          </a:p>
          <a:p>
            <a:pPr marL="795847" lvl="1" indent="0">
              <a:buNone/>
            </a:pPr>
            <a:endParaRPr lang="en-US" dirty="0">
              <a:solidFill>
                <a:srgbClr val="00004C"/>
              </a:solidFill>
            </a:endParaRPr>
          </a:p>
          <a:p>
            <a:pPr lvl="1"/>
            <a:r>
              <a:rPr lang="en-US" dirty="0">
                <a:solidFill>
                  <a:srgbClr val="00004C"/>
                </a:solidFill>
              </a:rPr>
              <a:t>T1133: Remote services via vulnerability exploits (e.g., SSH/RDP CVEs)</a:t>
            </a:r>
          </a:p>
          <a:p>
            <a:pPr marL="795847" lvl="1" indent="0">
              <a:buNone/>
            </a:pPr>
            <a:endParaRPr lang="en-US" dirty="0">
              <a:solidFill>
                <a:srgbClr val="00004C"/>
              </a:solidFill>
            </a:endParaRPr>
          </a:p>
          <a:p>
            <a:pPr lvl="1"/>
            <a:r>
              <a:rPr lang="en-US" dirty="0">
                <a:solidFill>
                  <a:srgbClr val="00004C"/>
                </a:solidFill>
              </a:rPr>
              <a:t>T1078: Valid accounts for stealthy auth (e.g., spraying)</a:t>
            </a:r>
          </a:p>
          <a:p>
            <a:pPr marL="795847" lvl="1" indent="0">
              <a:buNone/>
            </a:pPr>
            <a:endParaRPr lang="en-US" dirty="0">
              <a:solidFill>
                <a:srgbClr val="00004C"/>
              </a:solidFill>
            </a:endParaRPr>
          </a:p>
          <a:p>
            <a:pPr lvl="1"/>
            <a:r>
              <a:rPr lang="en-US" dirty="0">
                <a:solidFill>
                  <a:srgbClr val="00004C"/>
                </a:solidFill>
              </a:rPr>
              <a:t>T1534: Place lures in blue space for reverse initial access when adversary collects/exfils (hand off to CMT for lateral)</a:t>
            </a:r>
          </a:p>
          <a:p>
            <a:pPr lvl="1"/>
            <a:endParaRPr lang="en-US" dirty="0">
              <a:solidFill>
                <a:srgbClr val="00004C"/>
              </a:solidFill>
            </a:endParaRPr>
          </a:p>
          <a:p>
            <a:pPr lvl="1"/>
            <a:r>
              <a:rPr lang="en-US" dirty="0">
                <a:solidFill>
                  <a:srgbClr val="00004C"/>
                </a:solidFill>
              </a:rPr>
              <a:t>Integration: Select per recon/intel; leverage blue space for OPSEC-superior strikes vs. CMT operations using covert infrastructure</a:t>
            </a:r>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1870582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r>
              <a:rPr lang="en-US" dirty="0">
                <a:solidFill>
                  <a:srgbClr val="00004C"/>
                </a:solidFill>
              </a:rPr>
              <a:t>The next lesson will be a lab where you will have an opportunity to practice what you learned during this lesson by conducting initial access techniques in a simulated, counterstrike scenario.</a:t>
            </a:r>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2700962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 Questions?</a:t>
            </a:r>
          </a:p>
        </p:txBody>
      </p:sp>
    </p:spTree>
    <p:extLst>
      <p:ext uri="{BB962C8B-B14F-4D97-AF65-F5344CB8AC3E}">
        <p14:creationId xmlns:p14="http://schemas.microsoft.com/office/powerpoint/2010/main" val="2036068300"/>
      </p:ext>
    </p:extLst>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cture Template Primary" id="{3FAB2691-938F-4A4F-BEE8-49EC265A7425}" vid="{8C052DBC-2246-405A-94F7-2BD3C078A3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19b09694-a9e1-48e9-87be-8b22c227c48c</TitusGUID>
  <TitusMetadata xmlns="">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TitusMetadata>
</titus>
</file>

<file path=customXml/itemProps1.xml><?xml version="1.0" encoding="utf-8"?>
<ds:datastoreItem xmlns:ds="http://schemas.openxmlformats.org/officeDocument/2006/customXml" ds:itemID="{9ED1A20F-9DE4-4159-9A6D-18E30615BA76}">
  <ds:schemaRefs>
    <ds:schemaRef ds:uri="http://schemas.titus.com/TitusProperties/"/>
    <ds:schemaRef ds:uri=""/>
  </ds:schemaRefs>
</ds:datastoreItem>
</file>

<file path=docMetadata/LabelInfo.xml><?xml version="1.0" encoding="utf-8"?>
<clbl:labelList xmlns:clbl="http://schemas.microsoft.com/office/2020/mipLabelMetadata">
  <clbl:label id="{3de9faa6-9fe1-49b3-9a08-227a296b54a6}" enabled="1" method="Privileged" siteId="{66d73691-ea97-48b1-95d5-e94f0a46b878}" contentBits="0" removed="0"/>
</clbl:labelList>
</file>

<file path=docProps/app.xml><?xml version="1.0" encoding="utf-8"?>
<Properties xmlns="http://schemas.openxmlformats.org/officeDocument/2006/extended-properties" xmlns:vt="http://schemas.openxmlformats.org/officeDocument/2006/docPropsVTypes">
  <Template>Lecture Template</Template>
  <TotalTime>415</TotalTime>
  <Words>2367</Words>
  <Application>Microsoft Office PowerPoint</Application>
  <PresentationFormat>Widescreen</PresentationFormat>
  <Paragraphs>223</Paragraphs>
  <Slides>39</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-apple-system</vt:lpstr>
      <vt:lpstr>Arial</vt:lpstr>
      <vt:lpstr>Calibri</vt:lpstr>
      <vt:lpstr>CyberTemplateL_Green Unclass</vt:lpstr>
      <vt:lpstr>Gaining Access for Cyber Protection Teams</vt:lpstr>
      <vt:lpstr>Lesson Objectives</vt:lpstr>
      <vt:lpstr>Lesson Overview</vt:lpstr>
      <vt:lpstr>Introduction to Gaining Access </vt:lpstr>
      <vt:lpstr>Introduction to Gaining Access </vt:lpstr>
      <vt:lpstr>Introduction to Gaining Access </vt:lpstr>
      <vt:lpstr>Introduction to Gaining Access </vt:lpstr>
      <vt:lpstr>Introduction to Gaining Access </vt:lpstr>
      <vt:lpstr>T1190 Exploit Public-Facing Application </vt:lpstr>
      <vt:lpstr>T1190 Exploit Public-Facing Application </vt:lpstr>
      <vt:lpstr>T1190 Exploit Public-Facing Application </vt:lpstr>
      <vt:lpstr>T1190 Exploit Public-Facing Application </vt:lpstr>
      <vt:lpstr>T1190 Exploit Public-Facing Application </vt:lpstr>
      <vt:lpstr>T1190 Exploit Public-Facing Application </vt:lpstr>
      <vt:lpstr>T1190 Exploit Public-Facing Application </vt:lpstr>
      <vt:lpstr>T1133 External Remote Services </vt:lpstr>
      <vt:lpstr>T1133 External Remote Services </vt:lpstr>
      <vt:lpstr>T1133 External Remote Services </vt:lpstr>
      <vt:lpstr>T1133 External Remote Services </vt:lpstr>
      <vt:lpstr>T1133 External Remote Services </vt:lpstr>
      <vt:lpstr>T1133 External Remote Services </vt:lpstr>
      <vt:lpstr>T1078 Valid Accounts </vt:lpstr>
      <vt:lpstr>T1078 Valid Accounts</vt:lpstr>
      <vt:lpstr>T1078 Valid Accounts</vt:lpstr>
      <vt:lpstr>T1078 Valid Accounts</vt:lpstr>
      <vt:lpstr>T1078 Valid Accounts</vt:lpstr>
      <vt:lpstr>T1078 Valid Accounts</vt:lpstr>
      <vt:lpstr>T1534 Internal Spear Phishing </vt:lpstr>
      <vt:lpstr>T1534 Internal Spear Phishing </vt:lpstr>
      <vt:lpstr>T1534 Internal Spear phishing </vt:lpstr>
      <vt:lpstr>T1534 Internal Spear phishing </vt:lpstr>
      <vt:lpstr>Integration and Selection </vt:lpstr>
      <vt:lpstr>Integration and Selection </vt:lpstr>
      <vt:lpstr>Integration and Selection </vt:lpstr>
      <vt:lpstr>Integration and Selection </vt:lpstr>
      <vt:lpstr>Integration and Selection </vt:lpstr>
      <vt:lpstr>Lesson Summary</vt:lpstr>
      <vt:lpstr>Lesson Summary</vt:lpstr>
      <vt:lpstr>(U)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Mattson Sarah E USA CTR</dc:creator>
  <cp:lastModifiedBy>Mattson, Sarah (Chiron)</cp:lastModifiedBy>
  <cp:revision>42</cp:revision>
  <dcterms:created xsi:type="dcterms:W3CDTF">2026-02-17T14:42:41Z</dcterms:created>
  <dcterms:modified xsi:type="dcterms:W3CDTF">2026-05-15T12:45:19Z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19b09694-a9e1-48e9-87be-8b22c227c48c</vt:lpwstr>
  </property>
  <property fmtid="{D5CDD505-2E9C-101B-9397-08002B2CF9AE}" pid="3" name="ClassificationTitus">
    <vt:lpwstr>BLANK</vt:lpwstr>
  </property>
</Properties>
</file>