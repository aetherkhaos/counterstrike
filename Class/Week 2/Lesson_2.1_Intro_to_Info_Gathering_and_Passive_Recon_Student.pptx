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2"/>
  </p:sldMasterIdLst>
  <p:notesMasterIdLst>
    <p:notesMasterId r:id="rId39"/>
  </p:notesMasterIdLst>
  <p:handoutMasterIdLst>
    <p:handoutMasterId r:id="rId40"/>
  </p:handoutMasterIdLst>
  <p:sldIdLst>
    <p:sldId id="259" r:id="rId3"/>
    <p:sldId id="264" r:id="rId4"/>
    <p:sldId id="265" r:id="rId5"/>
    <p:sldId id="267" r:id="rId6"/>
    <p:sldId id="268" r:id="rId7"/>
    <p:sldId id="269" r:id="rId8"/>
    <p:sldId id="271" r:id="rId9"/>
    <p:sldId id="270" r:id="rId10"/>
    <p:sldId id="272" r:id="rId11"/>
    <p:sldId id="273" r:id="rId12"/>
    <p:sldId id="275" r:id="rId13"/>
    <p:sldId id="274" r:id="rId14"/>
    <p:sldId id="276" r:id="rId15"/>
    <p:sldId id="277" r:id="rId16"/>
    <p:sldId id="278" r:id="rId17"/>
    <p:sldId id="279" r:id="rId18"/>
    <p:sldId id="280" r:id="rId19"/>
    <p:sldId id="282" r:id="rId20"/>
    <p:sldId id="283" r:id="rId21"/>
    <p:sldId id="281" r:id="rId22"/>
    <p:sldId id="284" r:id="rId23"/>
    <p:sldId id="285" r:id="rId24"/>
    <p:sldId id="287" r:id="rId25"/>
    <p:sldId id="288" r:id="rId26"/>
    <p:sldId id="289" r:id="rId27"/>
    <p:sldId id="290" r:id="rId28"/>
    <p:sldId id="291" r:id="rId29"/>
    <p:sldId id="293" r:id="rId30"/>
    <p:sldId id="292" r:id="rId31"/>
    <p:sldId id="294" r:id="rId32"/>
    <p:sldId id="295" r:id="rId33"/>
    <p:sldId id="296" r:id="rId34"/>
    <p:sldId id="297" r:id="rId35"/>
    <p:sldId id="286" r:id="rId36"/>
    <p:sldId id="266" r:id="rId37"/>
    <p:sldId id="263" r:id="rId38"/>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FD5087-3FCC-96D0-7A67-D0563177C9A1}" name="Easton Robert G USA GOV" initials="RGE" userId="Easton Robert G USA GOV"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ross, Clayton D" initials="CCD" lastIdx="1" clrIdx="0">
    <p:extLst>
      <p:ext uri="{19B8F6BF-5375-455C-9EA6-DF929625EA0E}">
        <p15:presenceInfo xmlns:p15="http://schemas.microsoft.com/office/powerpoint/2012/main" userId="Cross, Clayton 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4C"/>
    <a:srgbClr val="00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9" autoAdjust="0"/>
    <p:restoredTop sz="78208" autoAdjust="0"/>
  </p:normalViewPr>
  <p:slideViewPr>
    <p:cSldViewPr snapToGrid="0">
      <p:cViewPr varScale="1">
        <p:scale>
          <a:sx n="66" d="100"/>
          <a:sy n="66" d="100"/>
        </p:scale>
        <p:origin x="624"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11" d="100"/>
          <a:sy n="111" d="100"/>
        </p:scale>
        <p:origin x="2532"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8/10/relationships/authors" Target="authors.xml"/><Relationship Id="rId20" Type="http://schemas.openxmlformats.org/officeDocument/2006/relationships/slide" Target="slides/slide18.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0DF5B5D0-340B-4E36-9CF9-185D0E66E274}" type="datetimeFigureOut">
              <a:rPr lang="en-US" smtClean="0"/>
              <a:t>5/14/2026</a:t>
            </a:fld>
            <a:endParaRPr lang="en-US"/>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54D283BF-5CBE-4454-B8C7-2AC6C6C06622}" type="slidenum">
              <a:rPr lang="en-US" smtClean="0"/>
              <a:t>‹#›</a:t>
            </a:fld>
            <a:endParaRPr lang="en-US"/>
          </a:p>
        </p:txBody>
      </p:sp>
    </p:spTree>
    <p:extLst>
      <p:ext uri="{BB962C8B-B14F-4D97-AF65-F5344CB8AC3E}">
        <p14:creationId xmlns:p14="http://schemas.microsoft.com/office/powerpoint/2010/main" val="3589563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Notes Placeholder 9"/>
          <p:cNvSpPr>
            <a:spLocks noGrp="1"/>
          </p:cNvSpPr>
          <p:nvPr>
            <p:ph type="body" sz="quarter" idx="3"/>
          </p:nvPr>
        </p:nvSpPr>
        <p:spPr>
          <a:xfrm>
            <a:off x="914400" y="3300413"/>
            <a:ext cx="7315200" cy="2700337"/>
          </a:xfrm>
          <a:prstGeom prst="rect">
            <a:avLst/>
          </a:prstGeom>
        </p:spPr>
        <p:txBody>
          <a:bodyPr vert="horz" lIns="91440" tIns="45720" rIns="91440" bIns="45720" rtlCol="0"/>
          <a:lstStyle/>
          <a:p>
            <a:r>
              <a:rPr lang="en-US" sz="1200" b="1" i="0" u="none" strike="noStrike" cap="none" dirty="0">
                <a:solidFill>
                  <a:srgbClr val="000000"/>
                </a:solidFill>
                <a:effectLst/>
                <a:latin typeface="Arial"/>
                <a:ea typeface="Arial"/>
                <a:cs typeface="Arial"/>
                <a:sym typeface="Arial"/>
              </a:rPr>
              <a:t>References: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Key Points: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Explanation of any images/charts/graphics: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Questions students are most likely to ask:</a:t>
            </a:r>
          </a:p>
          <a:p>
            <a:r>
              <a:rPr lang="en-US" sz="1200" b="1" i="0" u="none" strike="noStrike" cap="none" dirty="0">
                <a:solidFill>
                  <a:srgbClr val="000000"/>
                </a:solidFill>
                <a:effectLst/>
                <a:latin typeface="Arial"/>
                <a:ea typeface="Arial"/>
                <a:cs typeface="Arial"/>
                <a:sym typeface="Arial"/>
              </a:rPr>
              <a:t>Amplifying Details: </a:t>
            </a:r>
            <a:endParaRPr lang="en-US" sz="12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79400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9014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6743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814579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40430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37855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4031438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579127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dirty="0"/>
          </a:p>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844415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dirty="0"/>
          </a:p>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905821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78521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4788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dirty="0"/>
          </a:p>
          <a:p>
            <a:endParaRPr lang="en-US" sz="12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3280331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dirty="0"/>
          </a:p>
          <a:p>
            <a:endParaRPr lang="en-US" dirty="0"/>
          </a:p>
        </p:txBody>
      </p:sp>
    </p:spTree>
    <p:extLst>
      <p:ext uri="{BB962C8B-B14F-4D97-AF65-F5344CB8AC3E}">
        <p14:creationId xmlns:p14="http://schemas.microsoft.com/office/powerpoint/2010/main" val="83408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12"/>
        <p:cNvGrpSpPr/>
        <p:nvPr/>
      </p:nvGrpSpPr>
      <p:grpSpPr>
        <a:xfrm>
          <a:off x="0" y="0"/>
          <a:ext cx="0" cy="0"/>
          <a:chOff x="0" y="0"/>
          <a:chExt cx="0" cy="0"/>
        </a:xfrm>
      </p:grpSpPr>
      <p:sp>
        <p:nvSpPr>
          <p:cNvPr id="13" name="Google Shape;13;p11"/>
          <p:cNvSpPr txBox="1">
            <a:spLocks noGrp="1"/>
          </p:cNvSpPr>
          <p:nvPr>
            <p:ph type="ctrTitle" hasCustomPrompt="1"/>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Title</a:t>
            </a:r>
            <a:endParaRPr dirty="0"/>
          </a:p>
        </p:txBody>
      </p:sp>
    </p:spTree>
    <p:extLst>
      <p:ext uri="{BB962C8B-B14F-4D97-AF65-F5344CB8AC3E}">
        <p14:creationId xmlns:p14="http://schemas.microsoft.com/office/powerpoint/2010/main" val="2793533826"/>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bjectives">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ELOs and the TLOs they support</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Objectives</a:t>
            </a:r>
            <a:endParaRPr dirty="0"/>
          </a:p>
        </p:txBody>
      </p:sp>
    </p:spTree>
    <p:extLst>
      <p:ext uri="{BB962C8B-B14F-4D97-AF65-F5344CB8AC3E}">
        <p14:creationId xmlns:p14="http://schemas.microsoft.com/office/powerpoint/2010/main" val="157770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verview">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Explanation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Overview</a:t>
            </a:r>
            <a:endParaRPr dirty="0"/>
          </a:p>
        </p:txBody>
      </p:sp>
    </p:spTree>
    <p:extLst>
      <p:ext uri="{BB962C8B-B14F-4D97-AF65-F5344CB8AC3E}">
        <p14:creationId xmlns:p14="http://schemas.microsoft.com/office/powerpoint/2010/main" val="3600154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17" name="Google Shape;17;p1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609585" marR="0" lvl="0" indent="-304792"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mn-lt"/>
                <a:ea typeface="Calibri"/>
                <a:cs typeface="Calibri"/>
                <a:sym typeface="Calibri"/>
              </a:defRPr>
            </a:lvl1pPr>
            <a:lvl2pPr marL="1219170" marR="0" lvl="1" indent="-304792"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828754" marR="0" lvl="2" indent="-304792"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2438339" marR="0" lvl="3"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3047924" marR="0" lvl="4"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3657509" marR="0" lvl="5"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4267093" marR="0" lvl="6"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4876678" marR="0" lvl="7"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5486263" marR="0" lvl="8"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pPr lvl="0"/>
            <a:r>
              <a:rPr lang="en-US"/>
              <a:t>Click to edit Master text styles</a:t>
            </a:r>
          </a:p>
        </p:txBody>
      </p:sp>
    </p:spTree>
    <p:extLst>
      <p:ext uri="{BB962C8B-B14F-4D97-AF65-F5344CB8AC3E}">
        <p14:creationId xmlns:p14="http://schemas.microsoft.com/office/powerpoint/2010/main" val="1301248561"/>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72749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Comparison">
    <p:spTree>
      <p:nvGrpSpPr>
        <p:cNvPr id="1" name="Shape 33"/>
        <p:cNvGrpSpPr/>
        <p:nvPr/>
      </p:nvGrpSpPr>
      <p:grpSpPr>
        <a:xfrm>
          <a:off x="0" y="0"/>
          <a:ext cx="0" cy="0"/>
          <a:chOff x="0" y="0"/>
          <a:chExt cx="0" cy="0"/>
        </a:xfrm>
      </p:grpSpPr>
      <p:sp>
        <p:nvSpPr>
          <p:cNvPr id="34" name="Google Shape;34;p17"/>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5" name="Google Shape;35;p17"/>
          <p:cNvSpPr txBox="1">
            <a:spLocks noGrp="1"/>
          </p:cNvSpPr>
          <p:nvPr>
            <p:ph type="body" idx="2" hasCustomPrompt="1"/>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sp>
        <p:nvSpPr>
          <p:cNvPr id="36" name="Google Shape;36;p17"/>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7" name="Google Shape;37;p17"/>
          <p:cNvSpPr txBox="1">
            <a:spLocks noGrp="1"/>
          </p:cNvSpPr>
          <p:nvPr>
            <p:ph type="body" idx="4" hasCustomPrompt="1"/>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pPr lvl="0"/>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cxnSp>
        <p:nvCxnSpPr>
          <p:cNvPr id="38" name="Google Shape;38;p17"/>
          <p:cNvCxnSpPr>
            <a:cxnSpLocks/>
          </p:cNvCxnSpPr>
          <p:nvPr/>
        </p:nvCxnSpPr>
        <p:spPr>
          <a:xfrm>
            <a:off x="1141622" y="974035"/>
            <a:ext cx="10830241" cy="0"/>
          </a:xfrm>
          <a:prstGeom prst="straightConnector1">
            <a:avLst/>
          </a:prstGeom>
          <a:noFill/>
          <a:ln w="9525" cap="flat" cmpd="sng">
            <a:solidFill>
              <a:srgbClr val="BFBFBF"/>
            </a:solidFill>
            <a:prstDash val="solid"/>
            <a:miter lim="8000"/>
            <a:headEnd type="none" w="sm" len="sm"/>
            <a:tailEnd type="none" w="sm" len="sm"/>
          </a:ln>
        </p:spPr>
      </p:cxnSp>
      <p:cxnSp>
        <p:nvCxnSpPr>
          <p:cNvPr id="39" name="Google Shape;39;p17"/>
          <p:cNvCxnSpPr/>
          <p:nvPr/>
        </p:nvCxnSpPr>
        <p:spPr>
          <a:xfrm>
            <a:off x="6095137" y="974035"/>
            <a:ext cx="800" cy="5382400"/>
          </a:xfrm>
          <a:prstGeom prst="straightConnector1">
            <a:avLst/>
          </a:prstGeom>
          <a:noFill/>
          <a:ln w="9525" cap="flat" cmpd="sng">
            <a:solidFill>
              <a:srgbClr val="BFBFBF"/>
            </a:solidFill>
            <a:prstDash val="solid"/>
            <a:miter lim="8000"/>
            <a:headEnd type="none" w="sm" len="sm"/>
            <a:tailEnd type="none" w="sm" len="sm"/>
          </a:ln>
        </p:spPr>
      </p:cxnSp>
      <p:cxnSp>
        <p:nvCxnSpPr>
          <p:cNvPr id="40" name="Google Shape;40;p17"/>
          <p:cNvCxnSpPr>
            <a:cxnSpLocks/>
          </p:cNvCxnSpPr>
          <p:nvPr/>
        </p:nvCxnSpPr>
        <p:spPr>
          <a:xfrm>
            <a:off x="1141621" y="1504121"/>
            <a:ext cx="10830240" cy="0"/>
          </a:xfrm>
          <a:prstGeom prst="straightConnector1">
            <a:avLst/>
          </a:prstGeom>
          <a:noFill/>
          <a:ln w="9525" cap="flat" cmpd="sng">
            <a:solidFill>
              <a:srgbClr val="BFBFBF"/>
            </a:solidFill>
            <a:prstDash val="solid"/>
            <a:miter lim="8000"/>
            <a:headEnd type="none" w="sm" len="sm"/>
            <a:tailEnd type="none" w="sm" len="sm"/>
          </a:ln>
        </p:spPr>
      </p:cxnSp>
      <p:sp>
        <p:nvSpPr>
          <p:cNvPr id="11"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538853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1363363" y="952052"/>
            <a:ext cx="3098248"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5" name="Google Shape;45;p19"/>
          <p:cNvSpPr txBox="1">
            <a:spLocks noGrp="1"/>
          </p:cNvSpPr>
          <p:nvPr>
            <p:ph type="body" idx="1" hasCustomPrompt="1"/>
          </p:nvPr>
        </p:nvSpPr>
        <p:spPr>
          <a:xfrm>
            <a:off x="4720611" y="952053"/>
            <a:ext cx="7091600" cy="5404000"/>
          </a:xfrm>
          <a:prstGeom prst="rect">
            <a:avLst/>
          </a:prstGeom>
          <a:noFill/>
          <a:ln>
            <a:noFill/>
          </a:ln>
        </p:spPr>
        <p:txBody>
          <a:bodyPr spcFirstLastPara="1" wrap="square" lIns="91425" tIns="91425" rIns="91425" bIns="91425" anchor="t" anchorCtr="0">
            <a:noAutofit/>
          </a:bodyPr>
          <a:lstStyle>
            <a:lvl1pPr marL="609585" marR="0" lvl="0" indent="-457189" algn="l">
              <a:lnSpc>
                <a:spcPct val="90000"/>
              </a:lnSpc>
              <a:spcBef>
                <a:spcPts val="800"/>
              </a:spcBef>
              <a:spcAft>
                <a:spcPts val="0"/>
              </a:spcAft>
              <a:buClr>
                <a:schemeClr val="dk1"/>
              </a:buClr>
              <a:buSzPts val="1800"/>
              <a:buFont typeface="Arial"/>
              <a:buChar char="•"/>
              <a:defRPr sz="26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40256" algn="l">
              <a:lnSpc>
                <a:spcPct val="90000"/>
              </a:lnSpc>
              <a:spcBef>
                <a:spcPts val="4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423323" algn="l">
              <a:lnSpc>
                <a:spcPct val="90000"/>
              </a:lnSpc>
              <a:spcBef>
                <a:spcPts val="400"/>
              </a:spcBef>
              <a:spcAft>
                <a:spcPts val="0"/>
              </a:spcAft>
              <a:buClr>
                <a:schemeClr val="dk1"/>
              </a:buClr>
              <a:buSzPts val="14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316934" marR="0" lvl="8" indent="-228594" algn="l">
              <a:lnSpc>
                <a:spcPct val="90000"/>
              </a:lnSpc>
              <a:spcBef>
                <a:spcPts val="400"/>
              </a:spcBef>
              <a:spcAft>
                <a:spcPts val="0"/>
              </a:spcAft>
              <a:buClr>
                <a:schemeClr val="dk1"/>
              </a:buClr>
              <a:buSzPts val="1100"/>
              <a:buFont typeface="Arial" panose="020B0604020202020204" pitchFamily="34" charset="0"/>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8"/>
            <a:r>
              <a:rPr lang="en-US" dirty="0"/>
              <a:t>Text</a:t>
            </a:r>
          </a:p>
          <a:p>
            <a:pPr lvl="8"/>
            <a:endParaRPr lang="en-US" dirty="0"/>
          </a:p>
          <a:p>
            <a:pPr lvl="8"/>
            <a:endParaRPr lang="en-US" dirty="0"/>
          </a:p>
          <a:p>
            <a:pPr lvl="0"/>
            <a:endParaRPr lang="en-US" dirty="0"/>
          </a:p>
        </p:txBody>
      </p:sp>
      <p:sp>
        <p:nvSpPr>
          <p:cNvPr id="46" name="Google Shape;46;p19"/>
          <p:cNvSpPr txBox="1">
            <a:spLocks noGrp="1"/>
          </p:cNvSpPr>
          <p:nvPr>
            <p:ph type="body" idx="2"/>
          </p:nvPr>
        </p:nvSpPr>
        <p:spPr>
          <a:xfrm>
            <a:off x="1363363" y="2552252"/>
            <a:ext cx="3098248" cy="3811600"/>
          </a:xfrm>
          <a:prstGeom prst="rect">
            <a:avLst/>
          </a:prstGeom>
          <a:noFill/>
          <a:ln>
            <a:noFill/>
          </a:ln>
        </p:spPr>
        <p:txBody>
          <a:bodyPr spcFirstLastPara="1" wrap="square" lIns="91425" tIns="91425" rIns="91425" bIns="91425" anchor="t" anchorCtr="0">
            <a:noAutofit/>
          </a:bodyPr>
          <a:lstStyle>
            <a:lvl1pPr marL="609585" marR="0" lvl="0" indent="-304792" algn="l">
              <a:lnSpc>
                <a:spcPct val="90000"/>
              </a:lnSpc>
              <a:spcBef>
                <a:spcPts val="800"/>
              </a:spcBef>
              <a:spcAft>
                <a:spcPts val="0"/>
              </a:spcAft>
              <a:buClr>
                <a:schemeClr val="dk1"/>
              </a:buClr>
              <a:buSzPts val="1600"/>
              <a:buFont typeface="Arial"/>
              <a:buNone/>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pPr lvl="0"/>
            <a:r>
              <a:rPr lang="en-US"/>
              <a:t>Click to edit Master text styles</a:t>
            </a:r>
          </a:p>
        </p:txBody>
      </p:sp>
    </p:spTree>
    <p:extLst>
      <p:ext uri="{BB962C8B-B14F-4D97-AF65-F5344CB8AC3E}">
        <p14:creationId xmlns:p14="http://schemas.microsoft.com/office/powerpoint/2010/main" val="535271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1301578" y="987425"/>
            <a:ext cx="3061420"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9" name="Google Shape;49;p20"/>
          <p:cNvSpPr>
            <a:spLocks noGrp="1"/>
          </p:cNvSpPr>
          <p:nvPr>
            <p:ph type="pic" idx="2"/>
          </p:nvPr>
        </p:nvSpPr>
        <p:spPr>
          <a:xfrm>
            <a:off x="4666821" y="987425"/>
            <a:ext cx="7102000" cy="54116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800"/>
              </a:spcBef>
              <a:spcAft>
                <a:spcPts val="0"/>
              </a:spcAft>
              <a:buClr>
                <a:schemeClr val="dk1"/>
              </a:buClr>
              <a:buSzPts val="11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100"/>
              <a:buFont typeface="Arial"/>
              <a:buNone/>
              <a:defRPr sz="2133"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50" name="Google Shape;50;p20"/>
          <p:cNvSpPr txBox="1">
            <a:spLocks noGrp="1"/>
          </p:cNvSpPr>
          <p:nvPr>
            <p:ph type="body" idx="1"/>
          </p:nvPr>
        </p:nvSpPr>
        <p:spPr>
          <a:xfrm>
            <a:off x="1301578" y="2587625"/>
            <a:ext cx="3061420" cy="3811600"/>
          </a:xfrm>
          <a:prstGeom prst="rect">
            <a:avLst/>
          </a:prstGeom>
          <a:noFill/>
          <a:ln>
            <a:noFill/>
          </a:ln>
        </p:spPr>
        <p:txBody>
          <a:bodyPr spcFirstLastPara="1" wrap="square" lIns="91425" tIns="91425" rIns="91425" bIns="91425" anchor="t" anchorCtr="0">
            <a:noAutofit/>
          </a:bodyPr>
          <a:lstStyle>
            <a:lvl1pPr>
              <a:defRPr sz="1867" dirty="0">
                <a:solidFill>
                  <a:schemeClr val="dk1"/>
                </a:solidFill>
                <a:latin typeface="Arial" panose="020B0604020202020204" pitchFamily="34" charset="0"/>
                <a:ea typeface="Arial" panose="020B0604020202020204" pitchFamily="34" charset="0"/>
                <a:cs typeface="Arial" panose="020B0604020202020204" pitchFamily="34" charset="0"/>
              </a:defRPr>
            </a:lvl1pPr>
          </a:lstStyle>
          <a:p>
            <a:pPr lvl="0" indent="-304792">
              <a:buClr>
                <a:schemeClr val="dk1"/>
              </a:buClr>
              <a:buNone/>
            </a:pPr>
            <a:r>
              <a:rPr lang="en-US"/>
              <a:t>Click to edit Master text styles</a:t>
            </a:r>
          </a:p>
        </p:txBody>
      </p:sp>
    </p:spTree>
    <p:extLst>
      <p:ext uri="{BB962C8B-B14F-4D97-AF65-F5344CB8AC3E}">
        <p14:creationId xmlns:p14="http://schemas.microsoft.com/office/powerpoint/2010/main" val="140843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reserve="1">
  <p:cSld name="11_Title Slide">
    <p:spTree>
      <p:nvGrpSpPr>
        <p:cNvPr id="1" name="Shape 57"/>
        <p:cNvGrpSpPr/>
        <p:nvPr/>
      </p:nvGrpSpPr>
      <p:grpSpPr>
        <a:xfrm>
          <a:off x="0" y="0"/>
          <a:ext cx="0" cy="0"/>
          <a:chOff x="0" y="0"/>
          <a:chExt cx="0" cy="0"/>
        </a:xfrm>
      </p:grpSpPr>
      <p:sp>
        <p:nvSpPr>
          <p:cNvPr id="58" name="Google Shape;58;p23"/>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59" name="Google Shape;59;p23"/>
          <p:cNvSpPr txBox="1">
            <a:spLocks noGrp="1"/>
          </p:cNvSpPr>
          <p:nvPr>
            <p:ph type="ftr" idx="11"/>
          </p:nvPr>
        </p:nvSpPr>
        <p:spPr>
          <a:xfrm>
            <a:off x="8049777" y="6566743"/>
            <a:ext cx="3860800" cy="365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100"/>
              <a:buFont typeface="Arial"/>
              <a:buNone/>
              <a:defRPr sz="1867" b="1" i="0" u="none" strike="noStrike" cap="none">
                <a:solidFill>
                  <a:srgbClr val="00B05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802184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reserve="1" userDrawn="1">
  <p:cSld name="Master Use">
    <p:spTree>
      <p:nvGrpSpPr>
        <p:cNvPr id="1" name="Shape 60"/>
        <p:cNvGrpSpPr/>
        <p:nvPr/>
      </p:nvGrpSpPr>
      <p:grpSpPr>
        <a:xfrm>
          <a:off x="0" y="0"/>
          <a:ext cx="0" cy="0"/>
          <a:chOff x="0" y="0"/>
          <a:chExt cx="0" cy="0"/>
        </a:xfrm>
      </p:grpSpPr>
      <p:sp>
        <p:nvSpPr>
          <p:cNvPr id="4"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2588747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Summary">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Summary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Summary</a:t>
            </a:r>
            <a:endParaRPr dirty="0"/>
          </a:p>
        </p:txBody>
      </p:sp>
    </p:spTree>
    <p:extLst>
      <p:ext uri="{BB962C8B-B14F-4D97-AF65-F5344CB8AC3E}">
        <p14:creationId xmlns:p14="http://schemas.microsoft.com/office/powerpoint/2010/main" val="3060084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reserve="1" userDrawn="1">
  <p:cSld name="Questions">
    <p:spTree>
      <p:nvGrpSpPr>
        <p:cNvPr id="1" name="Shape 15"/>
        <p:cNvGrpSpPr/>
        <p:nvPr/>
      </p:nvGrpSpPr>
      <p:grpSpPr>
        <a:xfrm>
          <a:off x="0" y="0"/>
          <a:ext cx="0" cy="0"/>
          <a:chOff x="0" y="0"/>
          <a:chExt cx="0" cy="0"/>
        </a:xfrm>
      </p:grpSpPr>
      <p:sp>
        <p:nvSpPr>
          <p:cNvPr id="16" name="Google Shape;16;p12"/>
          <p:cNvSpPr txBox="1">
            <a:spLocks noGrp="1"/>
          </p:cNvSpPr>
          <p:nvPr>
            <p:ph type="title" hasCustomPrompt="1"/>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Questions?</a:t>
            </a:r>
            <a:endParaRPr dirty="0"/>
          </a:p>
        </p:txBody>
      </p:sp>
    </p:spTree>
    <p:extLst>
      <p:ext uri="{BB962C8B-B14F-4D97-AF65-F5344CB8AC3E}">
        <p14:creationId xmlns:p14="http://schemas.microsoft.com/office/powerpoint/2010/main" val="448481437"/>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14" name="Rectangle 13">
            <a:extLst>
              <a:ext uri="{FF2B5EF4-FFF2-40B4-BE49-F238E27FC236}">
                <a16:creationId xmlns:a16="http://schemas.microsoft.com/office/drawing/2014/main" id="{03C8531C-6664-AC0C-ED00-3D1957BC281F}"/>
              </a:ext>
            </a:extLst>
          </p:cNvPr>
          <p:cNvSpPr/>
          <p:nvPr userDrawn="1"/>
        </p:nvSpPr>
        <p:spPr>
          <a:xfrm>
            <a:off x="-1" y="-20168"/>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15" name="Rectangle 14">
            <a:extLst>
              <a:ext uri="{FF2B5EF4-FFF2-40B4-BE49-F238E27FC236}">
                <a16:creationId xmlns:a16="http://schemas.microsoft.com/office/drawing/2014/main" id="{CAD018CF-85D7-A3C5-985F-E66425541490}"/>
              </a:ext>
            </a:extLst>
          </p:cNvPr>
          <p:cNvSpPr/>
          <p:nvPr userDrawn="1"/>
        </p:nvSpPr>
        <p:spPr>
          <a:xfrm>
            <a:off x="1" y="243443"/>
            <a:ext cx="1128108" cy="6614557"/>
          </a:xfrm>
          <a:prstGeom prst="rect">
            <a:avLst/>
          </a:prstGeom>
          <a:ln>
            <a:noFill/>
          </a:ln>
          <a:effectLst/>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7" name="Google Shape;7;p10"/>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dirty="0"/>
              <a:t> </a:t>
            </a:r>
            <a:endParaRPr dirty="0"/>
          </a:p>
        </p:txBody>
      </p:sp>
      <p:sp>
        <p:nvSpPr>
          <p:cNvPr id="8" name="Google Shape;8;p10"/>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pPr lvl="0"/>
            <a:endParaRPr dirty="0"/>
          </a:p>
        </p:txBody>
      </p:sp>
      <p:pic>
        <p:nvPicPr>
          <p:cNvPr id="9" name="Google Shape;9;p10"/>
          <p:cNvPicPr preferRelativeResize="0"/>
          <p:nvPr userDrawn="1"/>
        </p:nvPicPr>
        <p:blipFill>
          <a:blip r:embed="rId14">
            <a:extLst>
              <a:ext uri="{28A0092B-C50C-407E-A947-70E740481C1C}">
                <a14:useLocalDpi xmlns:a14="http://schemas.microsoft.com/office/drawing/2010/main" val="0"/>
              </a:ext>
            </a:extLst>
          </a:blip>
          <a:srcRect/>
          <a:stretch/>
        </p:blipFill>
        <p:spPr>
          <a:xfrm>
            <a:off x="99713" y="231455"/>
            <a:ext cx="928680" cy="928680"/>
          </a:xfrm>
          <a:prstGeom prst="rect">
            <a:avLst/>
          </a:prstGeom>
          <a:noFill/>
          <a:ln>
            <a:noFill/>
          </a:ln>
        </p:spPr>
      </p:pic>
      <p:sp>
        <p:nvSpPr>
          <p:cNvPr id="11" name="Google Shape;11;p10"/>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0" name="Rectangle 9">
            <a:extLst>
              <a:ext uri="{FF2B5EF4-FFF2-40B4-BE49-F238E27FC236}">
                <a16:creationId xmlns:a16="http://schemas.microsoft.com/office/drawing/2014/main" id="{03C8531C-6664-AC0C-ED00-3D1957BC281F}"/>
              </a:ext>
            </a:extLst>
          </p:cNvPr>
          <p:cNvSpPr/>
          <p:nvPr userDrawn="1"/>
        </p:nvSpPr>
        <p:spPr>
          <a:xfrm>
            <a:off x="-2" y="6594389"/>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grpSp>
        <p:nvGrpSpPr>
          <p:cNvPr id="34" name="Group 33"/>
          <p:cNvGrpSpPr/>
          <p:nvPr userDrawn="1"/>
        </p:nvGrpSpPr>
        <p:grpSpPr>
          <a:xfrm>
            <a:off x="254537" y="37012"/>
            <a:ext cx="4123292" cy="140365"/>
            <a:chOff x="5526083" y="4992009"/>
            <a:chExt cx="3092469" cy="105274"/>
          </a:xfrm>
          <a:gradFill flip="none" rotWithShape="1">
            <a:gsLst>
              <a:gs pos="0">
                <a:schemeClr val="accent1"/>
              </a:gs>
              <a:gs pos="0">
                <a:schemeClr val="accent1"/>
              </a:gs>
            </a:gsLst>
            <a:lin ang="2700000" scaled="1"/>
            <a:tileRect/>
          </a:gradFill>
        </p:grpSpPr>
        <p:sp>
          <p:nvSpPr>
            <p:cNvPr id="35" name="Chevron 34"/>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6" name="Chevron 35"/>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7" name="Chevron 36"/>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8" name="Chevron 37"/>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9" name="Chevron 38"/>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0" name="Chevron 39"/>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1" name="Chevron 40"/>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2" name="Chevron 41"/>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3" name="Chevron 42"/>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4" name="Chevron 43"/>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5" name="Chevron 44"/>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
        <p:nvSpPr>
          <p:cNvPr id="48" name="Text Placeholder 16"/>
          <p:cNvSpPr txBox="1">
            <a:spLocks/>
          </p:cNvSpPr>
          <p:nvPr userDrawn="1"/>
        </p:nvSpPr>
        <p:spPr>
          <a:xfrm flipH="1">
            <a:off x="1043632" y="6366806"/>
            <a:ext cx="4211863" cy="221589"/>
          </a:xfrm>
          <a:prstGeom prst="rect">
            <a:avLst/>
          </a:prstGeom>
        </p:spPr>
        <p:txBody>
          <a:bodyPr>
            <a:noAutofit/>
          </a:bodyPr>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0"/>
              </a:spcAft>
              <a:buClr>
                <a:srgbClr val="000000"/>
              </a:buClr>
              <a:buFont typeface="Arial"/>
              <a:buNone/>
              <a:defRPr sz="1200" b="1" i="0" u="none" strike="noStrike" cap="none">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sp>
        <p:nvSpPr>
          <p:cNvPr id="49" name="Text Placeholder 16"/>
          <p:cNvSpPr txBox="1">
            <a:spLocks/>
          </p:cNvSpPr>
          <p:nvPr userDrawn="1"/>
        </p:nvSpPr>
        <p:spPr>
          <a:xfrm>
            <a:off x="5482963" y="207088"/>
            <a:ext cx="6767512" cy="212103"/>
          </a:xfrm>
          <a:prstGeom prst="rect">
            <a:avLst/>
          </a:prstGeom>
        </p:spPr>
        <p:txBody>
          <a:bodyPr>
            <a:noAutofit/>
          </a:bodyPr>
          <a:lstStyle>
            <a:defPPr marR="0" lvl="0" algn="l" rtl="0">
              <a:lnSpc>
                <a:spcPct val="100000"/>
              </a:lnSpc>
              <a:spcBef>
                <a:spcPts val="0"/>
              </a:spcBef>
              <a:spcAft>
                <a:spcPts val="0"/>
              </a:spcAft>
            </a:defPPr>
            <a:lvl1pPr marL="0" marR="0" lvl="0" indent="0" algn="r" rtl="0" eaLnBrk="1" hangingPunct="1">
              <a:lnSpc>
                <a:spcPct val="100000"/>
              </a:lnSpc>
              <a:spcBef>
                <a:spcPts val="0"/>
              </a:spcBef>
              <a:spcAft>
                <a:spcPts val="0"/>
              </a:spcAft>
              <a:buClr>
                <a:srgbClr val="000000"/>
              </a:buClr>
              <a:buFont typeface="Arial"/>
              <a:buNone/>
              <a:defRPr sz="1200" b="1" i="0" u="none" strike="noStrike" cap="none" baseline="0">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pic>
        <p:nvPicPr>
          <p:cNvPr id="21" name="Picture 20">
            <a:extLst>
              <a:ext uri="{FF2B5EF4-FFF2-40B4-BE49-F238E27FC236}">
                <a16:creationId xmlns:a16="http://schemas.microsoft.com/office/drawing/2014/main" id="{62ADCA60-3BD1-B7C2-7897-A83E6D914113}"/>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rot="-5400000">
            <a:off x="-2150855" y="3445521"/>
            <a:ext cx="5429815" cy="991170"/>
          </a:xfrm>
          <a:prstGeom prst="rect">
            <a:avLst/>
          </a:prstGeom>
        </p:spPr>
      </p:pic>
      <p:grpSp>
        <p:nvGrpSpPr>
          <p:cNvPr id="51" name="Group 50">
            <a:extLst>
              <a:ext uri="{FF2B5EF4-FFF2-40B4-BE49-F238E27FC236}">
                <a16:creationId xmlns:a16="http://schemas.microsoft.com/office/drawing/2014/main" id="{6701C421-A6F9-D749-8480-ECF6D94627DA}"/>
              </a:ext>
            </a:extLst>
          </p:cNvPr>
          <p:cNvGrpSpPr/>
          <p:nvPr userDrawn="1"/>
        </p:nvGrpSpPr>
        <p:grpSpPr>
          <a:xfrm>
            <a:off x="7996753" y="6659805"/>
            <a:ext cx="4123292" cy="140365"/>
            <a:chOff x="5526083" y="4992009"/>
            <a:chExt cx="3092469" cy="105274"/>
          </a:xfrm>
          <a:gradFill flip="none" rotWithShape="1">
            <a:gsLst>
              <a:gs pos="0">
                <a:schemeClr val="accent1"/>
              </a:gs>
              <a:gs pos="0">
                <a:schemeClr val="accent1"/>
              </a:gs>
            </a:gsLst>
            <a:lin ang="2700000" scaled="1"/>
            <a:tileRect/>
          </a:gradFill>
        </p:grpSpPr>
        <p:sp>
          <p:nvSpPr>
            <p:cNvPr id="52" name="Chevron 34">
              <a:extLst>
                <a:ext uri="{FF2B5EF4-FFF2-40B4-BE49-F238E27FC236}">
                  <a16:creationId xmlns:a16="http://schemas.microsoft.com/office/drawing/2014/main" id="{A3DA9578-59FE-86FB-A354-142255DA60DA}"/>
                </a:ext>
              </a:extLst>
            </p:cNvPr>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3" name="Chevron 35">
              <a:extLst>
                <a:ext uri="{FF2B5EF4-FFF2-40B4-BE49-F238E27FC236}">
                  <a16:creationId xmlns:a16="http://schemas.microsoft.com/office/drawing/2014/main" id="{B04AF141-545B-B49E-C1E8-94740B9919BB}"/>
                </a:ext>
              </a:extLst>
            </p:cNvPr>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4" name="Chevron 36">
              <a:extLst>
                <a:ext uri="{FF2B5EF4-FFF2-40B4-BE49-F238E27FC236}">
                  <a16:creationId xmlns:a16="http://schemas.microsoft.com/office/drawing/2014/main" id="{1A4E42AC-7995-9220-EB0F-FB2C216318D3}"/>
                </a:ext>
              </a:extLst>
            </p:cNvPr>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5" name="Chevron 37">
              <a:extLst>
                <a:ext uri="{FF2B5EF4-FFF2-40B4-BE49-F238E27FC236}">
                  <a16:creationId xmlns:a16="http://schemas.microsoft.com/office/drawing/2014/main" id="{53C22C0C-6ECA-E350-C18D-0954C59A74BA}"/>
                </a:ext>
              </a:extLst>
            </p:cNvPr>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6" name="Chevron 38">
              <a:extLst>
                <a:ext uri="{FF2B5EF4-FFF2-40B4-BE49-F238E27FC236}">
                  <a16:creationId xmlns:a16="http://schemas.microsoft.com/office/drawing/2014/main" id="{F7C7267B-65F6-7F5D-55FA-BFF8A364F42B}"/>
                </a:ext>
              </a:extLst>
            </p:cNvPr>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7" name="Chevron 39">
              <a:extLst>
                <a:ext uri="{FF2B5EF4-FFF2-40B4-BE49-F238E27FC236}">
                  <a16:creationId xmlns:a16="http://schemas.microsoft.com/office/drawing/2014/main" id="{7B9AD0EA-9215-55F3-CBC7-713862E4C839}"/>
                </a:ext>
              </a:extLst>
            </p:cNvPr>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8" name="Chevron 40">
              <a:extLst>
                <a:ext uri="{FF2B5EF4-FFF2-40B4-BE49-F238E27FC236}">
                  <a16:creationId xmlns:a16="http://schemas.microsoft.com/office/drawing/2014/main" id="{BCD4AD2F-0902-4385-94F7-5ACB01D22A41}"/>
                </a:ext>
              </a:extLst>
            </p:cNvPr>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9" name="Chevron 41">
              <a:extLst>
                <a:ext uri="{FF2B5EF4-FFF2-40B4-BE49-F238E27FC236}">
                  <a16:creationId xmlns:a16="http://schemas.microsoft.com/office/drawing/2014/main" id="{9C796D23-978C-FFFF-4038-1C937EE690D7}"/>
                </a:ext>
              </a:extLst>
            </p:cNvPr>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0" name="Chevron 42">
              <a:extLst>
                <a:ext uri="{FF2B5EF4-FFF2-40B4-BE49-F238E27FC236}">
                  <a16:creationId xmlns:a16="http://schemas.microsoft.com/office/drawing/2014/main" id="{9080B428-A3B2-6A7E-177F-CF4DC7356652}"/>
                </a:ext>
              </a:extLst>
            </p:cNvPr>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1" name="Chevron 43">
              <a:extLst>
                <a:ext uri="{FF2B5EF4-FFF2-40B4-BE49-F238E27FC236}">
                  <a16:creationId xmlns:a16="http://schemas.microsoft.com/office/drawing/2014/main" id="{54FDEC70-BB7A-14BD-BF44-B0F7EFDD1AA4}"/>
                </a:ext>
              </a:extLst>
            </p:cNvPr>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2" name="Chevron 44">
              <a:extLst>
                <a:ext uri="{FF2B5EF4-FFF2-40B4-BE49-F238E27FC236}">
                  <a16:creationId xmlns:a16="http://schemas.microsoft.com/office/drawing/2014/main" id="{B3E053BC-053D-4B7F-17DA-2B8D0B40E67E}"/>
                </a:ext>
              </a:extLst>
            </p:cNvPr>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Tree>
    <p:extLst>
      <p:ext uri="{BB962C8B-B14F-4D97-AF65-F5344CB8AC3E}">
        <p14:creationId xmlns:p14="http://schemas.microsoft.com/office/powerpoint/2010/main" val="2594109494"/>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742" r:id="rId3"/>
    <p:sldLayoutId id="2147483738" r:id="rId4"/>
    <p:sldLayoutId id="2147483741" r:id="rId5"/>
    <p:sldLayoutId id="2147483664" r:id="rId6"/>
    <p:sldLayoutId id="2147483665" r:id="rId7"/>
    <p:sldLayoutId id="2147483666" r:id="rId8"/>
    <p:sldLayoutId id="2147483667" r:id="rId9"/>
    <p:sldLayoutId id="2147483668" r:id="rId10"/>
    <p:sldLayoutId id="2147483743" r:id="rId11"/>
    <p:sldLayoutId id="2147483740"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69329" marR="0" lvl="0" indent="0" algn="l" rtl="0" eaLnBrk="1" hangingPunct="1">
        <a:lnSpc>
          <a:spcPct val="100000"/>
        </a:lnSpc>
        <a:spcBef>
          <a:spcPts val="0"/>
        </a:spcBef>
        <a:spcAft>
          <a:spcPts val="0"/>
        </a:spcAft>
        <a:buClr>
          <a:srgbClr val="000000"/>
        </a:buClr>
        <a:buFont typeface="Arial"/>
        <a:buNone/>
        <a:defRPr sz="26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BFBF38-23A7-0F2E-D8BE-EA155B607E27}"/>
              </a:ext>
            </a:extLst>
          </p:cNvPr>
          <p:cNvSpPr>
            <a:spLocks noGrp="1"/>
          </p:cNvSpPr>
          <p:nvPr>
            <p:ph type="ctrTitle"/>
          </p:nvPr>
        </p:nvSpPr>
        <p:spPr>
          <a:xfrm>
            <a:off x="2330494" y="2235200"/>
            <a:ext cx="9144000" cy="2387600"/>
          </a:xfrm>
        </p:spPr>
        <p:txBody>
          <a:bodyPr/>
          <a:lstStyle/>
          <a:p>
            <a:r>
              <a:rPr lang="en-US">
                <a:solidFill>
                  <a:srgbClr val="00004C"/>
                </a:solidFill>
              </a:rPr>
              <a:t>Introduction </a:t>
            </a:r>
            <a:r>
              <a:rPr lang="en-US" dirty="0">
                <a:solidFill>
                  <a:srgbClr val="00004C"/>
                </a:solidFill>
              </a:rPr>
              <a:t>to Information Gathering and Passive Reconnaissance</a:t>
            </a:r>
          </a:p>
        </p:txBody>
      </p:sp>
    </p:spTree>
    <p:extLst>
      <p:ext uri="{BB962C8B-B14F-4D97-AF65-F5344CB8AC3E}">
        <p14:creationId xmlns:p14="http://schemas.microsoft.com/office/powerpoint/2010/main" val="376691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2BCD14-3A7E-DE0E-CFB4-F73342F97E67}"/>
              </a:ext>
            </a:extLst>
          </p:cNvPr>
          <p:cNvSpPr>
            <a:spLocks noGrp="1"/>
          </p:cNvSpPr>
          <p:nvPr>
            <p:ph type="body" idx="1"/>
          </p:nvPr>
        </p:nvSpPr>
        <p:spPr/>
        <p:txBody>
          <a:bodyPr/>
          <a:lstStyle/>
          <a:p>
            <a:r>
              <a:rPr lang="en-US" dirty="0">
                <a:solidFill>
                  <a:srgbClr val="00004C"/>
                </a:solidFill>
              </a:rPr>
              <a:t>Define passive reconnaissance in the context of cyber threat hunting and counterstrike operations.</a:t>
            </a:r>
          </a:p>
          <a:p>
            <a:r>
              <a:rPr lang="en-US" dirty="0">
                <a:solidFill>
                  <a:srgbClr val="00004C"/>
                </a:solidFill>
              </a:rPr>
              <a:t>Understand the role of passive reconnaissance in blue space (defensive operations).</a:t>
            </a:r>
          </a:p>
          <a:p>
            <a:r>
              <a:rPr lang="en-US" dirty="0">
                <a:solidFill>
                  <a:srgbClr val="00004C"/>
                </a:solidFill>
              </a:rPr>
              <a:t>Understand the importance of information collection and reconnaissance in the context of cyber threat hunting and counterstrike operations.</a:t>
            </a:r>
          </a:p>
          <a:p>
            <a:r>
              <a:rPr lang="en-US" dirty="0">
                <a:solidFill>
                  <a:srgbClr val="00004C"/>
                </a:solidFill>
              </a:rPr>
              <a:t>Identify the passive recon techniques from MITRE attack.</a:t>
            </a:r>
          </a:p>
          <a:p>
            <a:r>
              <a:rPr lang="en-US" dirty="0">
                <a:solidFill>
                  <a:srgbClr val="00004C"/>
                </a:solidFill>
              </a:rPr>
              <a:t>Understand how to conduct OSINT against threat actors.</a:t>
            </a:r>
          </a:p>
          <a:p>
            <a:endParaRPr lang="en-US" dirty="0">
              <a:solidFill>
                <a:srgbClr val="00004C"/>
              </a:solidFill>
            </a:endParaRPr>
          </a:p>
          <a:p>
            <a:endParaRPr lang="en-US" dirty="0">
              <a:solidFill>
                <a:srgbClr val="00004C"/>
              </a:solidFill>
            </a:endParaRPr>
          </a:p>
          <a:p>
            <a:pPr marL="169329" indent="0">
              <a:buNone/>
            </a:pPr>
            <a:endParaRPr lang="en-US" dirty="0">
              <a:solidFill>
                <a:srgbClr val="00004C"/>
              </a:solidFill>
            </a:endParaRPr>
          </a:p>
        </p:txBody>
      </p:sp>
      <p:sp>
        <p:nvSpPr>
          <p:cNvPr id="3" name="Title 2">
            <a:extLst>
              <a:ext uri="{FF2B5EF4-FFF2-40B4-BE49-F238E27FC236}">
                <a16:creationId xmlns:a16="http://schemas.microsoft.com/office/drawing/2014/main" id="{7A8BF48D-7E62-D2FC-1F55-6E3866649478}"/>
              </a:ext>
            </a:extLst>
          </p:cNvPr>
          <p:cNvSpPr>
            <a:spLocks noGrp="1"/>
          </p:cNvSpPr>
          <p:nvPr>
            <p:ph type="title"/>
          </p:nvPr>
        </p:nvSpPr>
        <p:spPr/>
        <p:txBody>
          <a:bodyPr/>
          <a:lstStyle/>
          <a:p>
            <a:r>
              <a:rPr lang="en-US" dirty="0">
                <a:solidFill>
                  <a:srgbClr val="00004C"/>
                </a:solidFill>
              </a:rPr>
              <a:t>Lesson Objectives</a:t>
            </a:r>
          </a:p>
        </p:txBody>
      </p:sp>
    </p:spTree>
    <p:extLst>
      <p:ext uri="{BB962C8B-B14F-4D97-AF65-F5344CB8AC3E}">
        <p14:creationId xmlns:p14="http://schemas.microsoft.com/office/powerpoint/2010/main" val="656910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DAA81-2548-A29E-6AC6-0AA51265A146}"/>
              </a:ext>
            </a:extLst>
          </p:cNvPr>
          <p:cNvSpPr>
            <a:spLocks noGrp="1"/>
          </p:cNvSpPr>
          <p:nvPr>
            <p:ph type="body" idx="1"/>
          </p:nvPr>
        </p:nvSpPr>
        <p:spPr/>
        <p:txBody>
          <a:bodyPr/>
          <a:lstStyle/>
          <a:p>
            <a:r>
              <a:rPr lang="en-US" dirty="0">
                <a:solidFill>
                  <a:srgbClr val="00004C"/>
                </a:solidFill>
              </a:rPr>
              <a:t>Passive reconnaissance involves collecting information about attackers and/or their infrastructure without direct interaction, which minimizes detection risk. Passive reconnaissance is foundational for threat hunters in order to map attacker TTP (Tactics, Techniques, and Procedures) and identify counterstrike opportunities.</a:t>
            </a:r>
          </a:p>
          <a:p>
            <a:endParaRPr lang="en-US" dirty="0">
              <a:solidFill>
                <a:srgbClr val="00004C"/>
              </a:solidFill>
            </a:endParaRPr>
          </a:p>
          <a:p>
            <a:r>
              <a:rPr lang="en-US" dirty="0">
                <a:solidFill>
                  <a:srgbClr val="00004C"/>
                </a:solidFill>
              </a:rPr>
              <a:t>This lesson will help you to define passive reconnaissance and understand its role in collecting intelligence without detection.</a:t>
            </a:r>
          </a:p>
        </p:txBody>
      </p:sp>
      <p:sp>
        <p:nvSpPr>
          <p:cNvPr id="3" name="Title 2">
            <a:extLst>
              <a:ext uri="{FF2B5EF4-FFF2-40B4-BE49-F238E27FC236}">
                <a16:creationId xmlns:a16="http://schemas.microsoft.com/office/drawing/2014/main" id="{44783229-08CD-D0C0-F4EF-FDDD591DBCCD}"/>
              </a:ext>
            </a:extLst>
          </p:cNvPr>
          <p:cNvSpPr>
            <a:spLocks noGrp="1"/>
          </p:cNvSpPr>
          <p:nvPr>
            <p:ph type="title"/>
          </p:nvPr>
        </p:nvSpPr>
        <p:spPr/>
        <p:txBody>
          <a:bodyPr/>
          <a:lstStyle/>
          <a:p>
            <a:r>
              <a:rPr lang="en-US" dirty="0">
                <a:solidFill>
                  <a:srgbClr val="00004C"/>
                </a:solidFill>
              </a:rPr>
              <a:t>Lesson Overview</a:t>
            </a:r>
          </a:p>
        </p:txBody>
      </p:sp>
    </p:spTree>
    <p:extLst>
      <p:ext uri="{BB962C8B-B14F-4D97-AF65-F5344CB8AC3E}">
        <p14:creationId xmlns:p14="http://schemas.microsoft.com/office/powerpoint/2010/main" val="1144609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0E32C-79C2-5D4C-4790-7696272A7373}"/>
              </a:ext>
            </a:extLst>
          </p:cNvPr>
          <p:cNvSpPr>
            <a:spLocks noGrp="1"/>
          </p:cNvSpPr>
          <p:nvPr>
            <p:ph type="title"/>
          </p:nvPr>
        </p:nvSpPr>
        <p:spPr>
          <a:xfrm>
            <a:off x="1957534" y="2002600"/>
            <a:ext cx="9963493" cy="2852800"/>
          </a:xfrm>
        </p:spPr>
        <p:txBody>
          <a:bodyPr anchor="ctr"/>
          <a:lstStyle/>
          <a:p>
            <a:r>
              <a:rPr lang="en-US" dirty="0">
                <a:solidFill>
                  <a:srgbClr val="00004C"/>
                </a:solidFill>
              </a:rPr>
              <a:t>Introduction to Reconnaissance</a:t>
            </a:r>
          </a:p>
        </p:txBody>
      </p:sp>
    </p:spTree>
    <p:extLst>
      <p:ext uri="{BB962C8B-B14F-4D97-AF65-F5344CB8AC3E}">
        <p14:creationId xmlns:p14="http://schemas.microsoft.com/office/powerpoint/2010/main" val="1567961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Passive vs. Active Reconnaissance (Recon) Definitions:</a:t>
            </a:r>
          </a:p>
          <a:p>
            <a:endParaRPr lang="en-US" dirty="0">
              <a:solidFill>
                <a:srgbClr val="00004C"/>
              </a:solidFill>
            </a:endParaRPr>
          </a:p>
          <a:p>
            <a:pPr lvl="1"/>
            <a:r>
              <a:rPr lang="en-US" dirty="0">
                <a:solidFill>
                  <a:srgbClr val="00004C"/>
                </a:solidFill>
              </a:rPr>
              <a:t>Passive Recon- Involves collecting data from existing sources without direct interaction with target systems or networks. This includes analyzing internal logs, Indicators of Compromise (IOCs), and public/open-source intelligence (OSINT). Benefits of passive recon are a low detection risk, and compliance with Rules of Engagement (ROE) that restrict overt actions. This method is ideal for initial mapping in counterstrike scenarios to build target profiles silently.</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lstStyle/>
          <a:p>
            <a:r>
              <a:rPr lang="en-US" dirty="0">
                <a:solidFill>
                  <a:srgbClr val="00004C"/>
                </a:solidFill>
              </a:rPr>
              <a:t>Introduction to Reconnaissance</a:t>
            </a:r>
          </a:p>
        </p:txBody>
      </p:sp>
    </p:spTree>
    <p:extLst>
      <p:ext uri="{BB962C8B-B14F-4D97-AF65-F5344CB8AC3E}">
        <p14:creationId xmlns:p14="http://schemas.microsoft.com/office/powerpoint/2010/main" val="339608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Passive vs. Active Reconnaissance (Recon) Definitions:</a:t>
            </a:r>
          </a:p>
          <a:p>
            <a:pPr marL="795847" lvl="1" indent="0">
              <a:buNone/>
            </a:pPr>
            <a:endParaRPr lang="en-US" dirty="0">
              <a:solidFill>
                <a:srgbClr val="00004C"/>
              </a:solidFill>
            </a:endParaRPr>
          </a:p>
          <a:p>
            <a:pPr lvl="1"/>
            <a:r>
              <a:rPr lang="en-US" dirty="0">
                <a:solidFill>
                  <a:srgbClr val="00004C"/>
                </a:solidFill>
              </a:rPr>
              <a:t>Active Recon- Entails direct probing of adversary infrastructure (e.g. port scanning, vulnerability enumeration) to elicit responses and gather detailed information. Using these methods comes with a higher risk of detection but provides precise data for exploitation planning. Active recon will be discussed in more detail in later lessons.</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lstStyle/>
          <a:p>
            <a:r>
              <a:rPr lang="en-US" dirty="0">
                <a:solidFill>
                  <a:srgbClr val="00004C"/>
                </a:solidFill>
              </a:rPr>
              <a:t>Introduction to Reconnaissance</a:t>
            </a:r>
          </a:p>
        </p:txBody>
      </p:sp>
    </p:spTree>
    <p:extLst>
      <p:ext uri="{BB962C8B-B14F-4D97-AF65-F5344CB8AC3E}">
        <p14:creationId xmlns:p14="http://schemas.microsoft.com/office/powerpoint/2010/main" val="2667440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Passive vs. Active Reconnaissance (Recon) Distinctions:</a:t>
            </a:r>
          </a:p>
          <a:p>
            <a:pPr marL="795847" lvl="1" indent="0">
              <a:buNone/>
            </a:pPr>
            <a:endParaRPr lang="en-US" dirty="0">
              <a:solidFill>
                <a:srgbClr val="00004C"/>
              </a:solidFill>
            </a:endParaRPr>
          </a:p>
          <a:p>
            <a:pPr lvl="1"/>
            <a:r>
              <a:rPr lang="en-US" dirty="0">
                <a:solidFill>
                  <a:srgbClr val="00004C"/>
                </a:solidFill>
              </a:rPr>
              <a:t>Passive recon is observational and stealthy, focusing on what can be learned from artifacts and public data; active recon is interventional and confirmatory, used when passive intelligence identifies high-confidence targets under ROE authorization.</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lstStyle/>
          <a:p>
            <a:r>
              <a:rPr lang="en-US" dirty="0">
                <a:solidFill>
                  <a:srgbClr val="00004C"/>
                </a:solidFill>
              </a:rPr>
              <a:t>Introduction to Reconnaissance</a:t>
            </a:r>
          </a:p>
        </p:txBody>
      </p:sp>
    </p:spTree>
    <p:extLst>
      <p:ext uri="{BB962C8B-B14F-4D97-AF65-F5344CB8AC3E}">
        <p14:creationId xmlns:p14="http://schemas.microsoft.com/office/powerpoint/2010/main" val="922972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What is the role of passive recon in cyberspace operations?</a:t>
            </a:r>
          </a:p>
          <a:p>
            <a:pPr marL="795847" lvl="1" indent="0">
              <a:buNone/>
            </a:pPr>
            <a:endParaRPr lang="en-US" dirty="0">
              <a:solidFill>
                <a:srgbClr val="00004C"/>
              </a:solidFill>
            </a:endParaRPr>
          </a:p>
          <a:p>
            <a:pPr lvl="1"/>
            <a:r>
              <a:rPr lang="en-US" dirty="0">
                <a:solidFill>
                  <a:srgbClr val="00004C"/>
                </a:solidFill>
              </a:rPr>
              <a:t>Recon is the initial phase of cyberspace operations when intelligence is gathered on adversaries to inform decision-making. In the context of Cyber Protection Team (CPT) threat hunting and authorized counterstrike operations, recon enables the identification of attacker infrastructure, tactics, techniques, and procedures (TTP), which supports the planning and execution of effects-generating actions from blue space. </a:t>
            </a:r>
          </a:p>
          <a:p>
            <a:pPr lvl="1"/>
            <a:endParaRPr lang="en-US" dirty="0">
              <a:solidFill>
                <a:srgbClr val="00004C"/>
              </a:solidFill>
            </a:endParaRPr>
          </a:p>
          <a:p>
            <a:pPr lvl="1"/>
            <a:r>
              <a:rPr lang="en-US" dirty="0">
                <a:solidFill>
                  <a:srgbClr val="00004C"/>
                </a:solidFill>
              </a:rPr>
              <a:t>Recon transforms defensive posture into proactive capabilities, allowing teams to disrupt, degrade, or deny adversary operations while minimizing risks to friendly assets.</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lstStyle/>
          <a:p>
            <a:r>
              <a:rPr lang="en-US" dirty="0">
                <a:solidFill>
                  <a:srgbClr val="00004C"/>
                </a:solidFill>
              </a:rPr>
              <a:t>Introduction to Reconnaissance</a:t>
            </a:r>
          </a:p>
        </p:txBody>
      </p:sp>
    </p:spTree>
    <p:extLst>
      <p:ext uri="{BB962C8B-B14F-4D97-AF65-F5344CB8AC3E}">
        <p14:creationId xmlns:p14="http://schemas.microsoft.com/office/powerpoint/2010/main" val="1116031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Why is passive recon relevant to a CPT?</a:t>
            </a:r>
          </a:p>
          <a:p>
            <a:pPr marL="795847" lvl="1" indent="0">
              <a:buNone/>
            </a:pPr>
            <a:endParaRPr lang="en-US" dirty="0">
              <a:solidFill>
                <a:srgbClr val="00004C"/>
              </a:solidFill>
            </a:endParaRPr>
          </a:p>
          <a:p>
            <a:pPr lvl="1"/>
            <a:r>
              <a:rPr lang="en-US" b="0" i="0" dirty="0">
                <a:solidFill>
                  <a:srgbClr val="172B4D"/>
                </a:solidFill>
                <a:effectLst/>
                <a:latin typeface="-apple-system"/>
              </a:rPr>
              <a:t>In counterstrike scenarios, passive recon helps to validate IOCs, attribute attacks, and plan responses all while adhering to ROE.</a:t>
            </a:r>
            <a:endParaRPr lang="en-US" dirty="0">
              <a:solidFill>
                <a:srgbClr val="00004C"/>
              </a:solidFill>
            </a:endParaRP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lstStyle/>
          <a:p>
            <a:r>
              <a:rPr lang="en-US" dirty="0">
                <a:solidFill>
                  <a:srgbClr val="00004C"/>
                </a:solidFill>
              </a:rPr>
              <a:t>Introduction to Reconnaissance</a:t>
            </a:r>
          </a:p>
        </p:txBody>
      </p:sp>
    </p:spTree>
    <p:extLst>
      <p:ext uri="{BB962C8B-B14F-4D97-AF65-F5344CB8AC3E}">
        <p14:creationId xmlns:p14="http://schemas.microsoft.com/office/powerpoint/2010/main" val="1177671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Reconnaissance in Cyber Kill Chain and ATT&amp;CK® Framework</a:t>
            </a:r>
          </a:p>
          <a:p>
            <a:pPr lvl="1"/>
            <a:endParaRPr lang="en-US" dirty="0">
              <a:solidFill>
                <a:srgbClr val="00004C"/>
              </a:solidFill>
            </a:endParaRPr>
          </a:p>
          <a:p>
            <a:pPr lvl="1"/>
            <a:r>
              <a:rPr lang="en-US" dirty="0">
                <a:solidFill>
                  <a:srgbClr val="00004C"/>
                </a:solidFill>
              </a:rPr>
              <a:t>Reconnaissance maps to the "Reconnaissance" tactic (TA0043), encompassing techniques like Active Scanning (T1595) or Gather Victim Identity Information (T1589). In blue space counterstrikes, threat hunters apply ATT&amp;CK to adversary TTP, using passive recon to detect overlaps (e.g., OSINT for TA0001 Initial Access planning) and select countermeasures or strikes that exploit attacker weaknesses.</a:t>
            </a:r>
          </a:p>
          <a:p>
            <a:pPr lvl="1"/>
            <a:endParaRPr lang="en-US" dirty="0">
              <a:solidFill>
                <a:srgbClr val="00004C"/>
              </a:solidFill>
            </a:endParaRPr>
          </a:p>
          <a:p>
            <a:pPr lvl="1"/>
            <a:r>
              <a:rPr lang="en-US" dirty="0">
                <a:solidFill>
                  <a:srgbClr val="00004C"/>
                </a:solidFill>
              </a:rPr>
              <a:t>Recon intel populates ATT&amp;CK navigators, revealing technique gaps (e.g., poor OPSEC in T1071 Application Layer Protocol) for targeted disruptions.</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lstStyle/>
          <a:p>
            <a:r>
              <a:rPr lang="en-US" dirty="0">
                <a:solidFill>
                  <a:srgbClr val="00004C"/>
                </a:solidFill>
              </a:rPr>
              <a:t>Introduction to Reconnaissance</a:t>
            </a:r>
          </a:p>
        </p:txBody>
      </p:sp>
    </p:spTree>
    <p:extLst>
      <p:ext uri="{BB962C8B-B14F-4D97-AF65-F5344CB8AC3E}">
        <p14:creationId xmlns:p14="http://schemas.microsoft.com/office/powerpoint/2010/main" val="3641144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61428-5A3D-D92A-660C-6D8517EE6C72}"/>
              </a:ext>
            </a:extLst>
          </p:cNvPr>
          <p:cNvSpPr>
            <a:spLocks noGrp="1"/>
          </p:cNvSpPr>
          <p:nvPr>
            <p:ph type="title"/>
          </p:nvPr>
        </p:nvSpPr>
        <p:spPr>
          <a:xfrm>
            <a:off x="1896574" y="2002600"/>
            <a:ext cx="9963493" cy="2852800"/>
          </a:xfrm>
        </p:spPr>
        <p:txBody>
          <a:bodyPr anchor="ctr"/>
          <a:lstStyle/>
          <a:p>
            <a:r>
              <a:rPr lang="en-US" i="0" dirty="0">
                <a:solidFill>
                  <a:srgbClr val="00004C"/>
                </a:solidFill>
                <a:effectLst/>
                <a:latin typeface="+mj-lt"/>
              </a:rPr>
              <a:t>IOCs and Attacker Artifacts in Blue Space</a:t>
            </a:r>
            <a:br>
              <a:rPr lang="en-US" i="0" dirty="0">
                <a:solidFill>
                  <a:srgbClr val="00004C"/>
                </a:solidFill>
                <a:effectLst/>
                <a:latin typeface="+mj-lt"/>
              </a:rPr>
            </a:br>
            <a:endParaRPr lang="en-US" dirty="0">
              <a:solidFill>
                <a:srgbClr val="00004C"/>
              </a:solidFill>
              <a:latin typeface="+mj-lt"/>
            </a:endParaRPr>
          </a:p>
        </p:txBody>
      </p:sp>
    </p:spTree>
    <p:extLst>
      <p:ext uri="{BB962C8B-B14F-4D97-AF65-F5344CB8AC3E}">
        <p14:creationId xmlns:p14="http://schemas.microsoft.com/office/powerpoint/2010/main" val="3143768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Knowledge Refresh:</a:t>
            </a:r>
          </a:p>
          <a:p>
            <a:endParaRPr lang="en-US" dirty="0">
              <a:solidFill>
                <a:srgbClr val="00004C"/>
              </a:solidFill>
            </a:endParaRPr>
          </a:p>
          <a:p>
            <a:pPr lvl="1"/>
            <a:r>
              <a:rPr lang="en-US" dirty="0">
                <a:solidFill>
                  <a:srgbClr val="00004C"/>
                </a:solidFill>
              </a:rPr>
              <a:t>What are IOCs? </a:t>
            </a:r>
          </a:p>
          <a:p>
            <a:pPr marL="795847" lvl="1" indent="0">
              <a:buNone/>
            </a:pPr>
            <a:endParaRPr lang="en-US" dirty="0">
              <a:solidFill>
                <a:srgbClr val="00004C"/>
              </a:solidFill>
            </a:endParaRPr>
          </a:p>
          <a:p>
            <a:pPr lvl="2"/>
            <a:r>
              <a:rPr lang="en-US" dirty="0">
                <a:solidFill>
                  <a:srgbClr val="00004C"/>
                </a:solidFill>
              </a:rPr>
              <a:t>IOCs are forensic artifacts or evidence of malicious activity left behind by attackers during an intrusion. IOCs can include items like IP addresses, domain names, file hashes, registry keys, or network patterns that can be used to detect, investigate, and attribute attacks. In passive reconnaissance, IOCs are analyzed from existing logs and artifacts in the blue network without generating new traffic or alerting the attacker.</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2354336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r>
              <a:rPr lang="en-US" dirty="0">
                <a:solidFill>
                  <a:srgbClr val="00004C"/>
                </a:solidFill>
              </a:rPr>
              <a:t>Actionable Intelligence from IOCs:</a:t>
            </a:r>
          </a:p>
          <a:p>
            <a:endParaRPr lang="en-US" dirty="0">
              <a:solidFill>
                <a:srgbClr val="00004C"/>
              </a:solidFill>
            </a:endParaRPr>
          </a:p>
          <a:p>
            <a:pPr lvl="1"/>
            <a:r>
              <a:rPr lang="en-US" dirty="0">
                <a:solidFill>
                  <a:srgbClr val="00004C"/>
                </a:solidFill>
              </a:rPr>
              <a:t>Beyond basic detection, IOCs provide rich, passive intelligence that threat hunters can mine to understand attacker operations, reconstruct timelines, and identify leverage points for counterstrike actions. Focus on extracting details like configurations, credentials, and patterns that reveal attacker weaknesses or infrastructure. </a:t>
            </a:r>
          </a:p>
          <a:p>
            <a:pPr lvl="1"/>
            <a:endParaRPr lang="en-US" dirty="0">
              <a:solidFill>
                <a:srgbClr val="00004C"/>
              </a:solidFill>
            </a:endParaRPr>
          </a:p>
          <a:p>
            <a:pPr lvl="1"/>
            <a:r>
              <a:rPr lang="en-US" dirty="0">
                <a:solidFill>
                  <a:srgbClr val="00004C"/>
                </a:solidFill>
              </a:rPr>
              <a:t>Let’s explore some key examples on the following slides…</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3188682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p:txBody>
          <a:bodyPr/>
          <a:lstStyle/>
          <a:p>
            <a:endParaRPr lang="en-US" dirty="0">
              <a:solidFill>
                <a:srgbClr val="00004C"/>
              </a:solidFill>
            </a:endParaRPr>
          </a:p>
          <a:p>
            <a:pPr lvl="1"/>
            <a:r>
              <a:rPr lang="en-US" b="1" dirty="0">
                <a:solidFill>
                  <a:srgbClr val="00004C"/>
                </a:solidFill>
              </a:rPr>
              <a:t>Hardcoded Passwords or Credentials: </a:t>
            </a:r>
            <a:r>
              <a:rPr lang="en-US" dirty="0">
                <a:solidFill>
                  <a:srgbClr val="00004C"/>
                </a:solidFill>
              </a:rPr>
              <a:t>Malware or tools dropped by attackers often contain embedded credentials for their own infrastructure (e.g., API keys for C2 servers or admin logins for staging sites).</a:t>
            </a:r>
          </a:p>
          <a:p>
            <a:pPr lvl="2"/>
            <a:r>
              <a:rPr lang="en-US" b="1" dirty="0">
                <a:solidFill>
                  <a:srgbClr val="00004C"/>
                </a:solidFill>
              </a:rPr>
              <a:t>Actionable Insight:</a:t>
            </a:r>
            <a:r>
              <a:rPr lang="en-US" dirty="0">
                <a:solidFill>
                  <a:srgbClr val="00004C"/>
                </a:solidFill>
              </a:rPr>
              <a:t> Extract these from binary analysis (e.g., using strings command on malware samples) or script reviews. In a counterstrike context, these could enable authorized disruption, such as reporting to registrars or using them to access shared resources if permissible under ROE—e.g., identifying a weak password reused across attacker tools for potential </a:t>
            </a:r>
            <a:r>
              <a:rPr lang="en-US" dirty="0" err="1">
                <a:solidFill>
                  <a:srgbClr val="00004C"/>
                </a:solidFill>
              </a:rPr>
              <a:t>sinkholing</a:t>
            </a:r>
            <a:r>
              <a:rPr lang="en-US" dirty="0">
                <a:solidFill>
                  <a:srgbClr val="00004C"/>
                </a:solidFill>
              </a:rPr>
              <a:t>.</a:t>
            </a:r>
          </a:p>
          <a:p>
            <a:pPr lvl="2"/>
            <a:r>
              <a:rPr lang="en-US" b="1" dirty="0">
                <a:solidFill>
                  <a:srgbClr val="00004C"/>
                </a:solidFill>
              </a:rPr>
              <a:t>Example: </a:t>
            </a:r>
            <a:r>
              <a:rPr lang="en-US" dirty="0">
                <a:solidFill>
                  <a:srgbClr val="00004C"/>
                </a:solidFill>
              </a:rPr>
              <a:t>In a ransomware sample, a hardcoded FTP password for exfiltration might point to an attacker-controlled server; passively search OSINT for that server to map their OPSEC gaps.</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3361266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lstStyle/>
          <a:p>
            <a:pPr marL="169329" indent="0">
              <a:buNone/>
            </a:pPr>
            <a:endParaRPr lang="en-US" sz="1800" dirty="0">
              <a:solidFill>
                <a:srgbClr val="00004C"/>
              </a:solidFill>
            </a:endParaRPr>
          </a:p>
          <a:p>
            <a:pPr lvl="1"/>
            <a:r>
              <a:rPr lang="en-US" b="1" dirty="0">
                <a:solidFill>
                  <a:srgbClr val="00004C"/>
                </a:solidFill>
              </a:rPr>
              <a:t>Certificates and SSL/TLS Artifacts: </a:t>
            </a:r>
            <a:r>
              <a:rPr lang="en-US" dirty="0">
                <a:solidFill>
                  <a:srgbClr val="00004C"/>
                </a:solidFill>
              </a:rPr>
              <a:t>Attackers use self-signed or stolen certificates for C2 communications, often visible in network captures or endpoint logs.</a:t>
            </a:r>
          </a:p>
          <a:p>
            <a:pPr marL="795847" lvl="1" indent="0">
              <a:buNone/>
            </a:pPr>
            <a:endParaRPr lang="en-US" sz="1800" dirty="0">
              <a:solidFill>
                <a:srgbClr val="00004C"/>
              </a:solidFill>
            </a:endParaRPr>
          </a:p>
          <a:p>
            <a:pPr lvl="2"/>
            <a:r>
              <a:rPr lang="en-US" sz="1870" b="1" dirty="0">
                <a:solidFill>
                  <a:srgbClr val="00004C"/>
                </a:solidFill>
              </a:rPr>
              <a:t>Actionable Insight: </a:t>
            </a:r>
            <a:r>
              <a:rPr lang="en-US" sz="1870" dirty="0">
                <a:solidFill>
                  <a:srgbClr val="00004C"/>
                </a:solidFill>
              </a:rPr>
              <a:t>Analyze certificate details using tools like </a:t>
            </a:r>
            <a:r>
              <a:rPr lang="en-US" sz="1870" dirty="0" err="1">
                <a:solidFill>
                  <a:srgbClr val="00004C"/>
                </a:solidFill>
              </a:rPr>
              <a:t>openssl</a:t>
            </a:r>
            <a:r>
              <a:rPr lang="en-US" sz="1870" dirty="0">
                <a:solidFill>
                  <a:srgbClr val="00004C"/>
                </a:solidFill>
              </a:rPr>
              <a:t> or Wireshark's passive dissection to uncover additional attack vectors. This can reveal hidden infrastructure like subject alternative names (SANs) that list extra domains or IP addresses for targeting in counterstrikes. Extracted certs can also be repurposed to forge trusted connections. Mismatched or expired certs highlight poor OPSEC, enabling prediction of infrastructure shifts for timed disruptions.</a:t>
            </a:r>
          </a:p>
          <a:p>
            <a:pPr lvl="2"/>
            <a:r>
              <a:rPr lang="en-US" sz="1870" b="1" dirty="0">
                <a:solidFill>
                  <a:srgbClr val="00004C"/>
                </a:solidFill>
              </a:rPr>
              <a:t>Example: </a:t>
            </a:r>
            <a:r>
              <a:rPr lang="en-US" sz="1870" dirty="0">
                <a:solidFill>
                  <a:srgbClr val="00004C"/>
                </a:solidFill>
              </a:rPr>
              <a:t>A C2 beacon's cert might include SANs pointing to unmonitored staging servers; passively enumerate these via OSINT to expand the target list for authorized exploits. Alternatively, reuse the cert's private key (if derivable from artifacts) to spoof a trusted connection, tricking the attacker's malware into accepting a reverse shell or data upload from blue space.</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3652395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lstStyle/>
          <a:p>
            <a:pPr marL="169329" indent="0">
              <a:buNone/>
            </a:pPr>
            <a:endParaRPr lang="en-US" sz="1800" dirty="0">
              <a:solidFill>
                <a:srgbClr val="00004C"/>
              </a:solidFill>
            </a:endParaRPr>
          </a:p>
          <a:p>
            <a:pPr lvl="1"/>
            <a:r>
              <a:rPr lang="en-US" b="1" dirty="0">
                <a:solidFill>
                  <a:srgbClr val="00004C"/>
                </a:solidFill>
              </a:rPr>
              <a:t>Timing and Behavioral Patterns: </a:t>
            </a:r>
            <a:r>
              <a:rPr lang="en-US" dirty="0">
                <a:solidFill>
                  <a:srgbClr val="00004C"/>
                </a:solidFill>
              </a:rPr>
              <a:t>Logs may capture timestamps of attacker actions, such as login times, data exfiltration windows, or beaconing intervals, revealing operational hours or automation scripts.</a:t>
            </a:r>
          </a:p>
          <a:p>
            <a:pPr lvl="2"/>
            <a:r>
              <a:rPr lang="en-US" b="1" dirty="0">
                <a:solidFill>
                  <a:srgbClr val="00004C"/>
                </a:solidFill>
              </a:rPr>
              <a:t>Actionable Insight: </a:t>
            </a:r>
            <a:r>
              <a:rPr lang="en-US" dirty="0">
                <a:solidFill>
                  <a:srgbClr val="00004C"/>
                </a:solidFill>
              </a:rPr>
              <a:t>Correlate timings across IOCs (e.g., via SIEM timelines) to infer attacker locations (e.g., UTC offsets suggesting Asia-based ops) or routines (e.g., daily check-ins). This enables "hack back" timing—e.g., passively monitoring for predictable recon windows to deploy decoys or disrupt without direct engagement.</a:t>
            </a:r>
          </a:p>
          <a:p>
            <a:pPr lvl="2"/>
            <a:r>
              <a:rPr lang="en-US" sz="2000" b="1" dirty="0">
                <a:solidFill>
                  <a:srgbClr val="00004C"/>
                </a:solidFill>
              </a:rPr>
              <a:t>Example: </a:t>
            </a:r>
            <a:r>
              <a:rPr lang="en-US" sz="2000" dirty="0">
                <a:solidFill>
                  <a:srgbClr val="00004C"/>
                </a:solidFill>
              </a:rPr>
              <a:t>If IOCs show consistent 2 AM UTC beacons, hunters can anticipate and passively log future activity, building a case for proactive defenses like matching the pattern of life for the implant if attempting an exploit.</a:t>
            </a:r>
          </a:p>
          <a:p>
            <a:pPr lvl="2"/>
            <a:endParaRPr lang="en-US" dirty="0">
              <a:solidFill>
                <a:srgbClr val="00004C"/>
              </a:solidFill>
            </a:endParaRP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49891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lstStyle/>
          <a:p>
            <a:pPr marL="169329" indent="0">
              <a:buNone/>
            </a:pPr>
            <a:endParaRPr lang="en-US" sz="1800" dirty="0">
              <a:solidFill>
                <a:srgbClr val="00004C"/>
              </a:solidFill>
            </a:endParaRPr>
          </a:p>
          <a:p>
            <a:pPr lvl="1"/>
            <a:r>
              <a:rPr lang="en-US" b="1" dirty="0">
                <a:solidFill>
                  <a:srgbClr val="00004C"/>
                </a:solidFill>
              </a:rPr>
              <a:t>Encryption Keys and Configuration Data: </a:t>
            </a:r>
            <a:r>
              <a:rPr lang="en-US" dirty="0">
                <a:solidFill>
                  <a:srgbClr val="00004C"/>
                </a:solidFill>
              </a:rPr>
              <a:t>Attacker tools like Cobalt Strike or custom RATs may leave partial keys, salts, or config files in memory dumps, registry, or temp files.</a:t>
            </a:r>
          </a:p>
          <a:p>
            <a:pPr lvl="1"/>
            <a:endParaRPr lang="en-US" dirty="0">
              <a:solidFill>
                <a:srgbClr val="00004C"/>
              </a:solidFill>
            </a:endParaRPr>
          </a:p>
          <a:p>
            <a:pPr lvl="2"/>
            <a:r>
              <a:rPr lang="en-US" b="1" dirty="0">
                <a:solidFill>
                  <a:srgbClr val="00004C"/>
                </a:solidFill>
              </a:rPr>
              <a:t>Actionable Insight: </a:t>
            </a:r>
            <a:r>
              <a:rPr lang="en-US" dirty="0">
                <a:solidFill>
                  <a:srgbClr val="00004C"/>
                </a:solidFill>
              </a:rPr>
              <a:t>Use memory forensics (e.g., Volatility) to extract these passively. Keys can decrypt C2 traffic samples, exposing plaintext commands or additional IOCs. In counterstrike planning, this reveals encryption weaknesses (e.g., reused keys across campaigns), allowing hunters to decode communications or identify pivot points for disruption.</a:t>
            </a:r>
          </a:p>
          <a:p>
            <a:pPr lvl="2"/>
            <a:r>
              <a:rPr lang="en-US" b="1" dirty="0">
                <a:solidFill>
                  <a:srgbClr val="00004C"/>
                </a:solidFill>
              </a:rPr>
              <a:t>Example: </a:t>
            </a:r>
            <a:r>
              <a:rPr lang="en-US" dirty="0">
                <a:solidFill>
                  <a:srgbClr val="00004C"/>
                </a:solidFill>
              </a:rPr>
              <a:t>A leaked AES key from a dropped implant could decrypt captured payloads, revealing hardcoded attacker IP addresses—use this to passively track infrastructure migrations without scanning.</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621631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lstStyle/>
          <a:p>
            <a:pPr marL="169329" indent="0">
              <a:buNone/>
            </a:pPr>
            <a:endParaRPr lang="en-US" sz="1800" dirty="0">
              <a:solidFill>
                <a:srgbClr val="00004C"/>
              </a:solidFill>
            </a:endParaRPr>
          </a:p>
          <a:p>
            <a:pPr marL="795847" lvl="1" indent="0">
              <a:buNone/>
            </a:pPr>
            <a:endParaRPr lang="en-US" dirty="0">
              <a:solidFill>
                <a:srgbClr val="00004C"/>
              </a:solidFill>
            </a:endParaRPr>
          </a:p>
          <a:p>
            <a:pPr marL="795847" lvl="1" indent="0">
              <a:buNone/>
            </a:pPr>
            <a:endParaRPr lang="en-US" dirty="0">
              <a:solidFill>
                <a:srgbClr val="00004C"/>
              </a:solidFill>
            </a:endParaRPr>
          </a:p>
          <a:p>
            <a:pPr marL="795847" lvl="1" indent="0">
              <a:buNone/>
            </a:pPr>
            <a:r>
              <a:rPr lang="en-US" dirty="0">
                <a:solidFill>
                  <a:srgbClr val="00004C"/>
                </a:solidFill>
              </a:rPr>
              <a:t>Let’s take a look at a case study where actionable intel was collected and leveraged from passive recon…</a:t>
            </a:r>
          </a:p>
          <a:p>
            <a:pPr lvl="1"/>
            <a:endParaRPr lang="en-US" dirty="0">
              <a:solidFill>
                <a:srgbClr val="00004C"/>
              </a:solidFill>
            </a:endParaRPr>
          </a:p>
          <a:p>
            <a:pPr marL="795847" lvl="1" indent="0">
              <a:buNone/>
            </a:pPr>
            <a:endParaRPr lang="en-US" dirty="0">
              <a:solidFill>
                <a:srgbClr val="00004C"/>
              </a:solidFill>
            </a:endParaRPr>
          </a:p>
          <a:p>
            <a:pPr lvl="1"/>
            <a:r>
              <a:rPr lang="en-US" b="1" i="0" dirty="0">
                <a:solidFill>
                  <a:srgbClr val="172B4D"/>
                </a:solidFill>
                <a:effectLst/>
                <a:latin typeface="-apple-system"/>
              </a:rPr>
              <a:t>Case Study: SolarWinds Supply Chain Attack</a:t>
            </a:r>
            <a:endParaRPr lang="en-US" dirty="0">
              <a:solidFill>
                <a:srgbClr val="172B4D"/>
              </a:solidFill>
              <a:latin typeface="-apple-system"/>
            </a:endParaRPr>
          </a:p>
          <a:p>
            <a:pPr lvl="2"/>
            <a:r>
              <a:rPr lang="en-US" b="0" i="0" dirty="0">
                <a:solidFill>
                  <a:srgbClr val="172B4D"/>
                </a:solidFill>
                <a:effectLst/>
                <a:latin typeface="-apple-system"/>
              </a:rPr>
              <a:t>IOCs included tampered DLL files with specific hashes and embedded domains pointing to FireEye-discovered attacker infrastructure.</a:t>
            </a:r>
            <a:endParaRPr lang="en-US" dirty="0">
              <a:solidFill>
                <a:srgbClr val="00004C"/>
              </a:solidFill>
            </a:endParaRP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3518034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nchor="ctr"/>
          <a:lstStyle/>
          <a:p>
            <a:pPr marL="795847" lvl="1" indent="0">
              <a:buNone/>
            </a:pPr>
            <a:endParaRPr lang="en-US" dirty="0">
              <a:solidFill>
                <a:srgbClr val="00004C"/>
              </a:solidFill>
            </a:endParaRPr>
          </a:p>
          <a:p>
            <a:pPr lvl="1"/>
            <a:r>
              <a:rPr lang="en-US" b="1" dirty="0">
                <a:solidFill>
                  <a:srgbClr val="00004C"/>
                </a:solidFill>
              </a:rPr>
              <a:t>Case Study Actionable Insight: </a:t>
            </a:r>
            <a:r>
              <a:rPr lang="en-US" dirty="0">
                <a:solidFill>
                  <a:srgbClr val="00004C"/>
                </a:solidFill>
              </a:rPr>
              <a:t>Passively analyzing the DLL's strings revealed hardcoded C2 domains and user agents mimicking legitimate traffic. This intel allowed defenders to map the full kill chain, identify timing patterns (e.g., staged updates), and coordinate global disruptions like domain seizures—demonstrating how IOCs turn defense into offensive intelligence.</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1143884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nchor="ctr"/>
          <a:lstStyle/>
          <a:p>
            <a:r>
              <a:rPr lang="en-US" sz="2100" b="1" dirty="0">
                <a:solidFill>
                  <a:srgbClr val="00004C"/>
                </a:solidFill>
              </a:rPr>
              <a:t>Case Study Potential Counterstrike Opportunity: </a:t>
            </a:r>
            <a:r>
              <a:rPr lang="en-US" sz="2100" dirty="0">
                <a:solidFill>
                  <a:srgbClr val="00004C"/>
                </a:solidFill>
              </a:rPr>
              <a:t>Extracted C2 domains from the DLL could be enumerated passively via certificate transparency logs (e.g., crt.sh) to uncover additional subdomains or IP addresses in the attacker's infrastructure. If analysis reveals reused SSL certificates across their C2 servers, threat hunters could forge a trusted certificate (using similar issuer details or SANs) to impersonate a legitimate update server, tricking the attackers' own implants or bots into connecting to a controlled endpoint. This enables command injection—e.g., delivering a payload that exfiltrates attacker data or disrupts their operations—while timing the operation to match observed beaconing patterns for maximum effect under ROE.</a:t>
            </a:r>
          </a:p>
          <a:p>
            <a:pPr marL="169329" indent="0">
              <a:buNone/>
            </a:pPr>
            <a:endParaRPr lang="en-US" sz="1800" dirty="0">
              <a:solidFill>
                <a:srgbClr val="00004C"/>
              </a:solidFill>
            </a:endParaRP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1159741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nchor="ctr"/>
          <a:lstStyle/>
          <a:p>
            <a:r>
              <a:rPr lang="en-US" sz="2100" b="1" dirty="0">
                <a:solidFill>
                  <a:srgbClr val="00004C"/>
                </a:solidFill>
              </a:rPr>
              <a:t>Passive Analysis Techniques for Actionable Intel:</a:t>
            </a:r>
          </a:p>
          <a:p>
            <a:endParaRPr lang="en-US" sz="2100" dirty="0">
              <a:solidFill>
                <a:srgbClr val="00004C"/>
              </a:solidFill>
            </a:endParaRPr>
          </a:p>
          <a:p>
            <a:pPr lvl="1"/>
            <a:r>
              <a:rPr lang="en-US" sz="1870" dirty="0">
                <a:solidFill>
                  <a:srgbClr val="00004C"/>
                </a:solidFill>
              </a:rPr>
              <a:t>Leverage tools like Wireshark for traffic inspection, Volatility for memory, or Autopsy for file carving—all without network interaction.</a:t>
            </a:r>
          </a:p>
          <a:p>
            <a:pPr marL="795847" lvl="1" indent="0">
              <a:buNone/>
            </a:pPr>
            <a:endParaRPr lang="en-US" sz="1870" dirty="0">
              <a:solidFill>
                <a:srgbClr val="00004C"/>
              </a:solidFill>
            </a:endParaRPr>
          </a:p>
          <a:p>
            <a:pPr lvl="1"/>
            <a:r>
              <a:rPr lang="en-US" sz="1870" dirty="0">
                <a:solidFill>
                  <a:srgbClr val="00004C"/>
                </a:solidFill>
              </a:rPr>
              <a:t>Timeline reconstruction in SIEM to spot patterns, then feed into OSINT for validation.</a:t>
            </a:r>
          </a:p>
          <a:p>
            <a:pPr marL="795847" lvl="1" indent="0">
              <a:buNone/>
            </a:pPr>
            <a:endParaRPr lang="en-US" sz="1870" dirty="0">
              <a:solidFill>
                <a:srgbClr val="00004C"/>
              </a:solidFill>
            </a:endParaRPr>
          </a:p>
          <a:p>
            <a:pPr lvl="1"/>
            <a:r>
              <a:rPr lang="en-US" sz="1870" dirty="0">
                <a:solidFill>
                  <a:srgbClr val="00004C"/>
                </a:solidFill>
              </a:rPr>
              <a:t>Focus on counterstrike opportunities: IOCs aren't just for containment, they identify attacker pain points (e.g., exposed keys = potential reversals). Use this to plan strikes like forging credentials from extracted artifacts to access attacker infrastructure, or crafting exploits based on identified timing patterns and behavioral weaknesses, always within ROE to maximize effects against the adversary.</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698081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nchor="ctr"/>
          <a:lstStyle/>
          <a:p>
            <a:r>
              <a:rPr lang="en-US" sz="2100" b="1" dirty="0">
                <a:solidFill>
                  <a:srgbClr val="00004C"/>
                </a:solidFill>
              </a:rPr>
              <a:t>Passive Analysis Techniques for Actionable Intel:</a:t>
            </a:r>
          </a:p>
          <a:p>
            <a:endParaRPr lang="en-US" sz="2100" dirty="0">
              <a:solidFill>
                <a:srgbClr val="00004C"/>
              </a:solidFill>
            </a:endParaRPr>
          </a:p>
          <a:p>
            <a:pPr lvl="1"/>
            <a:r>
              <a:rPr lang="en-US" sz="1870" dirty="0">
                <a:solidFill>
                  <a:srgbClr val="00004C"/>
                </a:solidFill>
              </a:rPr>
              <a:t>Leverage tools like Wireshark for traffic inspection, Volatility for memory, or Autopsy for file carving—all without network interaction.</a:t>
            </a:r>
          </a:p>
          <a:p>
            <a:pPr marL="795847" lvl="1" indent="0">
              <a:buNone/>
            </a:pPr>
            <a:endParaRPr lang="en-US" sz="1870" dirty="0">
              <a:solidFill>
                <a:srgbClr val="00004C"/>
              </a:solidFill>
            </a:endParaRPr>
          </a:p>
          <a:p>
            <a:pPr lvl="1"/>
            <a:r>
              <a:rPr lang="en-US" sz="1870" dirty="0">
                <a:solidFill>
                  <a:srgbClr val="00004C"/>
                </a:solidFill>
              </a:rPr>
              <a:t>Timeline reconstruction in SIEM to spot patterns, then feed into OSINT for validation.</a:t>
            </a:r>
          </a:p>
          <a:p>
            <a:pPr marL="795847" lvl="1" indent="0">
              <a:buNone/>
            </a:pPr>
            <a:endParaRPr lang="en-US" sz="1870" dirty="0">
              <a:solidFill>
                <a:srgbClr val="00004C"/>
              </a:solidFill>
            </a:endParaRPr>
          </a:p>
          <a:p>
            <a:pPr lvl="1"/>
            <a:r>
              <a:rPr lang="en-US" sz="1870" dirty="0">
                <a:solidFill>
                  <a:srgbClr val="00004C"/>
                </a:solidFill>
              </a:rPr>
              <a:t>Focus on counterstrike opportunities: IOCs aren't just for containment, they identify attacker pain points (e.g., exposed keys = potential reversals). Use this to plan strikes like forging credentials from extracted artifacts to access attacker infrastructure, or crafting exploits based on identified timing patterns and behavioral weaknesses, always within ROE to maximize effects against the adversary.</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IOCs and Attacker Artifacts in Blue Space</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3795132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8E1C9-9187-3FAB-AB56-7CD543CB601E}"/>
              </a:ext>
            </a:extLst>
          </p:cNvPr>
          <p:cNvSpPr>
            <a:spLocks noGrp="1"/>
          </p:cNvSpPr>
          <p:nvPr>
            <p:ph type="title"/>
          </p:nvPr>
        </p:nvSpPr>
        <p:spPr/>
        <p:txBody>
          <a:bodyPr/>
          <a:lstStyle/>
          <a:p>
            <a:r>
              <a:rPr lang="en-US" dirty="0">
                <a:solidFill>
                  <a:srgbClr val="00004C"/>
                </a:solidFill>
              </a:rPr>
              <a:t>Open-Source Threat Intelligence (OSINT) Searches for Targeting and TTP Development</a:t>
            </a:r>
          </a:p>
        </p:txBody>
      </p:sp>
    </p:spTree>
    <p:extLst>
      <p:ext uri="{BB962C8B-B14F-4D97-AF65-F5344CB8AC3E}">
        <p14:creationId xmlns:p14="http://schemas.microsoft.com/office/powerpoint/2010/main" val="3896900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9BFD36-E1C2-7145-1852-D8CE03451C42}"/>
              </a:ext>
            </a:extLst>
          </p:cNvPr>
          <p:cNvSpPr>
            <a:spLocks noGrp="1"/>
          </p:cNvSpPr>
          <p:nvPr>
            <p:ph type="body" idx="1"/>
          </p:nvPr>
        </p:nvSpPr>
        <p:spPr/>
        <p:txBody>
          <a:bodyPr/>
          <a:lstStyle/>
          <a:p>
            <a:endParaRPr lang="en-US" b="0" i="0" dirty="0">
              <a:solidFill>
                <a:srgbClr val="172B4D"/>
              </a:solidFill>
              <a:effectLst/>
              <a:latin typeface="-apple-system"/>
            </a:endParaRPr>
          </a:p>
          <a:p>
            <a:r>
              <a:rPr lang="en-US" sz="2100" b="0" i="0" dirty="0">
                <a:solidFill>
                  <a:srgbClr val="00004C"/>
                </a:solidFill>
                <a:effectLst/>
              </a:rPr>
              <a:t>OSINT leverages publicly available data to identify adversary infrastructure and TTP for counterstrike planning, focusing on mapping targets and effective techniques without direct interaction. This is purely passive—no direct contact with attacker systems.</a:t>
            </a:r>
          </a:p>
        </p:txBody>
      </p:sp>
      <p:sp>
        <p:nvSpPr>
          <p:cNvPr id="3" name="Title 2">
            <a:extLst>
              <a:ext uri="{FF2B5EF4-FFF2-40B4-BE49-F238E27FC236}">
                <a16:creationId xmlns:a16="http://schemas.microsoft.com/office/drawing/2014/main" id="{776F085B-45EC-E5A8-99CD-CF7D5DCE6378}"/>
              </a:ext>
            </a:extLst>
          </p:cNvPr>
          <p:cNvSpPr>
            <a:spLocks noGrp="1"/>
          </p:cNvSpPr>
          <p:nvPr>
            <p:ph type="title"/>
          </p:nvPr>
        </p:nvSpPr>
        <p:spPr/>
        <p:txBody>
          <a:bodyPr/>
          <a:lstStyle/>
          <a:p>
            <a:r>
              <a:rPr lang="en-US" dirty="0">
                <a:solidFill>
                  <a:srgbClr val="00004C"/>
                </a:solidFill>
              </a:rPr>
              <a:t>OSINT Searches for Targeting and TTP Development</a:t>
            </a:r>
          </a:p>
        </p:txBody>
      </p:sp>
    </p:spTree>
    <p:extLst>
      <p:ext uri="{BB962C8B-B14F-4D97-AF65-F5344CB8AC3E}">
        <p14:creationId xmlns:p14="http://schemas.microsoft.com/office/powerpoint/2010/main" val="1944284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9BFD36-E1C2-7145-1852-D8CE03451C42}"/>
              </a:ext>
            </a:extLst>
          </p:cNvPr>
          <p:cNvSpPr>
            <a:spLocks noGrp="1"/>
          </p:cNvSpPr>
          <p:nvPr>
            <p:ph type="body" idx="1"/>
          </p:nvPr>
        </p:nvSpPr>
        <p:spPr/>
        <p:txBody>
          <a:bodyPr/>
          <a:lstStyle/>
          <a:p>
            <a:endParaRPr lang="en-US" b="0" i="0" dirty="0">
              <a:solidFill>
                <a:srgbClr val="172B4D"/>
              </a:solidFill>
              <a:effectLst/>
              <a:latin typeface="-apple-system"/>
            </a:endParaRPr>
          </a:p>
          <a:p>
            <a:r>
              <a:rPr lang="en-US" sz="2100" b="1" dirty="0">
                <a:solidFill>
                  <a:srgbClr val="00004C"/>
                </a:solidFill>
              </a:rPr>
              <a:t>Key Sources</a:t>
            </a:r>
          </a:p>
          <a:p>
            <a:pPr marL="169329" indent="0">
              <a:buNone/>
            </a:pPr>
            <a:endParaRPr lang="en-US" sz="2100" b="1" dirty="0">
              <a:solidFill>
                <a:srgbClr val="00004C"/>
              </a:solidFill>
            </a:endParaRPr>
          </a:p>
          <a:p>
            <a:pPr lvl="1"/>
            <a:r>
              <a:rPr lang="en-US" sz="1870" b="1" dirty="0">
                <a:solidFill>
                  <a:srgbClr val="00004C"/>
                </a:solidFill>
              </a:rPr>
              <a:t>Threat Intel Feeds: </a:t>
            </a:r>
            <a:r>
              <a:rPr lang="en-US" sz="1870" dirty="0">
                <a:solidFill>
                  <a:srgbClr val="00004C"/>
                </a:solidFill>
              </a:rPr>
              <a:t>Platforms like AlienVault OTX, MISP (Malware Information Sharing Platform), or MITRE ATT&amp;CK framework to search IOCs for associated infrastructure, tools, and operational patterns.</a:t>
            </a:r>
          </a:p>
          <a:p>
            <a:pPr marL="795847" lvl="1" indent="0">
              <a:buNone/>
            </a:pPr>
            <a:endParaRPr lang="en-US" sz="1870" dirty="0">
              <a:solidFill>
                <a:srgbClr val="00004C"/>
              </a:solidFill>
            </a:endParaRPr>
          </a:p>
          <a:p>
            <a:pPr lvl="1"/>
            <a:r>
              <a:rPr lang="en-US" sz="1870" b="1" dirty="0">
                <a:solidFill>
                  <a:srgbClr val="00004C"/>
                </a:solidFill>
              </a:rPr>
              <a:t>Search Engines and Databases: </a:t>
            </a:r>
            <a:r>
              <a:rPr lang="en-US" sz="1870" dirty="0">
                <a:solidFill>
                  <a:srgbClr val="00004C"/>
                </a:solidFill>
              </a:rPr>
              <a:t>Use Google Dorks (e.g., "</a:t>
            </a:r>
            <a:r>
              <a:rPr lang="en-US" sz="1870" dirty="0" err="1">
                <a:solidFill>
                  <a:srgbClr val="00004C"/>
                </a:solidFill>
              </a:rPr>
              <a:t>site:example.com</a:t>
            </a:r>
            <a:r>
              <a:rPr lang="en-US" sz="1870" dirty="0">
                <a:solidFill>
                  <a:srgbClr val="00004C"/>
                </a:solidFill>
              </a:rPr>
              <a:t> </a:t>
            </a:r>
            <a:r>
              <a:rPr lang="en-US" sz="1870" dirty="0" err="1">
                <a:solidFill>
                  <a:srgbClr val="00004C"/>
                </a:solidFill>
              </a:rPr>
              <a:t>inurl:admin</a:t>
            </a:r>
            <a:r>
              <a:rPr lang="en-US" sz="1870" dirty="0">
                <a:solidFill>
                  <a:srgbClr val="00004C"/>
                </a:solidFill>
              </a:rPr>
              <a:t>" for exposed attacker panels) or Shodan/</a:t>
            </a:r>
            <a:r>
              <a:rPr lang="en-US" sz="1870" dirty="0" err="1">
                <a:solidFill>
                  <a:srgbClr val="00004C"/>
                </a:solidFill>
              </a:rPr>
              <a:t>Censys</a:t>
            </a:r>
            <a:r>
              <a:rPr lang="en-US" sz="1870" dirty="0">
                <a:solidFill>
                  <a:srgbClr val="00004C"/>
                </a:solidFill>
              </a:rPr>
              <a:t> for passive device fingerprinting (e.g., searching exposed RDP ports tied to IOC IP addresses) to reveal additional targets.</a:t>
            </a:r>
          </a:p>
          <a:p>
            <a:pPr marL="795847" lvl="1" indent="0">
              <a:buNone/>
            </a:pPr>
            <a:endParaRPr lang="en-US" sz="1870" dirty="0">
              <a:solidFill>
                <a:srgbClr val="00004C"/>
              </a:solidFill>
            </a:endParaRPr>
          </a:p>
          <a:p>
            <a:pPr lvl="1"/>
            <a:r>
              <a:rPr lang="en-US" sz="1870" b="1" dirty="0">
                <a:solidFill>
                  <a:srgbClr val="00004C"/>
                </a:solidFill>
              </a:rPr>
              <a:t>Social Media and Forums: </a:t>
            </a:r>
            <a:r>
              <a:rPr lang="en-US" sz="1870" dirty="0">
                <a:solidFill>
                  <a:srgbClr val="00004C"/>
                </a:solidFill>
              </a:rPr>
              <a:t>Monitor Pastebin, Reddit (r/</a:t>
            </a:r>
            <a:r>
              <a:rPr lang="en-US" sz="1870" dirty="0" err="1">
                <a:solidFill>
                  <a:srgbClr val="00004C"/>
                </a:solidFill>
              </a:rPr>
              <a:t>netsec</a:t>
            </a:r>
            <a:r>
              <a:rPr lang="en-US" sz="1870" dirty="0">
                <a:solidFill>
                  <a:srgbClr val="00004C"/>
                </a:solidFill>
              </a:rPr>
              <a:t>), or Twitter for leaked attacker tools/configs. Tools like </a:t>
            </a:r>
            <a:r>
              <a:rPr lang="en-US" sz="1870" dirty="0" err="1">
                <a:solidFill>
                  <a:srgbClr val="00004C"/>
                </a:solidFill>
              </a:rPr>
              <a:t>Maltego</a:t>
            </a:r>
            <a:r>
              <a:rPr lang="en-US" sz="1870" dirty="0">
                <a:solidFill>
                  <a:srgbClr val="00004C"/>
                </a:solidFill>
              </a:rPr>
              <a:t> or </a:t>
            </a:r>
            <a:r>
              <a:rPr lang="en-US" sz="1870" dirty="0" err="1">
                <a:solidFill>
                  <a:srgbClr val="00004C"/>
                </a:solidFill>
              </a:rPr>
              <a:t>SpiderFoot</a:t>
            </a:r>
            <a:r>
              <a:rPr lang="en-US" sz="1870" dirty="0">
                <a:solidFill>
                  <a:srgbClr val="00004C"/>
                </a:solidFill>
              </a:rPr>
              <a:t> automate OSINT graphing to connect IOCs to broader networks</a:t>
            </a:r>
            <a:r>
              <a:rPr lang="en-US" sz="1600" dirty="0">
                <a:solidFill>
                  <a:srgbClr val="00004C"/>
                </a:solidFill>
              </a:rPr>
              <a:t>.</a:t>
            </a:r>
          </a:p>
        </p:txBody>
      </p:sp>
      <p:sp>
        <p:nvSpPr>
          <p:cNvPr id="3" name="Title 2">
            <a:extLst>
              <a:ext uri="{FF2B5EF4-FFF2-40B4-BE49-F238E27FC236}">
                <a16:creationId xmlns:a16="http://schemas.microsoft.com/office/drawing/2014/main" id="{776F085B-45EC-E5A8-99CD-CF7D5DCE6378}"/>
              </a:ext>
            </a:extLst>
          </p:cNvPr>
          <p:cNvSpPr>
            <a:spLocks noGrp="1"/>
          </p:cNvSpPr>
          <p:nvPr>
            <p:ph type="title"/>
          </p:nvPr>
        </p:nvSpPr>
        <p:spPr/>
        <p:txBody>
          <a:bodyPr/>
          <a:lstStyle/>
          <a:p>
            <a:r>
              <a:rPr lang="en-US" dirty="0">
                <a:solidFill>
                  <a:srgbClr val="00004C"/>
                </a:solidFill>
              </a:rPr>
              <a:t>OSINT Searches for Targeting and TTP Development</a:t>
            </a:r>
          </a:p>
        </p:txBody>
      </p:sp>
    </p:spTree>
    <p:extLst>
      <p:ext uri="{BB962C8B-B14F-4D97-AF65-F5344CB8AC3E}">
        <p14:creationId xmlns:p14="http://schemas.microsoft.com/office/powerpoint/2010/main" val="1595626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9BFD36-E1C2-7145-1852-D8CE03451C42}"/>
              </a:ext>
            </a:extLst>
          </p:cNvPr>
          <p:cNvSpPr>
            <a:spLocks noGrp="1"/>
          </p:cNvSpPr>
          <p:nvPr>
            <p:ph type="body" idx="1"/>
          </p:nvPr>
        </p:nvSpPr>
        <p:spPr/>
        <p:txBody>
          <a:bodyPr/>
          <a:lstStyle/>
          <a:p>
            <a:endParaRPr lang="en-US" b="0" i="0" dirty="0">
              <a:solidFill>
                <a:srgbClr val="172B4D"/>
              </a:solidFill>
              <a:effectLst/>
              <a:latin typeface="-apple-system"/>
            </a:endParaRPr>
          </a:p>
          <a:p>
            <a:r>
              <a:rPr lang="en-US" sz="2100" b="1" dirty="0">
                <a:solidFill>
                  <a:srgbClr val="00004C"/>
                </a:solidFill>
              </a:rPr>
              <a:t>Target Identification and TTP Mapping Process</a:t>
            </a:r>
          </a:p>
          <a:p>
            <a:endParaRPr lang="en-US" sz="2100" b="1" dirty="0">
              <a:solidFill>
                <a:srgbClr val="00004C"/>
              </a:solidFill>
            </a:endParaRPr>
          </a:p>
          <a:p>
            <a:pPr lvl="1"/>
            <a:r>
              <a:rPr lang="en-US" sz="1870" dirty="0">
                <a:solidFill>
                  <a:srgbClr val="00004C"/>
                </a:solidFill>
              </a:rPr>
              <a:t>Input IOC (e.g., malware hash) into </a:t>
            </a:r>
            <a:r>
              <a:rPr lang="en-US" sz="1870" dirty="0" err="1">
                <a:solidFill>
                  <a:srgbClr val="00004C"/>
                </a:solidFill>
              </a:rPr>
              <a:t>VirusTotal</a:t>
            </a:r>
            <a:r>
              <a:rPr lang="en-US" sz="1870" dirty="0">
                <a:solidFill>
                  <a:srgbClr val="00004C"/>
                </a:solidFill>
              </a:rPr>
              <a:t> or Hybrid Analysis to uncover linked domains, IPs, and infrastructure used by the actors.</a:t>
            </a:r>
          </a:p>
          <a:p>
            <a:pPr marL="795847" lvl="1" indent="0">
              <a:buNone/>
            </a:pPr>
            <a:endParaRPr lang="en-US" sz="1870" dirty="0">
              <a:solidFill>
                <a:srgbClr val="00004C"/>
              </a:solidFill>
            </a:endParaRPr>
          </a:p>
          <a:p>
            <a:pPr lvl="1"/>
            <a:r>
              <a:rPr lang="en-US" sz="1870" dirty="0">
                <a:solidFill>
                  <a:srgbClr val="00004C"/>
                </a:solidFill>
              </a:rPr>
              <a:t>Cross-check with reports from Mandiant, CrowdStrike, or Recorded Future for TTP details (e.g., common C2 protocols, exploitation methods) that can be mirrored or countered.</a:t>
            </a:r>
          </a:p>
          <a:p>
            <a:pPr marL="795847" lvl="1" indent="0">
              <a:buNone/>
            </a:pPr>
            <a:endParaRPr lang="en-US" sz="1870" dirty="0">
              <a:solidFill>
                <a:srgbClr val="00004C"/>
              </a:solidFill>
            </a:endParaRPr>
          </a:p>
          <a:p>
            <a:pPr lvl="1"/>
            <a:r>
              <a:rPr lang="en-US" sz="1870" dirty="0">
                <a:solidFill>
                  <a:srgbClr val="00004C"/>
                </a:solidFill>
              </a:rPr>
              <a:t>Profile operational details: Preferred tools (e.g., RAT configurations), network patterns (e.g., beaconing cadences), and infrastructure (e.g., VPS providers) to select effective strike techniques.</a:t>
            </a:r>
          </a:p>
        </p:txBody>
      </p:sp>
      <p:sp>
        <p:nvSpPr>
          <p:cNvPr id="3" name="Title 2">
            <a:extLst>
              <a:ext uri="{FF2B5EF4-FFF2-40B4-BE49-F238E27FC236}">
                <a16:creationId xmlns:a16="http://schemas.microsoft.com/office/drawing/2014/main" id="{776F085B-45EC-E5A8-99CD-CF7D5DCE6378}"/>
              </a:ext>
            </a:extLst>
          </p:cNvPr>
          <p:cNvSpPr>
            <a:spLocks noGrp="1"/>
          </p:cNvSpPr>
          <p:nvPr>
            <p:ph type="title"/>
          </p:nvPr>
        </p:nvSpPr>
        <p:spPr/>
        <p:txBody>
          <a:bodyPr/>
          <a:lstStyle/>
          <a:p>
            <a:r>
              <a:rPr lang="en-US" dirty="0">
                <a:solidFill>
                  <a:srgbClr val="00004C"/>
                </a:solidFill>
              </a:rPr>
              <a:t>OSINT Searches for Targeting and TTP Development</a:t>
            </a:r>
          </a:p>
        </p:txBody>
      </p:sp>
    </p:spTree>
    <p:extLst>
      <p:ext uri="{BB962C8B-B14F-4D97-AF65-F5344CB8AC3E}">
        <p14:creationId xmlns:p14="http://schemas.microsoft.com/office/powerpoint/2010/main" val="1398585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7EBA-23CF-08CC-B99B-1B25B53D9D99}"/>
              </a:ext>
            </a:extLst>
          </p:cNvPr>
          <p:cNvSpPr>
            <a:spLocks noGrp="1"/>
          </p:cNvSpPr>
          <p:nvPr>
            <p:ph type="title"/>
          </p:nvPr>
        </p:nvSpPr>
        <p:spPr/>
        <p:txBody>
          <a:bodyPr/>
          <a:lstStyle/>
          <a:p>
            <a:r>
              <a:rPr lang="en-US" dirty="0">
                <a:solidFill>
                  <a:srgbClr val="00004C"/>
                </a:solidFill>
              </a:rPr>
              <a:t>Domain Tools and Domain Enumeration</a:t>
            </a:r>
          </a:p>
        </p:txBody>
      </p:sp>
    </p:spTree>
    <p:extLst>
      <p:ext uri="{BB962C8B-B14F-4D97-AF65-F5344CB8AC3E}">
        <p14:creationId xmlns:p14="http://schemas.microsoft.com/office/powerpoint/2010/main" val="2858643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778A3B-F6EF-AD16-E4AE-599B8EE8E152}"/>
              </a:ext>
            </a:extLst>
          </p:cNvPr>
          <p:cNvSpPr>
            <a:spLocks noGrp="1"/>
          </p:cNvSpPr>
          <p:nvPr>
            <p:ph type="body" idx="1"/>
          </p:nvPr>
        </p:nvSpPr>
        <p:spPr/>
        <p:txBody>
          <a:bodyPr anchor="ctr"/>
          <a:lstStyle/>
          <a:p>
            <a:r>
              <a:rPr lang="en-US" sz="2100" dirty="0">
                <a:solidFill>
                  <a:srgbClr val="00004C"/>
                </a:solidFill>
              </a:rPr>
              <a:t>Domains are often central to attacker ops (e.g., for phishing, C2). Passive enumeration reveals infrastructure without querying nameservers directly, enabling identification of additional targets and operational patterns for counterstrikes.</a:t>
            </a:r>
          </a:p>
          <a:p>
            <a:endParaRPr lang="en-US" sz="2100" dirty="0">
              <a:solidFill>
                <a:srgbClr val="00004C"/>
              </a:solidFill>
            </a:endParaRPr>
          </a:p>
          <a:p>
            <a:endParaRPr lang="en-US" sz="2100" dirty="0">
              <a:solidFill>
                <a:srgbClr val="00004C"/>
              </a:solidFill>
            </a:endParaRPr>
          </a:p>
        </p:txBody>
      </p:sp>
      <p:sp>
        <p:nvSpPr>
          <p:cNvPr id="3" name="Title 2">
            <a:extLst>
              <a:ext uri="{FF2B5EF4-FFF2-40B4-BE49-F238E27FC236}">
                <a16:creationId xmlns:a16="http://schemas.microsoft.com/office/drawing/2014/main" id="{C436E772-B0D7-C14A-12DF-C34B59CF7256}"/>
              </a:ext>
            </a:extLst>
          </p:cNvPr>
          <p:cNvSpPr>
            <a:spLocks noGrp="1"/>
          </p:cNvSpPr>
          <p:nvPr>
            <p:ph type="title"/>
          </p:nvPr>
        </p:nvSpPr>
        <p:spPr/>
        <p:txBody>
          <a:bodyPr/>
          <a:lstStyle/>
          <a:p>
            <a:r>
              <a:rPr lang="en-US" dirty="0">
                <a:solidFill>
                  <a:srgbClr val="00004C"/>
                </a:solidFill>
              </a:rPr>
              <a:t>Domain Tools and Domain Enumeration</a:t>
            </a:r>
          </a:p>
        </p:txBody>
      </p:sp>
    </p:spTree>
    <p:extLst>
      <p:ext uri="{BB962C8B-B14F-4D97-AF65-F5344CB8AC3E}">
        <p14:creationId xmlns:p14="http://schemas.microsoft.com/office/powerpoint/2010/main" val="909801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778A3B-F6EF-AD16-E4AE-599B8EE8E152}"/>
              </a:ext>
            </a:extLst>
          </p:cNvPr>
          <p:cNvSpPr>
            <a:spLocks noGrp="1"/>
          </p:cNvSpPr>
          <p:nvPr>
            <p:ph type="body" idx="1"/>
          </p:nvPr>
        </p:nvSpPr>
        <p:spPr/>
        <p:txBody>
          <a:bodyPr anchor="ctr"/>
          <a:lstStyle/>
          <a:p>
            <a:r>
              <a:rPr lang="en-US" sz="2100" b="1" dirty="0">
                <a:solidFill>
                  <a:srgbClr val="00004C"/>
                </a:solidFill>
              </a:rPr>
              <a:t>Tools and Techniques</a:t>
            </a:r>
          </a:p>
          <a:p>
            <a:pPr lvl="1"/>
            <a:r>
              <a:rPr lang="en-US" sz="1870" b="1" dirty="0">
                <a:solidFill>
                  <a:srgbClr val="00004C"/>
                </a:solidFill>
              </a:rPr>
              <a:t>WHOIS and RDAP Queries: </a:t>
            </a:r>
            <a:r>
              <a:rPr lang="en-US" sz="1870" dirty="0">
                <a:solidFill>
                  <a:srgbClr val="00004C"/>
                </a:solidFill>
              </a:rPr>
              <a:t>Use tools like </a:t>
            </a:r>
            <a:r>
              <a:rPr lang="en-US" sz="1870" dirty="0" err="1">
                <a:solidFill>
                  <a:srgbClr val="00004C"/>
                </a:solidFill>
              </a:rPr>
              <a:t>whois</a:t>
            </a:r>
            <a:r>
              <a:rPr lang="en-US" sz="1870" dirty="0">
                <a:solidFill>
                  <a:srgbClr val="00004C"/>
                </a:solidFill>
              </a:rPr>
              <a:t> or ICANN's RDAP to passively retrieve registrant details (e.g., email, organization) for suspected domains from IOCs, uncovering contact points or shared infrastructure for targeting.</a:t>
            </a:r>
          </a:p>
          <a:p>
            <a:pPr marL="795847" lvl="1" indent="0">
              <a:buNone/>
            </a:pPr>
            <a:endParaRPr lang="en-US" sz="1870" dirty="0">
              <a:solidFill>
                <a:srgbClr val="00004C"/>
              </a:solidFill>
            </a:endParaRPr>
          </a:p>
          <a:p>
            <a:pPr lvl="1"/>
            <a:r>
              <a:rPr lang="en-US" sz="1870" b="1" dirty="0">
                <a:solidFill>
                  <a:srgbClr val="00004C"/>
                </a:solidFill>
              </a:rPr>
              <a:t>Passive DNS Enumeration: </a:t>
            </a:r>
            <a:r>
              <a:rPr lang="en-US" sz="1870" dirty="0">
                <a:solidFill>
                  <a:srgbClr val="00004C"/>
                </a:solidFill>
              </a:rPr>
              <a:t>Platforms like </a:t>
            </a:r>
            <a:r>
              <a:rPr lang="en-US" sz="1870" dirty="0" err="1">
                <a:solidFill>
                  <a:srgbClr val="00004C"/>
                </a:solidFill>
              </a:rPr>
              <a:t>PassiveTotal</a:t>
            </a:r>
            <a:r>
              <a:rPr lang="en-US" sz="1870" dirty="0">
                <a:solidFill>
                  <a:srgbClr val="00004C"/>
                </a:solidFill>
              </a:rPr>
              <a:t> or </a:t>
            </a:r>
            <a:r>
              <a:rPr lang="en-US" sz="1870" dirty="0" err="1">
                <a:solidFill>
                  <a:srgbClr val="00004C"/>
                </a:solidFill>
              </a:rPr>
              <a:t>DNSDumpster</a:t>
            </a:r>
            <a:r>
              <a:rPr lang="en-US" sz="1870" dirty="0">
                <a:solidFill>
                  <a:srgbClr val="00004C"/>
                </a:solidFill>
              </a:rPr>
              <a:t> aggregate historical DNS records without active resolution. Search for subdomains (e.g., api.attacker.com) linked to main domains to expand the target footprint.</a:t>
            </a:r>
          </a:p>
          <a:p>
            <a:pPr marL="795847" lvl="1" indent="0">
              <a:buNone/>
            </a:pPr>
            <a:endParaRPr lang="en-US" sz="1870" dirty="0">
              <a:solidFill>
                <a:srgbClr val="00004C"/>
              </a:solidFill>
            </a:endParaRPr>
          </a:p>
          <a:p>
            <a:pPr lvl="1"/>
            <a:r>
              <a:rPr lang="en-US" sz="1870" b="1" dirty="0">
                <a:solidFill>
                  <a:srgbClr val="00004C"/>
                </a:solidFill>
              </a:rPr>
              <a:t>Certificate Transparency Logs: </a:t>
            </a:r>
            <a:r>
              <a:rPr lang="en-US" sz="1870" dirty="0">
                <a:solidFill>
                  <a:srgbClr val="00004C"/>
                </a:solidFill>
              </a:rPr>
              <a:t>Tools like crt.sh query public logs for SSL certs, exposing hidden subdomains or related domains (e.g., if attackers reuse certs across ops) that can be prioritized for disruption.</a:t>
            </a:r>
          </a:p>
          <a:p>
            <a:pPr marL="795847" lvl="1" indent="0">
              <a:buNone/>
            </a:pPr>
            <a:endParaRPr lang="en-US" sz="1870" dirty="0">
              <a:solidFill>
                <a:srgbClr val="00004C"/>
              </a:solidFill>
            </a:endParaRPr>
          </a:p>
          <a:p>
            <a:pPr lvl="1"/>
            <a:r>
              <a:rPr lang="en-US" sz="1870" b="1" dirty="0">
                <a:solidFill>
                  <a:srgbClr val="00004C"/>
                </a:solidFill>
              </a:rPr>
              <a:t>Domain Correlation: </a:t>
            </a:r>
            <a:r>
              <a:rPr lang="en-US" sz="1870" dirty="0">
                <a:solidFill>
                  <a:srgbClr val="00004C"/>
                </a:solidFill>
              </a:rPr>
              <a:t>Use </a:t>
            </a:r>
            <a:r>
              <a:rPr lang="en-US" sz="1870" dirty="0" err="1">
                <a:solidFill>
                  <a:srgbClr val="00004C"/>
                </a:solidFill>
              </a:rPr>
              <a:t>VirusTotal</a:t>
            </a:r>
            <a:r>
              <a:rPr lang="en-US" sz="1870" dirty="0">
                <a:solidFill>
                  <a:srgbClr val="00004C"/>
                </a:solidFill>
              </a:rPr>
              <a:t> or Recorded Future to find domains sharing IP addresses/ASNs with known malicious ones, mapping attacker networks for comprehensive targeting.</a:t>
            </a:r>
          </a:p>
          <a:p>
            <a:endParaRPr lang="en-US" sz="2100" dirty="0">
              <a:solidFill>
                <a:srgbClr val="00004C"/>
              </a:solidFill>
            </a:endParaRPr>
          </a:p>
        </p:txBody>
      </p:sp>
      <p:sp>
        <p:nvSpPr>
          <p:cNvPr id="3" name="Title 2">
            <a:extLst>
              <a:ext uri="{FF2B5EF4-FFF2-40B4-BE49-F238E27FC236}">
                <a16:creationId xmlns:a16="http://schemas.microsoft.com/office/drawing/2014/main" id="{C436E772-B0D7-C14A-12DF-C34B59CF7256}"/>
              </a:ext>
            </a:extLst>
          </p:cNvPr>
          <p:cNvSpPr>
            <a:spLocks noGrp="1"/>
          </p:cNvSpPr>
          <p:nvPr>
            <p:ph type="title"/>
          </p:nvPr>
        </p:nvSpPr>
        <p:spPr/>
        <p:txBody>
          <a:bodyPr/>
          <a:lstStyle/>
          <a:p>
            <a:r>
              <a:rPr lang="en-US" dirty="0">
                <a:solidFill>
                  <a:srgbClr val="00004C"/>
                </a:solidFill>
              </a:rPr>
              <a:t>Domain Tools and Domain Enumeration</a:t>
            </a:r>
          </a:p>
        </p:txBody>
      </p:sp>
    </p:spTree>
    <p:extLst>
      <p:ext uri="{BB962C8B-B14F-4D97-AF65-F5344CB8AC3E}">
        <p14:creationId xmlns:p14="http://schemas.microsoft.com/office/powerpoint/2010/main" val="3686929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778A3B-F6EF-AD16-E4AE-599B8EE8E152}"/>
              </a:ext>
            </a:extLst>
          </p:cNvPr>
          <p:cNvSpPr>
            <a:spLocks noGrp="1"/>
          </p:cNvSpPr>
          <p:nvPr>
            <p:ph type="body" idx="1"/>
          </p:nvPr>
        </p:nvSpPr>
        <p:spPr/>
        <p:txBody>
          <a:bodyPr anchor="t"/>
          <a:lstStyle/>
          <a:p>
            <a:r>
              <a:rPr lang="en-US" sz="2100" b="1" dirty="0">
                <a:solidFill>
                  <a:srgbClr val="00004C"/>
                </a:solidFill>
              </a:rPr>
              <a:t>Application to Threat Hunting</a:t>
            </a:r>
          </a:p>
          <a:p>
            <a:pPr lvl="1"/>
            <a:r>
              <a:rPr lang="en-US" sz="1870" dirty="0">
                <a:solidFill>
                  <a:srgbClr val="00004C"/>
                </a:solidFill>
              </a:rPr>
              <a:t>From blue space IOCs (e.g., a domain in a log file), enumerate to find "neighbor" domains and subdomains for broader targeting in authorized operations.</a:t>
            </a:r>
          </a:p>
          <a:p>
            <a:pPr marL="795847" lvl="1" indent="0">
              <a:buNone/>
            </a:pPr>
            <a:endParaRPr lang="en-US" sz="1870" dirty="0">
              <a:solidFill>
                <a:srgbClr val="00004C"/>
              </a:solidFill>
            </a:endParaRPr>
          </a:p>
          <a:p>
            <a:pPr lvl="1"/>
            <a:r>
              <a:rPr lang="en-US" sz="1870" dirty="0">
                <a:solidFill>
                  <a:srgbClr val="00004C"/>
                </a:solidFill>
              </a:rPr>
              <a:t>Example: If an IOC domain is evilcorp.ru, passive search might reveal interconnected domains hosting admin panels or C2 staging sites, ideal for coordinated strikes.</a:t>
            </a:r>
          </a:p>
          <a:p>
            <a:pPr marL="795847" lvl="1" indent="0">
              <a:buNone/>
            </a:pPr>
            <a:endParaRPr lang="en-US" sz="1870" dirty="0">
              <a:solidFill>
                <a:srgbClr val="00004C"/>
              </a:solidFill>
            </a:endParaRPr>
          </a:p>
          <a:p>
            <a:pPr marL="529162" indent="-342900"/>
            <a:r>
              <a:rPr lang="en-US" sz="2100" b="1" dirty="0">
                <a:solidFill>
                  <a:srgbClr val="00004C"/>
                </a:solidFill>
              </a:rPr>
              <a:t>Hands-On Tip</a:t>
            </a:r>
          </a:p>
          <a:p>
            <a:pPr marL="1138747" lvl="1" indent="-342900"/>
            <a:r>
              <a:rPr lang="en-US" sz="1870" dirty="0">
                <a:solidFill>
                  <a:srgbClr val="00004C"/>
                </a:solidFill>
              </a:rPr>
              <a:t>Integrate with OSINT—feed enumerated domains into threat feeds to identify exploitable patterns like weak configurations or timing windows.</a:t>
            </a:r>
          </a:p>
        </p:txBody>
      </p:sp>
      <p:sp>
        <p:nvSpPr>
          <p:cNvPr id="3" name="Title 2">
            <a:extLst>
              <a:ext uri="{FF2B5EF4-FFF2-40B4-BE49-F238E27FC236}">
                <a16:creationId xmlns:a16="http://schemas.microsoft.com/office/drawing/2014/main" id="{C436E772-B0D7-C14A-12DF-C34B59CF7256}"/>
              </a:ext>
            </a:extLst>
          </p:cNvPr>
          <p:cNvSpPr>
            <a:spLocks noGrp="1"/>
          </p:cNvSpPr>
          <p:nvPr>
            <p:ph type="title"/>
          </p:nvPr>
        </p:nvSpPr>
        <p:spPr/>
        <p:txBody>
          <a:bodyPr/>
          <a:lstStyle/>
          <a:p>
            <a:r>
              <a:rPr lang="en-US" dirty="0">
                <a:solidFill>
                  <a:srgbClr val="00004C"/>
                </a:solidFill>
              </a:rPr>
              <a:t>Domain Tools and Domain Enumeration</a:t>
            </a:r>
          </a:p>
        </p:txBody>
      </p:sp>
    </p:spTree>
    <p:extLst>
      <p:ext uri="{BB962C8B-B14F-4D97-AF65-F5344CB8AC3E}">
        <p14:creationId xmlns:p14="http://schemas.microsoft.com/office/powerpoint/2010/main" val="124516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CA083-2433-1BC7-B6E9-C0FE23193D79}"/>
              </a:ext>
            </a:extLst>
          </p:cNvPr>
          <p:cNvSpPr>
            <a:spLocks noGrp="1"/>
          </p:cNvSpPr>
          <p:nvPr>
            <p:ph type="title"/>
          </p:nvPr>
        </p:nvSpPr>
        <p:spPr/>
        <p:txBody>
          <a:bodyPr/>
          <a:lstStyle/>
          <a:p>
            <a:r>
              <a:rPr lang="en-US" dirty="0">
                <a:solidFill>
                  <a:srgbClr val="00004C"/>
                </a:solidFill>
              </a:rPr>
              <a:t>Vulnerability Searches and Integration</a:t>
            </a:r>
          </a:p>
        </p:txBody>
      </p:sp>
    </p:spTree>
    <p:extLst>
      <p:ext uri="{BB962C8B-B14F-4D97-AF65-F5344CB8AC3E}">
        <p14:creationId xmlns:p14="http://schemas.microsoft.com/office/powerpoint/2010/main" val="1299074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5627F3-DE86-2676-D40A-02C37559AD9B}"/>
              </a:ext>
            </a:extLst>
          </p:cNvPr>
          <p:cNvSpPr>
            <a:spLocks noGrp="1"/>
          </p:cNvSpPr>
          <p:nvPr>
            <p:ph type="body" idx="1"/>
          </p:nvPr>
        </p:nvSpPr>
        <p:spPr/>
        <p:txBody>
          <a:bodyPr/>
          <a:lstStyle/>
          <a:p>
            <a:r>
              <a:rPr lang="en-US" sz="2100" b="1" dirty="0">
                <a:solidFill>
                  <a:srgbClr val="00004C"/>
                </a:solidFill>
              </a:rPr>
              <a:t>Overview</a:t>
            </a:r>
          </a:p>
          <a:p>
            <a:pPr lvl="1"/>
            <a:r>
              <a:rPr lang="en-US" sz="1870" dirty="0">
                <a:solidFill>
                  <a:srgbClr val="00004C"/>
                </a:solidFill>
              </a:rPr>
              <a:t>Passive vulnerability searches identify weaknesses in attacker infrastructure (e.g., exposed services) using public data, informing counterstrike planning.</a:t>
            </a:r>
          </a:p>
          <a:p>
            <a:pPr marL="795847" lvl="1" indent="0">
              <a:buNone/>
            </a:pPr>
            <a:endParaRPr lang="en-US" sz="1870" dirty="0">
              <a:solidFill>
                <a:srgbClr val="00004C"/>
              </a:solidFill>
            </a:endParaRPr>
          </a:p>
          <a:p>
            <a:r>
              <a:rPr lang="en-US" sz="2100" b="1" dirty="0">
                <a:solidFill>
                  <a:srgbClr val="00004C"/>
                </a:solidFill>
              </a:rPr>
              <a:t>Sources and Methods</a:t>
            </a:r>
          </a:p>
          <a:p>
            <a:pPr lvl="1"/>
            <a:r>
              <a:rPr lang="en-US" sz="1870" dirty="0">
                <a:solidFill>
                  <a:srgbClr val="00004C"/>
                </a:solidFill>
              </a:rPr>
              <a:t>CVE Databases: Search NIST NVD or Exploit-DB with IOCs (e.g., software versions from Shodan scans of attacker IP addresses) to find exploitable vulns passively.</a:t>
            </a:r>
          </a:p>
          <a:p>
            <a:pPr marL="795847" lvl="1" indent="0">
              <a:buNone/>
            </a:pPr>
            <a:endParaRPr lang="en-US" sz="1870" dirty="0">
              <a:solidFill>
                <a:srgbClr val="00004C"/>
              </a:solidFill>
            </a:endParaRPr>
          </a:p>
          <a:p>
            <a:pPr lvl="1"/>
            <a:r>
              <a:rPr lang="en-US" sz="1870" dirty="0">
                <a:solidFill>
                  <a:srgbClr val="00004C"/>
                </a:solidFill>
              </a:rPr>
              <a:t>Search Engines: Shodan/IoT Search for devices tied to attacker domains (e.g., query "port:443 </a:t>
            </a:r>
            <a:r>
              <a:rPr lang="en-US" sz="1870" dirty="0" err="1">
                <a:solidFill>
                  <a:srgbClr val="00004C"/>
                </a:solidFill>
              </a:rPr>
              <a:t>hostname:malicious.com</a:t>
            </a:r>
            <a:r>
              <a:rPr lang="en-US" sz="1870" dirty="0">
                <a:solidFill>
                  <a:srgbClr val="00004C"/>
                </a:solidFill>
              </a:rPr>
              <a:t>" to see server banners revealing vuln software like outdated Apache).</a:t>
            </a:r>
          </a:p>
          <a:p>
            <a:pPr lvl="1"/>
            <a:endParaRPr lang="en-US" sz="1870" dirty="0">
              <a:solidFill>
                <a:srgbClr val="00004C"/>
              </a:solidFill>
            </a:endParaRPr>
          </a:p>
          <a:p>
            <a:pPr lvl="1"/>
            <a:r>
              <a:rPr lang="en-US" sz="1870" dirty="0">
                <a:solidFill>
                  <a:srgbClr val="00004C"/>
                </a:solidFill>
              </a:rPr>
              <a:t>Vuln Intel Platforms: Use </a:t>
            </a:r>
            <a:r>
              <a:rPr lang="en-US" sz="1870" dirty="0" err="1">
                <a:solidFill>
                  <a:srgbClr val="00004C"/>
                </a:solidFill>
              </a:rPr>
              <a:t>VulnDB</a:t>
            </a:r>
            <a:r>
              <a:rPr lang="en-US" sz="1870" dirty="0">
                <a:solidFill>
                  <a:srgbClr val="00004C"/>
                </a:solidFill>
              </a:rPr>
              <a:t> or OpenVAS's passive mode to correlate IOCs with known exploits, without scanning.</a:t>
            </a:r>
          </a:p>
        </p:txBody>
      </p:sp>
      <p:sp>
        <p:nvSpPr>
          <p:cNvPr id="3" name="Title 2">
            <a:extLst>
              <a:ext uri="{FF2B5EF4-FFF2-40B4-BE49-F238E27FC236}">
                <a16:creationId xmlns:a16="http://schemas.microsoft.com/office/drawing/2014/main" id="{B3D5A865-01E7-ABBF-1727-E86827DADEE4}"/>
              </a:ext>
            </a:extLst>
          </p:cNvPr>
          <p:cNvSpPr>
            <a:spLocks noGrp="1"/>
          </p:cNvSpPr>
          <p:nvPr>
            <p:ph type="title"/>
          </p:nvPr>
        </p:nvSpPr>
        <p:spPr/>
        <p:txBody>
          <a:bodyPr/>
          <a:lstStyle/>
          <a:p>
            <a:r>
              <a:rPr lang="en-US" dirty="0">
                <a:solidFill>
                  <a:srgbClr val="00004C"/>
                </a:solidFill>
              </a:rPr>
              <a:t>Vulnerability Searches and Integration</a:t>
            </a:r>
          </a:p>
        </p:txBody>
      </p:sp>
    </p:spTree>
    <p:extLst>
      <p:ext uri="{BB962C8B-B14F-4D97-AF65-F5344CB8AC3E}">
        <p14:creationId xmlns:p14="http://schemas.microsoft.com/office/powerpoint/2010/main" val="2631414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5627F3-DE86-2676-D40A-02C37559AD9B}"/>
              </a:ext>
            </a:extLst>
          </p:cNvPr>
          <p:cNvSpPr>
            <a:spLocks noGrp="1"/>
          </p:cNvSpPr>
          <p:nvPr>
            <p:ph type="body" idx="1"/>
          </p:nvPr>
        </p:nvSpPr>
        <p:spPr/>
        <p:txBody>
          <a:bodyPr/>
          <a:lstStyle/>
          <a:p>
            <a:r>
              <a:rPr lang="en-US" sz="2100" b="1" dirty="0">
                <a:solidFill>
                  <a:srgbClr val="00004C"/>
                </a:solidFill>
              </a:rPr>
              <a:t>Tying to Blue Space</a:t>
            </a:r>
          </a:p>
          <a:p>
            <a:pPr lvl="1"/>
            <a:r>
              <a:rPr lang="en-US" sz="1870" dirty="0">
                <a:solidFill>
                  <a:srgbClr val="00004C"/>
                </a:solidFill>
              </a:rPr>
              <a:t>Analyze attacker tools left behind (e.g., an old Metasploit version in logs) for vulns that could be reversed against them.</a:t>
            </a:r>
          </a:p>
          <a:p>
            <a:pPr marL="795847" lvl="1" indent="0">
              <a:buNone/>
            </a:pPr>
            <a:endParaRPr lang="en-US" sz="1600" dirty="0">
              <a:solidFill>
                <a:srgbClr val="00004C"/>
              </a:solidFill>
            </a:endParaRPr>
          </a:p>
          <a:p>
            <a:r>
              <a:rPr lang="en-US" sz="2100" b="1" dirty="0">
                <a:solidFill>
                  <a:srgbClr val="00004C"/>
                </a:solidFill>
              </a:rPr>
              <a:t>Strategic Use</a:t>
            </a:r>
          </a:p>
          <a:p>
            <a:pPr lvl="1"/>
            <a:r>
              <a:rPr lang="en-US" sz="1870" dirty="0">
                <a:solidFill>
                  <a:srgbClr val="00004C"/>
                </a:solidFill>
              </a:rPr>
              <a:t>In threat hunting, this reveals "boomerang" opportunities—e.g., if an attacker's C2 server runs a vulnerable WordPress, note it for potential future disruption.</a:t>
            </a:r>
          </a:p>
          <a:p>
            <a:pPr marL="795847" lvl="1" indent="0">
              <a:buNone/>
            </a:pPr>
            <a:endParaRPr lang="en-US" sz="1600" dirty="0">
              <a:solidFill>
                <a:srgbClr val="00004C"/>
              </a:solidFill>
            </a:endParaRPr>
          </a:p>
          <a:p>
            <a:r>
              <a:rPr lang="en-US" sz="2100" b="1" dirty="0">
                <a:solidFill>
                  <a:srgbClr val="00004C"/>
                </a:solidFill>
              </a:rPr>
              <a:t>Example Workflow</a:t>
            </a:r>
          </a:p>
          <a:p>
            <a:pPr lvl="1"/>
            <a:r>
              <a:rPr lang="en-US" sz="1870" dirty="0">
                <a:solidFill>
                  <a:srgbClr val="00004C"/>
                </a:solidFill>
              </a:rPr>
              <a:t> IOC IP → Shodan search → Exposed vuln (e.g., CVE-2023-1234) → Cross-check with OSINT for actor exploitation history.</a:t>
            </a:r>
          </a:p>
        </p:txBody>
      </p:sp>
      <p:sp>
        <p:nvSpPr>
          <p:cNvPr id="3" name="Title 2">
            <a:extLst>
              <a:ext uri="{FF2B5EF4-FFF2-40B4-BE49-F238E27FC236}">
                <a16:creationId xmlns:a16="http://schemas.microsoft.com/office/drawing/2014/main" id="{B3D5A865-01E7-ABBF-1727-E86827DADEE4}"/>
              </a:ext>
            </a:extLst>
          </p:cNvPr>
          <p:cNvSpPr>
            <a:spLocks noGrp="1"/>
          </p:cNvSpPr>
          <p:nvPr>
            <p:ph type="title"/>
          </p:nvPr>
        </p:nvSpPr>
        <p:spPr/>
        <p:txBody>
          <a:bodyPr/>
          <a:lstStyle/>
          <a:p>
            <a:r>
              <a:rPr lang="en-US" dirty="0">
                <a:solidFill>
                  <a:srgbClr val="00004C"/>
                </a:solidFill>
              </a:rPr>
              <a:t>Vulnerability Searches and Integration</a:t>
            </a:r>
          </a:p>
        </p:txBody>
      </p:sp>
    </p:spTree>
    <p:extLst>
      <p:ext uri="{BB962C8B-B14F-4D97-AF65-F5344CB8AC3E}">
        <p14:creationId xmlns:p14="http://schemas.microsoft.com/office/powerpoint/2010/main" val="2658450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5FB98-3BB2-0CAA-B483-30FDAAEC3A41}"/>
              </a:ext>
            </a:extLst>
          </p:cNvPr>
          <p:cNvSpPr>
            <a:spLocks noGrp="1"/>
          </p:cNvSpPr>
          <p:nvPr>
            <p:ph type="body" idx="1"/>
          </p:nvPr>
        </p:nvSpPr>
        <p:spPr>
          <a:xfrm>
            <a:off x="1510027" y="1131592"/>
            <a:ext cx="10361372" cy="5131633"/>
          </a:xfrm>
        </p:spPr>
        <p:txBody>
          <a:bodyPr anchor="t"/>
          <a:lstStyle/>
          <a:p>
            <a:r>
              <a:rPr lang="en-US" sz="2100" b="1" dirty="0">
                <a:solidFill>
                  <a:srgbClr val="00004C"/>
                </a:solidFill>
              </a:rPr>
              <a:t>Discussion Points: </a:t>
            </a:r>
          </a:p>
          <a:p>
            <a:endParaRPr lang="en-US" sz="2100" b="1" dirty="0">
              <a:solidFill>
                <a:srgbClr val="00004C"/>
              </a:solidFill>
            </a:endParaRPr>
          </a:p>
          <a:p>
            <a:pPr lvl="1"/>
            <a:r>
              <a:rPr lang="en-US" sz="1870" dirty="0">
                <a:solidFill>
                  <a:srgbClr val="00004C"/>
                </a:solidFill>
              </a:rPr>
              <a:t>How can extracting a single IOC like a hardcoded password shift from reactive hunting to proactive </a:t>
            </a:r>
            <a:r>
              <a:rPr lang="en-US" sz="1870">
                <a:solidFill>
                  <a:srgbClr val="00004C"/>
                </a:solidFill>
              </a:rPr>
              <a:t>counteroperationss</a:t>
            </a:r>
            <a:r>
              <a:rPr lang="en-US" sz="1870" dirty="0">
                <a:solidFill>
                  <a:srgbClr val="00004C"/>
                </a:solidFill>
              </a:rPr>
              <a:t>?</a:t>
            </a:r>
          </a:p>
          <a:p>
            <a:pPr lvl="1"/>
            <a:r>
              <a:rPr lang="en-US" sz="1870" dirty="0">
                <a:solidFill>
                  <a:srgbClr val="00004C"/>
                </a:solidFill>
              </a:rPr>
              <a:t>Limitations—OSINT can be noisy (false positives) and outdated; always validate with multiple sources to ensure accurate target selection and TTP applicability.</a:t>
            </a:r>
          </a:p>
          <a:p>
            <a:pPr lvl="1"/>
            <a:r>
              <a:rPr lang="en-US" sz="1870" dirty="0">
                <a:solidFill>
                  <a:srgbClr val="00004C"/>
                </a:solidFill>
              </a:rPr>
              <a:t>In counterstrike operations, domain intel can reveal pivot points for direct access (e.g., exposed subdomains) to disrupt operations without external coordination.</a:t>
            </a:r>
          </a:p>
        </p:txBody>
      </p:sp>
      <p:sp>
        <p:nvSpPr>
          <p:cNvPr id="3" name="Title 2">
            <a:extLst>
              <a:ext uri="{FF2B5EF4-FFF2-40B4-BE49-F238E27FC236}">
                <a16:creationId xmlns:a16="http://schemas.microsoft.com/office/drawing/2014/main" id="{4048AB7C-234A-FD62-F907-1E8DF870247C}"/>
              </a:ext>
            </a:extLst>
          </p:cNvPr>
          <p:cNvSpPr>
            <a:spLocks noGrp="1"/>
          </p:cNvSpPr>
          <p:nvPr>
            <p:ph type="title"/>
          </p:nvPr>
        </p:nvSpPr>
        <p:spPr/>
        <p:txBody>
          <a:bodyPr anchor="t"/>
          <a:lstStyle/>
          <a:p>
            <a:r>
              <a:rPr lang="en-US" dirty="0">
                <a:solidFill>
                  <a:srgbClr val="00004C"/>
                </a:solidFill>
              </a:rPr>
              <a:t>Guided Discussion</a:t>
            </a:r>
          </a:p>
        </p:txBody>
      </p:sp>
    </p:spTree>
    <p:extLst>
      <p:ext uri="{BB962C8B-B14F-4D97-AF65-F5344CB8AC3E}">
        <p14:creationId xmlns:p14="http://schemas.microsoft.com/office/powerpoint/2010/main" val="1239196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A4350-6C7C-7BFB-E772-95E452C2D17D}"/>
              </a:ext>
            </a:extLst>
          </p:cNvPr>
          <p:cNvSpPr>
            <a:spLocks noGrp="1"/>
          </p:cNvSpPr>
          <p:nvPr>
            <p:ph type="body" idx="1"/>
          </p:nvPr>
        </p:nvSpPr>
        <p:spPr/>
        <p:txBody>
          <a:bodyPr/>
          <a:lstStyle/>
          <a:p>
            <a:r>
              <a:rPr lang="en-US" b="0" i="0" dirty="0">
                <a:solidFill>
                  <a:srgbClr val="00004C"/>
                </a:solidFill>
                <a:effectLst/>
                <a:latin typeface="-apple-system"/>
              </a:rPr>
              <a:t>Passive recon builds a low-risk intelligence foundation using IOCs, OSINT, domains, and vulnerabilities to profile attackers. It is foundational for threat hunters in order to map attacker TTP and identify counterstrike opportunities.</a:t>
            </a:r>
          </a:p>
          <a:p>
            <a:endParaRPr lang="en-US" dirty="0"/>
          </a:p>
        </p:txBody>
      </p:sp>
      <p:sp>
        <p:nvSpPr>
          <p:cNvPr id="3" name="Title 2">
            <a:extLst>
              <a:ext uri="{FF2B5EF4-FFF2-40B4-BE49-F238E27FC236}">
                <a16:creationId xmlns:a16="http://schemas.microsoft.com/office/drawing/2014/main" id="{E861D3D1-8977-E69D-1703-187C35C70D24}"/>
              </a:ext>
            </a:extLst>
          </p:cNvPr>
          <p:cNvSpPr>
            <a:spLocks noGrp="1"/>
          </p:cNvSpPr>
          <p:nvPr>
            <p:ph type="title"/>
          </p:nvPr>
        </p:nvSpPr>
        <p:spPr/>
        <p:txBody>
          <a:bodyPr/>
          <a:lstStyle/>
          <a:p>
            <a:r>
              <a:rPr lang="en-US" dirty="0">
                <a:solidFill>
                  <a:srgbClr val="00004C"/>
                </a:solidFill>
              </a:rPr>
              <a:t>Lesson Summary </a:t>
            </a:r>
          </a:p>
        </p:txBody>
      </p:sp>
    </p:spTree>
    <p:extLst>
      <p:ext uri="{BB962C8B-B14F-4D97-AF65-F5344CB8AC3E}">
        <p14:creationId xmlns:p14="http://schemas.microsoft.com/office/powerpoint/2010/main" val="1870582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 Questions?</a:t>
            </a:r>
          </a:p>
        </p:txBody>
      </p:sp>
    </p:spTree>
    <p:extLst>
      <p:ext uri="{BB962C8B-B14F-4D97-AF65-F5344CB8AC3E}">
        <p14:creationId xmlns:p14="http://schemas.microsoft.com/office/powerpoint/2010/main" val="2036068300"/>
      </p:ext>
    </p:extLst>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800" dirty="0" smtClean="0">
            <a:solidFill>
              <a:schemeClr val="tx1"/>
            </a:solidFill>
          </a:defRPr>
        </a:defPPr>
      </a:lstStyle>
    </a:txDef>
  </a:objectDefaults>
  <a:extraClrSchemeLst/>
  <a:extLst>
    <a:ext uri="{05A4C25C-085E-4340-85A3-A5531E510DB2}">
      <thm15:themeFamily xmlns:thm15="http://schemas.microsoft.com/office/thememl/2012/main" name="Lesson 2.1 Intro to Info Gathering and Passive Recon" id="{799EC91A-7605-46E9-BB52-B74620B08699}" vid="{188ACB75-6655-46E6-A2BF-3A3F5859C8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e5daa175-c0b1-4ddd-b63a-d3e50dcc4732</TitusGUID>
  <TitusMetadata xmlns="">eyJucyI6Imh0dHA6XC9cL3d3dy50aXR1cy5jb21cL25zXC9Kb2ludCBTZXJ2aWNlIFByb3ZpZGVyIiwicHJvcHMiOlt7Im4iOiJDbGFzc2lmaWNhdGlvblRpdHVzIiwidmFscyI6W3sidmFsdWUiOiJCTEFOSyJ9XX0seyJuIjoiU2NpVGl0dXMiLCJ2YWxzIjpbXX0seyJuIjoiRGlzc2VtVGl0dXMiLCJ2YWxzIjpbXX0seyJuIjoiUmVsVGl0dXMiLCJ2YWxzIjpbXX0seyJuIjoiQ2xhc3NpZmllZEJ5IiwidmFscyI6W119LHsibiI6IkRlcml2ZWRGcm9tIiwidmFscyI6W119LHsibiI6IkRhdGVkIiwidmFscyI6W119LHsibiI6IkRlY2xhc3NpZnlPbiIsInZhbHMiOltdfSx7Im4iOiJBZGRpdGlvbmFsRmllbGRzIiwidmFscyI6W119LHsibiI6IkFFQU1hcmtpbmdzIiwidmFscyI6W119LHsibiI6IkZHSU1hcmtpbmdzIiwidmFscyI6W119LHsibiI6IkFDQ01NYXJraW5ncyIsInZhbHMiOltdfSx7Im4iOiJQcml2YWN5U2Vuc2l0aXZlIiwidmFscyI6W119LHsibiI6IkNVSUJ1dHRvbiIsInZhbHMiOltdfSx7Im4iOiJDb250cm9sbGVkQnkiLCJ2YWxzIjpbXX0seyJuIjoiQ1VJQ2F0ZWdvcnkiLCJ2YWxzIjpbXX0seyJuIjoiTGltaXRlZERpc3NlbWluYXRpb25Db250cm9sIiwidmFscyI6W119LHsibiI6IlBPQyIsInZhbHMiOltdfSx7Im4iOiJDcml0aWNhbEluZnJhc3RydWN0dXJlIiwidmFscyI6W119LHsibiI6IkRlZmVuc2UiLCJ2YWxzIjpbXX0seyJuIjoiRXhwb3J0Q29udHJvbGxlZCIsInZhbHMiOltdfSx7Im4iOiJGaW5hbmNpYWwiLCJ2YWxzIjpbXX0seyJuIjoiSW1taWdyYXRpb24iLCJ2YWxzIjpbXX0seyJuIjoiSW50ZWxsaWdlbmNlIiwidmFscyI6W119LHsibiI6IkludGVybmF0aW9uYWxBZ3JlZW1lbnRzIiwidmFscyI6W119LHsibiI6Ikxhd0VuZm9yY2VtZW50IiwidmFscyI6W119LHsibiI6IkxlZ2FsIiwidmFscyI6W119LHsibiI6Ik5hdHVyYWxDdWx0dXJhbFJlc291cmNlcyIsInZhbHMiOltdfSx7Im4iOiJOb3J0aEF0bGFudGljVHJlYXR5T3JnYW5pemF0aW9uIiwidmFscyI6W119LHsibiI6Ik5VQ0xFQVIiLCJ2YWxzIjpbXX0seyJuIjoiUGF0aWVudCIsInZhbHMiOltdfSx7Im4iOiJQcml2YWN5IiwidmFscyI6W119LHsibiI6IlByb2N1cmVtZW50QWNxdWlzaXRpb24iLCJ2YWxzIjpbXX0seyJuIjoiUHJvcHJpZXRhcnlCdXNpbmVzc0luZm9ybWF0aW9uIiwidmFscyI6W119LHsibiI6IlN0YXRpc3RpY2FsIiwidmFscyI6W119LHsibiI6IlRheCIsInZhbHMiOltdfSx7Im4iOiJUcmFuc3BvcnRhdGlvbiIsInZhbHMiOltdfSx7Im4iOiJSRUxDVUkiLCJ2YWxzIjpbXX1dfQ==</TitusMetadata>
</titus>
</file>

<file path=customXml/itemProps1.xml><?xml version="1.0" encoding="utf-8"?>
<ds:datastoreItem xmlns:ds="http://schemas.openxmlformats.org/officeDocument/2006/customXml" ds:itemID="{9ED1A20F-9DE4-4159-9A6D-18E30615BA76}">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emplate>Lesson 2.1 Intro to Info Gathering and Passive Recon</Template>
  <TotalTime>129</TotalTime>
  <Words>2816</Words>
  <Application>Microsoft Office PowerPoint</Application>
  <PresentationFormat>Widescreen</PresentationFormat>
  <Paragraphs>181</Paragraphs>
  <Slides>36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-apple-system</vt:lpstr>
      <vt:lpstr>Arial</vt:lpstr>
      <vt:lpstr>Calibri</vt:lpstr>
      <vt:lpstr>CyberTemplateL_Green Unclass</vt:lpstr>
      <vt:lpstr>Introduction to Information Gathering and Passive Reconnaissance</vt:lpstr>
      <vt:lpstr>Lesson Objectives</vt:lpstr>
      <vt:lpstr>Lesson Overview</vt:lpstr>
      <vt:lpstr>Introduction to Reconnaissance</vt:lpstr>
      <vt:lpstr>Introduction to Reconnaissance</vt:lpstr>
      <vt:lpstr>Introduction to Reconnaissance</vt:lpstr>
      <vt:lpstr>Introduction to Reconnaissance</vt:lpstr>
      <vt:lpstr>Introduction to Reconnaissance</vt:lpstr>
      <vt:lpstr>Introduction to Reconnaissance</vt:lpstr>
      <vt:lpstr>Introduction to Reconnaissance</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IOCs and Attacker Artifacts in Blue Space </vt:lpstr>
      <vt:lpstr>Open-Source Threat Intelligence (OSINT) Searches for Targeting and TTP Development</vt:lpstr>
      <vt:lpstr>OSINT Searches for Targeting and TTP Development</vt:lpstr>
      <vt:lpstr>OSINT Searches for Targeting and TTP Development</vt:lpstr>
      <vt:lpstr>OSINT Searches for Targeting and TTP Development</vt:lpstr>
      <vt:lpstr>Domain Tools and Domain Enumeration</vt:lpstr>
      <vt:lpstr>Domain Tools and Domain Enumeration</vt:lpstr>
      <vt:lpstr>Domain Tools and Domain Enumeration</vt:lpstr>
      <vt:lpstr>Domain Tools and Domain Enumeration</vt:lpstr>
      <vt:lpstr>Vulnerability Searches and Integration</vt:lpstr>
      <vt:lpstr>Vulnerability Searches and Integration</vt:lpstr>
      <vt:lpstr>Vulnerability Searches and Integration</vt:lpstr>
      <vt:lpstr>Guided Discussion</vt:lpstr>
      <vt:lpstr>Lesson Summary </vt:lpstr>
      <vt:lpstr>(U)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Mattson Sarah E USA CTR</dc:creator>
  <cp:lastModifiedBy>Mattson, Sarah E</cp:lastModifiedBy>
  <cp:revision>22</cp:revision>
  <dcterms:created xsi:type="dcterms:W3CDTF">2026-02-12T17:34:35Z</dcterms:created>
  <dcterms:modified xsi:type="dcterms:W3CDTF">2026-05-14T19:10:42Z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e5daa175-c0b1-4ddd-b63a-d3e50dcc4732</vt:lpwstr>
  </property>
  <property fmtid="{D5CDD505-2E9C-101B-9397-08002B2CF9AE}" pid="3" name="ClassificationTitus">
    <vt:lpwstr>BLANK</vt:lpwstr>
  </property>
</Properties>
</file>