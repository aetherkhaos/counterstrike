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2"/>
  </p:sldMasterIdLst>
  <p:notesMasterIdLst>
    <p:notesMasterId r:id="rId75"/>
  </p:notesMasterIdLst>
  <p:handoutMasterIdLst>
    <p:handoutMasterId r:id="rId76"/>
  </p:handoutMasterIdLst>
  <p:sldIdLst>
    <p:sldId id="259" r:id="rId3"/>
    <p:sldId id="264" r:id="rId4"/>
    <p:sldId id="265" r:id="rId5"/>
    <p:sldId id="267" r:id="rId6"/>
    <p:sldId id="268" r:id="rId7"/>
    <p:sldId id="269" r:id="rId8"/>
    <p:sldId id="270" r:id="rId9"/>
    <p:sldId id="271" r:id="rId10"/>
    <p:sldId id="273"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88" r:id="rId26"/>
    <p:sldId id="289" r:id="rId27"/>
    <p:sldId id="290" r:id="rId28"/>
    <p:sldId id="291" r:id="rId29"/>
    <p:sldId id="292" r:id="rId30"/>
    <p:sldId id="293" r:id="rId31"/>
    <p:sldId id="294" r:id="rId32"/>
    <p:sldId id="325" r:id="rId33"/>
    <p:sldId id="326" r:id="rId34"/>
    <p:sldId id="327" r:id="rId35"/>
    <p:sldId id="295" r:id="rId36"/>
    <p:sldId id="296" r:id="rId37"/>
    <p:sldId id="297" r:id="rId38"/>
    <p:sldId id="298" r:id="rId39"/>
    <p:sldId id="299" r:id="rId40"/>
    <p:sldId id="300" r:id="rId41"/>
    <p:sldId id="301" r:id="rId42"/>
    <p:sldId id="302" r:id="rId43"/>
    <p:sldId id="328" r:id="rId44"/>
    <p:sldId id="329" r:id="rId45"/>
    <p:sldId id="330" r:id="rId46"/>
    <p:sldId id="331" r:id="rId47"/>
    <p:sldId id="303"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32" r:id="rId64"/>
    <p:sldId id="320" r:id="rId65"/>
    <p:sldId id="321" r:id="rId66"/>
    <p:sldId id="322" r:id="rId67"/>
    <p:sldId id="333" r:id="rId68"/>
    <p:sldId id="323" r:id="rId69"/>
    <p:sldId id="266" r:id="rId70"/>
    <p:sldId id="334" r:id="rId71"/>
    <p:sldId id="335" r:id="rId72"/>
    <p:sldId id="324" r:id="rId73"/>
    <p:sldId id="263" r:id="rId74"/>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EFD5087-3FCC-96D0-7A67-D0563177C9A1}" name="Easton Robert G USA GOV" initials="RGE" userId="Easton Robert G USA GOV"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Cross, Clayton D" initials="CCD" lastIdx="1" clrIdx="0">
    <p:extLst>
      <p:ext uri="{19B8F6BF-5375-455C-9EA6-DF929625EA0E}">
        <p15:presenceInfo xmlns:p15="http://schemas.microsoft.com/office/powerpoint/2012/main" userId="Cross, Clayton D"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4C"/>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08" autoAdjust="0"/>
    <p:restoredTop sz="74887" autoAdjust="0"/>
  </p:normalViewPr>
  <p:slideViewPr>
    <p:cSldViewPr snapToGrid="0">
      <p:cViewPr>
        <p:scale>
          <a:sx n="68" d="100"/>
          <a:sy n="68" d="100"/>
        </p:scale>
        <p:origin x="160" y="-960"/>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116" d="100"/>
          <a:sy n="116" d="100"/>
        </p:scale>
        <p:origin x="2382" y="10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82" Type="http://schemas.microsoft.com/office/2018/10/relationships/authors" Target="author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commentAuthors" Target="commentAuthor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handoutMaster" Target="handoutMasters/handoutMaster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1.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0DF5B5D0-340B-4E36-9CF9-185D0E66E274}" type="datetimeFigureOut">
              <a:rPr lang="en-US" smtClean="0"/>
              <a:t>5/15/2026</a:t>
            </a:fld>
            <a:endParaRPr lang="en-US"/>
          </a:p>
        </p:txBody>
      </p:sp>
      <p:sp>
        <p:nvSpPr>
          <p:cNvPr id="4" name="Footer Placeholder 3"/>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54D283BF-5CBE-4454-B8C7-2AC6C6C06622}" type="slidenum">
              <a:rPr lang="en-US" smtClean="0"/>
              <a:t>‹#›</a:t>
            </a:fld>
            <a:endParaRPr lang="en-US"/>
          </a:p>
        </p:txBody>
      </p:sp>
    </p:spTree>
    <p:extLst>
      <p:ext uri="{BB962C8B-B14F-4D97-AF65-F5344CB8AC3E}">
        <p14:creationId xmlns:p14="http://schemas.microsoft.com/office/powerpoint/2010/main" val="35895639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Notes Placeholder 9"/>
          <p:cNvSpPr>
            <a:spLocks noGrp="1"/>
          </p:cNvSpPr>
          <p:nvPr>
            <p:ph type="body" sz="quarter" idx="3"/>
          </p:nvPr>
        </p:nvSpPr>
        <p:spPr>
          <a:xfrm>
            <a:off x="914400" y="3300413"/>
            <a:ext cx="7315200" cy="2700337"/>
          </a:xfrm>
          <a:prstGeom prst="rect">
            <a:avLst/>
          </a:prstGeom>
        </p:spPr>
        <p:txBody>
          <a:bodyPr vert="horz" lIns="91440" tIns="45720" rIns="91440" bIns="45720" rtlCol="0"/>
          <a:lstStyle/>
          <a:p>
            <a:r>
              <a:rPr lang="en-US" sz="1200" b="1" i="0" u="none" strike="noStrike" cap="none" dirty="0">
                <a:solidFill>
                  <a:srgbClr val="000000"/>
                </a:solidFill>
                <a:effectLst/>
                <a:latin typeface="Arial"/>
                <a:ea typeface="Arial"/>
                <a:cs typeface="Arial"/>
                <a:sym typeface="Arial"/>
              </a:rPr>
              <a:t>References:</a:t>
            </a:r>
            <a:endParaRPr lang="en-US" sz="1200" b="0" i="0" u="none" strike="noStrike" cap="none" dirty="0">
              <a:solidFill>
                <a:srgbClr val="000000"/>
              </a:solidFill>
              <a:effectLst/>
              <a:latin typeface="Arial"/>
              <a:ea typeface="Arial"/>
              <a:cs typeface="Arial"/>
              <a:sym typeface="Arial"/>
            </a:endParaRPr>
          </a:p>
          <a:p>
            <a:r>
              <a:rPr lang="en-US" sz="1200" b="1" i="0" u="none" strike="noStrike" cap="none" dirty="0">
                <a:solidFill>
                  <a:srgbClr val="000000"/>
                </a:solidFill>
                <a:effectLst/>
                <a:latin typeface="Arial"/>
                <a:ea typeface="Arial"/>
                <a:cs typeface="Arial"/>
                <a:sym typeface="Arial"/>
              </a:rPr>
              <a:t>Key Points:</a:t>
            </a:r>
            <a:endParaRPr lang="en-US" sz="1200" b="0" i="0" u="none" strike="noStrike" cap="none" dirty="0">
              <a:solidFill>
                <a:srgbClr val="000000"/>
              </a:solidFill>
              <a:effectLst/>
              <a:latin typeface="Arial"/>
              <a:ea typeface="Arial"/>
              <a:cs typeface="Arial"/>
              <a:sym typeface="Arial"/>
            </a:endParaRPr>
          </a:p>
          <a:p>
            <a:r>
              <a:rPr lang="en-US" sz="1200" b="1" i="0" u="none" strike="noStrike" cap="none" dirty="0">
                <a:solidFill>
                  <a:srgbClr val="000000"/>
                </a:solidFill>
                <a:effectLst/>
                <a:latin typeface="Arial"/>
                <a:ea typeface="Arial"/>
                <a:cs typeface="Arial"/>
                <a:sym typeface="Arial"/>
              </a:rPr>
              <a:t>Explanation of any images/charts/graphics:</a:t>
            </a:r>
            <a:endParaRPr lang="en-US" sz="1200" b="0" i="0" u="none" strike="noStrike" cap="none" dirty="0">
              <a:solidFill>
                <a:srgbClr val="000000"/>
              </a:solidFill>
              <a:effectLst/>
              <a:latin typeface="Arial"/>
              <a:ea typeface="Arial"/>
              <a:cs typeface="Arial"/>
              <a:sym typeface="Arial"/>
            </a:endParaRPr>
          </a:p>
          <a:p>
            <a:r>
              <a:rPr lang="en-US" sz="1200" b="1" i="0" u="none" strike="noStrike" cap="none" dirty="0">
                <a:solidFill>
                  <a:srgbClr val="000000"/>
                </a:solidFill>
                <a:effectLst/>
                <a:latin typeface="Arial"/>
                <a:ea typeface="Arial"/>
                <a:cs typeface="Arial"/>
                <a:sym typeface="Arial"/>
              </a:rPr>
              <a:t>Questions students are most likely to ask:</a:t>
            </a:r>
          </a:p>
          <a:p>
            <a:r>
              <a:rPr lang="en-US" sz="1200" b="1" i="0" u="none" strike="noStrike" cap="none" dirty="0">
                <a:solidFill>
                  <a:srgbClr val="000000"/>
                </a:solidFill>
                <a:effectLst/>
                <a:latin typeface="Arial"/>
                <a:ea typeface="Arial"/>
                <a:cs typeface="Arial"/>
                <a:sym typeface="Arial"/>
              </a:rPr>
              <a:t>Amplifying Details: </a:t>
            </a:r>
            <a:endParaRPr lang="en-US" sz="1200" b="0" i="0" u="none" strike="noStrike" cap="none" dirty="0">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279400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490147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50817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56884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Tree>
    <p:extLst>
      <p:ext uri="{BB962C8B-B14F-4D97-AF65-F5344CB8AC3E}">
        <p14:creationId xmlns:p14="http://schemas.microsoft.com/office/powerpoint/2010/main" val="23127604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Tree>
    <p:extLst>
      <p:ext uri="{BB962C8B-B14F-4D97-AF65-F5344CB8AC3E}">
        <p14:creationId xmlns:p14="http://schemas.microsoft.com/office/powerpoint/2010/main" val="36961868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Tree>
    <p:extLst>
      <p:ext uri="{BB962C8B-B14F-4D97-AF65-F5344CB8AC3E}">
        <p14:creationId xmlns:p14="http://schemas.microsoft.com/office/powerpoint/2010/main" val="21601761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Tree>
    <p:extLst>
      <p:ext uri="{BB962C8B-B14F-4D97-AF65-F5344CB8AC3E}">
        <p14:creationId xmlns:p14="http://schemas.microsoft.com/office/powerpoint/2010/main" val="23133575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Tree>
    <p:extLst>
      <p:ext uri="{BB962C8B-B14F-4D97-AF65-F5344CB8AC3E}">
        <p14:creationId xmlns:p14="http://schemas.microsoft.com/office/powerpoint/2010/main" val="19411614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731934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020245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800938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490246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336577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133382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Tree>
    <p:extLst>
      <p:ext uri="{BB962C8B-B14F-4D97-AF65-F5344CB8AC3E}">
        <p14:creationId xmlns:p14="http://schemas.microsoft.com/office/powerpoint/2010/main" val="41527899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Tree>
    <p:extLst>
      <p:ext uri="{BB962C8B-B14F-4D97-AF65-F5344CB8AC3E}">
        <p14:creationId xmlns:p14="http://schemas.microsoft.com/office/powerpoint/2010/main" val="15997185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b="0" i="0" dirty="0">
              <a:solidFill>
                <a:srgbClr val="172B4D"/>
              </a:solidFill>
              <a:effectLst/>
              <a:latin typeface="-apple-system"/>
            </a:endParaRPr>
          </a:p>
        </p:txBody>
      </p:sp>
    </p:spTree>
    <p:extLst>
      <p:ext uri="{BB962C8B-B14F-4D97-AF65-F5344CB8AC3E}">
        <p14:creationId xmlns:p14="http://schemas.microsoft.com/office/powerpoint/2010/main" val="33605973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Tree>
    <p:extLst>
      <p:ext uri="{BB962C8B-B14F-4D97-AF65-F5344CB8AC3E}">
        <p14:creationId xmlns:p14="http://schemas.microsoft.com/office/powerpoint/2010/main" val="42689219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Tree>
    <p:extLst>
      <p:ext uri="{BB962C8B-B14F-4D97-AF65-F5344CB8AC3E}">
        <p14:creationId xmlns:p14="http://schemas.microsoft.com/office/powerpoint/2010/main" val="1420648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418717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Tree>
    <p:extLst>
      <p:ext uri="{BB962C8B-B14F-4D97-AF65-F5344CB8AC3E}">
        <p14:creationId xmlns:p14="http://schemas.microsoft.com/office/powerpoint/2010/main" val="31859307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895377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Tree>
    <p:extLst>
      <p:ext uri="{BB962C8B-B14F-4D97-AF65-F5344CB8AC3E}">
        <p14:creationId xmlns:p14="http://schemas.microsoft.com/office/powerpoint/2010/main" val="21854406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Tree>
    <p:extLst>
      <p:ext uri="{BB962C8B-B14F-4D97-AF65-F5344CB8AC3E}">
        <p14:creationId xmlns:p14="http://schemas.microsoft.com/office/powerpoint/2010/main" val="384481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Tree>
    <p:extLst>
      <p:ext uri="{BB962C8B-B14F-4D97-AF65-F5344CB8AC3E}">
        <p14:creationId xmlns:p14="http://schemas.microsoft.com/office/powerpoint/2010/main" val="27826968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Tree>
    <p:extLst>
      <p:ext uri="{BB962C8B-B14F-4D97-AF65-F5344CB8AC3E}">
        <p14:creationId xmlns:p14="http://schemas.microsoft.com/office/powerpoint/2010/main" val="37311133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Tree>
    <p:extLst>
      <p:ext uri="{BB962C8B-B14F-4D97-AF65-F5344CB8AC3E}">
        <p14:creationId xmlns:p14="http://schemas.microsoft.com/office/powerpoint/2010/main" val="26921569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Tree>
    <p:extLst>
      <p:ext uri="{BB962C8B-B14F-4D97-AF65-F5344CB8AC3E}">
        <p14:creationId xmlns:p14="http://schemas.microsoft.com/office/powerpoint/2010/main" val="17007402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Tree>
    <p:extLst>
      <p:ext uri="{BB962C8B-B14F-4D97-AF65-F5344CB8AC3E}">
        <p14:creationId xmlns:p14="http://schemas.microsoft.com/office/powerpoint/2010/main" val="2844436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Tree>
    <p:extLst>
      <p:ext uri="{BB962C8B-B14F-4D97-AF65-F5344CB8AC3E}">
        <p14:creationId xmlns:p14="http://schemas.microsoft.com/office/powerpoint/2010/main" val="9435818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Tree>
    <p:extLst>
      <p:ext uri="{BB962C8B-B14F-4D97-AF65-F5344CB8AC3E}">
        <p14:creationId xmlns:p14="http://schemas.microsoft.com/office/powerpoint/2010/main" val="8744655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Tree>
    <p:extLst>
      <p:ext uri="{BB962C8B-B14F-4D97-AF65-F5344CB8AC3E}">
        <p14:creationId xmlns:p14="http://schemas.microsoft.com/office/powerpoint/2010/main" val="41668056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Tree>
    <p:extLst>
      <p:ext uri="{BB962C8B-B14F-4D97-AF65-F5344CB8AC3E}">
        <p14:creationId xmlns:p14="http://schemas.microsoft.com/office/powerpoint/2010/main" val="31976072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Tree>
    <p:extLst>
      <p:ext uri="{BB962C8B-B14F-4D97-AF65-F5344CB8AC3E}">
        <p14:creationId xmlns:p14="http://schemas.microsoft.com/office/powerpoint/2010/main" val="32852078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536867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Tree>
    <p:extLst>
      <p:ext uri="{BB962C8B-B14F-4D97-AF65-F5344CB8AC3E}">
        <p14:creationId xmlns:p14="http://schemas.microsoft.com/office/powerpoint/2010/main" val="9413289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b="0" i="0" dirty="0">
              <a:solidFill>
                <a:srgbClr val="172B4D"/>
              </a:solidFill>
              <a:effectLst/>
              <a:latin typeface="-apple-system"/>
            </a:endParaRPr>
          </a:p>
        </p:txBody>
      </p:sp>
    </p:spTree>
    <p:extLst>
      <p:ext uri="{BB962C8B-B14F-4D97-AF65-F5344CB8AC3E}">
        <p14:creationId xmlns:p14="http://schemas.microsoft.com/office/powerpoint/2010/main" val="41385511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b="0" i="0" dirty="0">
              <a:solidFill>
                <a:srgbClr val="172B4D"/>
              </a:solidFill>
              <a:effectLst/>
              <a:latin typeface="-apple-system"/>
            </a:endParaRPr>
          </a:p>
        </p:txBody>
      </p:sp>
    </p:spTree>
    <p:extLst>
      <p:ext uri="{BB962C8B-B14F-4D97-AF65-F5344CB8AC3E}">
        <p14:creationId xmlns:p14="http://schemas.microsoft.com/office/powerpoint/2010/main" val="214578871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b="0" i="0" dirty="0">
              <a:solidFill>
                <a:srgbClr val="172B4D"/>
              </a:solidFill>
              <a:effectLst/>
              <a:latin typeface="-apple-system"/>
            </a:endParaRPr>
          </a:p>
        </p:txBody>
      </p:sp>
    </p:spTree>
    <p:extLst>
      <p:ext uri="{BB962C8B-B14F-4D97-AF65-F5344CB8AC3E}">
        <p14:creationId xmlns:p14="http://schemas.microsoft.com/office/powerpoint/2010/main" val="101790477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b="0" i="0" dirty="0">
              <a:solidFill>
                <a:srgbClr val="172B4D"/>
              </a:solidFill>
              <a:effectLst/>
              <a:latin typeface="-apple-system"/>
            </a:endParaRPr>
          </a:p>
        </p:txBody>
      </p:sp>
    </p:spTree>
    <p:extLst>
      <p:ext uri="{BB962C8B-B14F-4D97-AF65-F5344CB8AC3E}">
        <p14:creationId xmlns:p14="http://schemas.microsoft.com/office/powerpoint/2010/main" val="35068306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Tree>
    <p:extLst>
      <p:ext uri="{BB962C8B-B14F-4D97-AF65-F5344CB8AC3E}">
        <p14:creationId xmlns:p14="http://schemas.microsoft.com/office/powerpoint/2010/main" val="6175020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Tree>
    <p:extLst>
      <p:ext uri="{BB962C8B-B14F-4D97-AF65-F5344CB8AC3E}">
        <p14:creationId xmlns:p14="http://schemas.microsoft.com/office/powerpoint/2010/main" val="275854422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Tree>
    <p:extLst>
      <p:ext uri="{BB962C8B-B14F-4D97-AF65-F5344CB8AC3E}">
        <p14:creationId xmlns:p14="http://schemas.microsoft.com/office/powerpoint/2010/main" val="11731195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Tree>
    <p:extLst>
      <p:ext uri="{BB962C8B-B14F-4D97-AF65-F5344CB8AC3E}">
        <p14:creationId xmlns:p14="http://schemas.microsoft.com/office/powerpoint/2010/main" val="289536471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Tree>
    <p:extLst>
      <p:ext uri="{BB962C8B-B14F-4D97-AF65-F5344CB8AC3E}">
        <p14:creationId xmlns:p14="http://schemas.microsoft.com/office/powerpoint/2010/main" val="24817996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9736215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7179012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Tree>
    <p:extLst>
      <p:ext uri="{BB962C8B-B14F-4D97-AF65-F5344CB8AC3E}">
        <p14:creationId xmlns:p14="http://schemas.microsoft.com/office/powerpoint/2010/main" val="131915776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1563230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Tree>
    <p:extLst>
      <p:ext uri="{BB962C8B-B14F-4D97-AF65-F5344CB8AC3E}">
        <p14:creationId xmlns:p14="http://schemas.microsoft.com/office/powerpoint/2010/main" val="35522021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738168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Tree>
    <p:extLst>
      <p:ext uri="{BB962C8B-B14F-4D97-AF65-F5344CB8AC3E}">
        <p14:creationId xmlns:p14="http://schemas.microsoft.com/office/powerpoint/2010/main" val="147555976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Tree>
    <p:extLst>
      <p:ext uri="{BB962C8B-B14F-4D97-AF65-F5344CB8AC3E}">
        <p14:creationId xmlns:p14="http://schemas.microsoft.com/office/powerpoint/2010/main" val="299264690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6988859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2403499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Tree>
    <p:extLst>
      <p:ext uri="{BB962C8B-B14F-4D97-AF65-F5344CB8AC3E}">
        <p14:creationId xmlns:p14="http://schemas.microsoft.com/office/powerpoint/2010/main" val="55240006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Tree>
    <p:extLst>
      <p:ext uri="{BB962C8B-B14F-4D97-AF65-F5344CB8AC3E}">
        <p14:creationId xmlns:p14="http://schemas.microsoft.com/office/powerpoint/2010/main" val="27082158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6007230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3901516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258121655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pPr algn="l">
              <a:buFont typeface="Arial" panose="020B0604020202020204" pitchFamily="34" charset="0"/>
              <a:buChar char="•"/>
            </a:pPr>
            <a:endParaRPr lang="en-US" dirty="0"/>
          </a:p>
        </p:txBody>
      </p:sp>
    </p:spTree>
    <p:extLst>
      <p:ext uri="{BB962C8B-B14F-4D97-AF65-F5344CB8AC3E}">
        <p14:creationId xmlns:p14="http://schemas.microsoft.com/office/powerpoint/2010/main" val="7417342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3754050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2062408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dirty="0"/>
          </a:p>
          <a:p>
            <a:endParaRPr lang="en-US" dirty="0"/>
          </a:p>
          <a:p>
            <a:endParaRPr lang="en-US" dirty="0"/>
          </a:p>
        </p:txBody>
      </p:sp>
    </p:spTree>
    <p:extLst>
      <p:ext uri="{BB962C8B-B14F-4D97-AF65-F5344CB8AC3E}">
        <p14:creationId xmlns:p14="http://schemas.microsoft.com/office/powerpoint/2010/main" val="834087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reserve="1" userDrawn="1">
  <p:cSld name="Title Slide">
    <p:spTree>
      <p:nvGrpSpPr>
        <p:cNvPr id="1" name="Shape 12"/>
        <p:cNvGrpSpPr/>
        <p:nvPr/>
      </p:nvGrpSpPr>
      <p:grpSpPr>
        <a:xfrm>
          <a:off x="0" y="0"/>
          <a:ext cx="0" cy="0"/>
          <a:chOff x="0" y="0"/>
          <a:chExt cx="0" cy="0"/>
        </a:xfrm>
      </p:grpSpPr>
      <p:sp>
        <p:nvSpPr>
          <p:cNvPr id="13" name="Google Shape;13;p11"/>
          <p:cNvSpPr txBox="1">
            <a:spLocks noGrp="1"/>
          </p:cNvSpPr>
          <p:nvPr>
            <p:ph type="ctrTitle" hasCustomPrompt="1"/>
          </p:nvPr>
        </p:nvSpPr>
        <p:spPr>
          <a:xfrm>
            <a:off x="2062480" y="898843"/>
            <a:ext cx="9144000" cy="23876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40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Lesson Title</a:t>
            </a:r>
            <a:endParaRPr dirty="0"/>
          </a:p>
        </p:txBody>
      </p:sp>
    </p:spTree>
    <p:extLst>
      <p:ext uri="{BB962C8B-B14F-4D97-AF65-F5344CB8AC3E}">
        <p14:creationId xmlns:p14="http://schemas.microsoft.com/office/powerpoint/2010/main" val="2793533826"/>
      </p:ext>
    </p:extLst>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reserve="1" userDrawn="1">
  <p:cSld name="Lesson Objectives">
    <p:spTree>
      <p:nvGrpSpPr>
        <p:cNvPr id="1" name="Shape 18"/>
        <p:cNvGrpSpPr/>
        <p:nvPr/>
      </p:nvGrpSpPr>
      <p:grpSpPr>
        <a:xfrm>
          <a:off x="0" y="0"/>
          <a:ext cx="0" cy="0"/>
          <a:chOff x="0" y="0"/>
          <a:chExt cx="0" cy="0"/>
        </a:xfrm>
      </p:grpSpPr>
      <p:sp>
        <p:nvSpPr>
          <p:cNvPr id="20" name="Google Shape;20;p14"/>
          <p:cNvSpPr txBox="1">
            <a:spLocks noGrp="1"/>
          </p:cNvSpPr>
          <p:nvPr>
            <p:ph type="body" idx="1" hasCustomPrompt="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600" b="0" i="0" u="none" strike="noStrike" cap="none">
                <a:solidFill>
                  <a:schemeClr val="dk1"/>
                </a:solidFill>
                <a:latin typeface="+mn-lt"/>
                <a:ea typeface="Calibri"/>
                <a:cs typeface="Calibri"/>
                <a:sym typeface="Calibri"/>
              </a:defRPr>
            </a:lvl1pPr>
            <a:lvl2pPr marL="1219170" marR="0" lvl="1" indent="-423323"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mn-lt"/>
                <a:ea typeface="Calibri"/>
                <a:cs typeface="Calibri"/>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mn-lt"/>
                <a:ea typeface="Calibri"/>
                <a:cs typeface="Calibri"/>
                <a:sym typeface="Calibri"/>
              </a:defRPr>
            </a:lvl3pPr>
            <a:lvl4pPr marL="2438339" marR="0" lvl="3" indent="-389457"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mn-lt"/>
                <a:ea typeface="Calibri"/>
                <a:cs typeface="Calibri"/>
                <a:sym typeface="Calibri"/>
              </a:defRPr>
            </a:lvl4pPr>
            <a:lvl5pPr marL="3047924" marR="0" lvl="4"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5pPr>
            <a:lvl6pPr marL="3657509" marR="0" lvl="5"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4267093" marR="0" lvl="6"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7pPr>
            <a:lvl8pPr marL="4876678" marR="0" lvl="7"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8pPr>
            <a:lvl9pPr marL="5486263" marR="0" lvl="8"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9pPr>
          </a:lstStyle>
          <a:p>
            <a:pPr lvl="0"/>
            <a:r>
              <a:rPr lang="en-US" dirty="0"/>
              <a:t>ELOs covered in the lesson</a:t>
            </a:r>
            <a:endParaRPr dirty="0"/>
          </a:p>
        </p:txBody>
      </p:sp>
      <p:sp>
        <p:nvSpPr>
          <p:cNvPr id="21" name="Google Shape;21;p14"/>
          <p:cNvSpPr txBox="1"/>
          <p:nvPr/>
        </p:nvSpPr>
        <p:spPr>
          <a:xfrm>
            <a:off x="3657600" y="6553201"/>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22" name="Google Shape;22;p14"/>
          <p:cNvSpPr txBox="1"/>
          <p:nvPr/>
        </p:nvSpPr>
        <p:spPr>
          <a:xfrm>
            <a:off x="3657600" y="0"/>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 name="Google Shape;19;p14"/>
          <p:cNvSpPr txBox="1">
            <a:spLocks noGrp="1"/>
          </p:cNvSpPr>
          <p:nvPr>
            <p:ph type="title" hasCustomPrompt="1"/>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Lesson Objectives</a:t>
            </a:r>
            <a:endParaRPr dirty="0"/>
          </a:p>
        </p:txBody>
      </p:sp>
    </p:spTree>
    <p:extLst>
      <p:ext uri="{BB962C8B-B14F-4D97-AF65-F5344CB8AC3E}">
        <p14:creationId xmlns:p14="http://schemas.microsoft.com/office/powerpoint/2010/main" val="1577703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reserve="1" userDrawn="1">
  <p:cSld name="Lesson Overview">
    <p:spTree>
      <p:nvGrpSpPr>
        <p:cNvPr id="1" name="Shape 18"/>
        <p:cNvGrpSpPr/>
        <p:nvPr/>
      </p:nvGrpSpPr>
      <p:grpSpPr>
        <a:xfrm>
          <a:off x="0" y="0"/>
          <a:ext cx="0" cy="0"/>
          <a:chOff x="0" y="0"/>
          <a:chExt cx="0" cy="0"/>
        </a:xfrm>
      </p:grpSpPr>
      <p:sp>
        <p:nvSpPr>
          <p:cNvPr id="20" name="Google Shape;20;p14"/>
          <p:cNvSpPr txBox="1">
            <a:spLocks noGrp="1"/>
          </p:cNvSpPr>
          <p:nvPr>
            <p:ph type="body" idx="1" hasCustomPrompt="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600" b="0" i="0" u="none" strike="noStrike" cap="none">
                <a:solidFill>
                  <a:schemeClr val="dk1"/>
                </a:solidFill>
                <a:latin typeface="+mn-lt"/>
                <a:ea typeface="Calibri"/>
                <a:cs typeface="Calibri"/>
                <a:sym typeface="Calibri"/>
              </a:defRPr>
            </a:lvl1pPr>
            <a:lvl2pPr marL="1219170" marR="0" lvl="1" indent="-423323"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mn-lt"/>
                <a:ea typeface="Calibri"/>
                <a:cs typeface="Calibri"/>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mn-lt"/>
                <a:ea typeface="Calibri"/>
                <a:cs typeface="Calibri"/>
                <a:sym typeface="Calibri"/>
              </a:defRPr>
            </a:lvl3pPr>
            <a:lvl4pPr marL="2438339" marR="0" lvl="3" indent="-389457"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mn-lt"/>
                <a:ea typeface="Calibri"/>
                <a:cs typeface="Calibri"/>
                <a:sym typeface="Calibri"/>
              </a:defRPr>
            </a:lvl4pPr>
            <a:lvl5pPr marL="3047924" marR="0" lvl="4"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5pPr>
            <a:lvl6pPr marL="3657509" marR="0" lvl="5"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4267093" marR="0" lvl="6"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7pPr>
            <a:lvl8pPr marL="4876678" marR="0" lvl="7"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8pPr>
            <a:lvl9pPr marL="5486263" marR="0" lvl="8"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9pPr>
          </a:lstStyle>
          <a:p>
            <a:pPr lvl="0"/>
            <a:r>
              <a:rPr lang="en-US" dirty="0"/>
              <a:t>Brief Explanation of Lesson</a:t>
            </a:r>
            <a:endParaRPr dirty="0"/>
          </a:p>
        </p:txBody>
      </p:sp>
      <p:sp>
        <p:nvSpPr>
          <p:cNvPr id="21" name="Google Shape;21;p14"/>
          <p:cNvSpPr txBox="1"/>
          <p:nvPr/>
        </p:nvSpPr>
        <p:spPr>
          <a:xfrm>
            <a:off x="3657600" y="6553201"/>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22" name="Google Shape;22;p14"/>
          <p:cNvSpPr txBox="1"/>
          <p:nvPr/>
        </p:nvSpPr>
        <p:spPr>
          <a:xfrm>
            <a:off x="3657600" y="0"/>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 name="Google Shape;19;p14"/>
          <p:cNvSpPr txBox="1">
            <a:spLocks noGrp="1"/>
          </p:cNvSpPr>
          <p:nvPr>
            <p:ph type="title" hasCustomPrompt="1"/>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Lesson Overview</a:t>
            </a:r>
            <a:endParaRPr dirty="0"/>
          </a:p>
        </p:txBody>
      </p:sp>
    </p:spTree>
    <p:extLst>
      <p:ext uri="{BB962C8B-B14F-4D97-AF65-F5344CB8AC3E}">
        <p14:creationId xmlns:p14="http://schemas.microsoft.com/office/powerpoint/2010/main" val="3600154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reserve="1">
  <p:cSld name="1_Section Header">
    <p:spTree>
      <p:nvGrpSpPr>
        <p:cNvPr id="1" name="Shape 15"/>
        <p:cNvGrpSpPr/>
        <p:nvPr/>
      </p:nvGrpSpPr>
      <p:grpSpPr>
        <a:xfrm>
          <a:off x="0" y="0"/>
          <a:ext cx="0" cy="0"/>
          <a:chOff x="0" y="0"/>
          <a:chExt cx="0" cy="0"/>
        </a:xfrm>
      </p:grpSpPr>
      <p:sp>
        <p:nvSpPr>
          <p:cNvPr id="16" name="Google Shape;16;p12"/>
          <p:cNvSpPr txBox="1">
            <a:spLocks noGrp="1"/>
          </p:cNvSpPr>
          <p:nvPr>
            <p:ph type="title"/>
          </p:nvPr>
        </p:nvSpPr>
        <p:spPr>
          <a:xfrm>
            <a:off x="1723854" y="549275"/>
            <a:ext cx="9963493" cy="28528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a:t>Click to edit Master title style</a:t>
            </a:r>
            <a:endParaRPr dirty="0"/>
          </a:p>
        </p:txBody>
      </p:sp>
      <p:sp>
        <p:nvSpPr>
          <p:cNvPr id="17" name="Google Shape;17;p12"/>
          <p:cNvSpPr txBox="1">
            <a:spLocks noGrp="1"/>
          </p:cNvSpPr>
          <p:nvPr>
            <p:ph type="body" idx="1"/>
          </p:nvPr>
        </p:nvSpPr>
        <p:spPr>
          <a:xfrm>
            <a:off x="1723854" y="3429000"/>
            <a:ext cx="9963493" cy="2128400"/>
          </a:xfrm>
          <a:prstGeom prst="rect">
            <a:avLst/>
          </a:prstGeom>
          <a:noFill/>
          <a:ln>
            <a:noFill/>
          </a:ln>
        </p:spPr>
        <p:txBody>
          <a:bodyPr spcFirstLastPara="1" wrap="square" lIns="91425" tIns="91425" rIns="91425" bIns="91425" anchor="t" anchorCtr="0">
            <a:noAutofit/>
          </a:bodyPr>
          <a:lstStyle>
            <a:lvl1pPr marL="609585" marR="0" lvl="0" indent="-304792" algn="ctr">
              <a:lnSpc>
                <a:spcPct val="90000"/>
              </a:lnSpc>
              <a:spcBef>
                <a:spcPts val="800"/>
              </a:spcBef>
              <a:spcAft>
                <a:spcPts val="0"/>
              </a:spcAft>
              <a:buClr>
                <a:srgbClr val="888888"/>
              </a:buClr>
              <a:buSzPts val="1600"/>
              <a:buFont typeface="Arial"/>
              <a:buNone/>
              <a:defRPr sz="1800" b="0" i="0" u="none" strike="noStrike" cap="none">
                <a:solidFill>
                  <a:srgbClr val="888888"/>
                </a:solidFill>
                <a:latin typeface="+mn-lt"/>
                <a:ea typeface="Calibri"/>
                <a:cs typeface="Calibri"/>
                <a:sym typeface="Calibri"/>
              </a:defRPr>
            </a:lvl1pPr>
            <a:lvl2pPr marL="1219170" marR="0" lvl="1" indent="-304792" algn="l">
              <a:lnSpc>
                <a:spcPct val="90000"/>
              </a:lnSpc>
              <a:spcBef>
                <a:spcPts val="400"/>
              </a:spcBef>
              <a:spcAft>
                <a:spcPts val="0"/>
              </a:spcAft>
              <a:buClr>
                <a:srgbClr val="888888"/>
              </a:buClr>
              <a:buSzPts val="1400"/>
              <a:buFont typeface="Arial"/>
              <a:buNone/>
              <a:defRPr sz="1467" b="0" i="0" u="none" strike="noStrike" cap="none">
                <a:solidFill>
                  <a:srgbClr val="888888"/>
                </a:solidFill>
                <a:latin typeface="Calibri"/>
                <a:ea typeface="Calibri"/>
                <a:cs typeface="Calibri"/>
                <a:sym typeface="Calibri"/>
              </a:defRPr>
            </a:lvl2pPr>
            <a:lvl3pPr marL="1828754" marR="0" lvl="2" indent="-304792" algn="l">
              <a:lnSpc>
                <a:spcPct val="90000"/>
              </a:lnSpc>
              <a:spcBef>
                <a:spcPts val="400"/>
              </a:spcBef>
              <a:spcAft>
                <a:spcPts val="0"/>
              </a:spcAft>
              <a:buClr>
                <a:srgbClr val="888888"/>
              </a:buClr>
              <a:buSzPts val="1100"/>
              <a:buFont typeface="Arial"/>
              <a:buNone/>
              <a:defRPr sz="1333" b="0" i="0" u="none" strike="noStrike" cap="none">
                <a:solidFill>
                  <a:srgbClr val="888888"/>
                </a:solidFill>
                <a:latin typeface="Calibri"/>
                <a:ea typeface="Calibri"/>
                <a:cs typeface="Calibri"/>
                <a:sym typeface="Calibri"/>
              </a:defRPr>
            </a:lvl3pPr>
            <a:lvl4pPr marL="2438339" marR="0" lvl="3"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4pPr>
            <a:lvl5pPr marL="3047924" marR="0" lvl="4"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5pPr>
            <a:lvl6pPr marL="3657509" marR="0" lvl="5"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6pPr>
            <a:lvl7pPr marL="4267093" marR="0" lvl="6"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7pPr>
            <a:lvl8pPr marL="4876678" marR="0" lvl="7"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8pPr>
            <a:lvl9pPr marL="5486263" marR="0" lvl="8" indent="-304792"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9pPr>
          </a:lstStyle>
          <a:p>
            <a:pPr lvl="0"/>
            <a:r>
              <a:rPr lang="en-US"/>
              <a:t>Click to edit Master text styles</a:t>
            </a:r>
          </a:p>
        </p:txBody>
      </p:sp>
    </p:spTree>
    <p:extLst>
      <p:ext uri="{BB962C8B-B14F-4D97-AF65-F5344CB8AC3E}">
        <p14:creationId xmlns:p14="http://schemas.microsoft.com/office/powerpoint/2010/main" val="1301248561"/>
      </p:ext>
    </p:extLst>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preserve="1" userDrawn="1">
  <p:cSld name="1_Title and Content">
    <p:spTree>
      <p:nvGrpSpPr>
        <p:cNvPr id="1" name="Shape 18"/>
        <p:cNvGrpSpPr/>
        <p:nvPr/>
      </p:nvGrpSpPr>
      <p:grpSpPr>
        <a:xfrm>
          <a:off x="0" y="0"/>
          <a:ext cx="0" cy="0"/>
          <a:chOff x="0" y="0"/>
          <a:chExt cx="0" cy="0"/>
        </a:xfrm>
      </p:grpSpPr>
      <p:sp>
        <p:nvSpPr>
          <p:cNvPr id="20" name="Google Shape;20;p14"/>
          <p:cNvSpPr txBox="1">
            <a:spLocks noGrp="1"/>
          </p:cNvSpPr>
          <p:nvPr>
            <p:ph type="body" idx="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600" b="0" i="0" u="none" strike="noStrike" cap="none">
                <a:solidFill>
                  <a:schemeClr val="dk1"/>
                </a:solidFill>
                <a:latin typeface="+mn-lt"/>
                <a:ea typeface="Calibri"/>
                <a:cs typeface="Calibri"/>
                <a:sym typeface="Calibri"/>
              </a:defRPr>
            </a:lvl1pPr>
            <a:lvl2pPr marL="1219170" marR="0" lvl="1" indent="-423323"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mn-lt"/>
                <a:ea typeface="Calibri"/>
                <a:cs typeface="Calibri"/>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mn-lt"/>
                <a:ea typeface="Calibri"/>
                <a:cs typeface="Calibri"/>
                <a:sym typeface="Calibri"/>
              </a:defRPr>
            </a:lvl3pPr>
            <a:lvl4pPr marL="2438339" marR="0" lvl="3" indent="-389457"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mn-lt"/>
                <a:ea typeface="Calibri"/>
                <a:cs typeface="Calibri"/>
                <a:sym typeface="Calibri"/>
              </a:defRPr>
            </a:lvl4pPr>
            <a:lvl5pPr marL="3047924" marR="0" lvl="4"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5pPr>
            <a:lvl6pPr marL="3657509" marR="0" lvl="5"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4267093" marR="0" lvl="6"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7pPr>
            <a:lvl8pPr marL="4876678" marR="0" lvl="7"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8pPr>
            <a:lvl9pPr marL="5486263" marR="0" lvl="8"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21" name="Google Shape;21;p14"/>
          <p:cNvSpPr txBox="1"/>
          <p:nvPr/>
        </p:nvSpPr>
        <p:spPr>
          <a:xfrm>
            <a:off x="3657600" y="6553201"/>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22" name="Google Shape;22;p14"/>
          <p:cNvSpPr txBox="1"/>
          <p:nvPr/>
        </p:nvSpPr>
        <p:spPr>
          <a:xfrm>
            <a:off x="3657600" y="0"/>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 name="Google Shape;19;p14"/>
          <p:cNvSpPr txBox="1">
            <a:spLocks noGrp="1"/>
          </p:cNvSpPr>
          <p:nvPr>
            <p:ph type="title"/>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a:t>Click to edit Master title style</a:t>
            </a:r>
            <a:endParaRPr dirty="0"/>
          </a:p>
        </p:txBody>
      </p:sp>
    </p:spTree>
    <p:extLst>
      <p:ext uri="{BB962C8B-B14F-4D97-AF65-F5344CB8AC3E}">
        <p14:creationId xmlns:p14="http://schemas.microsoft.com/office/powerpoint/2010/main" val="1727495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Comparison">
    <p:spTree>
      <p:nvGrpSpPr>
        <p:cNvPr id="1" name="Shape 33"/>
        <p:cNvGrpSpPr/>
        <p:nvPr/>
      </p:nvGrpSpPr>
      <p:grpSpPr>
        <a:xfrm>
          <a:off x="0" y="0"/>
          <a:ext cx="0" cy="0"/>
          <a:chOff x="0" y="0"/>
          <a:chExt cx="0" cy="0"/>
        </a:xfrm>
      </p:grpSpPr>
      <p:sp>
        <p:nvSpPr>
          <p:cNvPr id="34" name="Google Shape;34;p17"/>
          <p:cNvSpPr txBox="1">
            <a:spLocks noGrp="1"/>
          </p:cNvSpPr>
          <p:nvPr>
            <p:ph type="body" idx="1"/>
          </p:nvPr>
        </p:nvSpPr>
        <p:spPr>
          <a:xfrm>
            <a:off x="1141622" y="1000540"/>
            <a:ext cx="4874101" cy="476800"/>
          </a:xfrm>
          <a:prstGeom prst="rect">
            <a:avLst/>
          </a:prstGeom>
          <a:noFill/>
          <a:ln>
            <a:noFill/>
          </a:ln>
        </p:spPr>
        <p:txBody>
          <a:bodyPr spcFirstLastPara="1" wrap="square" lIns="91425" tIns="91425" rIns="91425" bIns="91425" anchor="b" anchorCtr="0">
            <a:noAutofit/>
          </a:bodyPr>
          <a:lstStyle>
            <a:lvl1pPr marL="609585" marR="0" lvl="0" indent="-304792" algn="ctr">
              <a:lnSpc>
                <a:spcPct val="90000"/>
              </a:lnSpc>
              <a:spcBef>
                <a:spcPts val="800"/>
              </a:spcBef>
              <a:spcAft>
                <a:spcPts val="0"/>
              </a:spcAft>
              <a:buClr>
                <a:schemeClr val="dk1"/>
              </a:buClr>
              <a:buSzPts val="1600"/>
              <a:buFont typeface="Arial"/>
              <a:buNone/>
              <a:defRPr sz="2133" b="1"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304792" algn="l">
              <a:lnSpc>
                <a:spcPct val="90000"/>
              </a:lnSpc>
              <a:spcBef>
                <a:spcPts val="400"/>
              </a:spcBef>
              <a:spcAft>
                <a:spcPts val="0"/>
              </a:spcAft>
              <a:buClr>
                <a:schemeClr val="dk1"/>
              </a:buClr>
              <a:buSzPts val="1400"/>
              <a:buFont typeface="Arial"/>
              <a:buNone/>
              <a:defRPr sz="1467" b="1" i="0" u="none" strike="noStrike" cap="none">
                <a:solidFill>
                  <a:schemeClr val="dk1"/>
                </a:solidFill>
                <a:latin typeface="Calibri"/>
                <a:ea typeface="Calibri"/>
                <a:cs typeface="Calibri"/>
                <a:sym typeface="Calibri"/>
              </a:defRPr>
            </a:lvl2pPr>
            <a:lvl3pPr marL="1828754" marR="0" lvl="2" indent="-304792" algn="l">
              <a:lnSpc>
                <a:spcPct val="90000"/>
              </a:lnSpc>
              <a:spcBef>
                <a:spcPts val="400"/>
              </a:spcBef>
              <a:spcAft>
                <a:spcPts val="0"/>
              </a:spcAft>
              <a:buClr>
                <a:schemeClr val="dk1"/>
              </a:buClr>
              <a:buSzPts val="1100"/>
              <a:buFont typeface="Arial"/>
              <a:buNone/>
              <a:defRPr sz="1333" b="1" i="0" u="none" strike="noStrike" cap="none">
                <a:solidFill>
                  <a:schemeClr val="dk1"/>
                </a:solidFill>
                <a:latin typeface="Calibri"/>
                <a:ea typeface="Calibri"/>
                <a:cs typeface="Calibri"/>
                <a:sym typeface="Calibri"/>
              </a:defRPr>
            </a:lvl3pPr>
            <a:lvl4pPr marL="2438339" marR="0" lvl="3"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4pPr>
            <a:lvl5pPr marL="3047924" marR="0" lvl="4"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5pPr>
            <a:lvl6pPr marL="3657509" marR="0" lvl="5"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6pPr>
            <a:lvl7pPr marL="4267093" marR="0" lvl="6"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7pPr>
            <a:lvl8pPr marL="4876678" marR="0" lvl="7"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8pPr>
            <a:lvl9pPr marL="5486263" marR="0" lvl="8"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9pPr>
          </a:lstStyle>
          <a:p>
            <a:pPr lvl="0"/>
            <a:r>
              <a:rPr lang="en-US"/>
              <a:t>Click to edit Master text styles</a:t>
            </a:r>
          </a:p>
        </p:txBody>
      </p:sp>
      <p:sp>
        <p:nvSpPr>
          <p:cNvPr id="35" name="Google Shape;35;p17"/>
          <p:cNvSpPr txBox="1">
            <a:spLocks noGrp="1"/>
          </p:cNvSpPr>
          <p:nvPr>
            <p:ph type="body" idx="2" hasCustomPrompt="1"/>
          </p:nvPr>
        </p:nvSpPr>
        <p:spPr>
          <a:xfrm>
            <a:off x="1141621" y="1582321"/>
            <a:ext cx="4854344" cy="4826000"/>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1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423323" algn="l">
              <a:lnSpc>
                <a:spcPct val="90000"/>
              </a:lnSpc>
              <a:spcBef>
                <a:spcPts val="400"/>
              </a:spcBef>
              <a:spcAft>
                <a:spcPts val="0"/>
              </a:spcAft>
              <a:buClr>
                <a:schemeClr val="dk1"/>
              </a:buClr>
              <a:buSzPts val="1400"/>
              <a:buFont typeface="Arial"/>
              <a:buChar char="•"/>
              <a:defRPr sz="1867"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3pPr>
            <a:lvl4pPr marL="2438339" marR="0" lvl="3"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4pPr>
            <a:lvl5pPr marL="3047924" marR="0" lvl="4"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5pPr>
            <a:lvl6pPr marL="3657509" marR="0" lvl="5"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6pPr>
            <a:lvl7pPr marL="4267093" marR="0" lvl="6"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7pPr>
            <a:lvl8pPr marL="4876678" marR="0" lvl="7"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8pPr>
            <a:lvl9pPr marL="5486263" marR="0" lvl="8"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Calibri"/>
                <a:ea typeface="Calibri"/>
                <a:cs typeface="Calibri"/>
                <a:sym typeface="Calibri"/>
              </a:defRPr>
            </a:lvl9pPr>
          </a:lstStyle>
          <a:p>
            <a:r>
              <a:rPr lang="en-US" dirty="0"/>
              <a:t>Text</a:t>
            </a:r>
          </a:p>
          <a:p>
            <a:pPr lvl="1"/>
            <a:r>
              <a:rPr lang="en-US" dirty="0"/>
              <a:t>Text</a:t>
            </a:r>
          </a:p>
          <a:p>
            <a:pPr lvl="2"/>
            <a:r>
              <a:rPr lang="en-US" dirty="0"/>
              <a:t>Text</a:t>
            </a:r>
          </a:p>
          <a:p>
            <a:pPr lvl="3"/>
            <a:r>
              <a:rPr lang="en-US" dirty="0"/>
              <a:t>Text</a:t>
            </a:r>
          </a:p>
          <a:p>
            <a:pPr lvl="4"/>
            <a:r>
              <a:rPr lang="en-US" dirty="0"/>
              <a:t>Text</a:t>
            </a:r>
          </a:p>
          <a:p>
            <a:pPr lvl="5"/>
            <a:r>
              <a:rPr lang="en-US" dirty="0"/>
              <a:t>Text</a:t>
            </a:r>
          </a:p>
          <a:p>
            <a:pPr lvl="6"/>
            <a:r>
              <a:rPr lang="en-US" dirty="0"/>
              <a:t>Text</a:t>
            </a:r>
          </a:p>
          <a:p>
            <a:pPr lvl="7"/>
            <a:r>
              <a:rPr lang="en-US" dirty="0"/>
              <a:t>Text</a:t>
            </a:r>
          </a:p>
          <a:p>
            <a:pPr lvl="0"/>
            <a:endParaRPr dirty="0"/>
          </a:p>
        </p:txBody>
      </p:sp>
      <p:sp>
        <p:nvSpPr>
          <p:cNvPr id="36" name="Google Shape;36;p17"/>
          <p:cNvSpPr txBox="1">
            <a:spLocks noGrp="1"/>
          </p:cNvSpPr>
          <p:nvPr>
            <p:ph type="body" idx="3"/>
          </p:nvPr>
        </p:nvSpPr>
        <p:spPr>
          <a:xfrm>
            <a:off x="6195272" y="1000540"/>
            <a:ext cx="5603200" cy="490000"/>
          </a:xfrm>
          <a:prstGeom prst="rect">
            <a:avLst/>
          </a:prstGeom>
          <a:noFill/>
          <a:ln>
            <a:noFill/>
          </a:ln>
        </p:spPr>
        <p:txBody>
          <a:bodyPr spcFirstLastPara="1" wrap="square" lIns="91425" tIns="91425" rIns="91425" bIns="91425" anchor="b" anchorCtr="0">
            <a:noAutofit/>
          </a:bodyPr>
          <a:lstStyle>
            <a:lvl1pPr marL="609585" marR="0" lvl="0" indent="-304792" algn="ctr">
              <a:lnSpc>
                <a:spcPct val="90000"/>
              </a:lnSpc>
              <a:spcBef>
                <a:spcPts val="800"/>
              </a:spcBef>
              <a:spcAft>
                <a:spcPts val="0"/>
              </a:spcAft>
              <a:buClr>
                <a:schemeClr val="dk1"/>
              </a:buClr>
              <a:buSzPts val="1600"/>
              <a:buFont typeface="Arial"/>
              <a:buNone/>
              <a:defRPr sz="2133" b="1"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304792" algn="l">
              <a:lnSpc>
                <a:spcPct val="90000"/>
              </a:lnSpc>
              <a:spcBef>
                <a:spcPts val="400"/>
              </a:spcBef>
              <a:spcAft>
                <a:spcPts val="0"/>
              </a:spcAft>
              <a:buClr>
                <a:schemeClr val="dk1"/>
              </a:buClr>
              <a:buSzPts val="1400"/>
              <a:buFont typeface="Arial"/>
              <a:buNone/>
              <a:defRPr sz="1467" b="1" i="0" u="none" strike="noStrike" cap="none">
                <a:solidFill>
                  <a:schemeClr val="dk1"/>
                </a:solidFill>
                <a:latin typeface="Calibri"/>
                <a:ea typeface="Calibri"/>
                <a:cs typeface="Calibri"/>
                <a:sym typeface="Calibri"/>
              </a:defRPr>
            </a:lvl2pPr>
            <a:lvl3pPr marL="1828754" marR="0" lvl="2" indent="-304792" algn="l">
              <a:lnSpc>
                <a:spcPct val="90000"/>
              </a:lnSpc>
              <a:spcBef>
                <a:spcPts val="400"/>
              </a:spcBef>
              <a:spcAft>
                <a:spcPts val="0"/>
              </a:spcAft>
              <a:buClr>
                <a:schemeClr val="dk1"/>
              </a:buClr>
              <a:buSzPts val="1100"/>
              <a:buFont typeface="Arial"/>
              <a:buNone/>
              <a:defRPr sz="1333" b="1" i="0" u="none" strike="noStrike" cap="none">
                <a:solidFill>
                  <a:schemeClr val="dk1"/>
                </a:solidFill>
                <a:latin typeface="Calibri"/>
                <a:ea typeface="Calibri"/>
                <a:cs typeface="Calibri"/>
                <a:sym typeface="Calibri"/>
              </a:defRPr>
            </a:lvl3pPr>
            <a:lvl4pPr marL="2438339" marR="0" lvl="3"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4pPr>
            <a:lvl5pPr marL="3047924" marR="0" lvl="4"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5pPr>
            <a:lvl6pPr marL="3657509" marR="0" lvl="5"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6pPr>
            <a:lvl7pPr marL="4267093" marR="0" lvl="6"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7pPr>
            <a:lvl8pPr marL="4876678" marR="0" lvl="7"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8pPr>
            <a:lvl9pPr marL="5486263" marR="0" lvl="8" indent="-304792"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9pPr>
          </a:lstStyle>
          <a:p>
            <a:pPr lvl="0"/>
            <a:r>
              <a:rPr lang="en-US"/>
              <a:t>Click to edit Master text styles</a:t>
            </a:r>
          </a:p>
        </p:txBody>
      </p:sp>
      <p:sp>
        <p:nvSpPr>
          <p:cNvPr id="37" name="Google Shape;37;p17"/>
          <p:cNvSpPr txBox="1">
            <a:spLocks noGrp="1"/>
          </p:cNvSpPr>
          <p:nvPr>
            <p:ph type="body" idx="4" hasCustomPrompt="1"/>
          </p:nvPr>
        </p:nvSpPr>
        <p:spPr>
          <a:xfrm>
            <a:off x="6199877" y="1582323"/>
            <a:ext cx="5598400" cy="4826000"/>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1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423323" algn="l">
              <a:lnSpc>
                <a:spcPct val="90000"/>
              </a:lnSpc>
              <a:spcBef>
                <a:spcPts val="400"/>
              </a:spcBef>
              <a:spcAft>
                <a:spcPts val="0"/>
              </a:spcAft>
              <a:buClr>
                <a:schemeClr val="dk1"/>
              </a:buClr>
              <a:buSzPts val="1400"/>
              <a:buFont typeface="Arial"/>
              <a:buChar char="•"/>
              <a:defRPr sz="1867"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3pPr>
            <a:lvl4pPr marL="2438339" marR="0" lvl="3"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4pPr>
            <a:lvl5pPr marL="3047924" marR="0" lvl="4"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5pPr>
            <a:lvl6pPr marL="3657509" marR="0" lvl="5"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6pPr>
            <a:lvl7pPr marL="4267093" marR="0" lvl="6"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7pPr>
            <a:lvl8pPr marL="4876678" marR="0" lvl="7"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8pPr>
            <a:lvl9pPr marL="5486263" marR="0" lvl="8" indent="-389457"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Calibri"/>
                <a:ea typeface="Calibri"/>
                <a:cs typeface="Calibri"/>
                <a:sym typeface="Calibri"/>
              </a:defRPr>
            </a:lvl9pPr>
          </a:lstStyle>
          <a:p>
            <a:pPr lvl="0"/>
            <a:r>
              <a:rPr lang="en-US" dirty="0"/>
              <a:t>Text</a:t>
            </a:r>
          </a:p>
          <a:p>
            <a:pPr lvl="1"/>
            <a:r>
              <a:rPr lang="en-US" dirty="0"/>
              <a:t>Text</a:t>
            </a:r>
          </a:p>
          <a:p>
            <a:pPr lvl="2"/>
            <a:r>
              <a:rPr lang="en-US" dirty="0"/>
              <a:t>Text</a:t>
            </a:r>
          </a:p>
          <a:p>
            <a:pPr lvl="3"/>
            <a:r>
              <a:rPr lang="en-US" dirty="0"/>
              <a:t>Text</a:t>
            </a:r>
          </a:p>
          <a:p>
            <a:pPr lvl="4"/>
            <a:r>
              <a:rPr lang="en-US" dirty="0"/>
              <a:t>Text</a:t>
            </a:r>
          </a:p>
          <a:p>
            <a:pPr lvl="5"/>
            <a:r>
              <a:rPr lang="en-US" dirty="0"/>
              <a:t>Text</a:t>
            </a:r>
          </a:p>
          <a:p>
            <a:pPr lvl="6"/>
            <a:r>
              <a:rPr lang="en-US" dirty="0"/>
              <a:t>Text</a:t>
            </a:r>
          </a:p>
          <a:p>
            <a:pPr lvl="7"/>
            <a:r>
              <a:rPr lang="en-US" dirty="0"/>
              <a:t>Text</a:t>
            </a:r>
          </a:p>
          <a:p>
            <a:pPr lvl="0"/>
            <a:endParaRPr dirty="0"/>
          </a:p>
        </p:txBody>
      </p:sp>
      <p:cxnSp>
        <p:nvCxnSpPr>
          <p:cNvPr id="38" name="Google Shape;38;p17"/>
          <p:cNvCxnSpPr>
            <a:cxnSpLocks/>
          </p:cNvCxnSpPr>
          <p:nvPr/>
        </p:nvCxnSpPr>
        <p:spPr>
          <a:xfrm>
            <a:off x="1141622" y="974035"/>
            <a:ext cx="10830241" cy="0"/>
          </a:xfrm>
          <a:prstGeom prst="straightConnector1">
            <a:avLst/>
          </a:prstGeom>
          <a:noFill/>
          <a:ln w="9525" cap="flat" cmpd="sng">
            <a:solidFill>
              <a:srgbClr val="BFBFBF"/>
            </a:solidFill>
            <a:prstDash val="solid"/>
            <a:miter lim="8000"/>
            <a:headEnd type="none" w="sm" len="sm"/>
            <a:tailEnd type="none" w="sm" len="sm"/>
          </a:ln>
        </p:spPr>
      </p:cxnSp>
      <p:cxnSp>
        <p:nvCxnSpPr>
          <p:cNvPr id="39" name="Google Shape;39;p17"/>
          <p:cNvCxnSpPr/>
          <p:nvPr/>
        </p:nvCxnSpPr>
        <p:spPr>
          <a:xfrm>
            <a:off x="6095137" y="974035"/>
            <a:ext cx="800" cy="5382400"/>
          </a:xfrm>
          <a:prstGeom prst="straightConnector1">
            <a:avLst/>
          </a:prstGeom>
          <a:noFill/>
          <a:ln w="9525" cap="flat" cmpd="sng">
            <a:solidFill>
              <a:srgbClr val="BFBFBF"/>
            </a:solidFill>
            <a:prstDash val="solid"/>
            <a:miter lim="8000"/>
            <a:headEnd type="none" w="sm" len="sm"/>
            <a:tailEnd type="none" w="sm" len="sm"/>
          </a:ln>
        </p:spPr>
      </p:cxnSp>
      <p:cxnSp>
        <p:nvCxnSpPr>
          <p:cNvPr id="40" name="Google Shape;40;p17"/>
          <p:cNvCxnSpPr>
            <a:cxnSpLocks/>
          </p:cNvCxnSpPr>
          <p:nvPr/>
        </p:nvCxnSpPr>
        <p:spPr>
          <a:xfrm>
            <a:off x="1141621" y="1504121"/>
            <a:ext cx="10830240" cy="0"/>
          </a:xfrm>
          <a:prstGeom prst="straightConnector1">
            <a:avLst/>
          </a:prstGeom>
          <a:noFill/>
          <a:ln w="9525" cap="flat" cmpd="sng">
            <a:solidFill>
              <a:srgbClr val="BFBFBF"/>
            </a:solidFill>
            <a:prstDash val="solid"/>
            <a:miter lim="8000"/>
            <a:headEnd type="none" w="sm" len="sm"/>
            <a:tailEnd type="none" w="sm" len="sm"/>
          </a:ln>
        </p:spPr>
      </p:cxnSp>
      <p:sp>
        <p:nvSpPr>
          <p:cNvPr id="11" name="Google Shape;19;p14"/>
          <p:cNvSpPr txBox="1">
            <a:spLocks noGrp="1"/>
          </p:cNvSpPr>
          <p:nvPr>
            <p:ph type="title"/>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a:t>Click to edit Master title style</a:t>
            </a:r>
            <a:endParaRPr dirty="0"/>
          </a:p>
        </p:txBody>
      </p:sp>
    </p:spTree>
    <p:extLst>
      <p:ext uri="{BB962C8B-B14F-4D97-AF65-F5344CB8AC3E}">
        <p14:creationId xmlns:p14="http://schemas.microsoft.com/office/powerpoint/2010/main" val="1538853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reserve="1">
  <p:cSld name="Content with Caption">
    <p:spTree>
      <p:nvGrpSpPr>
        <p:cNvPr id="1" name="Shape 43"/>
        <p:cNvGrpSpPr/>
        <p:nvPr/>
      </p:nvGrpSpPr>
      <p:grpSpPr>
        <a:xfrm>
          <a:off x="0" y="0"/>
          <a:ext cx="0" cy="0"/>
          <a:chOff x="0" y="0"/>
          <a:chExt cx="0" cy="0"/>
        </a:xfrm>
      </p:grpSpPr>
      <p:sp>
        <p:nvSpPr>
          <p:cNvPr id="44" name="Google Shape;44;p19"/>
          <p:cNvSpPr txBox="1">
            <a:spLocks noGrp="1"/>
          </p:cNvSpPr>
          <p:nvPr>
            <p:ph type="title"/>
          </p:nvPr>
        </p:nvSpPr>
        <p:spPr>
          <a:xfrm>
            <a:off x="1363363" y="952052"/>
            <a:ext cx="3098248" cy="1600400"/>
          </a:xfrm>
          <a:prstGeom prst="rect">
            <a:avLst/>
          </a:prstGeom>
          <a:noFill/>
          <a:ln>
            <a:noFill/>
          </a:ln>
        </p:spPr>
        <p:txBody>
          <a:bodyPr spcFirstLastPara="1" wrap="square" lIns="91425" tIns="91425" rIns="91425" bIns="91425" anchor="b" anchorCtr="0">
            <a:noAutofit/>
          </a:bodyPr>
          <a:lstStyle>
            <a:lvl1pPr marR="0" lvl="0" algn="l">
              <a:lnSpc>
                <a:spcPct val="90000"/>
              </a:lnSpc>
              <a:spcBef>
                <a:spcPts val="0"/>
              </a:spcBef>
              <a:spcAft>
                <a:spcPts val="0"/>
              </a:spcAft>
              <a:buClr>
                <a:schemeClr val="dk1"/>
              </a:buClr>
              <a:buSzPts val="1100"/>
              <a:buFont typeface="Arial"/>
              <a:buNone/>
              <a:defRPr sz="32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a:t>Click to edit Master title style</a:t>
            </a:r>
            <a:endParaRPr dirty="0"/>
          </a:p>
        </p:txBody>
      </p:sp>
      <p:sp>
        <p:nvSpPr>
          <p:cNvPr id="45" name="Google Shape;45;p19"/>
          <p:cNvSpPr txBox="1">
            <a:spLocks noGrp="1"/>
          </p:cNvSpPr>
          <p:nvPr>
            <p:ph type="body" idx="1" hasCustomPrompt="1"/>
          </p:nvPr>
        </p:nvSpPr>
        <p:spPr>
          <a:xfrm>
            <a:off x="4720611" y="952053"/>
            <a:ext cx="7091600" cy="5404000"/>
          </a:xfrm>
          <a:prstGeom prst="rect">
            <a:avLst/>
          </a:prstGeom>
          <a:noFill/>
          <a:ln>
            <a:noFill/>
          </a:ln>
        </p:spPr>
        <p:txBody>
          <a:bodyPr spcFirstLastPara="1" wrap="square" lIns="91425" tIns="91425" rIns="91425" bIns="91425" anchor="t" anchorCtr="0">
            <a:noAutofit/>
          </a:bodyPr>
          <a:lstStyle>
            <a:lvl1pPr marL="609585" marR="0" lvl="0" indent="-457189" algn="l">
              <a:lnSpc>
                <a:spcPct val="90000"/>
              </a:lnSpc>
              <a:spcBef>
                <a:spcPts val="800"/>
              </a:spcBef>
              <a:spcAft>
                <a:spcPts val="0"/>
              </a:spcAft>
              <a:buClr>
                <a:schemeClr val="dk1"/>
              </a:buClr>
              <a:buSzPts val="1800"/>
              <a:buFont typeface="Arial"/>
              <a:buChar char="•"/>
              <a:defRPr sz="2667"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440256" algn="l">
              <a:lnSpc>
                <a:spcPct val="90000"/>
              </a:lnSpc>
              <a:spcBef>
                <a:spcPts val="400"/>
              </a:spcBef>
              <a:spcAft>
                <a:spcPts val="0"/>
              </a:spcAft>
              <a:buClr>
                <a:schemeClr val="dk1"/>
              </a:buClr>
              <a:buSzPts val="1600"/>
              <a:buFont typeface="Arial"/>
              <a:buChar char="•"/>
              <a:defRPr sz="21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2pPr>
            <a:lvl3pPr marL="1828754" marR="0" lvl="2" indent="-423323" algn="l">
              <a:lnSpc>
                <a:spcPct val="90000"/>
              </a:lnSpc>
              <a:spcBef>
                <a:spcPts val="400"/>
              </a:spcBef>
              <a:spcAft>
                <a:spcPts val="0"/>
              </a:spcAft>
              <a:buClr>
                <a:schemeClr val="dk1"/>
              </a:buClr>
              <a:buSzPts val="1400"/>
              <a:buFont typeface="Arial"/>
              <a:buChar char="•"/>
              <a:defRPr sz="21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3pPr>
            <a:lvl4pPr marL="2438339" marR="0" lvl="3"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4pPr>
            <a:lvl5pPr marL="3047924" marR="0" lvl="4" indent="-397923" algn="l">
              <a:lnSpc>
                <a:spcPct val="90000"/>
              </a:lnSpc>
              <a:spcBef>
                <a:spcPts val="400"/>
              </a:spcBef>
              <a:spcAft>
                <a:spcPts val="0"/>
              </a:spcAft>
              <a:buClr>
                <a:schemeClr val="dk1"/>
              </a:buClr>
              <a:buSzPts val="11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5pPr>
            <a:lvl6pPr marL="3657509" marR="0" lvl="5" indent="-397923" algn="l">
              <a:lnSpc>
                <a:spcPct val="90000"/>
              </a:lnSpc>
              <a:spcBef>
                <a:spcPts val="400"/>
              </a:spcBef>
              <a:spcAft>
                <a:spcPts val="0"/>
              </a:spcAft>
              <a:buClr>
                <a:schemeClr val="dk1"/>
              </a:buClr>
              <a:buSzPts val="11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6pPr>
            <a:lvl7pPr marL="4267093" marR="0" lvl="6" indent="-397923" algn="l">
              <a:lnSpc>
                <a:spcPct val="90000"/>
              </a:lnSpc>
              <a:spcBef>
                <a:spcPts val="400"/>
              </a:spcBef>
              <a:spcAft>
                <a:spcPts val="0"/>
              </a:spcAft>
              <a:buClr>
                <a:schemeClr val="dk1"/>
              </a:buClr>
              <a:buSzPts val="11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7pPr>
            <a:lvl8pPr marL="4876678" marR="0" lvl="7" indent="-397923" algn="l">
              <a:lnSpc>
                <a:spcPct val="90000"/>
              </a:lnSpc>
              <a:spcBef>
                <a:spcPts val="400"/>
              </a:spcBef>
              <a:spcAft>
                <a:spcPts val="0"/>
              </a:spcAft>
              <a:buClr>
                <a:schemeClr val="dk1"/>
              </a:buClr>
              <a:buSzPts val="1100"/>
              <a:buFont typeface="Arial"/>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8pPr>
            <a:lvl9pPr marL="5316934" marR="0" lvl="8" indent="-228594" algn="l">
              <a:lnSpc>
                <a:spcPct val="90000"/>
              </a:lnSpc>
              <a:spcBef>
                <a:spcPts val="400"/>
              </a:spcBef>
              <a:spcAft>
                <a:spcPts val="0"/>
              </a:spcAft>
              <a:buClr>
                <a:schemeClr val="dk1"/>
              </a:buClr>
              <a:buSzPts val="1100"/>
              <a:buFont typeface="Arial" panose="020B0604020202020204" pitchFamily="34" charset="0"/>
              <a:buChar char="•"/>
              <a:defRPr sz="1333"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9pPr>
          </a:lstStyle>
          <a:p>
            <a:r>
              <a:rPr lang="en-US" dirty="0"/>
              <a:t>Text</a:t>
            </a:r>
          </a:p>
          <a:p>
            <a:pPr lvl="1"/>
            <a:r>
              <a:rPr lang="en-US" dirty="0"/>
              <a:t>Text</a:t>
            </a:r>
          </a:p>
          <a:p>
            <a:pPr lvl="2"/>
            <a:r>
              <a:rPr lang="en-US" dirty="0"/>
              <a:t>Text</a:t>
            </a:r>
          </a:p>
          <a:p>
            <a:pPr lvl="3"/>
            <a:r>
              <a:rPr lang="en-US" dirty="0"/>
              <a:t>Text</a:t>
            </a:r>
          </a:p>
          <a:p>
            <a:pPr lvl="4"/>
            <a:r>
              <a:rPr lang="en-US" dirty="0"/>
              <a:t>Text</a:t>
            </a:r>
          </a:p>
          <a:p>
            <a:pPr lvl="5"/>
            <a:r>
              <a:rPr lang="en-US" dirty="0"/>
              <a:t>Text</a:t>
            </a:r>
          </a:p>
          <a:p>
            <a:pPr lvl="6"/>
            <a:r>
              <a:rPr lang="en-US" dirty="0"/>
              <a:t>Text</a:t>
            </a:r>
          </a:p>
          <a:p>
            <a:pPr lvl="7"/>
            <a:r>
              <a:rPr lang="en-US" dirty="0"/>
              <a:t>Text</a:t>
            </a:r>
          </a:p>
          <a:p>
            <a:pPr lvl="8"/>
            <a:r>
              <a:rPr lang="en-US" dirty="0"/>
              <a:t>Text</a:t>
            </a:r>
          </a:p>
          <a:p>
            <a:pPr lvl="8"/>
            <a:endParaRPr lang="en-US" dirty="0"/>
          </a:p>
          <a:p>
            <a:pPr lvl="8"/>
            <a:endParaRPr lang="en-US" dirty="0"/>
          </a:p>
          <a:p>
            <a:pPr lvl="0"/>
            <a:endParaRPr lang="en-US" dirty="0"/>
          </a:p>
        </p:txBody>
      </p:sp>
      <p:sp>
        <p:nvSpPr>
          <p:cNvPr id="46" name="Google Shape;46;p19"/>
          <p:cNvSpPr txBox="1">
            <a:spLocks noGrp="1"/>
          </p:cNvSpPr>
          <p:nvPr>
            <p:ph type="body" idx="2"/>
          </p:nvPr>
        </p:nvSpPr>
        <p:spPr>
          <a:xfrm>
            <a:off x="1363363" y="2552252"/>
            <a:ext cx="3098248" cy="3811600"/>
          </a:xfrm>
          <a:prstGeom prst="rect">
            <a:avLst/>
          </a:prstGeom>
          <a:noFill/>
          <a:ln>
            <a:noFill/>
          </a:ln>
        </p:spPr>
        <p:txBody>
          <a:bodyPr spcFirstLastPara="1" wrap="square" lIns="91425" tIns="91425" rIns="91425" bIns="91425" anchor="t" anchorCtr="0">
            <a:noAutofit/>
          </a:bodyPr>
          <a:lstStyle>
            <a:lvl1pPr marL="609585" marR="0" lvl="0" indent="-304792" algn="l">
              <a:lnSpc>
                <a:spcPct val="90000"/>
              </a:lnSpc>
              <a:spcBef>
                <a:spcPts val="800"/>
              </a:spcBef>
              <a:spcAft>
                <a:spcPts val="0"/>
              </a:spcAft>
              <a:buClr>
                <a:schemeClr val="dk1"/>
              </a:buClr>
              <a:buSzPts val="1600"/>
              <a:buFont typeface="Arial"/>
              <a:buNone/>
              <a:defRPr sz="1867" b="0"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1pPr>
            <a:lvl2pPr marL="1219170" marR="0" lvl="1" indent="-304792" algn="l">
              <a:lnSpc>
                <a:spcPct val="90000"/>
              </a:lnSpc>
              <a:spcBef>
                <a:spcPts val="400"/>
              </a:spcBef>
              <a:spcAft>
                <a:spcPts val="0"/>
              </a:spcAft>
              <a:buClr>
                <a:schemeClr val="dk1"/>
              </a:buClr>
              <a:buSzPts val="1400"/>
              <a:buFont typeface="Arial"/>
              <a:buNone/>
              <a:defRPr sz="1067" b="0" i="0" u="none" strike="noStrike" cap="none">
                <a:solidFill>
                  <a:schemeClr val="dk1"/>
                </a:solidFill>
                <a:latin typeface="Calibri"/>
                <a:ea typeface="Calibri"/>
                <a:cs typeface="Calibri"/>
                <a:sym typeface="Calibri"/>
              </a:defRPr>
            </a:lvl2pPr>
            <a:lvl3pPr marL="1828754" marR="0" lvl="2" indent="-304792" algn="l">
              <a:lnSpc>
                <a:spcPct val="90000"/>
              </a:lnSpc>
              <a:spcBef>
                <a:spcPts val="400"/>
              </a:spcBef>
              <a:spcAft>
                <a:spcPts val="0"/>
              </a:spcAft>
              <a:buClr>
                <a:schemeClr val="dk1"/>
              </a:buClr>
              <a:buSzPts val="1100"/>
              <a:buFont typeface="Arial"/>
              <a:buNone/>
              <a:defRPr sz="933" b="0" i="0" u="none" strike="noStrike" cap="none">
                <a:solidFill>
                  <a:schemeClr val="dk1"/>
                </a:solidFill>
                <a:latin typeface="Calibri"/>
                <a:ea typeface="Calibri"/>
                <a:cs typeface="Calibri"/>
                <a:sym typeface="Calibri"/>
              </a:defRPr>
            </a:lvl3pPr>
            <a:lvl4pPr marL="2438339" marR="0" lvl="3"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4pPr>
            <a:lvl5pPr marL="3047924" marR="0" lvl="4"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5pPr>
            <a:lvl6pPr marL="3657509" marR="0" lvl="5"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6pPr>
            <a:lvl7pPr marL="4267093" marR="0" lvl="6"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7pPr>
            <a:lvl8pPr marL="4876678" marR="0" lvl="7"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8pPr>
            <a:lvl9pPr marL="5486263" marR="0" lvl="8" indent="-304792"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9pPr>
          </a:lstStyle>
          <a:p>
            <a:pPr lvl="0"/>
            <a:r>
              <a:rPr lang="en-US"/>
              <a:t>Click to edit Master text styles</a:t>
            </a:r>
          </a:p>
        </p:txBody>
      </p:sp>
    </p:spTree>
    <p:extLst>
      <p:ext uri="{BB962C8B-B14F-4D97-AF65-F5344CB8AC3E}">
        <p14:creationId xmlns:p14="http://schemas.microsoft.com/office/powerpoint/2010/main" val="5352718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reserve="1">
  <p:cSld name="Picture with Caption">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1301578" y="987425"/>
            <a:ext cx="3061420" cy="1600400"/>
          </a:xfrm>
          <a:prstGeom prst="rect">
            <a:avLst/>
          </a:prstGeom>
          <a:noFill/>
          <a:ln>
            <a:noFill/>
          </a:ln>
        </p:spPr>
        <p:txBody>
          <a:bodyPr spcFirstLastPara="1" wrap="square" lIns="91425" tIns="91425" rIns="91425" bIns="91425" anchor="b" anchorCtr="0">
            <a:noAutofit/>
          </a:bodyPr>
          <a:lstStyle>
            <a:lvl1pPr marR="0" lvl="0" algn="l">
              <a:lnSpc>
                <a:spcPct val="90000"/>
              </a:lnSpc>
              <a:spcBef>
                <a:spcPts val="0"/>
              </a:spcBef>
              <a:spcAft>
                <a:spcPts val="0"/>
              </a:spcAft>
              <a:buClr>
                <a:schemeClr val="dk1"/>
              </a:buClr>
              <a:buSzPts val="1100"/>
              <a:buFont typeface="Arial"/>
              <a:buNone/>
              <a:defRPr sz="32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a:t>Click to edit Master title style</a:t>
            </a:r>
            <a:endParaRPr dirty="0"/>
          </a:p>
        </p:txBody>
      </p:sp>
      <p:sp>
        <p:nvSpPr>
          <p:cNvPr id="49" name="Google Shape;49;p20"/>
          <p:cNvSpPr>
            <a:spLocks noGrp="1"/>
          </p:cNvSpPr>
          <p:nvPr>
            <p:ph type="pic" idx="2"/>
          </p:nvPr>
        </p:nvSpPr>
        <p:spPr>
          <a:xfrm>
            <a:off x="4666821" y="987425"/>
            <a:ext cx="7102000" cy="5411600"/>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800"/>
              </a:spcBef>
              <a:spcAft>
                <a:spcPts val="0"/>
              </a:spcAft>
              <a:buClr>
                <a:schemeClr val="dk1"/>
              </a:buClr>
              <a:buSzPts val="11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400"/>
              </a:spcBef>
              <a:spcAft>
                <a:spcPts val="0"/>
              </a:spcAft>
              <a:buClr>
                <a:schemeClr val="dk1"/>
              </a:buClr>
              <a:buSzPts val="1100"/>
              <a:buFont typeface="Arial"/>
              <a:buNone/>
              <a:defRPr sz="2133"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chemeClr val="dk1"/>
              </a:buClr>
              <a:buSzPts val="1100"/>
              <a:buFont typeface="Arial"/>
              <a:buNone/>
              <a:defRPr sz="1867"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5pPr>
            <a:lvl6pPr marR="0" lvl="5"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100"/>
              <a:buFont typeface="Arial"/>
              <a:buNone/>
              <a:defRPr sz="1467" b="0" i="0" u="none" strike="noStrike" cap="none">
                <a:solidFill>
                  <a:schemeClr val="dk1"/>
                </a:solidFill>
                <a:latin typeface="Calibri"/>
                <a:ea typeface="Calibri"/>
                <a:cs typeface="Calibri"/>
                <a:sym typeface="Calibri"/>
              </a:defRPr>
            </a:lvl9pPr>
          </a:lstStyle>
          <a:p>
            <a:r>
              <a:rPr lang="en-US"/>
              <a:t>Click icon to add picture</a:t>
            </a:r>
            <a:endParaRPr/>
          </a:p>
        </p:txBody>
      </p:sp>
      <p:sp>
        <p:nvSpPr>
          <p:cNvPr id="50" name="Google Shape;50;p20"/>
          <p:cNvSpPr txBox="1">
            <a:spLocks noGrp="1"/>
          </p:cNvSpPr>
          <p:nvPr>
            <p:ph type="body" idx="1"/>
          </p:nvPr>
        </p:nvSpPr>
        <p:spPr>
          <a:xfrm>
            <a:off x="1301578" y="2587625"/>
            <a:ext cx="3061420" cy="3811600"/>
          </a:xfrm>
          <a:prstGeom prst="rect">
            <a:avLst/>
          </a:prstGeom>
          <a:noFill/>
          <a:ln>
            <a:noFill/>
          </a:ln>
        </p:spPr>
        <p:txBody>
          <a:bodyPr spcFirstLastPara="1" wrap="square" lIns="91425" tIns="91425" rIns="91425" bIns="91425" anchor="t" anchorCtr="0">
            <a:noAutofit/>
          </a:bodyPr>
          <a:lstStyle>
            <a:lvl1pPr>
              <a:defRPr sz="1867" dirty="0">
                <a:solidFill>
                  <a:schemeClr val="dk1"/>
                </a:solidFill>
                <a:latin typeface="Arial" panose="020B0604020202020204" pitchFamily="34" charset="0"/>
                <a:ea typeface="Arial" panose="020B0604020202020204" pitchFamily="34" charset="0"/>
                <a:cs typeface="Arial" panose="020B0604020202020204" pitchFamily="34" charset="0"/>
              </a:defRPr>
            </a:lvl1pPr>
          </a:lstStyle>
          <a:p>
            <a:pPr lvl="0" indent="-304792">
              <a:buClr>
                <a:schemeClr val="dk1"/>
              </a:buClr>
              <a:buNone/>
            </a:pPr>
            <a:r>
              <a:rPr lang="en-US"/>
              <a:t>Click to edit Master text styles</a:t>
            </a:r>
          </a:p>
        </p:txBody>
      </p:sp>
    </p:spTree>
    <p:extLst>
      <p:ext uri="{BB962C8B-B14F-4D97-AF65-F5344CB8AC3E}">
        <p14:creationId xmlns:p14="http://schemas.microsoft.com/office/powerpoint/2010/main" val="1408430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_Title Slide" preserve="1">
  <p:cSld name="11_Title Slide">
    <p:spTree>
      <p:nvGrpSpPr>
        <p:cNvPr id="1" name="Shape 57"/>
        <p:cNvGrpSpPr/>
        <p:nvPr/>
      </p:nvGrpSpPr>
      <p:grpSpPr>
        <a:xfrm>
          <a:off x="0" y="0"/>
          <a:ext cx="0" cy="0"/>
          <a:chOff x="0" y="0"/>
          <a:chExt cx="0" cy="0"/>
        </a:xfrm>
      </p:grpSpPr>
      <p:sp>
        <p:nvSpPr>
          <p:cNvPr id="58" name="Google Shape;58;p23"/>
          <p:cNvSpPr txBox="1">
            <a:spLocks noGrp="1"/>
          </p:cNvSpPr>
          <p:nvPr>
            <p:ph type="sldNum" idx="12"/>
          </p:nvPr>
        </p:nvSpPr>
        <p:spPr>
          <a:xfrm>
            <a:off x="8737600" y="6356351"/>
            <a:ext cx="2844800" cy="3652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 smtClean="0"/>
              <a:pPr/>
              <a:t>‹#›</a:t>
            </a:fld>
            <a:endParaRPr lang="en"/>
          </a:p>
        </p:txBody>
      </p:sp>
      <p:sp>
        <p:nvSpPr>
          <p:cNvPr id="59" name="Google Shape;59;p23"/>
          <p:cNvSpPr txBox="1">
            <a:spLocks noGrp="1"/>
          </p:cNvSpPr>
          <p:nvPr>
            <p:ph type="ftr" idx="11"/>
          </p:nvPr>
        </p:nvSpPr>
        <p:spPr>
          <a:xfrm>
            <a:off x="8049777" y="6566743"/>
            <a:ext cx="3860800" cy="365200"/>
          </a:xfrm>
          <a:prstGeom prst="rect">
            <a:avLst/>
          </a:prstGeom>
          <a:noFill/>
          <a:ln>
            <a:noFill/>
          </a:ln>
        </p:spPr>
        <p:txBody>
          <a:bodyPr spcFirstLastPara="1" wrap="square" lIns="91425" tIns="91425" rIns="91425" bIns="91425" anchor="t" anchorCtr="0">
            <a:noAutofit/>
          </a:bodyPr>
          <a:lstStyle>
            <a:lvl1pPr marR="0" lvl="0" algn="r" rtl="0">
              <a:lnSpc>
                <a:spcPct val="100000"/>
              </a:lnSpc>
              <a:spcBef>
                <a:spcPts val="0"/>
              </a:spcBef>
              <a:spcAft>
                <a:spcPts val="0"/>
              </a:spcAft>
              <a:buClr>
                <a:srgbClr val="000000"/>
              </a:buClr>
              <a:buSzPts val="1100"/>
              <a:buFont typeface="Arial"/>
              <a:buNone/>
              <a:defRPr sz="1867" b="1" i="0" u="none" strike="noStrike" cap="none">
                <a:solidFill>
                  <a:srgbClr val="00B05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802184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ster Use" preserve="1" userDrawn="1">
  <p:cSld name="Master Use">
    <p:spTree>
      <p:nvGrpSpPr>
        <p:cNvPr id="1" name="Shape 60"/>
        <p:cNvGrpSpPr/>
        <p:nvPr/>
      </p:nvGrpSpPr>
      <p:grpSpPr>
        <a:xfrm>
          <a:off x="0" y="0"/>
          <a:ext cx="0" cy="0"/>
          <a:chOff x="0" y="0"/>
          <a:chExt cx="0" cy="0"/>
        </a:xfrm>
      </p:grpSpPr>
      <p:sp>
        <p:nvSpPr>
          <p:cNvPr id="4" name="Google Shape;19;p14"/>
          <p:cNvSpPr txBox="1">
            <a:spLocks noGrp="1"/>
          </p:cNvSpPr>
          <p:nvPr>
            <p:ph type="title"/>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a:t>Click to edit Master title style</a:t>
            </a:r>
            <a:endParaRPr dirty="0"/>
          </a:p>
        </p:txBody>
      </p:sp>
    </p:spTree>
    <p:extLst>
      <p:ext uri="{BB962C8B-B14F-4D97-AF65-F5344CB8AC3E}">
        <p14:creationId xmlns:p14="http://schemas.microsoft.com/office/powerpoint/2010/main" val="2588747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reserve="1" userDrawn="1">
  <p:cSld name="Lesson Summary">
    <p:spTree>
      <p:nvGrpSpPr>
        <p:cNvPr id="1" name="Shape 18"/>
        <p:cNvGrpSpPr/>
        <p:nvPr/>
      </p:nvGrpSpPr>
      <p:grpSpPr>
        <a:xfrm>
          <a:off x="0" y="0"/>
          <a:ext cx="0" cy="0"/>
          <a:chOff x="0" y="0"/>
          <a:chExt cx="0" cy="0"/>
        </a:xfrm>
      </p:grpSpPr>
      <p:sp>
        <p:nvSpPr>
          <p:cNvPr id="20" name="Google Shape;20;p14"/>
          <p:cNvSpPr txBox="1">
            <a:spLocks noGrp="1"/>
          </p:cNvSpPr>
          <p:nvPr>
            <p:ph type="body" idx="1" hasCustomPrompt="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609585" marR="0" lvl="0" indent="-440256" algn="l">
              <a:lnSpc>
                <a:spcPct val="90000"/>
              </a:lnSpc>
              <a:spcBef>
                <a:spcPts val="800"/>
              </a:spcBef>
              <a:spcAft>
                <a:spcPts val="0"/>
              </a:spcAft>
              <a:buClr>
                <a:schemeClr val="dk1"/>
              </a:buClr>
              <a:buSzPts val="1600"/>
              <a:buFont typeface="Arial"/>
              <a:buChar char="•"/>
              <a:defRPr sz="2600" b="0" i="0" u="none" strike="noStrike" cap="none">
                <a:solidFill>
                  <a:schemeClr val="dk1"/>
                </a:solidFill>
                <a:latin typeface="+mn-lt"/>
                <a:ea typeface="Calibri"/>
                <a:cs typeface="Calibri"/>
                <a:sym typeface="Calibri"/>
              </a:defRPr>
            </a:lvl1pPr>
            <a:lvl2pPr marL="1219170" marR="0" lvl="1" indent="-423323"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mn-lt"/>
                <a:ea typeface="Calibri"/>
                <a:cs typeface="Calibri"/>
                <a:sym typeface="Calibri"/>
              </a:defRPr>
            </a:lvl2pPr>
            <a:lvl3pPr marL="1828754" marR="0" lvl="2" indent="-397923"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mn-lt"/>
                <a:ea typeface="Calibri"/>
                <a:cs typeface="Calibri"/>
                <a:sym typeface="Calibri"/>
              </a:defRPr>
            </a:lvl3pPr>
            <a:lvl4pPr marL="2438339" marR="0" lvl="3" indent="-389457"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mn-lt"/>
                <a:ea typeface="Calibri"/>
                <a:cs typeface="Calibri"/>
                <a:sym typeface="Calibri"/>
              </a:defRPr>
            </a:lvl4pPr>
            <a:lvl5pPr marL="3047924" marR="0" lvl="4"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5pPr>
            <a:lvl6pPr marL="3657509" marR="0" lvl="5"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4267093" marR="0" lvl="6"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7pPr>
            <a:lvl8pPr marL="4876678" marR="0" lvl="7"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8pPr>
            <a:lvl9pPr marL="5486263" marR="0" lvl="8" indent="-389457"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mn-lt"/>
                <a:ea typeface="Calibri"/>
                <a:cs typeface="Calibri"/>
                <a:sym typeface="Calibri"/>
              </a:defRPr>
            </a:lvl9pPr>
          </a:lstStyle>
          <a:p>
            <a:pPr lvl="0"/>
            <a:r>
              <a:rPr lang="en-US" dirty="0"/>
              <a:t>Brief Summary of Lesson</a:t>
            </a:r>
            <a:endParaRPr dirty="0"/>
          </a:p>
        </p:txBody>
      </p:sp>
      <p:sp>
        <p:nvSpPr>
          <p:cNvPr id="21" name="Google Shape;21;p14"/>
          <p:cNvSpPr txBox="1"/>
          <p:nvPr/>
        </p:nvSpPr>
        <p:spPr>
          <a:xfrm>
            <a:off x="3657600" y="6553201"/>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22" name="Google Shape;22;p14"/>
          <p:cNvSpPr txBox="1"/>
          <p:nvPr/>
        </p:nvSpPr>
        <p:spPr>
          <a:xfrm>
            <a:off x="3657600" y="0"/>
            <a:ext cx="4876800" cy="246400"/>
          </a:xfrm>
          <a:prstGeom prst="rect">
            <a:avLst/>
          </a:prstGeom>
          <a:noFill/>
          <a:ln>
            <a:noFill/>
          </a:ln>
        </p:spPr>
        <p:txBody>
          <a:bodyPr spcFirstLastPara="1" wrap="square" lIns="91433" tIns="45700" rIns="91433"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 name="Google Shape;19;p14"/>
          <p:cNvSpPr txBox="1">
            <a:spLocks noGrp="1"/>
          </p:cNvSpPr>
          <p:nvPr>
            <p:ph type="title" hasCustomPrompt="1"/>
          </p:nvPr>
        </p:nvSpPr>
        <p:spPr>
          <a:xfrm>
            <a:off x="1510028" y="519084"/>
            <a:ext cx="10361371"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Lesson Summary</a:t>
            </a:r>
            <a:endParaRPr dirty="0"/>
          </a:p>
        </p:txBody>
      </p:sp>
    </p:spTree>
    <p:extLst>
      <p:ext uri="{BB962C8B-B14F-4D97-AF65-F5344CB8AC3E}">
        <p14:creationId xmlns:p14="http://schemas.microsoft.com/office/powerpoint/2010/main" val="30600841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preserve="1" userDrawn="1">
  <p:cSld name="Questions">
    <p:spTree>
      <p:nvGrpSpPr>
        <p:cNvPr id="1" name="Shape 15"/>
        <p:cNvGrpSpPr/>
        <p:nvPr/>
      </p:nvGrpSpPr>
      <p:grpSpPr>
        <a:xfrm>
          <a:off x="0" y="0"/>
          <a:ext cx="0" cy="0"/>
          <a:chOff x="0" y="0"/>
          <a:chExt cx="0" cy="0"/>
        </a:xfrm>
      </p:grpSpPr>
      <p:sp>
        <p:nvSpPr>
          <p:cNvPr id="16" name="Google Shape;16;p12"/>
          <p:cNvSpPr txBox="1">
            <a:spLocks noGrp="1"/>
          </p:cNvSpPr>
          <p:nvPr>
            <p:ph type="title" hasCustomPrompt="1"/>
          </p:nvPr>
        </p:nvSpPr>
        <p:spPr>
          <a:xfrm>
            <a:off x="1723854" y="549275"/>
            <a:ext cx="9963493" cy="28528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dirty="0"/>
              <a:t>Questions?</a:t>
            </a:r>
            <a:endParaRPr dirty="0"/>
          </a:p>
        </p:txBody>
      </p:sp>
    </p:spTree>
    <p:extLst>
      <p:ext uri="{BB962C8B-B14F-4D97-AF65-F5344CB8AC3E}">
        <p14:creationId xmlns:p14="http://schemas.microsoft.com/office/powerpoint/2010/main" val="448481437"/>
      </p:ext>
    </p:extLst>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14" name="Rectangle 13">
            <a:extLst>
              <a:ext uri="{FF2B5EF4-FFF2-40B4-BE49-F238E27FC236}">
                <a16:creationId xmlns:a16="http://schemas.microsoft.com/office/drawing/2014/main" id="{03C8531C-6664-AC0C-ED00-3D1957BC281F}"/>
              </a:ext>
            </a:extLst>
          </p:cNvPr>
          <p:cNvSpPr/>
          <p:nvPr userDrawn="1"/>
        </p:nvSpPr>
        <p:spPr>
          <a:xfrm>
            <a:off x="-1" y="-20168"/>
            <a:ext cx="12191999" cy="263611"/>
          </a:xfrm>
          <a:prstGeom prst="rect">
            <a:avLst/>
          </a:prstGeom>
          <a:ln>
            <a:noFill/>
          </a:ln>
        </p:spPr>
        <p:style>
          <a:lnRef idx="3">
            <a:schemeClr val="lt1"/>
          </a:lnRef>
          <a:fillRef idx="1">
            <a:schemeClr val="dk1"/>
          </a:fillRef>
          <a:effectRef idx="1">
            <a:schemeClr val="dk1"/>
          </a:effectRef>
          <a:fontRef idx="minor">
            <a:schemeClr val="lt1"/>
          </a:fontRef>
        </p:style>
        <p:txBody>
          <a:bodyPr rtlCol="0" anchor="ctr"/>
          <a:lstStyle/>
          <a:p>
            <a:pPr algn="ctr"/>
            <a:endParaRPr lang="en-US" sz="2400" dirty="0"/>
          </a:p>
        </p:txBody>
      </p:sp>
      <p:sp>
        <p:nvSpPr>
          <p:cNvPr id="15" name="Rectangle 14">
            <a:extLst>
              <a:ext uri="{FF2B5EF4-FFF2-40B4-BE49-F238E27FC236}">
                <a16:creationId xmlns:a16="http://schemas.microsoft.com/office/drawing/2014/main" id="{CAD018CF-85D7-A3C5-985F-E66425541490}"/>
              </a:ext>
            </a:extLst>
          </p:cNvPr>
          <p:cNvSpPr/>
          <p:nvPr userDrawn="1"/>
        </p:nvSpPr>
        <p:spPr>
          <a:xfrm>
            <a:off x="1" y="243443"/>
            <a:ext cx="1128108" cy="6614557"/>
          </a:xfrm>
          <a:prstGeom prst="rect">
            <a:avLst/>
          </a:prstGeom>
          <a:ln>
            <a:noFill/>
          </a:ln>
          <a:effectLst/>
        </p:spPr>
        <p:style>
          <a:lnRef idx="3">
            <a:schemeClr val="lt1"/>
          </a:lnRef>
          <a:fillRef idx="1">
            <a:schemeClr val="dk1"/>
          </a:fillRef>
          <a:effectRef idx="1">
            <a:schemeClr val="dk1"/>
          </a:effectRef>
          <a:fontRef idx="minor">
            <a:schemeClr val="lt1"/>
          </a:fontRef>
        </p:style>
        <p:txBody>
          <a:bodyPr rtlCol="0" anchor="ctr"/>
          <a:lstStyle/>
          <a:p>
            <a:pPr algn="ctr"/>
            <a:endParaRPr lang="en-US" sz="2400" dirty="0"/>
          </a:p>
        </p:txBody>
      </p:sp>
      <p:sp>
        <p:nvSpPr>
          <p:cNvPr id="7" name="Google Shape;7;p10"/>
          <p:cNvSpPr txBox="1">
            <a:spLocks noGrp="1"/>
          </p:cNvSpPr>
          <p:nvPr>
            <p:ph type="title"/>
          </p:nvPr>
        </p:nvSpPr>
        <p:spPr>
          <a:xfrm>
            <a:off x="1189403" y="646322"/>
            <a:ext cx="10682000" cy="579876"/>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rgbClr val="000000"/>
              </a:buClr>
              <a:buSzPts val="1100"/>
              <a:buFont typeface="Arial"/>
              <a:buNone/>
              <a:defRPr sz="1600" b="1"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r>
              <a:rPr lang="en-US" dirty="0"/>
              <a:t> </a:t>
            </a:r>
            <a:endParaRPr dirty="0"/>
          </a:p>
        </p:txBody>
      </p:sp>
      <p:sp>
        <p:nvSpPr>
          <p:cNvPr id="8" name="Google Shape;8;p10"/>
          <p:cNvSpPr txBox="1">
            <a:spLocks noGrp="1"/>
          </p:cNvSpPr>
          <p:nvPr>
            <p:ph type="body" idx="1"/>
          </p:nvPr>
        </p:nvSpPr>
        <p:spPr>
          <a:xfrm>
            <a:off x="1189401" y="1384879"/>
            <a:ext cx="10682000" cy="4858013"/>
          </a:xfrm>
          <a:prstGeom prst="rect">
            <a:avLst/>
          </a:prstGeom>
          <a:noFill/>
          <a:ln>
            <a:noFill/>
          </a:ln>
        </p:spPr>
        <p:txBody>
          <a:bodyPr spcFirstLastPara="1" wrap="square" lIns="91425" tIns="91425" rIns="91425" bIns="91425" anchor="t" anchorCtr="0">
            <a:noAutofit/>
          </a:bodyPr>
          <a:lstStyle>
            <a:lvl1pPr marL="457200" marR="0" lvl="0" indent="-330200" algn="l" rtl="0">
              <a:lnSpc>
                <a:spcPct val="90000"/>
              </a:lnSpc>
              <a:spcBef>
                <a:spcPts val="600"/>
              </a:spcBef>
              <a:spcAft>
                <a:spcPts val="0"/>
              </a:spcAft>
              <a:buClr>
                <a:srgbClr val="000000"/>
              </a:buClr>
              <a:buSzPts val="1600"/>
              <a:buFont typeface="Arial"/>
              <a:buChar char="•"/>
              <a:defRPr sz="1600" b="0" i="0" u="none" strike="noStrike" cap="none">
                <a:solidFill>
                  <a:srgbClr val="000000"/>
                </a:solidFill>
                <a:latin typeface="Arial"/>
                <a:ea typeface="Arial"/>
                <a:cs typeface="Arial"/>
                <a:sym typeface="Arial"/>
              </a:defRPr>
            </a:lvl1pPr>
            <a:lvl2pPr marL="914400" marR="0" lvl="1" indent="-317500" algn="l" rtl="0">
              <a:lnSpc>
                <a:spcPct val="90000"/>
              </a:lnSpc>
              <a:spcBef>
                <a:spcPts val="3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298450" algn="l" rtl="0">
              <a:lnSpc>
                <a:spcPct val="90000"/>
              </a:lnSpc>
              <a:spcBef>
                <a:spcPts val="30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4pPr>
            <a:lvl5pPr marL="2286000" marR="0" lvl="4"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5pPr>
            <a:lvl6pPr marL="2743200" marR="0" lvl="5"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6pPr>
            <a:lvl7pPr marL="3200400" marR="0" lvl="6"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7pPr>
            <a:lvl8pPr marL="3657600" marR="0" lvl="7"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8pPr>
            <a:lvl9pPr marL="4114800" marR="0" lvl="8"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9pPr>
          </a:lstStyle>
          <a:p>
            <a:pPr lvl="0"/>
            <a:endParaRPr dirty="0"/>
          </a:p>
        </p:txBody>
      </p:sp>
      <p:pic>
        <p:nvPicPr>
          <p:cNvPr id="9" name="Google Shape;9;p10"/>
          <p:cNvPicPr preferRelativeResize="0"/>
          <p:nvPr userDrawn="1"/>
        </p:nvPicPr>
        <p:blipFill>
          <a:blip r:embed="rId14">
            <a:extLst>
              <a:ext uri="{28A0092B-C50C-407E-A947-70E740481C1C}">
                <a14:useLocalDpi xmlns:a14="http://schemas.microsoft.com/office/drawing/2010/main" val="0"/>
              </a:ext>
            </a:extLst>
          </a:blip>
          <a:srcRect/>
          <a:stretch/>
        </p:blipFill>
        <p:spPr>
          <a:xfrm>
            <a:off x="99713" y="231455"/>
            <a:ext cx="928680" cy="928680"/>
          </a:xfrm>
          <a:prstGeom prst="rect">
            <a:avLst/>
          </a:prstGeom>
          <a:noFill/>
          <a:ln>
            <a:noFill/>
          </a:ln>
        </p:spPr>
      </p:pic>
      <p:sp>
        <p:nvSpPr>
          <p:cNvPr id="11" name="Google Shape;11;p10"/>
          <p:cNvSpPr txBox="1">
            <a:spLocks noGrp="1"/>
          </p:cNvSpPr>
          <p:nvPr>
            <p:ph type="sldNum" idx="12"/>
          </p:nvPr>
        </p:nvSpPr>
        <p:spPr>
          <a:xfrm>
            <a:off x="10058399" y="6641435"/>
            <a:ext cx="2133600" cy="2248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9pPr>
          </a:lstStyle>
          <a:p>
            <a:fld id="{00000000-1234-1234-1234-123412341234}" type="slidenum">
              <a:rPr lang="en" smtClean="0"/>
              <a:pPr/>
              <a:t>‹#›</a:t>
            </a:fld>
            <a:endParaRPr lang="en"/>
          </a:p>
        </p:txBody>
      </p:sp>
      <p:sp>
        <p:nvSpPr>
          <p:cNvPr id="10" name="Rectangle 9">
            <a:extLst>
              <a:ext uri="{FF2B5EF4-FFF2-40B4-BE49-F238E27FC236}">
                <a16:creationId xmlns:a16="http://schemas.microsoft.com/office/drawing/2014/main" id="{03C8531C-6664-AC0C-ED00-3D1957BC281F}"/>
              </a:ext>
            </a:extLst>
          </p:cNvPr>
          <p:cNvSpPr/>
          <p:nvPr userDrawn="1"/>
        </p:nvSpPr>
        <p:spPr>
          <a:xfrm>
            <a:off x="-2" y="6594389"/>
            <a:ext cx="12191999" cy="263611"/>
          </a:xfrm>
          <a:prstGeom prst="rect">
            <a:avLst/>
          </a:prstGeom>
          <a:ln>
            <a:noFill/>
          </a:ln>
        </p:spPr>
        <p:style>
          <a:lnRef idx="3">
            <a:schemeClr val="lt1"/>
          </a:lnRef>
          <a:fillRef idx="1">
            <a:schemeClr val="dk1"/>
          </a:fillRef>
          <a:effectRef idx="1">
            <a:schemeClr val="dk1"/>
          </a:effectRef>
          <a:fontRef idx="minor">
            <a:schemeClr val="lt1"/>
          </a:fontRef>
        </p:style>
        <p:txBody>
          <a:bodyPr rtlCol="0" anchor="ctr"/>
          <a:lstStyle/>
          <a:p>
            <a:pPr algn="ctr"/>
            <a:endParaRPr lang="en-US" sz="2400" dirty="0"/>
          </a:p>
        </p:txBody>
      </p:sp>
      <p:grpSp>
        <p:nvGrpSpPr>
          <p:cNvPr id="34" name="Group 33"/>
          <p:cNvGrpSpPr/>
          <p:nvPr userDrawn="1"/>
        </p:nvGrpSpPr>
        <p:grpSpPr>
          <a:xfrm>
            <a:off x="254537" y="37012"/>
            <a:ext cx="4123292" cy="140365"/>
            <a:chOff x="5526083" y="4992009"/>
            <a:chExt cx="3092469" cy="105274"/>
          </a:xfrm>
          <a:gradFill flip="none" rotWithShape="1">
            <a:gsLst>
              <a:gs pos="0">
                <a:schemeClr val="accent1"/>
              </a:gs>
              <a:gs pos="0">
                <a:schemeClr val="accent1"/>
              </a:gs>
            </a:gsLst>
            <a:lin ang="2700000" scaled="1"/>
            <a:tileRect/>
          </a:gradFill>
        </p:grpSpPr>
        <p:sp>
          <p:nvSpPr>
            <p:cNvPr id="35" name="Chevron 34"/>
            <p:cNvSpPr/>
            <p:nvPr userDrawn="1"/>
          </p:nvSpPr>
          <p:spPr>
            <a:xfrm>
              <a:off x="8339152"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36" name="Chevron 35"/>
            <p:cNvSpPr/>
            <p:nvPr userDrawn="1"/>
          </p:nvSpPr>
          <p:spPr>
            <a:xfrm>
              <a:off x="8059751"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37" name="Chevron 36"/>
            <p:cNvSpPr/>
            <p:nvPr userDrawn="1"/>
          </p:nvSpPr>
          <p:spPr>
            <a:xfrm>
              <a:off x="7773998"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38" name="Chevron 37"/>
            <p:cNvSpPr/>
            <p:nvPr userDrawn="1"/>
          </p:nvSpPr>
          <p:spPr>
            <a:xfrm>
              <a:off x="7494596"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39" name="Chevron 38"/>
            <p:cNvSpPr/>
            <p:nvPr userDrawn="1"/>
          </p:nvSpPr>
          <p:spPr>
            <a:xfrm>
              <a:off x="7215195"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40" name="Chevron 39"/>
            <p:cNvSpPr/>
            <p:nvPr userDrawn="1"/>
          </p:nvSpPr>
          <p:spPr>
            <a:xfrm>
              <a:off x="6929442"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41" name="Chevron 40"/>
            <p:cNvSpPr/>
            <p:nvPr userDrawn="1"/>
          </p:nvSpPr>
          <p:spPr>
            <a:xfrm>
              <a:off x="6650040"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sp>
          <p:nvSpPr>
            <p:cNvPr id="42" name="Chevron 41"/>
            <p:cNvSpPr/>
            <p:nvPr userDrawn="1"/>
          </p:nvSpPr>
          <p:spPr>
            <a:xfrm>
              <a:off x="6370639"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43" name="Chevron 42"/>
            <p:cNvSpPr/>
            <p:nvPr userDrawn="1"/>
          </p:nvSpPr>
          <p:spPr>
            <a:xfrm>
              <a:off x="6084886"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44" name="Chevron 43"/>
            <p:cNvSpPr/>
            <p:nvPr userDrawn="1"/>
          </p:nvSpPr>
          <p:spPr>
            <a:xfrm>
              <a:off x="5805484"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45" name="Chevron 44"/>
            <p:cNvSpPr/>
            <p:nvPr userDrawn="1"/>
          </p:nvSpPr>
          <p:spPr>
            <a:xfrm>
              <a:off x="5526083"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grpSp>
      <p:sp>
        <p:nvSpPr>
          <p:cNvPr id="48" name="Text Placeholder 16"/>
          <p:cNvSpPr txBox="1">
            <a:spLocks/>
          </p:cNvSpPr>
          <p:nvPr userDrawn="1"/>
        </p:nvSpPr>
        <p:spPr>
          <a:xfrm flipH="1">
            <a:off x="1043632" y="6366806"/>
            <a:ext cx="4211863" cy="221589"/>
          </a:xfrm>
          <a:prstGeom prst="rect">
            <a:avLst/>
          </a:prstGeom>
        </p:spPr>
        <p:txBody>
          <a:bodyPr>
            <a:noAutofit/>
          </a:bodyPr>
          <a:lstStyle>
            <a:defPPr marR="0" lvl="0" algn="l" rtl="0">
              <a:lnSpc>
                <a:spcPct val="100000"/>
              </a:lnSpc>
              <a:spcBef>
                <a:spcPts val="0"/>
              </a:spcBef>
              <a:spcAft>
                <a:spcPts val="0"/>
              </a:spcAft>
            </a:defPPr>
            <a:lvl1pPr marL="0" marR="0" lvl="0" indent="0" algn="l" rtl="0" eaLnBrk="1" hangingPunct="1">
              <a:lnSpc>
                <a:spcPct val="100000"/>
              </a:lnSpc>
              <a:spcBef>
                <a:spcPts val="0"/>
              </a:spcBef>
              <a:spcAft>
                <a:spcPts val="0"/>
              </a:spcAft>
              <a:buClr>
                <a:srgbClr val="000000"/>
              </a:buClr>
              <a:buFont typeface="Arial"/>
              <a:buNone/>
              <a:defRPr sz="1200" b="1" i="0" u="none" strike="noStrike" cap="none">
                <a:solidFill>
                  <a:srgbClr val="00B05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kern="0" dirty="0"/>
              <a:t>UNCLASSIFIED</a:t>
            </a:r>
          </a:p>
        </p:txBody>
      </p:sp>
      <p:sp>
        <p:nvSpPr>
          <p:cNvPr id="49" name="Text Placeholder 16"/>
          <p:cNvSpPr txBox="1">
            <a:spLocks/>
          </p:cNvSpPr>
          <p:nvPr userDrawn="1"/>
        </p:nvSpPr>
        <p:spPr>
          <a:xfrm>
            <a:off x="5482963" y="207088"/>
            <a:ext cx="6767512" cy="212103"/>
          </a:xfrm>
          <a:prstGeom prst="rect">
            <a:avLst/>
          </a:prstGeom>
        </p:spPr>
        <p:txBody>
          <a:bodyPr>
            <a:noAutofit/>
          </a:bodyPr>
          <a:lstStyle>
            <a:defPPr marR="0" lvl="0" algn="l" rtl="0">
              <a:lnSpc>
                <a:spcPct val="100000"/>
              </a:lnSpc>
              <a:spcBef>
                <a:spcPts val="0"/>
              </a:spcBef>
              <a:spcAft>
                <a:spcPts val="0"/>
              </a:spcAft>
            </a:defPPr>
            <a:lvl1pPr marL="0" marR="0" lvl="0" indent="0" algn="r" rtl="0" eaLnBrk="1" hangingPunct="1">
              <a:lnSpc>
                <a:spcPct val="100000"/>
              </a:lnSpc>
              <a:spcBef>
                <a:spcPts val="0"/>
              </a:spcBef>
              <a:spcAft>
                <a:spcPts val="0"/>
              </a:spcAft>
              <a:buClr>
                <a:srgbClr val="000000"/>
              </a:buClr>
              <a:buFont typeface="Arial"/>
              <a:buNone/>
              <a:defRPr sz="1200" b="1" i="0" u="none" strike="noStrike" cap="none" baseline="0">
                <a:solidFill>
                  <a:srgbClr val="00B05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kern="0" dirty="0"/>
              <a:t>UNCLASSIFIED</a:t>
            </a:r>
          </a:p>
        </p:txBody>
      </p:sp>
      <p:pic>
        <p:nvPicPr>
          <p:cNvPr id="21" name="Picture 20">
            <a:extLst>
              <a:ext uri="{FF2B5EF4-FFF2-40B4-BE49-F238E27FC236}">
                <a16:creationId xmlns:a16="http://schemas.microsoft.com/office/drawing/2014/main" id="{62ADCA60-3BD1-B7C2-7897-A83E6D914113}"/>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rot="-5400000">
            <a:off x="-2150855" y="3445521"/>
            <a:ext cx="5429815" cy="991170"/>
          </a:xfrm>
          <a:prstGeom prst="rect">
            <a:avLst/>
          </a:prstGeom>
        </p:spPr>
      </p:pic>
      <p:grpSp>
        <p:nvGrpSpPr>
          <p:cNvPr id="51" name="Group 50">
            <a:extLst>
              <a:ext uri="{FF2B5EF4-FFF2-40B4-BE49-F238E27FC236}">
                <a16:creationId xmlns:a16="http://schemas.microsoft.com/office/drawing/2014/main" id="{6701C421-A6F9-D749-8480-ECF6D94627DA}"/>
              </a:ext>
            </a:extLst>
          </p:cNvPr>
          <p:cNvGrpSpPr/>
          <p:nvPr userDrawn="1"/>
        </p:nvGrpSpPr>
        <p:grpSpPr>
          <a:xfrm>
            <a:off x="7996753" y="6659805"/>
            <a:ext cx="4123292" cy="140365"/>
            <a:chOff x="5526083" y="4992009"/>
            <a:chExt cx="3092469" cy="105274"/>
          </a:xfrm>
          <a:gradFill flip="none" rotWithShape="1">
            <a:gsLst>
              <a:gs pos="0">
                <a:schemeClr val="accent1"/>
              </a:gs>
              <a:gs pos="0">
                <a:schemeClr val="accent1"/>
              </a:gs>
            </a:gsLst>
            <a:lin ang="2700000" scaled="1"/>
            <a:tileRect/>
          </a:gradFill>
        </p:grpSpPr>
        <p:sp>
          <p:nvSpPr>
            <p:cNvPr id="52" name="Chevron 34">
              <a:extLst>
                <a:ext uri="{FF2B5EF4-FFF2-40B4-BE49-F238E27FC236}">
                  <a16:creationId xmlns:a16="http://schemas.microsoft.com/office/drawing/2014/main" id="{A3DA9578-59FE-86FB-A354-142255DA60DA}"/>
                </a:ext>
              </a:extLst>
            </p:cNvPr>
            <p:cNvSpPr/>
            <p:nvPr userDrawn="1"/>
          </p:nvSpPr>
          <p:spPr>
            <a:xfrm>
              <a:off x="8339152"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53" name="Chevron 35">
              <a:extLst>
                <a:ext uri="{FF2B5EF4-FFF2-40B4-BE49-F238E27FC236}">
                  <a16:creationId xmlns:a16="http://schemas.microsoft.com/office/drawing/2014/main" id="{B04AF141-545B-B49E-C1E8-94740B9919BB}"/>
                </a:ext>
              </a:extLst>
            </p:cNvPr>
            <p:cNvSpPr/>
            <p:nvPr userDrawn="1"/>
          </p:nvSpPr>
          <p:spPr>
            <a:xfrm>
              <a:off x="8059751"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54" name="Chevron 36">
              <a:extLst>
                <a:ext uri="{FF2B5EF4-FFF2-40B4-BE49-F238E27FC236}">
                  <a16:creationId xmlns:a16="http://schemas.microsoft.com/office/drawing/2014/main" id="{1A4E42AC-7995-9220-EB0F-FB2C216318D3}"/>
                </a:ext>
              </a:extLst>
            </p:cNvPr>
            <p:cNvSpPr/>
            <p:nvPr userDrawn="1"/>
          </p:nvSpPr>
          <p:spPr>
            <a:xfrm>
              <a:off x="7773998"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55" name="Chevron 37">
              <a:extLst>
                <a:ext uri="{FF2B5EF4-FFF2-40B4-BE49-F238E27FC236}">
                  <a16:creationId xmlns:a16="http://schemas.microsoft.com/office/drawing/2014/main" id="{53C22C0C-6ECA-E350-C18D-0954C59A74BA}"/>
                </a:ext>
              </a:extLst>
            </p:cNvPr>
            <p:cNvSpPr/>
            <p:nvPr userDrawn="1"/>
          </p:nvSpPr>
          <p:spPr>
            <a:xfrm>
              <a:off x="7494596"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56" name="Chevron 38">
              <a:extLst>
                <a:ext uri="{FF2B5EF4-FFF2-40B4-BE49-F238E27FC236}">
                  <a16:creationId xmlns:a16="http://schemas.microsoft.com/office/drawing/2014/main" id="{F7C7267B-65F6-7F5D-55FA-BFF8A364F42B}"/>
                </a:ext>
              </a:extLst>
            </p:cNvPr>
            <p:cNvSpPr/>
            <p:nvPr userDrawn="1"/>
          </p:nvSpPr>
          <p:spPr>
            <a:xfrm>
              <a:off x="7215195"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57" name="Chevron 39">
              <a:extLst>
                <a:ext uri="{FF2B5EF4-FFF2-40B4-BE49-F238E27FC236}">
                  <a16:creationId xmlns:a16="http://schemas.microsoft.com/office/drawing/2014/main" id="{7B9AD0EA-9215-55F3-CBC7-713862E4C839}"/>
                </a:ext>
              </a:extLst>
            </p:cNvPr>
            <p:cNvSpPr/>
            <p:nvPr userDrawn="1"/>
          </p:nvSpPr>
          <p:spPr>
            <a:xfrm>
              <a:off x="6929442"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58" name="Chevron 40">
              <a:extLst>
                <a:ext uri="{FF2B5EF4-FFF2-40B4-BE49-F238E27FC236}">
                  <a16:creationId xmlns:a16="http://schemas.microsoft.com/office/drawing/2014/main" id="{BCD4AD2F-0902-4385-94F7-5ACB01D22A41}"/>
                </a:ext>
              </a:extLst>
            </p:cNvPr>
            <p:cNvSpPr/>
            <p:nvPr userDrawn="1"/>
          </p:nvSpPr>
          <p:spPr>
            <a:xfrm>
              <a:off x="6650040"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dirty="0">
                <a:solidFill>
                  <a:schemeClr val="tx1"/>
                </a:solidFill>
              </a:endParaRPr>
            </a:p>
          </p:txBody>
        </p:sp>
        <p:sp>
          <p:nvSpPr>
            <p:cNvPr id="59" name="Chevron 41">
              <a:extLst>
                <a:ext uri="{FF2B5EF4-FFF2-40B4-BE49-F238E27FC236}">
                  <a16:creationId xmlns:a16="http://schemas.microsoft.com/office/drawing/2014/main" id="{9C796D23-978C-FFFF-4038-1C937EE690D7}"/>
                </a:ext>
              </a:extLst>
            </p:cNvPr>
            <p:cNvSpPr/>
            <p:nvPr userDrawn="1"/>
          </p:nvSpPr>
          <p:spPr>
            <a:xfrm>
              <a:off x="6370639"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60" name="Chevron 42">
              <a:extLst>
                <a:ext uri="{FF2B5EF4-FFF2-40B4-BE49-F238E27FC236}">
                  <a16:creationId xmlns:a16="http://schemas.microsoft.com/office/drawing/2014/main" id="{9080B428-A3B2-6A7E-177F-CF4DC7356652}"/>
                </a:ext>
              </a:extLst>
            </p:cNvPr>
            <p:cNvSpPr/>
            <p:nvPr userDrawn="1"/>
          </p:nvSpPr>
          <p:spPr>
            <a:xfrm>
              <a:off x="6084886"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61" name="Chevron 43">
              <a:extLst>
                <a:ext uri="{FF2B5EF4-FFF2-40B4-BE49-F238E27FC236}">
                  <a16:creationId xmlns:a16="http://schemas.microsoft.com/office/drawing/2014/main" id="{54FDEC70-BB7A-14BD-BF44-B0F7EFDD1AA4}"/>
                </a:ext>
              </a:extLst>
            </p:cNvPr>
            <p:cNvSpPr/>
            <p:nvPr userDrawn="1"/>
          </p:nvSpPr>
          <p:spPr>
            <a:xfrm>
              <a:off x="5805484"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sp>
          <p:nvSpPr>
            <p:cNvPr id="62" name="Chevron 44">
              <a:extLst>
                <a:ext uri="{FF2B5EF4-FFF2-40B4-BE49-F238E27FC236}">
                  <a16:creationId xmlns:a16="http://schemas.microsoft.com/office/drawing/2014/main" id="{B3E053BC-053D-4B7F-17DA-2B8D0B40E67E}"/>
                </a:ext>
              </a:extLst>
            </p:cNvPr>
            <p:cNvSpPr/>
            <p:nvPr userDrawn="1"/>
          </p:nvSpPr>
          <p:spPr>
            <a:xfrm>
              <a:off x="5526083" y="4992009"/>
              <a:ext cx="279400" cy="105274"/>
            </a:xfrm>
            <a:prstGeom prst="chevron">
              <a:avLst/>
            </a:prstGeom>
            <a:grp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chemeClr val="tx1"/>
                </a:solidFill>
              </a:endParaRPr>
            </a:p>
          </p:txBody>
        </p:sp>
      </p:grpSp>
    </p:spTree>
    <p:extLst>
      <p:ext uri="{BB962C8B-B14F-4D97-AF65-F5344CB8AC3E}">
        <p14:creationId xmlns:p14="http://schemas.microsoft.com/office/powerpoint/2010/main" val="2594109494"/>
      </p:ext>
    </p:extLst>
  </p:cSld>
  <p:clrMap bg1="lt1" tx1="dk1" bg2="dk2" tx2="lt2" accent1="accent1" accent2="accent2" accent3="accent3" accent4="accent4" accent5="accent5" accent6="accent6" hlink="hlink" folHlink="folHlink"/>
  <p:sldLayoutIdLst>
    <p:sldLayoutId id="2147483661" r:id="rId1"/>
    <p:sldLayoutId id="2147483663" r:id="rId2"/>
    <p:sldLayoutId id="2147483742" r:id="rId3"/>
    <p:sldLayoutId id="2147483738" r:id="rId4"/>
    <p:sldLayoutId id="2147483741" r:id="rId5"/>
    <p:sldLayoutId id="2147483664" r:id="rId6"/>
    <p:sldLayoutId id="2147483665" r:id="rId7"/>
    <p:sldLayoutId id="2147483666" r:id="rId8"/>
    <p:sldLayoutId id="2147483667" r:id="rId9"/>
    <p:sldLayoutId id="2147483668" r:id="rId10"/>
    <p:sldLayoutId id="2147483743" r:id="rId11"/>
    <p:sldLayoutId id="2147483740" r:id="rId1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169329" marR="0" lvl="0" indent="0" algn="l" rtl="0" eaLnBrk="1" hangingPunct="1">
        <a:lnSpc>
          <a:spcPct val="100000"/>
        </a:lnSpc>
        <a:spcBef>
          <a:spcPts val="0"/>
        </a:spcBef>
        <a:spcAft>
          <a:spcPts val="0"/>
        </a:spcAft>
        <a:buClr>
          <a:srgbClr val="000000"/>
        </a:buClr>
        <a:buFont typeface="Arial"/>
        <a:buNone/>
        <a:defRPr sz="2667"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2133"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3BFBF38-23A7-0F2E-D8BE-EA155B607E27}"/>
              </a:ext>
            </a:extLst>
          </p:cNvPr>
          <p:cNvSpPr>
            <a:spLocks noGrp="1"/>
          </p:cNvSpPr>
          <p:nvPr>
            <p:ph type="ctrTitle"/>
          </p:nvPr>
        </p:nvSpPr>
        <p:spPr/>
        <p:txBody>
          <a:bodyPr/>
          <a:lstStyle/>
          <a:p>
            <a:r>
              <a:rPr lang="en-US" dirty="0">
                <a:solidFill>
                  <a:srgbClr val="00004C"/>
                </a:solidFill>
              </a:rPr>
              <a:t>Navigating Open-Source Ecosystem for Cyber Protection Teams</a:t>
            </a:r>
          </a:p>
        </p:txBody>
      </p:sp>
    </p:spTree>
    <p:extLst>
      <p:ext uri="{BB962C8B-B14F-4D97-AF65-F5344CB8AC3E}">
        <p14:creationId xmlns:p14="http://schemas.microsoft.com/office/powerpoint/2010/main" val="3766918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2BCD14-3A7E-DE0E-CFB4-F73342F97E67}"/>
              </a:ext>
            </a:extLst>
          </p:cNvPr>
          <p:cNvSpPr>
            <a:spLocks noGrp="1"/>
          </p:cNvSpPr>
          <p:nvPr>
            <p:ph type="body" idx="1"/>
          </p:nvPr>
        </p:nvSpPr>
        <p:spPr/>
        <p:txBody>
          <a:bodyPr/>
          <a:lstStyle/>
          <a:p>
            <a:r>
              <a:rPr lang="en-US" dirty="0">
                <a:solidFill>
                  <a:srgbClr val="00004C"/>
                </a:solidFill>
              </a:rPr>
              <a:t>Identify initial access techniques from MITRE® attack</a:t>
            </a:r>
          </a:p>
          <a:p>
            <a:r>
              <a:rPr lang="en-US" dirty="0">
                <a:solidFill>
                  <a:srgbClr val="00004C"/>
                </a:solidFill>
              </a:rPr>
              <a:t>Identify key components of an open-source ecosystem</a:t>
            </a:r>
          </a:p>
          <a:p>
            <a:r>
              <a:rPr lang="en-US" dirty="0">
                <a:solidFill>
                  <a:srgbClr val="00004C"/>
                </a:solidFill>
              </a:rPr>
              <a:t>Recall and identify different types of vulnerabilities </a:t>
            </a:r>
          </a:p>
          <a:p>
            <a:r>
              <a:rPr lang="en-US" dirty="0">
                <a:solidFill>
                  <a:srgbClr val="00004C"/>
                </a:solidFill>
              </a:rPr>
              <a:t>Recognize initial access opportunities</a:t>
            </a:r>
          </a:p>
          <a:p>
            <a:endParaRPr lang="en-US" dirty="0"/>
          </a:p>
        </p:txBody>
      </p:sp>
      <p:sp>
        <p:nvSpPr>
          <p:cNvPr id="3" name="Title 2">
            <a:extLst>
              <a:ext uri="{FF2B5EF4-FFF2-40B4-BE49-F238E27FC236}">
                <a16:creationId xmlns:a16="http://schemas.microsoft.com/office/drawing/2014/main" id="{7A8BF48D-7E62-D2FC-1F55-6E3866649478}"/>
              </a:ext>
            </a:extLst>
          </p:cNvPr>
          <p:cNvSpPr>
            <a:spLocks noGrp="1"/>
          </p:cNvSpPr>
          <p:nvPr>
            <p:ph type="title"/>
          </p:nvPr>
        </p:nvSpPr>
        <p:spPr/>
        <p:txBody>
          <a:bodyPr/>
          <a:lstStyle/>
          <a:p>
            <a:r>
              <a:rPr lang="en-US" dirty="0">
                <a:solidFill>
                  <a:srgbClr val="00004C"/>
                </a:solidFill>
              </a:rPr>
              <a:t>Lesson Objectives</a:t>
            </a:r>
          </a:p>
        </p:txBody>
      </p:sp>
    </p:spTree>
    <p:extLst>
      <p:ext uri="{BB962C8B-B14F-4D97-AF65-F5344CB8AC3E}">
        <p14:creationId xmlns:p14="http://schemas.microsoft.com/office/powerpoint/2010/main" val="6569108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6DAA81-2548-A29E-6AC6-0AA51265A146}"/>
              </a:ext>
            </a:extLst>
          </p:cNvPr>
          <p:cNvSpPr>
            <a:spLocks noGrp="1"/>
          </p:cNvSpPr>
          <p:nvPr>
            <p:ph type="body" idx="1"/>
          </p:nvPr>
        </p:nvSpPr>
        <p:spPr/>
        <p:txBody>
          <a:bodyPr/>
          <a:lstStyle/>
          <a:p>
            <a:r>
              <a:rPr lang="en-US" dirty="0">
                <a:solidFill>
                  <a:srgbClr val="00004C"/>
                </a:solidFill>
              </a:rPr>
              <a:t>Introduction to Navigating Open-Source Ecosystem</a:t>
            </a:r>
          </a:p>
          <a:p>
            <a:r>
              <a:rPr lang="en-US" dirty="0">
                <a:solidFill>
                  <a:srgbClr val="00004C"/>
                </a:solidFill>
              </a:rPr>
              <a:t>Vulnerability Identification</a:t>
            </a:r>
          </a:p>
          <a:p>
            <a:r>
              <a:rPr lang="en-US" dirty="0">
                <a:solidFill>
                  <a:srgbClr val="00004C"/>
                </a:solidFill>
              </a:rPr>
              <a:t>Open-Source Exploit Ecosystem</a:t>
            </a:r>
          </a:p>
          <a:p>
            <a:r>
              <a:rPr lang="en-US" dirty="0">
                <a:solidFill>
                  <a:srgbClr val="00004C"/>
                </a:solidFill>
              </a:rPr>
              <a:t>Initial Access Techniques</a:t>
            </a:r>
          </a:p>
          <a:p>
            <a:r>
              <a:rPr lang="en-US" dirty="0">
                <a:solidFill>
                  <a:srgbClr val="00004C"/>
                </a:solidFill>
              </a:rPr>
              <a:t>Operational Suitability Assessment </a:t>
            </a:r>
            <a:endParaRPr lang="en-US" dirty="0"/>
          </a:p>
        </p:txBody>
      </p:sp>
      <p:sp>
        <p:nvSpPr>
          <p:cNvPr id="3" name="Title 2">
            <a:extLst>
              <a:ext uri="{FF2B5EF4-FFF2-40B4-BE49-F238E27FC236}">
                <a16:creationId xmlns:a16="http://schemas.microsoft.com/office/drawing/2014/main" id="{44783229-08CD-D0C0-F4EF-FDDD591DBCCD}"/>
              </a:ext>
            </a:extLst>
          </p:cNvPr>
          <p:cNvSpPr>
            <a:spLocks noGrp="1"/>
          </p:cNvSpPr>
          <p:nvPr>
            <p:ph type="title"/>
          </p:nvPr>
        </p:nvSpPr>
        <p:spPr/>
        <p:txBody>
          <a:bodyPr/>
          <a:lstStyle/>
          <a:p>
            <a:r>
              <a:rPr lang="en-US" dirty="0">
                <a:solidFill>
                  <a:srgbClr val="00004C"/>
                </a:solidFill>
              </a:rPr>
              <a:t>Lesson Overview</a:t>
            </a:r>
          </a:p>
        </p:txBody>
      </p:sp>
    </p:spTree>
    <p:extLst>
      <p:ext uri="{BB962C8B-B14F-4D97-AF65-F5344CB8AC3E}">
        <p14:creationId xmlns:p14="http://schemas.microsoft.com/office/powerpoint/2010/main" val="1144609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9CF22-D438-EB16-7AE0-D26DDB912710}"/>
              </a:ext>
            </a:extLst>
          </p:cNvPr>
          <p:cNvSpPr>
            <a:spLocks noGrp="1"/>
          </p:cNvSpPr>
          <p:nvPr>
            <p:ph type="title"/>
          </p:nvPr>
        </p:nvSpPr>
        <p:spPr/>
        <p:txBody>
          <a:bodyPr/>
          <a:lstStyle/>
          <a:p>
            <a:r>
              <a:rPr lang="en-US" dirty="0">
                <a:solidFill>
                  <a:srgbClr val="00004C"/>
                </a:solidFill>
              </a:rPr>
              <a:t>Introduction to Navigating Open-Source Ecosystem</a:t>
            </a:r>
          </a:p>
        </p:txBody>
      </p:sp>
    </p:spTree>
    <p:extLst>
      <p:ext uri="{BB962C8B-B14F-4D97-AF65-F5344CB8AC3E}">
        <p14:creationId xmlns:p14="http://schemas.microsoft.com/office/powerpoint/2010/main" val="4113302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8F990FF-E19B-1F31-835B-759F715C627A}"/>
              </a:ext>
            </a:extLst>
          </p:cNvPr>
          <p:cNvSpPr>
            <a:spLocks noGrp="1"/>
          </p:cNvSpPr>
          <p:nvPr>
            <p:ph type="body" idx="1"/>
          </p:nvPr>
        </p:nvSpPr>
        <p:spPr/>
        <p:txBody>
          <a:bodyPr/>
          <a:lstStyle/>
          <a:p>
            <a:r>
              <a:rPr lang="en-US" b="1" dirty="0">
                <a:solidFill>
                  <a:srgbClr val="00004C"/>
                </a:solidFill>
              </a:rPr>
              <a:t>Identifying Exploitable Vulnerabilities and Finding Exploits</a:t>
            </a:r>
          </a:p>
          <a:p>
            <a:pPr marL="169329" indent="0">
              <a:buNone/>
            </a:pPr>
            <a:endParaRPr lang="en-US" b="1" dirty="0">
              <a:solidFill>
                <a:srgbClr val="00004C"/>
              </a:solidFill>
            </a:endParaRPr>
          </a:p>
          <a:p>
            <a:pPr lvl="1"/>
            <a:r>
              <a:rPr lang="en-US" dirty="0">
                <a:solidFill>
                  <a:srgbClr val="00004C"/>
                </a:solidFill>
              </a:rPr>
              <a:t>Builds on active reconnaissance (e.g., service versions from Nmap) to discover weaknesses in adversary infrastructure</a:t>
            </a:r>
          </a:p>
          <a:p>
            <a:pPr marL="795847" lvl="1" indent="0">
              <a:buNone/>
            </a:pPr>
            <a:endParaRPr lang="en-US" dirty="0">
              <a:solidFill>
                <a:srgbClr val="00004C"/>
              </a:solidFill>
            </a:endParaRPr>
          </a:p>
          <a:p>
            <a:pPr lvl="1"/>
            <a:r>
              <a:rPr lang="en-US" dirty="0">
                <a:solidFill>
                  <a:srgbClr val="00004C"/>
                </a:solidFill>
              </a:rPr>
              <a:t>Enables targeted counterstrikes: Turn enumerated data into actionable exploits for disrupting command and control or botnets</a:t>
            </a:r>
          </a:p>
        </p:txBody>
      </p:sp>
      <p:sp>
        <p:nvSpPr>
          <p:cNvPr id="3" name="Title 2">
            <a:extLst>
              <a:ext uri="{FF2B5EF4-FFF2-40B4-BE49-F238E27FC236}">
                <a16:creationId xmlns:a16="http://schemas.microsoft.com/office/drawing/2014/main" id="{AC250CB7-FE69-E0C1-C937-A65F068FB5D1}"/>
              </a:ext>
            </a:extLst>
          </p:cNvPr>
          <p:cNvSpPr>
            <a:spLocks noGrp="1"/>
          </p:cNvSpPr>
          <p:nvPr>
            <p:ph type="title"/>
          </p:nvPr>
        </p:nvSpPr>
        <p:spPr/>
        <p:txBody>
          <a:bodyPr anchor="t"/>
          <a:lstStyle/>
          <a:p>
            <a:r>
              <a:rPr lang="en-US" dirty="0">
                <a:solidFill>
                  <a:srgbClr val="00004C"/>
                </a:solidFill>
              </a:rPr>
              <a:t>Intro to Navigating Open-Source Ecosystem</a:t>
            </a:r>
          </a:p>
        </p:txBody>
      </p:sp>
    </p:spTree>
    <p:extLst>
      <p:ext uri="{BB962C8B-B14F-4D97-AF65-F5344CB8AC3E}">
        <p14:creationId xmlns:p14="http://schemas.microsoft.com/office/powerpoint/2010/main" val="3743877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8F990FF-E19B-1F31-835B-759F715C627A}"/>
              </a:ext>
            </a:extLst>
          </p:cNvPr>
          <p:cNvSpPr>
            <a:spLocks noGrp="1"/>
          </p:cNvSpPr>
          <p:nvPr>
            <p:ph type="body" idx="1"/>
          </p:nvPr>
        </p:nvSpPr>
        <p:spPr/>
        <p:txBody>
          <a:bodyPr/>
          <a:lstStyle/>
          <a:p>
            <a:r>
              <a:rPr lang="en-US" b="1" dirty="0">
                <a:solidFill>
                  <a:srgbClr val="00004C"/>
                </a:solidFill>
              </a:rPr>
              <a:t>Ecosystem Components</a:t>
            </a:r>
          </a:p>
          <a:p>
            <a:pPr marL="169329" indent="0">
              <a:buNone/>
            </a:pPr>
            <a:endParaRPr lang="en-US" b="1" dirty="0">
              <a:solidFill>
                <a:srgbClr val="00004C"/>
              </a:solidFill>
            </a:endParaRPr>
          </a:p>
          <a:p>
            <a:pPr lvl="1"/>
            <a:r>
              <a:rPr lang="en-US" dirty="0">
                <a:solidFill>
                  <a:srgbClr val="00004C"/>
                </a:solidFill>
              </a:rPr>
              <a:t>Vulnerability databases (CVE, NVD) for cataloging weaknesses</a:t>
            </a:r>
          </a:p>
          <a:p>
            <a:pPr marL="795847" lvl="1" indent="0">
              <a:buNone/>
            </a:pPr>
            <a:endParaRPr lang="en-US" dirty="0">
              <a:solidFill>
                <a:srgbClr val="00004C"/>
              </a:solidFill>
            </a:endParaRPr>
          </a:p>
          <a:p>
            <a:pPr lvl="1"/>
            <a:r>
              <a:rPr lang="en-US" dirty="0">
                <a:solidFill>
                  <a:srgbClr val="00004C"/>
                </a:solidFill>
              </a:rPr>
              <a:t>Exploit repositories (</a:t>
            </a:r>
            <a:r>
              <a:rPr lang="en-US" dirty="0" err="1">
                <a:solidFill>
                  <a:srgbClr val="00004C"/>
                </a:solidFill>
              </a:rPr>
              <a:t>ExploitDB</a:t>
            </a:r>
            <a:r>
              <a:rPr lang="en-US" dirty="0">
                <a:solidFill>
                  <a:srgbClr val="00004C"/>
                </a:solidFill>
              </a:rPr>
              <a:t>, GitHub) for code and proof-of-concepts</a:t>
            </a:r>
          </a:p>
          <a:p>
            <a:pPr marL="795847" lvl="1" indent="0">
              <a:buNone/>
            </a:pPr>
            <a:endParaRPr lang="en-US" dirty="0">
              <a:solidFill>
                <a:srgbClr val="00004C"/>
              </a:solidFill>
            </a:endParaRPr>
          </a:p>
          <a:p>
            <a:pPr lvl="1"/>
            <a:r>
              <a:rPr lang="en-US" dirty="0">
                <a:solidFill>
                  <a:srgbClr val="00004C"/>
                </a:solidFill>
              </a:rPr>
              <a:t>Tools (</a:t>
            </a:r>
            <a:r>
              <a:rPr lang="en-US" dirty="0" err="1">
                <a:solidFill>
                  <a:srgbClr val="00004C"/>
                </a:solidFill>
              </a:rPr>
              <a:t>Searchsploit</a:t>
            </a:r>
            <a:r>
              <a:rPr lang="en-US" dirty="0">
                <a:solidFill>
                  <a:srgbClr val="00004C"/>
                </a:solidFill>
              </a:rPr>
              <a:t>) for efficient searching and adaptation</a:t>
            </a:r>
          </a:p>
          <a:p>
            <a:pPr marL="795847" lvl="1" indent="0">
              <a:buNone/>
            </a:pPr>
            <a:endParaRPr lang="en-US" dirty="0">
              <a:solidFill>
                <a:srgbClr val="00004C"/>
              </a:solidFill>
            </a:endParaRPr>
          </a:p>
          <a:p>
            <a:pPr lvl="1"/>
            <a:r>
              <a:rPr lang="en-US" b="1" dirty="0">
                <a:solidFill>
                  <a:srgbClr val="00004C"/>
                </a:solidFill>
              </a:rPr>
              <a:t>In counterstrikes: </a:t>
            </a:r>
            <a:r>
              <a:rPr lang="en-US" dirty="0">
                <a:solidFill>
                  <a:srgbClr val="00004C"/>
                </a:solidFill>
              </a:rPr>
              <a:t>Provides rapid access to community-vetted intelligence, allowing threat hunters to generate effects on adversary infrastructure from blue vantage points</a:t>
            </a:r>
          </a:p>
        </p:txBody>
      </p:sp>
      <p:sp>
        <p:nvSpPr>
          <p:cNvPr id="3" name="Title 2">
            <a:extLst>
              <a:ext uri="{FF2B5EF4-FFF2-40B4-BE49-F238E27FC236}">
                <a16:creationId xmlns:a16="http://schemas.microsoft.com/office/drawing/2014/main" id="{AC250CB7-FE69-E0C1-C937-A65F068FB5D1}"/>
              </a:ext>
            </a:extLst>
          </p:cNvPr>
          <p:cNvSpPr>
            <a:spLocks noGrp="1"/>
          </p:cNvSpPr>
          <p:nvPr>
            <p:ph type="title"/>
          </p:nvPr>
        </p:nvSpPr>
        <p:spPr/>
        <p:txBody>
          <a:bodyPr anchor="t"/>
          <a:lstStyle/>
          <a:p>
            <a:r>
              <a:rPr lang="en-US" dirty="0">
                <a:solidFill>
                  <a:srgbClr val="00004C"/>
                </a:solidFill>
              </a:rPr>
              <a:t>Intro to Navigating Open-Source Ecosystem</a:t>
            </a:r>
          </a:p>
        </p:txBody>
      </p:sp>
    </p:spTree>
    <p:extLst>
      <p:ext uri="{BB962C8B-B14F-4D97-AF65-F5344CB8AC3E}">
        <p14:creationId xmlns:p14="http://schemas.microsoft.com/office/powerpoint/2010/main" val="2558047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8F990FF-E19B-1F31-835B-759F715C627A}"/>
              </a:ext>
            </a:extLst>
          </p:cNvPr>
          <p:cNvSpPr>
            <a:spLocks noGrp="1"/>
          </p:cNvSpPr>
          <p:nvPr>
            <p:ph type="body" idx="1"/>
          </p:nvPr>
        </p:nvSpPr>
        <p:spPr/>
        <p:txBody>
          <a:bodyPr/>
          <a:lstStyle/>
          <a:p>
            <a:r>
              <a:rPr lang="sv-SE" b="1" dirty="0">
                <a:solidFill>
                  <a:srgbClr val="00004C"/>
                </a:solidFill>
              </a:rPr>
              <a:t>ATT&amp;CK® Mapping: TA0001 Initial Access</a:t>
            </a:r>
          </a:p>
          <a:p>
            <a:endParaRPr lang="sv-SE" b="1" dirty="0">
              <a:solidFill>
                <a:srgbClr val="00004C"/>
              </a:solidFill>
            </a:endParaRPr>
          </a:p>
          <a:p>
            <a:pPr lvl="1"/>
            <a:r>
              <a:rPr lang="en-US" dirty="0">
                <a:solidFill>
                  <a:srgbClr val="00004C"/>
                </a:solidFill>
              </a:rPr>
              <a:t>Reconnaissance (e.g., T1595 Active Scanning from prior lesson) feeds into Initial Access techniques</a:t>
            </a:r>
          </a:p>
          <a:p>
            <a:pPr marL="795847" lvl="1" indent="0">
              <a:buNone/>
            </a:pPr>
            <a:endParaRPr lang="en-US" dirty="0">
              <a:solidFill>
                <a:srgbClr val="00004C"/>
              </a:solidFill>
            </a:endParaRPr>
          </a:p>
          <a:p>
            <a:pPr lvl="1"/>
            <a:r>
              <a:rPr lang="en-US" dirty="0">
                <a:solidFill>
                  <a:srgbClr val="00004C"/>
                </a:solidFill>
              </a:rPr>
              <a:t>Open-source research identifies vulnerabilities for T1190 (Exploit Public-Facing Application) or T1133 (External Remote Services)</a:t>
            </a:r>
          </a:p>
          <a:p>
            <a:pPr marL="795847" lvl="1" indent="0">
              <a:buNone/>
            </a:pPr>
            <a:endParaRPr lang="en-US" dirty="0">
              <a:solidFill>
                <a:srgbClr val="00004C"/>
              </a:solidFill>
            </a:endParaRPr>
          </a:p>
          <a:p>
            <a:pPr lvl="1"/>
            <a:r>
              <a:rPr lang="en-US" dirty="0">
                <a:solidFill>
                  <a:srgbClr val="00004C"/>
                </a:solidFill>
              </a:rPr>
              <a:t>Application: Use discovered exploits to achieve access on adversary systems, flipping adversary tactics for countereffects</a:t>
            </a:r>
          </a:p>
          <a:p>
            <a:pPr marL="795847" lvl="1" indent="0">
              <a:buNone/>
            </a:pPr>
            <a:endParaRPr lang="en-US" dirty="0">
              <a:solidFill>
                <a:srgbClr val="00004C"/>
              </a:solidFill>
            </a:endParaRPr>
          </a:p>
          <a:p>
            <a:pPr lvl="1"/>
            <a:r>
              <a:rPr lang="en-US" b="1" dirty="0">
                <a:solidFill>
                  <a:srgbClr val="00004C"/>
                </a:solidFill>
              </a:rPr>
              <a:t>Blue space leverage: </a:t>
            </a:r>
            <a:r>
              <a:rPr lang="en-US" dirty="0">
                <a:solidFill>
                  <a:srgbClr val="00004C"/>
                </a:solidFill>
              </a:rPr>
              <a:t>Plan from defended networks the adversary expects traffic from, enhancing access to blocked covert assets</a:t>
            </a:r>
          </a:p>
        </p:txBody>
      </p:sp>
      <p:sp>
        <p:nvSpPr>
          <p:cNvPr id="3" name="Title 2">
            <a:extLst>
              <a:ext uri="{FF2B5EF4-FFF2-40B4-BE49-F238E27FC236}">
                <a16:creationId xmlns:a16="http://schemas.microsoft.com/office/drawing/2014/main" id="{AC250CB7-FE69-E0C1-C937-A65F068FB5D1}"/>
              </a:ext>
            </a:extLst>
          </p:cNvPr>
          <p:cNvSpPr>
            <a:spLocks noGrp="1"/>
          </p:cNvSpPr>
          <p:nvPr>
            <p:ph type="title"/>
          </p:nvPr>
        </p:nvSpPr>
        <p:spPr/>
        <p:txBody>
          <a:bodyPr anchor="t"/>
          <a:lstStyle/>
          <a:p>
            <a:r>
              <a:rPr lang="en-US" dirty="0">
                <a:solidFill>
                  <a:srgbClr val="00004C"/>
                </a:solidFill>
              </a:rPr>
              <a:t>Intro to Navigating Open-Source Ecosystem</a:t>
            </a:r>
          </a:p>
        </p:txBody>
      </p:sp>
    </p:spTree>
    <p:extLst>
      <p:ext uri="{BB962C8B-B14F-4D97-AF65-F5344CB8AC3E}">
        <p14:creationId xmlns:p14="http://schemas.microsoft.com/office/powerpoint/2010/main" val="7634699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8F990FF-E19B-1F31-835B-759F715C627A}"/>
              </a:ext>
            </a:extLst>
          </p:cNvPr>
          <p:cNvSpPr>
            <a:spLocks noGrp="1"/>
          </p:cNvSpPr>
          <p:nvPr>
            <p:ph type="body" idx="1"/>
          </p:nvPr>
        </p:nvSpPr>
        <p:spPr/>
        <p:txBody>
          <a:bodyPr/>
          <a:lstStyle/>
          <a:p>
            <a:r>
              <a:rPr lang="en-US" b="1" dirty="0">
                <a:solidFill>
                  <a:srgbClr val="00004C"/>
                </a:solidFill>
              </a:rPr>
              <a:t>Key Considerations for Counterstrike</a:t>
            </a:r>
          </a:p>
          <a:p>
            <a:pPr lvl="1"/>
            <a:endParaRPr lang="en-US" b="1" dirty="0">
              <a:solidFill>
                <a:srgbClr val="00004C"/>
              </a:solidFill>
            </a:endParaRPr>
          </a:p>
          <a:p>
            <a:pPr lvl="1"/>
            <a:r>
              <a:rPr lang="en-US" b="1" dirty="0">
                <a:solidFill>
                  <a:srgbClr val="00004C"/>
                </a:solidFill>
              </a:rPr>
              <a:t>ROE: </a:t>
            </a:r>
            <a:r>
              <a:rPr lang="en-US" dirty="0">
                <a:solidFill>
                  <a:srgbClr val="00004C"/>
                </a:solidFill>
              </a:rPr>
              <a:t>Exploitation of adversary infrastructure allowed per lawful orders</a:t>
            </a:r>
          </a:p>
          <a:p>
            <a:pPr marL="795847" lvl="1" indent="0">
              <a:buNone/>
            </a:pPr>
            <a:endParaRPr lang="en-US" dirty="0">
              <a:solidFill>
                <a:srgbClr val="00004C"/>
              </a:solidFill>
            </a:endParaRPr>
          </a:p>
          <a:p>
            <a:pPr lvl="1"/>
            <a:r>
              <a:rPr lang="en-US" b="1" dirty="0">
                <a:solidFill>
                  <a:srgbClr val="00004C"/>
                </a:solidFill>
              </a:rPr>
              <a:t>Focus: </a:t>
            </a:r>
            <a:r>
              <a:rPr lang="en-US" dirty="0">
                <a:solidFill>
                  <a:srgbClr val="00004C"/>
                </a:solidFill>
              </a:rPr>
              <a:t>Prioritize exploits for high-impact disruption (e.g., RCE on command servers)</a:t>
            </a:r>
          </a:p>
          <a:p>
            <a:pPr marL="795847" lvl="1" indent="0">
              <a:buNone/>
            </a:pPr>
            <a:endParaRPr lang="en-US" dirty="0">
              <a:solidFill>
                <a:srgbClr val="00004C"/>
              </a:solidFill>
            </a:endParaRPr>
          </a:p>
          <a:p>
            <a:pPr lvl="1"/>
            <a:r>
              <a:rPr lang="en-US" b="1" dirty="0">
                <a:solidFill>
                  <a:srgbClr val="00004C"/>
                </a:solidFill>
              </a:rPr>
              <a:t>Blue space benefits: </a:t>
            </a:r>
            <a:r>
              <a:rPr lang="en-US" dirty="0">
                <a:solidFill>
                  <a:srgbClr val="00004C"/>
                </a:solidFill>
              </a:rPr>
              <a:t>Test exploits in isolated labs before deployment if possible; coordinate with intel for target confirmation, avoiding the "off bore" strikes of covert operations or proxy attacks</a:t>
            </a:r>
          </a:p>
        </p:txBody>
      </p:sp>
      <p:sp>
        <p:nvSpPr>
          <p:cNvPr id="3" name="Title 2">
            <a:extLst>
              <a:ext uri="{FF2B5EF4-FFF2-40B4-BE49-F238E27FC236}">
                <a16:creationId xmlns:a16="http://schemas.microsoft.com/office/drawing/2014/main" id="{AC250CB7-FE69-E0C1-C937-A65F068FB5D1}"/>
              </a:ext>
            </a:extLst>
          </p:cNvPr>
          <p:cNvSpPr>
            <a:spLocks noGrp="1"/>
          </p:cNvSpPr>
          <p:nvPr>
            <p:ph type="title"/>
          </p:nvPr>
        </p:nvSpPr>
        <p:spPr/>
        <p:txBody>
          <a:bodyPr anchor="t"/>
          <a:lstStyle/>
          <a:p>
            <a:r>
              <a:rPr lang="en-US" dirty="0">
                <a:solidFill>
                  <a:srgbClr val="00004C"/>
                </a:solidFill>
              </a:rPr>
              <a:t>Intro to Navigating Open-Source Ecosystem</a:t>
            </a:r>
          </a:p>
        </p:txBody>
      </p:sp>
    </p:spTree>
    <p:extLst>
      <p:ext uri="{BB962C8B-B14F-4D97-AF65-F5344CB8AC3E}">
        <p14:creationId xmlns:p14="http://schemas.microsoft.com/office/powerpoint/2010/main" val="4083506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06979-B4EC-3B37-68C0-0AEDE57A0B9F}"/>
              </a:ext>
            </a:extLst>
          </p:cNvPr>
          <p:cNvSpPr>
            <a:spLocks noGrp="1"/>
          </p:cNvSpPr>
          <p:nvPr>
            <p:ph type="title"/>
          </p:nvPr>
        </p:nvSpPr>
        <p:spPr/>
        <p:txBody>
          <a:bodyPr/>
          <a:lstStyle/>
          <a:p>
            <a:r>
              <a:rPr lang="en-US" dirty="0">
                <a:solidFill>
                  <a:srgbClr val="00004C"/>
                </a:solidFill>
              </a:rPr>
              <a:t>Vulnerability Identification</a:t>
            </a:r>
          </a:p>
        </p:txBody>
      </p:sp>
    </p:spTree>
    <p:extLst>
      <p:ext uri="{BB962C8B-B14F-4D97-AF65-F5344CB8AC3E}">
        <p14:creationId xmlns:p14="http://schemas.microsoft.com/office/powerpoint/2010/main" val="2427566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7DEBE6-7215-81BE-1870-D0517AA0A41C}"/>
              </a:ext>
            </a:extLst>
          </p:cNvPr>
          <p:cNvSpPr>
            <a:spLocks noGrp="1"/>
          </p:cNvSpPr>
          <p:nvPr>
            <p:ph type="body" idx="1"/>
          </p:nvPr>
        </p:nvSpPr>
        <p:spPr/>
        <p:txBody>
          <a:bodyPr/>
          <a:lstStyle/>
          <a:p>
            <a:r>
              <a:rPr lang="en-US" b="1" dirty="0">
                <a:solidFill>
                  <a:srgbClr val="00004C"/>
                </a:solidFill>
              </a:rPr>
              <a:t>Enumeration to Vulnerability Pipeline</a:t>
            </a:r>
          </a:p>
          <a:p>
            <a:endParaRPr lang="en-US" dirty="0">
              <a:solidFill>
                <a:srgbClr val="00004C"/>
              </a:solidFill>
            </a:endParaRPr>
          </a:p>
          <a:p>
            <a:pPr lvl="1"/>
            <a:r>
              <a:rPr lang="en-US" b="1" dirty="0">
                <a:solidFill>
                  <a:srgbClr val="00004C"/>
                </a:solidFill>
              </a:rPr>
              <a:t>Start with recon data: </a:t>
            </a:r>
            <a:r>
              <a:rPr lang="en-US" dirty="0">
                <a:solidFill>
                  <a:srgbClr val="00004C"/>
                </a:solidFill>
              </a:rPr>
              <a:t>Service versions (e.g., Apache 2.4.29 from Nmap -</a:t>
            </a:r>
            <a:r>
              <a:rPr lang="en-US" dirty="0" err="1">
                <a:solidFill>
                  <a:srgbClr val="00004C"/>
                </a:solidFill>
              </a:rPr>
              <a:t>sV</a:t>
            </a:r>
            <a:r>
              <a:rPr lang="en-US" dirty="0">
                <a:solidFill>
                  <a:srgbClr val="00004C"/>
                </a:solidFill>
              </a:rPr>
              <a:t>)</a:t>
            </a:r>
          </a:p>
          <a:p>
            <a:pPr lvl="1"/>
            <a:r>
              <a:rPr lang="en-US" b="1" dirty="0">
                <a:solidFill>
                  <a:srgbClr val="00004C"/>
                </a:solidFill>
              </a:rPr>
              <a:t>Map to known issues: </a:t>
            </a:r>
            <a:r>
              <a:rPr lang="en-US" dirty="0">
                <a:solidFill>
                  <a:srgbClr val="00004C"/>
                </a:solidFill>
              </a:rPr>
              <a:t>Search databases for CVEs tied to that version</a:t>
            </a:r>
          </a:p>
          <a:p>
            <a:pPr lvl="1"/>
            <a:r>
              <a:rPr lang="en-US" b="1" dirty="0">
                <a:solidFill>
                  <a:srgbClr val="00004C"/>
                </a:solidFill>
              </a:rPr>
              <a:t>In counteroperations: </a:t>
            </a:r>
            <a:r>
              <a:rPr lang="en-US" dirty="0">
                <a:solidFill>
                  <a:srgbClr val="00004C"/>
                </a:solidFill>
              </a:rPr>
              <a:t>Quickly identify exploitable flaws in adversary attack infrastructure for planned disruptions</a:t>
            </a:r>
          </a:p>
        </p:txBody>
      </p:sp>
      <p:sp>
        <p:nvSpPr>
          <p:cNvPr id="3" name="Title 2">
            <a:extLst>
              <a:ext uri="{FF2B5EF4-FFF2-40B4-BE49-F238E27FC236}">
                <a16:creationId xmlns:a16="http://schemas.microsoft.com/office/drawing/2014/main" id="{50FE3D5A-01C8-AEC5-D4A3-07FB79097458}"/>
              </a:ext>
            </a:extLst>
          </p:cNvPr>
          <p:cNvSpPr>
            <a:spLocks noGrp="1"/>
          </p:cNvSpPr>
          <p:nvPr>
            <p:ph type="title"/>
          </p:nvPr>
        </p:nvSpPr>
        <p:spPr/>
        <p:txBody>
          <a:bodyPr/>
          <a:lstStyle/>
          <a:p>
            <a:r>
              <a:rPr lang="en-US" dirty="0">
                <a:solidFill>
                  <a:srgbClr val="00004C"/>
                </a:solidFill>
              </a:rPr>
              <a:t>Vulnerability Identification</a:t>
            </a:r>
            <a:endParaRPr lang="en-US" dirty="0"/>
          </a:p>
        </p:txBody>
      </p:sp>
    </p:spTree>
    <p:extLst>
      <p:ext uri="{BB962C8B-B14F-4D97-AF65-F5344CB8AC3E}">
        <p14:creationId xmlns:p14="http://schemas.microsoft.com/office/powerpoint/2010/main" val="3863866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7DEBE6-7215-81BE-1870-D0517AA0A41C}"/>
              </a:ext>
            </a:extLst>
          </p:cNvPr>
          <p:cNvSpPr>
            <a:spLocks noGrp="1"/>
          </p:cNvSpPr>
          <p:nvPr>
            <p:ph type="body" idx="1"/>
          </p:nvPr>
        </p:nvSpPr>
        <p:spPr/>
        <p:txBody>
          <a:bodyPr/>
          <a:lstStyle/>
          <a:p>
            <a:r>
              <a:rPr lang="en-US" b="1" dirty="0">
                <a:solidFill>
                  <a:srgbClr val="00004C"/>
                </a:solidFill>
              </a:rPr>
              <a:t>Version-Based Vulnerability Discovery</a:t>
            </a:r>
          </a:p>
          <a:p>
            <a:endParaRPr lang="en-US" dirty="0"/>
          </a:p>
          <a:p>
            <a:pPr lvl="1"/>
            <a:r>
              <a:rPr lang="en-US" b="1" dirty="0">
                <a:solidFill>
                  <a:srgbClr val="00004C"/>
                </a:solidFill>
              </a:rPr>
              <a:t>Example: </a:t>
            </a:r>
            <a:r>
              <a:rPr lang="en-US" dirty="0">
                <a:solidFill>
                  <a:srgbClr val="00004C"/>
                </a:solidFill>
              </a:rPr>
              <a:t>Nmap detects OpenSSH 7.4 → Search reveals CVE-2016-0777 (remote code execution potential)</a:t>
            </a:r>
          </a:p>
          <a:p>
            <a:pPr lvl="1"/>
            <a:r>
              <a:rPr lang="en-US" b="1" dirty="0">
                <a:solidFill>
                  <a:srgbClr val="00004C"/>
                </a:solidFill>
              </a:rPr>
              <a:t>Process: </a:t>
            </a:r>
            <a:r>
              <a:rPr lang="en-US" dirty="0">
                <a:solidFill>
                  <a:srgbClr val="00004C"/>
                </a:solidFill>
              </a:rPr>
              <a:t>Cross-reference versions with databases to find unpatched weaknesses</a:t>
            </a:r>
          </a:p>
          <a:p>
            <a:pPr lvl="1"/>
            <a:r>
              <a:rPr lang="en-US" b="1" dirty="0">
                <a:solidFill>
                  <a:srgbClr val="00004C"/>
                </a:solidFill>
              </a:rPr>
              <a:t>Counterstrike value: </a:t>
            </a:r>
            <a:r>
              <a:rPr lang="en-US" dirty="0">
                <a:solidFill>
                  <a:srgbClr val="00004C"/>
                </a:solidFill>
              </a:rPr>
              <a:t>Targets outdated systems in adversary C2 for initial access</a:t>
            </a:r>
          </a:p>
        </p:txBody>
      </p:sp>
      <p:sp>
        <p:nvSpPr>
          <p:cNvPr id="3" name="Title 2">
            <a:extLst>
              <a:ext uri="{FF2B5EF4-FFF2-40B4-BE49-F238E27FC236}">
                <a16:creationId xmlns:a16="http://schemas.microsoft.com/office/drawing/2014/main" id="{50FE3D5A-01C8-AEC5-D4A3-07FB79097458}"/>
              </a:ext>
            </a:extLst>
          </p:cNvPr>
          <p:cNvSpPr>
            <a:spLocks noGrp="1"/>
          </p:cNvSpPr>
          <p:nvPr>
            <p:ph type="title"/>
          </p:nvPr>
        </p:nvSpPr>
        <p:spPr/>
        <p:txBody>
          <a:bodyPr/>
          <a:lstStyle/>
          <a:p>
            <a:r>
              <a:rPr lang="en-US" dirty="0">
                <a:solidFill>
                  <a:srgbClr val="00004C"/>
                </a:solidFill>
              </a:rPr>
              <a:t>Vulnerability Identification</a:t>
            </a:r>
            <a:endParaRPr lang="en-US" dirty="0"/>
          </a:p>
        </p:txBody>
      </p:sp>
    </p:spTree>
    <p:extLst>
      <p:ext uri="{BB962C8B-B14F-4D97-AF65-F5344CB8AC3E}">
        <p14:creationId xmlns:p14="http://schemas.microsoft.com/office/powerpoint/2010/main" val="31526939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7DEBE6-7215-81BE-1870-D0517AA0A41C}"/>
              </a:ext>
            </a:extLst>
          </p:cNvPr>
          <p:cNvSpPr>
            <a:spLocks noGrp="1"/>
          </p:cNvSpPr>
          <p:nvPr>
            <p:ph type="body" idx="1"/>
          </p:nvPr>
        </p:nvSpPr>
        <p:spPr/>
        <p:txBody>
          <a:bodyPr/>
          <a:lstStyle/>
          <a:p>
            <a:r>
              <a:rPr lang="en-US" b="1" dirty="0">
                <a:solidFill>
                  <a:srgbClr val="00004C"/>
                </a:solidFill>
              </a:rPr>
              <a:t>Beyond Versions: Configuration Weaknesses</a:t>
            </a:r>
          </a:p>
          <a:p>
            <a:endParaRPr lang="en-US" dirty="0">
              <a:solidFill>
                <a:srgbClr val="00004C"/>
              </a:solidFill>
            </a:endParaRPr>
          </a:p>
          <a:p>
            <a:pPr lvl="1"/>
            <a:r>
              <a:rPr lang="en-US" dirty="0">
                <a:solidFill>
                  <a:srgbClr val="00004C"/>
                </a:solidFill>
              </a:rPr>
              <a:t>Enumeration reveals </a:t>
            </a:r>
            <a:r>
              <a:rPr lang="en-US" dirty="0" err="1">
                <a:solidFill>
                  <a:srgbClr val="00004C"/>
                </a:solidFill>
              </a:rPr>
              <a:t>misconfigs</a:t>
            </a:r>
            <a:r>
              <a:rPr lang="en-US" dirty="0">
                <a:solidFill>
                  <a:srgbClr val="00004C"/>
                </a:solidFill>
              </a:rPr>
              <a:t> (e.g., exposed directories via HTTP </a:t>
            </a:r>
            <a:r>
              <a:rPr lang="en-US" dirty="0" err="1">
                <a:solidFill>
                  <a:srgbClr val="00004C"/>
                </a:solidFill>
              </a:rPr>
              <a:t>enum</a:t>
            </a:r>
            <a:r>
              <a:rPr lang="en-US" dirty="0">
                <a:solidFill>
                  <a:srgbClr val="00004C"/>
                </a:solidFill>
              </a:rPr>
              <a:t>).</a:t>
            </a:r>
          </a:p>
          <a:p>
            <a:pPr lvl="1"/>
            <a:r>
              <a:rPr lang="en-US" b="1" dirty="0">
                <a:solidFill>
                  <a:srgbClr val="00004C"/>
                </a:solidFill>
              </a:rPr>
              <a:t>Common: </a:t>
            </a:r>
            <a:r>
              <a:rPr lang="en-US" dirty="0">
                <a:solidFill>
                  <a:srgbClr val="00004C"/>
                </a:solidFill>
              </a:rPr>
              <a:t>Default credentials, insecure protocols (e.g., HTTP instead of HTTPS).</a:t>
            </a:r>
          </a:p>
          <a:p>
            <a:pPr lvl="1"/>
            <a:r>
              <a:rPr lang="en-US" b="1" dirty="0">
                <a:solidFill>
                  <a:srgbClr val="00004C"/>
                </a:solidFill>
              </a:rPr>
              <a:t>Blue space edge: </a:t>
            </a:r>
            <a:r>
              <a:rPr lang="en-US" dirty="0">
                <a:solidFill>
                  <a:srgbClr val="00004C"/>
                </a:solidFill>
              </a:rPr>
              <a:t>Analyze patterns from defensive hunts to spot similar issues on adversary nodes, enabling stealthy exploitation.</a:t>
            </a:r>
          </a:p>
        </p:txBody>
      </p:sp>
      <p:sp>
        <p:nvSpPr>
          <p:cNvPr id="3" name="Title 2">
            <a:extLst>
              <a:ext uri="{FF2B5EF4-FFF2-40B4-BE49-F238E27FC236}">
                <a16:creationId xmlns:a16="http://schemas.microsoft.com/office/drawing/2014/main" id="{50FE3D5A-01C8-AEC5-D4A3-07FB79097458}"/>
              </a:ext>
            </a:extLst>
          </p:cNvPr>
          <p:cNvSpPr>
            <a:spLocks noGrp="1"/>
          </p:cNvSpPr>
          <p:nvPr>
            <p:ph type="title"/>
          </p:nvPr>
        </p:nvSpPr>
        <p:spPr/>
        <p:txBody>
          <a:bodyPr/>
          <a:lstStyle/>
          <a:p>
            <a:r>
              <a:rPr lang="en-US" dirty="0">
                <a:solidFill>
                  <a:srgbClr val="00004C"/>
                </a:solidFill>
              </a:rPr>
              <a:t>Vulnerability Identification</a:t>
            </a:r>
            <a:endParaRPr lang="en-US" dirty="0"/>
          </a:p>
        </p:txBody>
      </p:sp>
    </p:spTree>
    <p:extLst>
      <p:ext uri="{BB962C8B-B14F-4D97-AF65-F5344CB8AC3E}">
        <p14:creationId xmlns:p14="http://schemas.microsoft.com/office/powerpoint/2010/main" val="2949343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7DEBE6-7215-81BE-1870-D0517AA0A41C}"/>
              </a:ext>
            </a:extLst>
          </p:cNvPr>
          <p:cNvSpPr>
            <a:spLocks noGrp="1"/>
          </p:cNvSpPr>
          <p:nvPr>
            <p:ph type="body" idx="1"/>
          </p:nvPr>
        </p:nvSpPr>
        <p:spPr/>
        <p:txBody>
          <a:bodyPr/>
          <a:lstStyle/>
          <a:p>
            <a:r>
              <a:rPr lang="en-US" b="1" dirty="0">
                <a:solidFill>
                  <a:srgbClr val="00004C"/>
                </a:solidFill>
              </a:rPr>
              <a:t>Patching Gaps as Opportunities</a:t>
            </a:r>
          </a:p>
          <a:p>
            <a:endParaRPr lang="en-US" b="1" dirty="0">
              <a:solidFill>
                <a:srgbClr val="00004C"/>
              </a:solidFill>
            </a:endParaRPr>
          </a:p>
          <a:p>
            <a:pPr lvl="1"/>
            <a:r>
              <a:rPr lang="en-US" dirty="0">
                <a:solidFill>
                  <a:srgbClr val="00004C"/>
                </a:solidFill>
              </a:rPr>
              <a:t>Adversaries often run legacy systems for persistence (e.g., Windows Server 2008)</a:t>
            </a:r>
          </a:p>
          <a:p>
            <a:pPr lvl="1"/>
            <a:r>
              <a:rPr lang="en-US" dirty="0">
                <a:solidFill>
                  <a:srgbClr val="00004C"/>
                </a:solidFill>
              </a:rPr>
              <a:t>Identify via OS fingerprinting (Nmap -O) → Link to end-of-life CVEs</a:t>
            </a:r>
          </a:p>
          <a:p>
            <a:pPr lvl="1"/>
            <a:r>
              <a:rPr lang="en-US" b="1" dirty="0">
                <a:solidFill>
                  <a:srgbClr val="00004C"/>
                </a:solidFill>
              </a:rPr>
              <a:t>Counterstrike: </a:t>
            </a:r>
            <a:r>
              <a:rPr lang="en-US" dirty="0">
                <a:solidFill>
                  <a:srgbClr val="00004C"/>
                </a:solidFill>
              </a:rPr>
              <a:t>Exploit unpatched flaws to deny access or delete malware payloads</a:t>
            </a:r>
          </a:p>
        </p:txBody>
      </p:sp>
      <p:sp>
        <p:nvSpPr>
          <p:cNvPr id="3" name="Title 2">
            <a:extLst>
              <a:ext uri="{FF2B5EF4-FFF2-40B4-BE49-F238E27FC236}">
                <a16:creationId xmlns:a16="http://schemas.microsoft.com/office/drawing/2014/main" id="{50FE3D5A-01C8-AEC5-D4A3-07FB79097458}"/>
              </a:ext>
            </a:extLst>
          </p:cNvPr>
          <p:cNvSpPr>
            <a:spLocks noGrp="1"/>
          </p:cNvSpPr>
          <p:nvPr>
            <p:ph type="title"/>
          </p:nvPr>
        </p:nvSpPr>
        <p:spPr/>
        <p:txBody>
          <a:bodyPr/>
          <a:lstStyle/>
          <a:p>
            <a:r>
              <a:rPr lang="en-US" dirty="0">
                <a:solidFill>
                  <a:srgbClr val="00004C"/>
                </a:solidFill>
              </a:rPr>
              <a:t>Vulnerability Identification</a:t>
            </a:r>
            <a:endParaRPr lang="en-US" dirty="0"/>
          </a:p>
        </p:txBody>
      </p:sp>
    </p:spTree>
    <p:extLst>
      <p:ext uri="{BB962C8B-B14F-4D97-AF65-F5344CB8AC3E}">
        <p14:creationId xmlns:p14="http://schemas.microsoft.com/office/powerpoint/2010/main" val="38784354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7DEBE6-7215-81BE-1870-D0517AA0A41C}"/>
              </a:ext>
            </a:extLst>
          </p:cNvPr>
          <p:cNvSpPr>
            <a:spLocks noGrp="1"/>
          </p:cNvSpPr>
          <p:nvPr>
            <p:ph type="body" idx="1"/>
          </p:nvPr>
        </p:nvSpPr>
        <p:spPr/>
        <p:txBody>
          <a:bodyPr/>
          <a:lstStyle/>
          <a:p>
            <a:r>
              <a:rPr lang="en-US" b="1" dirty="0">
                <a:solidFill>
                  <a:srgbClr val="00004C"/>
                </a:solidFill>
              </a:rPr>
              <a:t>CVE (Common Vulnerabilities and Exposures)</a:t>
            </a:r>
          </a:p>
          <a:p>
            <a:endParaRPr lang="en-US" b="1" dirty="0">
              <a:solidFill>
                <a:srgbClr val="00004C"/>
              </a:solidFill>
            </a:endParaRPr>
          </a:p>
          <a:p>
            <a:pPr lvl="1"/>
            <a:r>
              <a:rPr lang="en-US" dirty="0">
                <a:solidFill>
                  <a:srgbClr val="00004C"/>
                </a:solidFill>
              </a:rPr>
              <a:t>Centralized list of publicly disclosed vulnerabilities (e.g., CVE-2021-44228 Log4Shell)</a:t>
            </a:r>
          </a:p>
          <a:p>
            <a:pPr lvl="1"/>
            <a:r>
              <a:rPr lang="en-US" dirty="0">
                <a:solidFill>
                  <a:srgbClr val="00004C"/>
                </a:solidFill>
              </a:rPr>
              <a:t>NVD (National Vulnerability Database): NIST-maintained, adds details like descriptions, affected products</a:t>
            </a:r>
          </a:p>
          <a:p>
            <a:pPr marL="795847" lvl="1" indent="0">
              <a:buNone/>
            </a:pPr>
            <a:endParaRPr lang="en-US" dirty="0">
              <a:solidFill>
                <a:srgbClr val="00004C"/>
              </a:solidFill>
            </a:endParaRPr>
          </a:p>
          <a:p>
            <a:r>
              <a:rPr lang="en-US" b="1" dirty="0">
                <a:solidFill>
                  <a:srgbClr val="00004C"/>
                </a:solidFill>
              </a:rPr>
              <a:t>Use in Operations</a:t>
            </a:r>
          </a:p>
          <a:p>
            <a:endParaRPr lang="en-US" b="1" dirty="0">
              <a:solidFill>
                <a:srgbClr val="00004C"/>
              </a:solidFill>
            </a:endParaRPr>
          </a:p>
          <a:p>
            <a:pPr lvl="1"/>
            <a:r>
              <a:rPr lang="en-US" b="1" dirty="0">
                <a:solidFill>
                  <a:srgbClr val="00004C"/>
                </a:solidFill>
              </a:rPr>
              <a:t>Search: </a:t>
            </a:r>
            <a:r>
              <a:rPr lang="en-US" dirty="0">
                <a:solidFill>
                  <a:srgbClr val="00004C"/>
                </a:solidFill>
              </a:rPr>
              <a:t>"Apache 2.4.29 CVE" for targeted queries</a:t>
            </a:r>
          </a:p>
          <a:p>
            <a:pPr lvl="1"/>
            <a:r>
              <a:rPr lang="en-US" b="1" dirty="0">
                <a:solidFill>
                  <a:srgbClr val="00004C"/>
                </a:solidFill>
              </a:rPr>
              <a:t>Ties to recon: </a:t>
            </a:r>
            <a:r>
              <a:rPr lang="en-US" dirty="0">
                <a:solidFill>
                  <a:srgbClr val="00004C"/>
                </a:solidFill>
              </a:rPr>
              <a:t>Match enumerated versions for precise vulnerability intel on adversary infrastructure</a:t>
            </a:r>
          </a:p>
        </p:txBody>
      </p:sp>
      <p:sp>
        <p:nvSpPr>
          <p:cNvPr id="3" name="Title 2">
            <a:extLst>
              <a:ext uri="{FF2B5EF4-FFF2-40B4-BE49-F238E27FC236}">
                <a16:creationId xmlns:a16="http://schemas.microsoft.com/office/drawing/2014/main" id="{50FE3D5A-01C8-AEC5-D4A3-07FB79097458}"/>
              </a:ext>
            </a:extLst>
          </p:cNvPr>
          <p:cNvSpPr>
            <a:spLocks noGrp="1"/>
          </p:cNvSpPr>
          <p:nvPr>
            <p:ph type="title"/>
          </p:nvPr>
        </p:nvSpPr>
        <p:spPr/>
        <p:txBody>
          <a:bodyPr/>
          <a:lstStyle/>
          <a:p>
            <a:r>
              <a:rPr lang="en-US" dirty="0">
                <a:solidFill>
                  <a:srgbClr val="00004C"/>
                </a:solidFill>
              </a:rPr>
              <a:t>Vulnerability Identification</a:t>
            </a:r>
            <a:endParaRPr lang="en-US" dirty="0"/>
          </a:p>
        </p:txBody>
      </p:sp>
    </p:spTree>
    <p:extLst>
      <p:ext uri="{BB962C8B-B14F-4D97-AF65-F5344CB8AC3E}">
        <p14:creationId xmlns:p14="http://schemas.microsoft.com/office/powerpoint/2010/main" val="28046358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7DEBE6-7215-81BE-1870-D0517AA0A41C}"/>
              </a:ext>
            </a:extLst>
          </p:cNvPr>
          <p:cNvSpPr>
            <a:spLocks noGrp="1"/>
          </p:cNvSpPr>
          <p:nvPr>
            <p:ph type="body" idx="1"/>
          </p:nvPr>
        </p:nvSpPr>
        <p:spPr/>
        <p:txBody>
          <a:bodyPr/>
          <a:lstStyle/>
          <a:p>
            <a:r>
              <a:rPr lang="en-US" b="1" dirty="0">
                <a:solidFill>
                  <a:srgbClr val="00004C"/>
                </a:solidFill>
              </a:rPr>
              <a:t>CVSS (Common Vulnerability Scoring System)</a:t>
            </a:r>
          </a:p>
          <a:p>
            <a:endParaRPr lang="en-US" dirty="0"/>
          </a:p>
          <a:p>
            <a:pPr lvl="1"/>
            <a:r>
              <a:rPr lang="en-US" b="1" dirty="0">
                <a:solidFill>
                  <a:srgbClr val="00004C"/>
                </a:solidFill>
              </a:rPr>
              <a:t>Scores 0-10: </a:t>
            </a:r>
            <a:r>
              <a:rPr lang="en-US" dirty="0">
                <a:solidFill>
                  <a:srgbClr val="00004C"/>
                </a:solidFill>
              </a:rPr>
              <a:t>Base (severity), Temporal (exploit maturity), Environmental (context)</a:t>
            </a:r>
          </a:p>
          <a:p>
            <a:pPr lvl="1"/>
            <a:r>
              <a:rPr lang="en-US" b="1" dirty="0">
                <a:solidFill>
                  <a:srgbClr val="00004C"/>
                </a:solidFill>
              </a:rPr>
              <a:t>Interpretation: </a:t>
            </a:r>
            <a:r>
              <a:rPr lang="en-US" dirty="0">
                <a:solidFill>
                  <a:srgbClr val="00004C"/>
                </a:solidFill>
              </a:rPr>
              <a:t>High (7.0-10.0) = Critical (e.g., RCE); prioritize for counterstrikes</a:t>
            </a:r>
          </a:p>
          <a:p>
            <a:pPr lvl="1"/>
            <a:r>
              <a:rPr lang="en-US" b="1" dirty="0">
                <a:solidFill>
                  <a:srgbClr val="00004C"/>
                </a:solidFill>
              </a:rPr>
              <a:t>Example: </a:t>
            </a:r>
            <a:r>
              <a:rPr lang="en-US" dirty="0">
                <a:solidFill>
                  <a:srgbClr val="00004C"/>
                </a:solidFill>
              </a:rPr>
              <a:t>CVSS 9.8 for remote exploit → High suitability for disrupting covert C2 from blue space</a:t>
            </a:r>
          </a:p>
        </p:txBody>
      </p:sp>
      <p:sp>
        <p:nvSpPr>
          <p:cNvPr id="3" name="Title 2">
            <a:extLst>
              <a:ext uri="{FF2B5EF4-FFF2-40B4-BE49-F238E27FC236}">
                <a16:creationId xmlns:a16="http://schemas.microsoft.com/office/drawing/2014/main" id="{50FE3D5A-01C8-AEC5-D4A3-07FB79097458}"/>
              </a:ext>
            </a:extLst>
          </p:cNvPr>
          <p:cNvSpPr>
            <a:spLocks noGrp="1"/>
          </p:cNvSpPr>
          <p:nvPr>
            <p:ph type="title"/>
          </p:nvPr>
        </p:nvSpPr>
        <p:spPr/>
        <p:txBody>
          <a:bodyPr/>
          <a:lstStyle/>
          <a:p>
            <a:r>
              <a:rPr lang="en-US" dirty="0">
                <a:solidFill>
                  <a:srgbClr val="00004C"/>
                </a:solidFill>
              </a:rPr>
              <a:t>Vulnerability Identification</a:t>
            </a:r>
            <a:endParaRPr lang="en-US" dirty="0"/>
          </a:p>
        </p:txBody>
      </p:sp>
    </p:spTree>
    <p:extLst>
      <p:ext uri="{BB962C8B-B14F-4D97-AF65-F5344CB8AC3E}">
        <p14:creationId xmlns:p14="http://schemas.microsoft.com/office/powerpoint/2010/main" val="32479374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7DEBE6-7215-81BE-1870-D0517AA0A41C}"/>
              </a:ext>
            </a:extLst>
          </p:cNvPr>
          <p:cNvSpPr>
            <a:spLocks noGrp="1"/>
          </p:cNvSpPr>
          <p:nvPr>
            <p:ph type="body" idx="1"/>
          </p:nvPr>
        </p:nvSpPr>
        <p:spPr/>
        <p:txBody>
          <a:bodyPr/>
          <a:lstStyle/>
          <a:p>
            <a:r>
              <a:rPr lang="en-US" b="1" dirty="0" err="1">
                <a:solidFill>
                  <a:srgbClr val="00004C"/>
                </a:solidFill>
              </a:rPr>
              <a:t>ExploitDB</a:t>
            </a:r>
            <a:endParaRPr lang="en-US" b="1" dirty="0">
              <a:solidFill>
                <a:srgbClr val="00004C"/>
              </a:solidFill>
            </a:endParaRPr>
          </a:p>
          <a:p>
            <a:pPr lvl="1"/>
            <a:endParaRPr lang="en-US" dirty="0">
              <a:solidFill>
                <a:srgbClr val="00004C"/>
              </a:solidFill>
            </a:endParaRPr>
          </a:p>
          <a:p>
            <a:pPr lvl="1"/>
            <a:r>
              <a:rPr lang="en-US" dirty="0">
                <a:solidFill>
                  <a:srgbClr val="00004C"/>
                </a:solidFill>
              </a:rPr>
              <a:t>Archive of ~50,000 exploits, </a:t>
            </a:r>
            <a:r>
              <a:rPr lang="en-US" dirty="0" err="1">
                <a:solidFill>
                  <a:srgbClr val="00004C"/>
                </a:solidFill>
              </a:rPr>
              <a:t>PoCs</a:t>
            </a:r>
            <a:r>
              <a:rPr lang="en-US" dirty="0">
                <a:solidFill>
                  <a:srgbClr val="00004C"/>
                </a:solidFill>
              </a:rPr>
              <a:t>, and shellcode</a:t>
            </a:r>
          </a:p>
          <a:p>
            <a:pPr lvl="1"/>
            <a:r>
              <a:rPr lang="en-US" dirty="0">
                <a:solidFill>
                  <a:srgbClr val="00004C"/>
                </a:solidFill>
              </a:rPr>
              <a:t>Searchable by CVE, software, version</a:t>
            </a:r>
          </a:p>
          <a:p>
            <a:pPr lvl="1"/>
            <a:r>
              <a:rPr lang="en-US" b="1" dirty="0">
                <a:solidFill>
                  <a:srgbClr val="00004C"/>
                </a:solidFill>
              </a:rPr>
              <a:t>Operational use: </a:t>
            </a:r>
            <a:r>
              <a:rPr lang="en-US" dirty="0">
                <a:solidFill>
                  <a:srgbClr val="00004C"/>
                </a:solidFill>
              </a:rPr>
              <a:t>Find ready-to-adapt code for adversary-targeted effects, more direct than vendor advisories</a:t>
            </a:r>
          </a:p>
          <a:p>
            <a:r>
              <a:rPr lang="en-US" b="1" dirty="0">
                <a:solidFill>
                  <a:srgbClr val="00004C"/>
                </a:solidFill>
              </a:rPr>
              <a:t>Example Query</a:t>
            </a:r>
          </a:p>
          <a:p>
            <a:endParaRPr lang="en-US" dirty="0">
              <a:solidFill>
                <a:srgbClr val="00004C"/>
              </a:solidFill>
            </a:endParaRPr>
          </a:p>
          <a:p>
            <a:pPr lvl="1"/>
            <a:r>
              <a:rPr lang="en-US" b="1" dirty="0">
                <a:solidFill>
                  <a:srgbClr val="00004C"/>
                </a:solidFill>
              </a:rPr>
              <a:t>Search: </a:t>
            </a:r>
            <a:r>
              <a:rPr lang="en-US" dirty="0">
                <a:solidFill>
                  <a:srgbClr val="00004C"/>
                </a:solidFill>
              </a:rPr>
              <a:t>"</a:t>
            </a:r>
            <a:r>
              <a:rPr lang="en-US" dirty="0" err="1">
                <a:solidFill>
                  <a:srgbClr val="00004C"/>
                </a:solidFill>
              </a:rPr>
              <a:t>searchsploit</a:t>
            </a:r>
            <a:r>
              <a:rPr lang="en-US" dirty="0">
                <a:solidFill>
                  <a:srgbClr val="00004C"/>
                </a:solidFill>
              </a:rPr>
              <a:t> </a:t>
            </a:r>
            <a:r>
              <a:rPr lang="en-US" dirty="0" err="1">
                <a:solidFill>
                  <a:srgbClr val="00004C"/>
                </a:solidFill>
              </a:rPr>
              <a:t>apache</a:t>
            </a:r>
            <a:r>
              <a:rPr lang="en-US" dirty="0">
                <a:solidFill>
                  <a:srgbClr val="00004C"/>
                </a:solidFill>
              </a:rPr>
              <a:t> 2.4.29" → Returns EDB-ID 47690 (</a:t>
            </a:r>
            <a:r>
              <a:rPr lang="en-US" dirty="0" err="1">
                <a:solidFill>
                  <a:srgbClr val="00004C"/>
                </a:solidFill>
              </a:rPr>
              <a:t>mod_ssl</a:t>
            </a:r>
            <a:r>
              <a:rPr lang="en-US" dirty="0">
                <a:solidFill>
                  <a:srgbClr val="00004C"/>
                </a:solidFill>
              </a:rPr>
              <a:t> buffer overflow, RCE potential)</a:t>
            </a:r>
          </a:p>
          <a:p>
            <a:pPr lvl="1"/>
            <a:r>
              <a:rPr lang="en-US" b="1" dirty="0">
                <a:solidFill>
                  <a:srgbClr val="00004C"/>
                </a:solidFill>
              </a:rPr>
              <a:t>Result: </a:t>
            </a:r>
            <a:r>
              <a:rPr lang="en-US" dirty="0">
                <a:solidFill>
                  <a:srgbClr val="00004C"/>
                </a:solidFill>
              </a:rPr>
              <a:t>Python exploit for remote code execution on vulnerable Apache servers, adaptable for disrupting adversary web-based C2 infrastructure</a:t>
            </a:r>
          </a:p>
        </p:txBody>
      </p:sp>
      <p:sp>
        <p:nvSpPr>
          <p:cNvPr id="3" name="Title 2">
            <a:extLst>
              <a:ext uri="{FF2B5EF4-FFF2-40B4-BE49-F238E27FC236}">
                <a16:creationId xmlns:a16="http://schemas.microsoft.com/office/drawing/2014/main" id="{50FE3D5A-01C8-AEC5-D4A3-07FB79097458}"/>
              </a:ext>
            </a:extLst>
          </p:cNvPr>
          <p:cNvSpPr>
            <a:spLocks noGrp="1"/>
          </p:cNvSpPr>
          <p:nvPr>
            <p:ph type="title"/>
          </p:nvPr>
        </p:nvSpPr>
        <p:spPr/>
        <p:txBody>
          <a:bodyPr/>
          <a:lstStyle/>
          <a:p>
            <a:r>
              <a:rPr lang="en-US" dirty="0">
                <a:solidFill>
                  <a:srgbClr val="00004C"/>
                </a:solidFill>
              </a:rPr>
              <a:t>Vulnerability Identification</a:t>
            </a:r>
            <a:endParaRPr lang="en-US" dirty="0"/>
          </a:p>
        </p:txBody>
      </p:sp>
    </p:spTree>
    <p:extLst>
      <p:ext uri="{BB962C8B-B14F-4D97-AF65-F5344CB8AC3E}">
        <p14:creationId xmlns:p14="http://schemas.microsoft.com/office/powerpoint/2010/main" val="38509599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7DEBE6-7215-81BE-1870-D0517AA0A41C}"/>
              </a:ext>
            </a:extLst>
          </p:cNvPr>
          <p:cNvSpPr>
            <a:spLocks noGrp="1"/>
          </p:cNvSpPr>
          <p:nvPr>
            <p:ph type="body" idx="1"/>
          </p:nvPr>
        </p:nvSpPr>
        <p:spPr/>
        <p:txBody>
          <a:bodyPr/>
          <a:lstStyle/>
          <a:p>
            <a:r>
              <a:rPr lang="en-US" b="1" dirty="0" err="1">
                <a:solidFill>
                  <a:srgbClr val="00004C"/>
                </a:solidFill>
              </a:rPr>
              <a:t>Searchsploit</a:t>
            </a:r>
            <a:r>
              <a:rPr lang="en-US" b="1" dirty="0">
                <a:solidFill>
                  <a:srgbClr val="00004C"/>
                </a:solidFill>
              </a:rPr>
              <a:t> Overview</a:t>
            </a:r>
          </a:p>
          <a:p>
            <a:endParaRPr lang="en-US" b="1" dirty="0">
              <a:solidFill>
                <a:srgbClr val="00004C"/>
              </a:solidFill>
            </a:endParaRPr>
          </a:p>
          <a:p>
            <a:pPr lvl="1"/>
            <a:r>
              <a:rPr lang="en-US" dirty="0">
                <a:solidFill>
                  <a:srgbClr val="00004C"/>
                </a:solidFill>
              </a:rPr>
              <a:t>Offline command-line tool for local </a:t>
            </a:r>
            <a:r>
              <a:rPr lang="en-US" dirty="0" err="1">
                <a:solidFill>
                  <a:srgbClr val="00004C"/>
                </a:solidFill>
              </a:rPr>
              <a:t>ExploitDB</a:t>
            </a:r>
            <a:r>
              <a:rPr lang="en-US" dirty="0">
                <a:solidFill>
                  <a:srgbClr val="00004C"/>
                </a:solidFill>
              </a:rPr>
              <a:t> searches (part of Kali Linux)</a:t>
            </a:r>
          </a:p>
          <a:p>
            <a:pPr marL="795847" lvl="1" indent="0">
              <a:buNone/>
            </a:pPr>
            <a:endParaRPr lang="en-US" dirty="0">
              <a:solidFill>
                <a:srgbClr val="00004C"/>
              </a:solidFill>
            </a:endParaRPr>
          </a:p>
          <a:p>
            <a:pPr lvl="1"/>
            <a:r>
              <a:rPr lang="en-US" b="1" dirty="0">
                <a:solidFill>
                  <a:srgbClr val="00004C"/>
                </a:solidFill>
              </a:rPr>
              <a:t>Syntax: </a:t>
            </a:r>
            <a:r>
              <a:rPr lang="en-US" dirty="0" err="1">
                <a:solidFill>
                  <a:srgbClr val="00004C"/>
                </a:solidFill>
              </a:rPr>
              <a:t>searchsploit</a:t>
            </a:r>
            <a:r>
              <a:rPr lang="en-US" dirty="0">
                <a:solidFill>
                  <a:srgbClr val="00004C"/>
                </a:solidFill>
              </a:rPr>
              <a:t> [keyword] [version]</a:t>
            </a:r>
          </a:p>
          <a:p>
            <a:pPr marL="795847" lvl="1" indent="0">
              <a:buNone/>
            </a:pPr>
            <a:endParaRPr lang="en-US" dirty="0">
              <a:solidFill>
                <a:srgbClr val="00004C"/>
              </a:solidFill>
            </a:endParaRPr>
          </a:p>
          <a:p>
            <a:pPr lvl="1"/>
            <a:r>
              <a:rPr lang="en-US" b="1" dirty="0">
                <a:solidFill>
                  <a:srgbClr val="00004C"/>
                </a:solidFill>
              </a:rPr>
              <a:t>Advantage: </a:t>
            </a:r>
            <a:r>
              <a:rPr lang="en-US" dirty="0">
                <a:solidFill>
                  <a:srgbClr val="00004C"/>
                </a:solidFill>
              </a:rPr>
              <a:t>No internet needed during operations; quick lookup from blue space for exploit selection</a:t>
            </a:r>
          </a:p>
        </p:txBody>
      </p:sp>
      <p:sp>
        <p:nvSpPr>
          <p:cNvPr id="3" name="Title 2">
            <a:extLst>
              <a:ext uri="{FF2B5EF4-FFF2-40B4-BE49-F238E27FC236}">
                <a16:creationId xmlns:a16="http://schemas.microsoft.com/office/drawing/2014/main" id="{50FE3D5A-01C8-AEC5-D4A3-07FB79097458}"/>
              </a:ext>
            </a:extLst>
          </p:cNvPr>
          <p:cNvSpPr>
            <a:spLocks noGrp="1"/>
          </p:cNvSpPr>
          <p:nvPr>
            <p:ph type="title"/>
          </p:nvPr>
        </p:nvSpPr>
        <p:spPr/>
        <p:txBody>
          <a:bodyPr/>
          <a:lstStyle/>
          <a:p>
            <a:r>
              <a:rPr lang="en-US" dirty="0">
                <a:solidFill>
                  <a:srgbClr val="00004C"/>
                </a:solidFill>
              </a:rPr>
              <a:t>Vulnerability Identification</a:t>
            </a:r>
            <a:endParaRPr lang="en-US" dirty="0"/>
          </a:p>
        </p:txBody>
      </p:sp>
    </p:spTree>
    <p:extLst>
      <p:ext uri="{BB962C8B-B14F-4D97-AF65-F5344CB8AC3E}">
        <p14:creationId xmlns:p14="http://schemas.microsoft.com/office/powerpoint/2010/main" val="34985323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7DEBE6-7215-81BE-1870-D0517AA0A41C}"/>
              </a:ext>
            </a:extLst>
          </p:cNvPr>
          <p:cNvSpPr>
            <a:spLocks noGrp="1"/>
          </p:cNvSpPr>
          <p:nvPr>
            <p:ph type="body" idx="1"/>
          </p:nvPr>
        </p:nvSpPr>
        <p:spPr/>
        <p:txBody>
          <a:bodyPr/>
          <a:lstStyle/>
          <a:p>
            <a:r>
              <a:rPr lang="en-US" b="1" dirty="0"/>
              <a:t>Vendor Resources</a:t>
            </a:r>
          </a:p>
          <a:p>
            <a:endParaRPr lang="en-US" dirty="0">
              <a:solidFill>
                <a:srgbClr val="00004C"/>
              </a:solidFill>
            </a:endParaRPr>
          </a:p>
          <a:p>
            <a:pPr lvl="1"/>
            <a:r>
              <a:rPr lang="en-US" dirty="0">
                <a:solidFill>
                  <a:srgbClr val="00004C"/>
                </a:solidFill>
              </a:rPr>
              <a:t>Official patches and details (e.g., Microsoft Security Bulletin for SMB vulns)</a:t>
            </a:r>
          </a:p>
          <a:p>
            <a:pPr marL="795847" lvl="1" indent="0">
              <a:buNone/>
            </a:pPr>
            <a:endParaRPr lang="en-US" dirty="0">
              <a:solidFill>
                <a:srgbClr val="00004C"/>
              </a:solidFill>
            </a:endParaRPr>
          </a:p>
          <a:p>
            <a:pPr lvl="1"/>
            <a:r>
              <a:rPr lang="en-US" dirty="0">
                <a:solidFill>
                  <a:srgbClr val="00004C"/>
                </a:solidFill>
              </a:rPr>
              <a:t>Sometimes include PoC code or workarounds</a:t>
            </a:r>
          </a:p>
          <a:p>
            <a:pPr marL="795847" lvl="1" indent="0">
              <a:buNone/>
            </a:pPr>
            <a:endParaRPr lang="en-US" dirty="0">
              <a:solidFill>
                <a:srgbClr val="00004C"/>
              </a:solidFill>
            </a:endParaRPr>
          </a:p>
          <a:p>
            <a:pPr lvl="1"/>
            <a:r>
              <a:rPr lang="en-US" b="1" dirty="0">
                <a:solidFill>
                  <a:srgbClr val="00004C"/>
                </a:solidFill>
              </a:rPr>
              <a:t>In counteroperations: </a:t>
            </a:r>
            <a:r>
              <a:rPr lang="en-US" dirty="0">
                <a:solidFill>
                  <a:srgbClr val="00004C"/>
                </a:solidFill>
              </a:rPr>
              <a:t>Use to confirm exploit reliability before deploying against adversary systems</a:t>
            </a:r>
          </a:p>
        </p:txBody>
      </p:sp>
      <p:sp>
        <p:nvSpPr>
          <p:cNvPr id="3" name="Title 2">
            <a:extLst>
              <a:ext uri="{FF2B5EF4-FFF2-40B4-BE49-F238E27FC236}">
                <a16:creationId xmlns:a16="http://schemas.microsoft.com/office/drawing/2014/main" id="{50FE3D5A-01C8-AEC5-D4A3-07FB79097458}"/>
              </a:ext>
            </a:extLst>
          </p:cNvPr>
          <p:cNvSpPr>
            <a:spLocks noGrp="1"/>
          </p:cNvSpPr>
          <p:nvPr>
            <p:ph type="title"/>
          </p:nvPr>
        </p:nvSpPr>
        <p:spPr/>
        <p:txBody>
          <a:bodyPr/>
          <a:lstStyle/>
          <a:p>
            <a:r>
              <a:rPr lang="en-US" dirty="0">
                <a:solidFill>
                  <a:srgbClr val="00004C"/>
                </a:solidFill>
              </a:rPr>
              <a:t>Vulnerability Identification</a:t>
            </a:r>
            <a:endParaRPr lang="en-US" dirty="0"/>
          </a:p>
        </p:txBody>
      </p:sp>
    </p:spTree>
    <p:extLst>
      <p:ext uri="{BB962C8B-B14F-4D97-AF65-F5344CB8AC3E}">
        <p14:creationId xmlns:p14="http://schemas.microsoft.com/office/powerpoint/2010/main" val="2931535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7DEBE6-7215-81BE-1870-D0517AA0A41C}"/>
              </a:ext>
            </a:extLst>
          </p:cNvPr>
          <p:cNvSpPr>
            <a:spLocks noGrp="1"/>
          </p:cNvSpPr>
          <p:nvPr>
            <p:ph type="body" idx="1"/>
          </p:nvPr>
        </p:nvSpPr>
        <p:spPr/>
        <p:txBody>
          <a:bodyPr/>
          <a:lstStyle/>
          <a:p>
            <a:r>
              <a:rPr lang="en-US" b="1" dirty="0">
                <a:solidFill>
                  <a:srgbClr val="00004C"/>
                </a:solidFill>
              </a:rPr>
              <a:t>Step-by-Step Process</a:t>
            </a:r>
          </a:p>
          <a:p>
            <a:endParaRPr lang="en-US" dirty="0">
              <a:solidFill>
                <a:srgbClr val="00004C"/>
              </a:solidFill>
            </a:endParaRPr>
          </a:p>
          <a:p>
            <a:pPr marL="1253047" lvl="1" indent="-457200">
              <a:buFont typeface="+mj-lt"/>
              <a:buAutoNum type="arabicPeriod"/>
            </a:pPr>
            <a:r>
              <a:rPr lang="en-US" dirty="0">
                <a:solidFill>
                  <a:srgbClr val="00004C"/>
                </a:solidFill>
              </a:rPr>
              <a:t>Identify service/version from enumeration (e.g., SSH 7.4)</a:t>
            </a:r>
          </a:p>
          <a:p>
            <a:pPr marL="1253047" lvl="1" indent="-457200">
              <a:buFont typeface="+mj-lt"/>
              <a:buAutoNum type="arabicPeriod"/>
            </a:pPr>
            <a:r>
              <a:rPr lang="en-US" dirty="0">
                <a:solidFill>
                  <a:srgbClr val="00004C"/>
                </a:solidFill>
              </a:rPr>
              <a:t>Search CVE/NVD for matches</a:t>
            </a:r>
          </a:p>
          <a:p>
            <a:pPr marL="1253047" lvl="1" indent="-457200">
              <a:buFont typeface="+mj-lt"/>
              <a:buAutoNum type="arabicPeriod"/>
            </a:pPr>
            <a:r>
              <a:rPr lang="en-US" dirty="0">
                <a:solidFill>
                  <a:srgbClr val="00004C"/>
                </a:solidFill>
              </a:rPr>
              <a:t>Evaluate exploitability (CVSS, requirements)</a:t>
            </a:r>
          </a:p>
          <a:p>
            <a:pPr marL="1253047" lvl="1" indent="-457200">
              <a:buFont typeface="+mj-lt"/>
              <a:buAutoNum type="arabicPeriod"/>
            </a:pPr>
            <a:r>
              <a:rPr lang="en-US" dirty="0">
                <a:solidFill>
                  <a:srgbClr val="00004C"/>
                </a:solidFill>
              </a:rPr>
              <a:t>Assess operational suitability (stealth, impact on adversary C2)</a:t>
            </a:r>
          </a:p>
          <a:p>
            <a:pPr marL="795847" lvl="1" indent="0">
              <a:buNone/>
            </a:pPr>
            <a:endParaRPr lang="en-US" dirty="0">
              <a:solidFill>
                <a:srgbClr val="00004C"/>
              </a:solidFill>
            </a:endParaRPr>
          </a:p>
          <a:p>
            <a:r>
              <a:rPr lang="en-US" b="1" dirty="0">
                <a:solidFill>
                  <a:srgbClr val="00004C"/>
                </a:solidFill>
              </a:rPr>
              <a:t>Blue Space Integration</a:t>
            </a:r>
          </a:p>
          <a:p>
            <a:endParaRPr lang="en-US" dirty="0">
              <a:solidFill>
                <a:srgbClr val="00004C"/>
              </a:solidFill>
            </a:endParaRPr>
          </a:p>
          <a:p>
            <a:pPr lvl="1"/>
            <a:r>
              <a:rPr lang="en-US" dirty="0">
                <a:solidFill>
                  <a:srgbClr val="00004C"/>
                </a:solidFill>
              </a:rPr>
              <a:t>Conduct research from secure vantage, validating against simulated targets to ensure effects without compromise</a:t>
            </a:r>
          </a:p>
        </p:txBody>
      </p:sp>
      <p:sp>
        <p:nvSpPr>
          <p:cNvPr id="3" name="Title 2">
            <a:extLst>
              <a:ext uri="{FF2B5EF4-FFF2-40B4-BE49-F238E27FC236}">
                <a16:creationId xmlns:a16="http://schemas.microsoft.com/office/drawing/2014/main" id="{50FE3D5A-01C8-AEC5-D4A3-07FB79097458}"/>
              </a:ext>
            </a:extLst>
          </p:cNvPr>
          <p:cNvSpPr>
            <a:spLocks noGrp="1"/>
          </p:cNvSpPr>
          <p:nvPr>
            <p:ph type="title"/>
          </p:nvPr>
        </p:nvSpPr>
        <p:spPr/>
        <p:txBody>
          <a:bodyPr/>
          <a:lstStyle/>
          <a:p>
            <a:r>
              <a:rPr lang="en-US" dirty="0">
                <a:solidFill>
                  <a:srgbClr val="00004C"/>
                </a:solidFill>
              </a:rPr>
              <a:t>Vulnerability Identification</a:t>
            </a:r>
            <a:endParaRPr lang="en-US" dirty="0"/>
          </a:p>
        </p:txBody>
      </p:sp>
    </p:spTree>
    <p:extLst>
      <p:ext uri="{BB962C8B-B14F-4D97-AF65-F5344CB8AC3E}">
        <p14:creationId xmlns:p14="http://schemas.microsoft.com/office/powerpoint/2010/main" val="8828630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7DEBE6-7215-81BE-1870-D0517AA0A41C}"/>
              </a:ext>
            </a:extLst>
          </p:cNvPr>
          <p:cNvSpPr>
            <a:spLocks noGrp="1"/>
          </p:cNvSpPr>
          <p:nvPr>
            <p:ph type="body" idx="1"/>
          </p:nvPr>
        </p:nvSpPr>
        <p:spPr/>
        <p:txBody>
          <a:bodyPr/>
          <a:lstStyle/>
          <a:p>
            <a:r>
              <a:rPr lang="en-US" b="1" dirty="0">
                <a:solidFill>
                  <a:srgbClr val="00004C"/>
                </a:solidFill>
              </a:rPr>
              <a:t>Evaluate Exploitability and Impact</a:t>
            </a:r>
          </a:p>
          <a:p>
            <a:pPr marL="169329" indent="0">
              <a:buNone/>
            </a:pPr>
            <a:endParaRPr lang="en-US" b="1" dirty="0">
              <a:solidFill>
                <a:srgbClr val="00004C"/>
              </a:solidFill>
            </a:endParaRPr>
          </a:p>
          <a:p>
            <a:pPr lvl="1"/>
            <a:r>
              <a:rPr lang="en-US" b="1" dirty="0">
                <a:solidFill>
                  <a:srgbClr val="00004C"/>
                </a:solidFill>
              </a:rPr>
              <a:t>Assessment Criteria</a:t>
            </a:r>
          </a:p>
          <a:p>
            <a:pPr lvl="2"/>
            <a:r>
              <a:rPr lang="en-US" b="1" dirty="0">
                <a:solidFill>
                  <a:srgbClr val="00004C"/>
                </a:solidFill>
              </a:rPr>
              <a:t>Exploitability: </a:t>
            </a:r>
            <a:r>
              <a:rPr lang="en-US" dirty="0">
                <a:solidFill>
                  <a:srgbClr val="00004C"/>
                </a:solidFill>
              </a:rPr>
              <a:t>Does it require auth? Local or remote?</a:t>
            </a:r>
          </a:p>
          <a:p>
            <a:pPr lvl="2"/>
            <a:r>
              <a:rPr lang="en-US" b="1" dirty="0">
                <a:solidFill>
                  <a:srgbClr val="00004C"/>
                </a:solidFill>
              </a:rPr>
              <a:t>Impact: </a:t>
            </a:r>
            <a:r>
              <a:rPr lang="en-US" dirty="0">
                <a:solidFill>
                  <a:srgbClr val="00004C"/>
                </a:solidFill>
              </a:rPr>
              <a:t>Confidentiality/Integrity/Availability disruption (e.g., DoS on botnet controller)</a:t>
            </a:r>
          </a:p>
          <a:p>
            <a:pPr lvl="2"/>
            <a:r>
              <a:rPr lang="en-US" b="1" dirty="0">
                <a:solidFill>
                  <a:srgbClr val="00004C"/>
                </a:solidFill>
              </a:rPr>
              <a:t>For counterstrikes: </a:t>
            </a:r>
            <a:r>
              <a:rPr lang="en-US" dirty="0">
                <a:solidFill>
                  <a:srgbClr val="00004C"/>
                </a:solidFill>
              </a:rPr>
              <a:t>Favor remote, unauthenticated exploits for initial access to adversary infrastructure</a:t>
            </a:r>
          </a:p>
        </p:txBody>
      </p:sp>
      <p:sp>
        <p:nvSpPr>
          <p:cNvPr id="3" name="Title 2">
            <a:extLst>
              <a:ext uri="{FF2B5EF4-FFF2-40B4-BE49-F238E27FC236}">
                <a16:creationId xmlns:a16="http://schemas.microsoft.com/office/drawing/2014/main" id="{50FE3D5A-01C8-AEC5-D4A3-07FB79097458}"/>
              </a:ext>
            </a:extLst>
          </p:cNvPr>
          <p:cNvSpPr>
            <a:spLocks noGrp="1"/>
          </p:cNvSpPr>
          <p:nvPr>
            <p:ph type="title"/>
          </p:nvPr>
        </p:nvSpPr>
        <p:spPr/>
        <p:txBody>
          <a:bodyPr/>
          <a:lstStyle/>
          <a:p>
            <a:r>
              <a:rPr lang="en-US" dirty="0">
                <a:solidFill>
                  <a:srgbClr val="00004C"/>
                </a:solidFill>
              </a:rPr>
              <a:t>Vulnerability Identification</a:t>
            </a:r>
            <a:endParaRPr lang="en-US" dirty="0"/>
          </a:p>
        </p:txBody>
      </p:sp>
    </p:spTree>
    <p:extLst>
      <p:ext uri="{BB962C8B-B14F-4D97-AF65-F5344CB8AC3E}">
        <p14:creationId xmlns:p14="http://schemas.microsoft.com/office/powerpoint/2010/main" val="6577472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7DEBE6-7215-81BE-1870-D0517AA0A41C}"/>
              </a:ext>
            </a:extLst>
          </p:cNvPr>
          <p:cNvSpPr>
            <a:spLocks noGrp="1"/>
          </p:cNvSpPr>
          <p:nvPr>
            <p:ph type="body" idx="1"/>
          </p:nvPr>
        </p:nvSpPr>
        <p:spPr/>
        <p:txBody>
          <a:bodyPr/>
          <a:lstStyle/>
          <a:p>
            <a:r>
              <a:rPr lang="en-US" b="1" dirty="0">
                <a:solidFill>
                  <a:srgbClr val="00004C"/>
                </a:solidFill>
              </a:rPr>
              <a:t>Live Demo: Vulnerability Research</a:t>
            </a:r>
          </a:p>
          <a:p>
            <a:pPr lvl="1"/>
            <a:endParaRPr lang="en-US" dirty="0">
              <a:solidFill>
                <a:srgbClr val="00004C"/>
              </a:solidFill>
            </a:endParaRPr>
          </a:p>
          <a:p>
            <a:pPr lvl="1"/>
            <a:r>
              <a:rPr lang="en-US" b="1" dirty="0">
                <a:solidFill>
                  <a:srgbClr val="00004C"/>
                </a:solidFill>
              </a:rPr>
              <a:t>Input: </a:t>
            </a:r>
            <a:r>
              <a:rPr lang="en-US" dirty="0">
                <a:solidFill>
                  <a:srgbClr val="00004C"/>
                </a:solidFill>
              </a:rPr>
              <a:t>Service from L2.3 (e.g., nginx 1.18.0 on port 80)</a:t>
            </a:r>
          </a:p>
          <a:p>
            <a:pPr lvl="1"/>
            <a:r>
              <a:rPr lang="en-US" b="1" dirty="0">
                <a:solidFill>
                  <a:srgbClr val="00004C"/>
                </a:solidFill>
              </a:rPr>
              <a:t>Process: </a:t>
            </a:r>
            <a:r>
              <a:rPr lang="en-US" dirty="0">
                <a:solidFill>
                  <a:srgbClr val="00004C"/>
                </a:solidFill>
              </a:rPr>
              <a:t>Search CVE for nginx 1.18.0 → Find CVE-2019-9516 (DoS)</a:t>
            </a:r>
          </a:p>
          <a:p>
            <a:pPr lvl="1"/>
            <a:r>
              <a:rPr lang="en-US" b="1" dirty="0">
                <a:solidFill>
                  <a:srgbClr val="00004C"/>
                </a:solidFill>
              </a:rPr>
              <a:t>Output: </a:t>
            </a:r>
            <a:r>
              <a:rPr lang="en-US" dirty="0">
                <a:solidFill>
                  <a:srgbClr val="00004C"/>
                </a:solidFill>
              </a:rPr>
              <a:t>CVSS score, potential exploits</a:t>
            </a:r>
          </a:p>
          <a:p>
            <a:pPr lvl="1"/>
            <a:r>
              <a:rPr lang="en-US" b="1" dirty="0">
                <a:solidFill>
                  <a:srgbClr val="00004C"/>
                </a:solidFill>
              </a:rPr>
              <a:t>Tie-in: </a:t>
            </a:r>
            <a:r>
              <a:rPr lang="en-US" dirty="0">
                <a:solidFill>
                  <a:srgbClr val="00004C"/>
                </a:solidFill>
              </a:rPr>
              <a:t>How this enables T1190 for counterstrike</a:t>
            </a:r>
          </a:p>
        </p:txBody>
      </p:sp>
      <p:sp>
        <p:nvSpPr>
          <p:cNvPr id="3" name="Title 2">
            <a:extLst>
              <a:ext uri="{FF2B5EF4-FFF2-40B4-BE49-F238E27FC236}">
                <a16:creationId xmlns:a16="http://schemas.microsoft.com/office/drawing/2014/main" id="{50FE3D5A-01C8-AEC5-D4A3-07FB79097458}"/>
              </a:ext>
            </a:extLst>
          </p:cNvPr>
          <p:cNvSpPr>
            <a:spLocks noGrp="1"/>
          </p:cNvSpPr>
          <p:nvPr>
            <p:ph type="title"/>
          </p:nvPr>
        </p:nvSpPr>
        <p:spPr/>
        <p:txBody>
          <a:bodyPr/>
          <a:lstStyle/>
          <a:p>
            <a:r>
              <a:rPr lang="en-US" dirty="0">
                <a:solidFill>
                  <a:srgbClr val="00004C"/>
                </a:solidFill>
              </a:rPr>
              <a:t>Vulnerability Identification</a:t>
            </a:r>
            <a:endParaRPr lang="en-US" dirty="0"/>
          </a:p>
        </p:txBody>
      </p:sp>
    </p:spTree>
    <p:extLst>
      <p:ext uri="{BB962C8B-B14F-4D97-AF65-F5344CB8AC3E}">
        <p14:creationId xmlns:p14="http://schemas.microsoft.com/office/powerpoint/2010/main" val="19580951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3B8ED-78AA-32D6-121A-05250896E051}"/>
              </a:ext>
            </a:extLst>
          </p:cNvPr>
          <p:cNvSpPr>
            <a:spLocks noGrp="1"/>
          </p:cNvSpPr>
          <p:nvPr>
            <p:ph type="title"/>
          </p:nvPr>
        </p:nvSpPr>
        <p:spPr/>
        <p:txBody>
          <a:bodyPr/>
          <a:lstStyle/>
          <a:p>
            <a:r>
              <a:rPr lang="en-US" dirty="0">
                <a:solidFill>
                  <a:srgbClr val="00004C"/>
                </a:solidFill>
              </a:rPr>
              <a:t>Open-Source Exploit Ecosystem</a:t>
            </a:r>
          </a:p>
        </p:txBody>
      </p:sp>
    </p:spTree>
    <p:extLst>
      <p:ext uri="{BB962C8B-B14F-4D97-AF65-F5344CB8AC3E}">
        <p14:creationId xmlns:p14="http://schemas.microsoft.com/office/powerpoint/2010/main" val="35075554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4E1F2F-1883-2BB8-39DF-AEF9FA7F5EFB}"/>
              </a:ext>
            </a:extLst>
          </p:cNvPr>
          <p:cNvSpPr>
            <a:spLocks noGrp="1"/>
          </p:cNvSpPr>
          <p:nvPr>
            <p:ph type="body" idx="1"/>
          </p:nvPr>
        </p:nvSpPr>
        <p:spPr/>
        <p:txBody>
          <a:bodyPr/>
          <a:lstStyle/>
          <a:p>
            <a:r>
              <a:rPr lang="en-US" b="1" dirty="0">
                <a:solidFill>
                  <a:srgbClr val="00004C"/>
                </a:solidFill>
              </a:rPr>
              <a:t>Primary Source: </a:t>
            </a:r>
            <a:r>
              <a:rPr lang="en-US" b="1" dirty="0" err="1">
                <a:solidFill>
                  <a:srgbClr val="00004C"/>
                </a:solidFill>
              </a:rPr>
              <a:t>ExploitDB</a:t>
            </a:r>
            <a:endParaRPr lang="en-US" b="1" dirty="0">
              <a:solidFill>
                <a:srgbClr val="00004C"/>
              </a:solidFill>
            </a:endParaRPr>
          </a:p>
          <a:p>
            <a:endParaRPr lang="en-US" dirty="0"/>
          </a:p>
          <a:p>
            <a:pPr lvl="1"/>
            <a:r>
              <a:rPr lang="en-US" dirty="0">
                <a:solidFill>
                  <a:srgbClr val="00004C"/>
                </a:solidFill>
              </a:rPr>
              <a:t>Comprehensive database of public exploits</a:t>
            </a:r>
          </a:p>
          <a:p>
            <a:pPr lvl="1"/>
            <a:r>
              <a:rPr lang="en-US" dirty="0">
                <a:solidFill>
                  <a:srgbClr val="00004C"/>
                </a:solidFill>
              </a:rPr>
              <a:t>Search via web or </a:t>
            </a:r>
            <a:r>
              <a:rPr lang="en-US" dirty="0" err="1">
                <a:solidFill>
                  <a:srgbClr val="00004C"/>
                </a:solidFill>
              </a:rPr>
              <a:t>Searchsploit</a:t>
            </a:r>
            <a:r>
              <a:rPr lang="en-US" dirty="0">
                <a:solidFill>
                  <a:srgbClr val="00004C"/>
                </a:solidFill>
              </a:rPr>
              <a:t> CLI</a:t>
            </a:r>
          </a:p>
          <a:p>
            <a:pPr lvl="1"/>
            <a:r>
              <a:rPr lang="en-US" b="1" dirty="0">
                <a:solidFill>
                  <a:srgbClr val="00004C"/>
                </a:solidFill>
              </a:rPr>
              <a:t>Example: </a:t>
            </a:r>
            <a:r>
              <a:rPr lang="en-US" dirty="0" err="1">
                <a:solidFill>
                  <a:srgbClr val="00004C"/>
                </a:solidFill>
              </a:rPr>
              <a:t>searchsploit</a:t>
            </a:r>
            <a:r>
              <a:rPr lang="en-US" dirty="0">
                <a:solidFill>
                  <a:srgbClr val="00004C"/>
                </a:solidFill>
              </a:rPr>
              <a:t> </a:t>
            </a:r>
            <a:r>
              <a:rPr lang="en-US" dirty="0" err="1">
                <a:solidFill>
                  <a:srgbClr val="00004C"/>
                </a:solidFill>
              </a:rPr>
              <a:t>apache</a:t>
            </a:r>
            <a:r>
              <a:rPr lang="en-US" dirty="0">
                <a:solidFill>
                  <a:srgbClr val="00004C"/>
                </a:solidFill>
              </a:rPr>
              <a:t> 2.4.29 → Lists relevant exploits for enumerated versions on adversary web servers</a:t>
            </a:r>
          </a:p>
        </p:txBody>
      </p:sp>
      <p:sp>
        <p:nvSpPr>
          <p:cNvPr id="3" name="Title 2">
            <a:extLst>
              <a:ext uri="{FF2B5EF4-FFF2-40B4-BE49-F238E27FC236}">
                <a16:creationId xmlns:a16="http://schemas.microsoft.com/office/drawing/2014/main" id="{C64C6455-58C0-BC47-4C29-087E40D3E3CD}"/>
              </a:ext>
            </a:extLst>
          </p:cNvPr>
          <p:cNvSpPr>
            <a:spLocks noGrp="1"/>
          </p:cNvSpPr>
          <p:nvPr>
            <p:ph type="title"/>
          </p:nvPr>
        </p:nvSpPr>
        <p:spPr/>
        <p:txBody>
          <a:bodyPr/>
          <a:lstStyle/>
          <a:p>
            <a:r>
              <a:rPr lang="en-US" dirty="0">
                <a:solidFill>
                  <a:srgbClr val="00004C"/>
                </a:solidFill>
              </a:rPr>
              <a:t>Open-Source Exploit Ecosystem</a:t>
            </a:r>
          </a:p>
        </p:txBody>
      </p:sp>
    </p:spTree>
    <p:extLst>
      <p:ext uri="{BB962C8B-B14F-4D97-AF65-F5344CB8AC3E}">
        <p14:creationId xmlns:p14="http://schemas.microsoft.com/office/powerpoint/2010/main" val="17589744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4E1F2F-1883-2BB8-39DF-AEF9FA7F5EFB}"/>
              </a:ext>
            </a:extLst>
          </p:cNvPr>
          <p:cNvSpPr>
            <a:spLocks noGrp="1"/>
          </p:cNvSpPr>
          <p:nvPr>
            <p:ph type="body" idx="1"/>
          </p:nvPr>
        </p:nvSpPr>
        <p:spPr/>
        <p:txBody>
          <a:bodyPr/>
          <a:lstStyle/>
          <a:p>
            <a:r>
              <a:rPr lang="en-US" b="1" dirty="0">
                <a:solidFill>
                  <a:srgbClr val="00004C"/>
                </a:solidFill>
              </a:rPr>
              <a:t>GitHub as Exploit Repository</a:t>
            </a:r>
          </a:p>
          <a:p>
            <a:endParaRPr lang="en-US" dirty="0"/>
          </a:p>
          <a:p>
            <a:pPr lvl="1"/>
            <a:r>
              <a:rPr lang="en-US" dirty="0">
                <a:solidFill>
                  <a:srgbClr val="00004C"/>
                </a:solidFill>
              </a:rPr>
              <a:t>Repos like "exploit-</a:t>
            </a:r>
            <a:r>
              <a:rPr lang="en-US" dirty="0" err="1">
                <a:solidFill>
                  <a:srgbClr val="00004C"/>
                </a:solidFill>
              </a:rPr>
              <a:t>db</a:t>
            </a:r>
            <a:r>
              <a:rPr lang="en-US" dirty="0">
                <a:solidFill>
                  <a:srgbClr val="00004C"/>
                </a:solidFill>
              </a:rPr>
              <a:t>" mirrors or user-shared </a:t>
            </a:r>
            <a:r>
              <a:rPr lang="en-US" dirty="0" err="1">
                <a:solidFill>
                  <a:srgbClr val="00004C"/>
                </a:solidFill>
              </a:rPr>
              <a:t>PoCs</a:t>
            </a:r>
            <a:endParaRPr lang="en-US" dirty="0">
              <a:solidFill>
                <a:srgbClr val="00004C"/>
              </a:solidFill>
            </a:endParaRPr>
          </a:p>
          <a:p>
            <a:pPr marL="795847" lvl="1" indent="0">
              <a:buNone/>
            </a:pPr>
            <a:endParaRPr lang="en-US" dirty="0">
              <a:solidFill>
                <a:srgbClr val="00004C"/>
              </a:solidFill>
            </a:endParaRPr>
          </a:p>
          <a:p>
            <a:pPr lvl="1"/>
            <a:r>
              <a:rPr lang="en-US" b="1" dirty="0">
                <a:solidFill>
                  <a:srgbClr val="00004C"/>
                </a:solidFill>
              </a:rPr>
              <a:t>Search: </a:t>
            </a:r>
            <a:r>
              <a:rPr lang="en-US" dirty="0">
                <a:solidFill>
                  <a:srgbClr val="00004C"/>
                </a:solidFill>
              </a:rPr>
              <a:t>"CVE-2021-44228 exploit" for Log4Shell code</a:t>
            </a:r>
          </a:p>
          <a:p>
            <a:pPr lvl="1"/>
            <a:endParaRPr lang="en-US" dirty="0">
              <a:solidFill>
                <a:srgbClr val="00004C"/>
              </a:solidFill>
            </a:endParaRPr>
          </a:p>
          <a:p>
            <a:pPr lvl="1"/>
            <a:r>
              <a:rPr lang="en-US" b="1" dirty="0">
                <a:solidFill>
                  <a:srgbClr val="00004C"/>
                </a:solidFill>
              </a:rPr>
              <a:t>Operational: </a:t>
            </a:r>
            <a:r>
              <a:rPr lang="en-US" dirty="0">
                <a:solidFill>
                  <a:srgbClr val="00004C"/>
                </a:solidFill>
              </a:rPr>
              <a:t>Clone for modification; assess stars/forks for quality in planning counterstrikes</a:t>
            </a:r>
          </a:p>
        </p:txBody>
      </p:sp>
      <p:sp>
        <p:nvSpPr>
          <p:cNvPr id="3" name="Title 2">
            <a:extLst>
              <a:ext uri="{FF2B5EF4-FFF2-40B4-BE49-F238E27FC236}">
                <a16:creationId xmlns:a16="http://schemas.microsoft.com/office/drawing/2014/main" id="{C64C6455-58C0-BC47-4C29-087E40D3E3CD}"/>
              </a:ext>
            </a:extLst>
          </p:cNvPr>
          <p:cNvSpPr>
            <a:spLocks noGrp="1"/>
          </p:cNvSpPr>
          <p:nvPr>
            <p:ph type="title"/>
          </p:nvPr>
        </p:nvSpPr>
        <p:spPr/>
        <p:txBody>
          <a:bodyPr/>
          <a:lstStyle/>
          <a:p>
            <a:r>
              <a:rPr lang="en-US" dirty="0">
                <a:solidFill>
                  <a:srgbClr val="00004C"/>
                </a:solidFill>
              </a:rPr>
              <a:t>Open-Source Exploit Ecosystem</a:t>
            </a:r>
          </a:p>
        </p:txBody>
      </p:sp>
    </p:spTree>
    <p:extLst>
      <p:ext uri="{BB962C8B-B14F-4D97-AF65-F5344CB8AC3E}">
        <p14:creationId xmlns:p14="http://schemas.microsoft.com/office/powerpoint/2010/main" val="30096010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4E1F2F-1883-2BB8-39DF-AEF9FA7F5EFB}"/>
              </a:ext>
            </a:extLst>
          </p:cNvPr>
          <p:cNvSpPr>
            <a:spLocks noGrp="1"/>
          </p:cNvSpPr>
          <p:nvPr>
            <p:ph type="body" idx="1"/>
          </p:nvPr>
        </p:nvSpPr>
        <p:spPr/>
        <p:txBody>
          <a:bodyPr/>
          <a:lstStyle/>
          <a:p>
            <a:r>
              <a:rPr lang="en-US" b="1" dirty="0">
                <a:solidFill>
                  <a:srgbClr val="00004C"/>
                </a:solidFill>
              </a:rPr>
              <a:t>Packet Storm</a:t>
            </a:r>
          </a:p>
          <a:p>
            <a:endParaRPr lang="en-US" dirty="0">
              <a:solidFill>
                <a:srgbClr val="00004C"/>
              </a:solidFill>
            </a:endParaRPr>
          </a:p>
          <a:p>
            <a:pPr lvl="1"/>
            <a:r>
              <a:rPr lang="en-US" dirty="0">
                <a:solidFill>
                  <a:srgbClr val="00004C"/>
                </a:solidFill>
              </a:rPr>
              <a:t>Curated collection of exploits, tools, and advisories</a:t>
            </a:r>
          </a:p>
          <a:p>
            <a:pPr lvl="1"/>
            <a:endParaRPr lang="en-US" b="1" dirty="0">
              <a:solidFill>
                <a:srgbClr val="00004C"/>
              </a:solidFill>
            </a:endParaRPr>
          </a:p>
          <a:p>
            <a:pPr lvl="1"/>
            <a:r>
              <a:rPr lang="en-US" b="1" dirty="0">
                <a:solidFill>
                  <a:srgbClr val="00004C"/>
                </a:solidFill>
              </a:rPr>
              <a:t>Focus: </a:t>
            </a:r>
            <a:r>
              <a:rPr lang="en-US" dirty="0">
                <a:solidFill>
                  <a:srgbClr val="00004C"/>
                </a:solidFill>
              </a:rPr>
              <a:t>Newer vulnerabilities and zero-days (pre-CVE)</a:t>
            </a:r>
          </a:p>
          <a:p>
            <a:pPr lvl="1"/>
            <a:endParaRPr lang="en-US" b="1" dirty="0">
              <a:solidFill>
                <a:srgbClr val="00004C"/>
              </a:solidFill>
            </a:endParaRPr>
          </a:p>
          <a:p>
            <a:pPr lvl="1"/>
            <a:r>
              <a:rPr lang="en-US" b="1" dirty="0">
                <a:solidFill>
                  <a:srgbClr val="00004C"/>
                </a:solidFill>
              </a:rPr>
              <a:t>Use: </a:t>
            </a:r>
            <a:r>
              <a:rPr lang="en-US" dirty="0">
                <a:solidFill>
                  <a:srgbClr val="00004C"/>
                </a:solidFill>
              </a:rPr>
              <a:t>Supplement </a:t>
            </a:r>
            <a:r>
              <a:rPr lang="en-US" dirty="0" err="1">
                <a:solidFill>
                  <a:srgbClr val="00004C"/>
                </a:solidFill>
              </a:rPr>
              <a:t>ExploitDB</a:t>
            </a:r>
            <a:r>
              <a:rPr lang="en-US" dirty="0">
                <a:solidFill>
                  <a:srgbClr val="00004C"/>
                </a:solidFill>
              </a:rPr>
              <a:t> for emerging threats in adversary infrastructure</a:t>
            </a:r>
          </a:p>
        </p:txBody>
      </p:sp>
      <p:sp>
        <p:nvSpPr>
          <p:cNvPr id="3" name="Title 2">
            <a:extLst>
              <a:ext uri="{FF2B5EF4-FFF2-40B4-BE49-F238E27FC236}">
                <a16:creationId xmlns:a16="http://schemas.microsoft.com/office/drawing/2014/main" id="{C64C6455-58C0-BC47-4C29-087E40D3E3CD}"/>
              </a:ext>
            </a:extLst>
          </p:cNvPr>
          <p:cNvSpPr>
            <a:spLocks noGrp="1"/>
          </p:cNvSpPr>
          <p:nvPr>
            <p:ph type="title"/>
          </p:nvPr>
        </p:nvSpPr>
        <p:spPr/>
        <p:txBody>
          <a:bodyPr/>
          <a:lstStyle/>
          <a:p>
            <a:r>
              <a:rPr lang="en-US" dirty="0">
                <a:solidFill>
                  <a:srgbClr val="00004C"/>
                </a:solidFill>
              </a:rPr>
              <a:t>Open-Source Exploit Ecosystem</a:t>
            </a:r>
          </a:p>
        </p:txBody>
      </p:sp>
    </p:spTree>
    <p:extLst>
      <p:ext uri="{BB962C8B-B14F-4D97-AF65-F5344CB8AC3E}">
        <p14:creationId xmlns:p14="http://schemas.microsoft.com/office/powerpoint/2010/main" val="2387878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4E1F2F-1883-2BB8-39DF-AEF9FA7F5EFB}"/>
              </a:ext>
            </a:extLst>
          </p:cNvPr>
          <p:cNvSpPr>
            <a:spLocks noGrp="1"/>
          </p:cNvSpPr>
          <p:nvPr>
            <p:ph type="body" idx="1"/>
          </p:nvPr>
        </p:nvSpPr>
        <p:spPr/>
        <p:txBody>
          <a:bodyPr/>
          <a:lstStyle/>
          <a:p>
            <a:r>
              <a:rPr lang="en-US" b="1" dirty="0">
                <a:solidFill>
                  <a:srgbClr val="00004C"/>
                </a:solidFill>
              </a:rPr>
              <a:t>Blogs</a:t>
            </a:r>
            <a:r>
              <a:rPr lang="en-US" dirty="0">
                <a:solidFill>
                  <a:srgbClr val="00004C"/>
                </a:solidFill>
              </a:rPr>
              <a:t> </a:t>
            </a:r>
            <a:r>
              <a:rPr lang="en-US" b="1" dirty="0">
                <a:solidFill>
                  <a:srgbClr val="00004C"/>
                </a:solidFill>
              </a:rPr>
              <a:t>and Write-Ups</a:t>
            </a:r>
          </a:p>
          <a:p>
            <a:endParaRPr lang="en-US" dirty="0">
              <a:solidFill>
                <a:srgbClr val="00004C"/>
              </a:solidFill>
            </a:endParaRPr>
          </a:p>
          <a:p>
            <a:pPr lvl="1"/>
            <a:r>
              <a:rPr lang="en-US" dirty="0">
                <a:solidFill>
                  <a:srgbClr val="00004C"/>
                </a:solidFill>
              </a:rPr>
              <a:t>Sites like Krebs on Security, or researcher Medium posts</a:t>
            </a:r>
          </a:p>
          <a:p>
            <a:pPr marL="795847" lvl="1" indent="0">
              <a:buNone/>
            </a:pPr>
            <a:endParaRPr lang="en-US" dirty="0">
              <a:solidFill>
                <a:srgbClr val="00004C"/>
              </a:solidFill>
            </a:endParaRPr>
          </a:p>
          <a:p>
            <a:pPr lvl="1"/>
            <a:r>
              <a:rPr lang="en-US" dirty="0">
                <a:solidFill>
                  <a:srgbClr val="00004C"/>
                </a:solidFill>
              </a:rPr>
              <a:t>Provide context, modified exploits, and chaining techniques</a:t>
            </a:r>
          </a:p>
          <a:p>
            <a:pPr lvl="1"/>
            <a:endParaRPr lang="en-US" dirty="0">
              <a:solidFill>
                <a:srgbClr val="00004C"/>
              </a:solidFill>
            </a:endParaRPr>
          </a:p>
          <a:p>
            <a:pPr lvl="1"/>
            <a:r>
              <a:rPr lang="en-US" b="1" dirty="0">
                <a:solidFill>
                  <a:srgbClr val="00004C"/>
                </a:solidFill>
              </a:rPr>
              <a:t>In counteroperations: </a:t>
            </a:r>
            <a:r>
              <a:rPr lang="en-US" dirty="0">
                <a:solidFill>
                  <a:srgbClr val="00004C"/>
                </a:solidFill>
              </a:rPr>
              <a:t>Learn adaptation for specific adversary configs discovered via recon</a:t>
            </a:r>
          </a:p>
        </p:txBody>
      </p:sp>
      <p:sp>
        <p:nvSpPr>
          <p:cNvPr id="3" name="Title 2">
            <a:extLst>
              <a:ext uri="{FF2B5EF4-FFF2-40B4-BE49-F238E27FC236}">
                <a16:creationId xmlns:a16="http://schemas.microsoft.com/office/drawing/2014/main" id="{C64C6455-58C0-BC47-4C29-087E40D3E3CD}"/>
              </a:ext>
            </a:extLst>
          </p:cNvPr>
          <p:cNvSpPr>
            <a:spLocks noGrp="1"/>
          </p:cNvSpPr>
          <p:nvPr>
            <p:ph type="title"/>
          </p:nvPr>
        </p:nvSpPr>
        <p:spPr/>
        <p:txBody>
          <a:bodyPr/>
          <a:lstStyle/>
          <a:p>
            <a:r>
              <a:rPr lang="en-US" dirty="0">
                <a:solidFill>
                  <a:srgbClr val="00004C"/>
                </a:solidFill>
              </a:rPr>
              <a:t>Open-Source Exploit Ecosystem</a:t>
            </a:r>
          </a:p>
        </p:txBody>
      </p:sp>
    </p:spTree>
    <p:extLst>
      <p:ext uri="{BB962C8B-B14F-4D97-AF65-F5344CB8AC3E}">
        <p14:creationId xmlns:p14="http://schemas.microsoft.com/office/powerpoint/2010/main" val="37515135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4E1F2F-1883-2BB8-39DF-AEF9FA7F5EFB}"/>
              </a:ext>
            </a:extLst>
          </p:cNvPr>
          <p:cNvSpPr>
            <a:spLocks noGrp="1"/>
          </p:cNvSpPr>
          <p:nvPr>
            <p:ph type="body" idx="1"/>
          </p:nvPr>
        </p:nvSpPr>
        <p:spPr/>
        <p:txBody>
          <a:bodyPr/>
          <a:lstStyle/>
          <a:p>
            <a:r>
              <a:rPr lang="en-US" b="1" dirty="0">
                <a:solidFill>
                  <a:srgbClr val="00004C"/>
                </a:solidFill>
              </a:rPr>
              <a:t>Vendor-Provided Proof of Concepts (</a:t>
            </a:r>
            <a:r>
              <a:rPr lang="en-US" b="1" dirty="0" err="1">
                <a:solidFill>
                  <a:srgbClr val="00004C"/>
                </a:solidFill>
              </a:rPr>
              <a:t>PoCs</a:t>
            </a:r>
            <a:r>
              <a:rPr lang="en-US" b="1" dirty="0">
                <a:solidFill>
                  <a:srgbClr val="00004C"/>
                </a:solidFill>
              </a:rPr>
              <a:t>)</a:t>
            </a:r>
          </a:p>
          <a:p>
            <a:endParaRPr lang="en-US" dirty="0">
              <a:solidFill>
                <a:srgbClr val="00004C"/>
              </a:solidFill>
            </a:endParaRPr>
          </a:p>
          <a:p>
            <a:pPr lvl="1"/>
            <a:r>
              <a:rPr lang="en-US" dirty="0">
                <a:solidFill>
                  <a:srgbClr val="00004C"/>
                </a:solidFill>
              </a:rPr>
              <a:t>E.g., Cisco Talos or Red Hat advisories with sample code</a:t>
            </a:r>
          </a:p>
          <a:p>
            <a:pPr marL="778914" lvl="1" indent="0">
              <a:buNone/>
            </a:pPr>
            <a:endParaRPr lang="en-US" dirty="0">
              <a:solidFill>
                <a:srgbClr val="00004C"/>
              </a:solidFill>
            </a:endParaRPr>
          </a:p>
          <a:p>
            <a:pPr lvl="1"/>
            <a:r>
              <a:rPr lang="en-US" dirty="0">
                <a:solidFill>
                  <a:srgbClr val="00004C"/>
                </a:solidFill>
              </a:rPr>
              <a:t>Reliable but often basic; extend for full effects</a:t>
            </a:r>
          </a:p>
          <a:p>
            <a:pPr lvl="1"/>
            <a:endParaRPr lang="en-US" dirty="0">
              <a:solidFill>
                <a:srgbClr val="00004C"/>
              </a:solidFill>
            </a:endParaRPr>
          </a:p>
          <a:p>
            <a:pPr lvl="1"/>
            <a:r>
              <a:rPr lang="en-US" b="1" dirty="0">
                <a:solidFill>
                  <a:srgbClr val="00004C"/>
                </a:solidFill>
              </a:rPr>
              <a:t>Blue space: </a:t>
            </a:r>
            <a:r>
              <a:rPr lang="en-US" dirty="0">
                <a:solidFill>
                  <a:srgbClr val="00004C"/>
                </a:solidFill>
              </a:rPr>
              <a:t>Validate in labs to ensure compatibility with targeted covert systems</a:t>
            </a:r>
          </a:p>
        </p:txBody>
      </p:sp>
      <p:sp>
        <p:nvSpPr>
          <p:cNvPr id="3" name="Title 2">
            <a:extLst>
              <a:ext uri="{FF2B5EF4-FFF2-40B4-BE49-F238E27FC236}">
                <a16:creationId xmlns:a16="http://schemas.microsoft.com/office/drawing/2014/main" id="{C64C6455-58C0-BC47-4C29-087E40D3E3CD}"/>
              </a:ext>
            </a:extLst>
          </p:cNvPr>
          <p:cNvSpPr>
            <a:spLocks noGrp="1"/>
          </p:cNvSpPr>
          <p:nvPr>
            <p:ph type="title"/>
          </p:nvPr>
        </p:nvSpPr>
        <p:spPr/>
        <p:txBody>
          <a:bodyPr/>
          <a:lstStyle/>
          <a:p>
            <a:r>
              <a:rPr lang="en-US" dirty="0">
                <a:solidFill>
                  <a:srgbClr val="00004C"/>
                </a:solidFill>
              </a:rPr>
              <a:t>Open-Source Exploit Ecosystem</a:t>
            </a:r>
          </a:p>
        </p:txBody>
      </p:sp>
    </p:spTree>
    <p:extLst>
      <p:ext uri="{BB962C8B-B14F-4D97-AF65-F5344CB8AC3E}">
        <p14:creationId xmlns:p14="http://schemas.microsoft.com/office/powerpoint/2010/main" val="5694724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4E1F2F-1883-2BB8-39DF-AEF9FA7F5EFB}"/>
              </a:ext>
            </a:extLst>
          </p:cNvPr>
          <p:cNvSpPr>
            <a:spLocks noGrp="1"/>
          </p:cNvSpPr>
          <p:nvPr>
            <p:ph type="body" idx="1"/>
          </p:nvPr>
        </p:nvSpPr>
        <p:spPr/>
        <p:txBody>
          <a:bodyPr/>
          <a:lstStyle/>
          <a:p>
            <a:r>
              <a:rPr lang="en-US" b="1" dirty="0">
                <a:solidFill>
                  <a:srgbClr val="00004C"/>
                </a:solidFill>
              </a:rPr>
              <a:t>Public Exploits (Readily Available)</a:t>
            </a:r>
          </a:p>
          <a:p>
            <a:endParaRPr lang="en-US" dirty="0">
              <a:solidFill>
                <a:srgbClr val="00004C"/>
              </a:solidFill>
            </a:endParaRPr>
          </a:p>
          <a:p>
            <a:pPr lvl="1"/>
            <a:r>
              <a:rPr lang="en-US" dirty="0">
                <a:solidFill>
                  <a:srgbClr val="00004C"/>
                </a:solidFill>
              </a:rPr>
              <a:t>Ready-to-run code (e.g., Python scripts for RCE)</a:t>
            </a:r>
          </a:p>
          <a:p>
            <a:pPr marL="795847" lvl="1" indent="0">
              <a:buNone/>
            </a:pPr>
            <a:endParaRPr lang="en-US" dirty="0">
              <a:solidFill>
                <a:srgbClr val="00004C"/>
              </a:solidFill>
            </a:endParaRPr>
          </a:p>
          <a:p>
            <a:pPr lvl="1"/>
            <a:r>
              <a:rPr lang="en-US" b="1" dirty="0">
                <a:solidFill>
                  <a:srgbClr val="00004C"/>
                </a:solidFill>
              </a:rPr>
              <a:t>Pros: </a:t>
            </a:r>
            <a:r>
              <a:rPr lang="en-US" dirty="0">
                <a:solidFill>
                  <a:srgbClr val="00004C"/>
                </a:solidFill>
              </a:rPr>
              <a:t>Quick deployment against known vulns</a:t>
            </a:r>
          </a:p>
          <a:p>
            <a:pPr lvl="1"/>
            <a:endParaRPr lang="en-US" dirty="0">
              <a:solidFill>
                <a:srgbClr val="00004C"/>
              </a:solidFill>
            </a:endParaRPr>
          </a:p>
          <a:p>
            <a:pPr lvl="1"/>
            <a:r>
              <a:rPr lang="en-US" b="1" dirty="0">
                <a:solidFill>
                  <a:srgbClr val="00004C"/>
                </a:solidFill>
              </a:rPr>
              <a:t>Cons: </a:t>
            </a:r>
            <a:r>
              <a:rPr lang="en-US" dirty="0">
                <a:solidFill>
                  <a:srgbClr val="00004C"/>
                </a:solidFill>
              </a:rPr>
              <a:t>May be detected if widely used</a:t>
            </a:r>
          </a:p>
          <a:p>
            <a:pPr lvl="1"/>
            <a:endParaRPr lang="en-US" dirty="0">
              <a:solidFill>
                <a:srgbClr val="00004C"/>
              </a:solidFill>
            </a:endParaRPr>
          </a:p>
          <a:p>
            <a:pPr lvl="1"/>
            <a:r>
              <a:rPr lang="en-US" b="1" dirty="0">
                <a:solidFill>
                  <a:srgbClr val="00004C"/>
                </a:solidFill>
              </a:rPr>
              <a:t>Counterstrike: </a:t>
            </a:r>
            <a:r>
              <a:rPr lang="en-US" dirty="0">
                <a:solidFill>
                  <a:srgbClr val="00004C"/>
                </a:solidFill>
              </a:rPr>
              <a:t>Ideal for immediate disruption of public-facing adversary services</a:t>
            </a:r>
          </a:p>
        </p:txBody>
      </p:sp>
      <p:sp>
        <p:nvSpPr>
          <p:cNvPr id="3" name="Title 2">
            <a:extLst>
              <a:ext uri="{FF2B5EF4-FFF2-40B4-BE49-F238E27FC236}">
                <a16:creationId xmlns:a16="http://schemas.microsoft.com/office/drawing/2014/main" id="{C64C6455-58C0-BC47-4C29-087E40D3E3CD}"/>
              </a:ext>
            </a:extLst>
          </p:cNvPr>
          <p:cNvSpPr>
            <a:spLocks noGrp="1"/>
          </p:cNvSpPr>
          <p:nvPr>
            <p:ph type="title"/>
          </p:nvPr>
        </p:nvSpPr>
        <p:spPr/>
        <p:txBody>
          <a:bodyPr/>
          <a:lstStyle/>
          <a:p>
            <a:r>
              <a:rPr lang="en-US" dirty="0">
                <a:solidFill>
                  <a:srgbClr val="00004C"/>
                </a:solidFill>
              </a:rPr>
              <a:t>Open-Source Exploit Ecosystem</a:t>
            </a:r>
          </a:p>
        </p:txBody>
      </p:sp>
    </p:spTree>
    <p:extLst>
      <p:ext uri="{BB962C8B-B14F-4D97-AF65-F5344CB8AC3E}">
        <p14:creationId xmlns:p14="http://schemas.microsoft.com/office/powerpoint/2010/main" val="12416706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4E1F2F-1883-2BB8-39DF-AEF9FA7F5EFB}"/>
              </a:ext>
            </a:extLst>
          </p:cNvPr>
          <p:cNvSpPr>
            <a:spLocks noGrp="1"/>
          </p:cNvSpPr>
          <p:nvPr>
            <p:ph type="body" idx="1"/>
          </p:nvPr>
        </p:nvSpPr>
        <p:spPr/>
        <p:txBody>
          <a:bodyPr/>
          <a:lstStyle/>
          <a:p>
            <a:r>
              <a:rPr lang="en-US" b="1" dirty="0" err="1">
                <a:solidFill>
                  <a:srgbClr val="00004C"/>
                </a:solidFill>
              </a:rPr>
              <a:t>PoCs</a:t>
            </a:r>
            <a:r>
              <a:rPr lang="en-US" b="1" dirty="0">
                <a:solidFill>
                  <a:srgbClr val="00004C"/>
                </a:solidFill>
              </a:rPr>
              <a:t> Requiring Modification</a:t>
            </a:r>
          </a:p>
          <a:p>
            <a:endParaRPr lang="en-US" dirty="0">
              <a:solidFill>
                <a:srgbClr val="00004C"/>
              </a:solidFill>
            </a:endParaRPr>
          </a:p>
          <a:p>
            <a:pPr lvl="1"/>
            <a:r>
              <a:rPr lang="en-US" dirty="0">
                <a:solidFill>
                  <a:srgbClr val="00004C"/>
                </a:solidFill>
              </a:rPr>
              <a:t>Demonstrations, not full exploits (e.g., crash reproducer)</a:t>
            </a:r>
          </a:p>
          <a:p>
            <a:pPr marL="778914" lvl="1" indent="0">
              <a:buNone/>
            </a:pPr>
            <a:endParaRPr lang="en-US" dirty="0">
              <a:solidFill>
                <a:srgbClr val="00004C"/>
              </a:solidFill>
            </a:endParaRPr>
          </a:p>
          <a:p>
            <a:pPr lvl="1"/>
            <a:r>
              <a:rPr lang="en-US" b="1" dirty="0">
                <a:solidFill>
                  <a:srgbClr val="00004C"/>
                </a:solidFill>
              </a:rPr>
              <a:t>Require tweaks: </a:t>
            </a:r>
            <a:r>
              <a:rPr lang="en-US" dirty="0">
                <a:solidFill>
                  <a:srgbClr val="00004C"/>
                </a:solidFill>
              </a:rPr>
              <a:t>Adapt payloads for target OS/version</a:t>
            </a:r>
          </a:p>
          <a:p>
            <a:pPr lvl="1"/>
            <a:endParaRPr lang="en-US" b="1" dirty="0">
              <a:solidFill>
                <a:srgbClr val="00004C"/>
              </a:solidFill>
            </a:endParaRPr>
          </a:p>
          <a:p>
            <a:pPr lvl="1"/>
            <a:r>
              <a:rPr lang="en-US" b="1" dirty="0">
                <a:solidFill>
                  <a:srgbClr val="00004C"/>
                </a:solidFill>
              </a:rPr>
              <a:t>Operational: </a:t>
            </a:r>
            <a:r>
              <a:rPr lang="en-US" dirty="0">
                <a:solidFill>
                  <a:srgbClr val="00004C"/>
                </a:solidFill>
              </a:rPr>
              <a:t>Modify in blue space for stealthy, customized effects on adversary nodes</a:t>
            </a:r>
          </a:p>
        </p:txBody>
      </p:sp>
      <p:sp>
        <p:nvSpPr>
          <p:cNvPr id="3" name="Title 2">
            <a:extLst>
              <a:ext uri="{FF2B5EF4-FFF2-40B4-BE49-F238E27FC236}">
                <a16:creationId xmlns:a16="http://schemas.microsoft.com/office/drawing/2014/main" id="{C64C6455-58C0-BC47-4C29-087E40D3E3CD}"/>
              </a:ext>
            </a:extLst>
          </p:cNvPr>
          <p:cNvSpPr>
            <a:spLocks noGrp="1"/>
          </p:cNvSpPr>
          <p:nvPr>
            <p:ph type="title"/>
          </p:nvPr>
        </p:nvSpPr>
        <p:spPr/>
        <p:txBody>
          <a:bodyPr/>
          <a:lstStyle/>
          <a:p>
            <a:r>
              <a:rPr lang="en-US" dirty="0">
                <a:solidFill>
                  <a:srgbClr val="00004C"/>
                </a:solidFill>
              </a:rPr>
              <a:t>Open-Source Exploit Ecosystem</a:t>
            </a:r>
          </a:p>
        </p:txBody>
      </p:sp>
    </p:spTree>
    <p:extLst>
      <p:ext uri="{BB962C8B-B14F-4D97-AF65-F5344CB8AC3E}">
        <p14:creationId xmlns:p14="http://schemas.microsoft.com/office/powerpoint/2010/main" val="16933122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4E1F2F-1883-2BB8-39DF-AEF9FA7F5EFB}"/>
              </a:ext>
            </a:extLst>
          </p:cNvPr>
          <p:cNvSpPr>
            <a:spLocks noGrp="1"/>
          </p:cNvSpPr>
          <p:nvPr>
            <p:ph type="body" idx="1"/>
          </p:nvPr>
        </p:nvSpPr>
        <p:spPr/>
        <p:txBody>
          <a:bodyPr/>
          <a:lstStyle/>
          <a:p>
            <a:pPr algn="l"/>
            <a:r>
              <a:rPr lang="en-US" b="1" i="0" dirty="0">
                <a:solidFill>
                  <a:srgbClr val="172B4D"/>
                </a:solidFill>
                <a:effectLst/>
                <a:latin typeface="-apple-system"/>
              </a:rPr>
              <a:t>Exploit Frameworks (Metasploit Modules)</a:t>
            </a:r>
          </a:p>
          <a:p>
            <a:pPr marL="169329" indent="0" algn="l">
              <a:buNone/>
            </a:pPr>
            <a:endParaRPr lang="en-US" b="1" dirty="0">
              <a:solidFill>
                <a:srgbClr val="00004C"/>
              </a:solidFill>
            </a:endParaRPr>
          </a:p>
          <a:p>
            <a:pPr lvl="1"/>
            <a:r>
              <a:rPr lang="en-US" b="1" dirty="0">
                <a:solidFill>
                  <a:srgbClr val="00004C"/>
                </a:solidFill>
              </a:rPr>
              <a:t>Metasploit Framework Overview</a:t>
            </a:r>
            <a:endParaRPr lang="en-US" dirty="0">
              <a:solidFill>
                <a:srgbClr val="00004C"/>
              </a:solidFill>
            </a:endParaRPr>
          </a:p>
          <a:p>
            <a:pPr lvl="2"/>
            <a:r>
              <a:rPr lang="en-US" dirty="0">
                <a:solidFill>
                  <a:srgbClr val="00004C"/>
                </a:solidFill>
              </a:rPr>
              <a:t>Open-source penetration testing platform (Rapid7); widely used in red teaming and defensive simulations</a:t>
            </a:r>
          </a:p>
          <a:p>
            <a:pPr marL="1405431" lvl="2" indent="0">
              <a:buNone/>
            </a:pPr>
            <a:endParaRPr lang="en-US" dirty="0">
              <a:solidFill>
                <a:srgbClr val="00004C"/>
              </a:solidFill>
            </a:endParaRPr>
          </a:p>
          <a:p>
            <a:pPr lvl="2"/>
            <a:r>
              <a:rPr lang="en-US" b="1" dirty="0">
                <a:solidFill>
                  <a:srgbClr val="00004C"/>
                </a:solidFill>
              </a:rPr>
              <a:t>Components: </a:t>
            </a:r>
            <a:r>
              <a:rPr lang="en-US" dirty="0">
                <a:solidFill>
                  <a:srgbClr val="00004C"/>
                </a:solidFill>
              </a:rPr>
              <a:t>Console (</a:t>
            </a:r>
            <a:r>
              <a:rPr lang="en-US" dirty="0" err="1">
                <a:solidFill>
                  <a:srgbClr val="00004C"/>
                </a:solidFill>
              </a:rPr>
              <a:t>msfconsole</a:t>
            </a:r>
            <a:r>
              <a:rPr lang="en-US" dirty="0">
                <a:solidFill>
                  <a:srgbClr val="00004C"/>
                </a:solidFill>
              </a:rPr>
              <a:t>), modules (exploits, payloads, auxiliaries), databases for tracking sessions/targets</a:t>
            </a:r>
          </a:p>
          <a:p>
            <a:pPr lvl="2"/>
            <a:endParaRPr lang="en-US" dirty="0">
              <a:solidFill>
                <a:srgbClr val="00004C"/>
              </a:solidFill>
            </a:endParaRPr>
          </a:p>
          <a:p>
            <a:pPr lvl="2"/>
            <a:r>
              <a:rPr lang="en-US" b="1" dirty="0">
                <a:solidFill>
                  <a:srgbClr val="00004C"/>
                </a:solidFill>
              </a:rPr>
              <a:t>Core Strength: </a:t>
            </a:r>
            <a:r>
              <a:rPr lang="en-US" dirty="0">
                <a:solidFill>
                  <a:srgbClr val="00004C"/>
                </a:solidFill>
              </a:rPr>
              <a:t>Modular design allows chaining recon data (e.g., from Nmap) directly into exploit attempts</a:t>
            </a:r>
          </a:p>
          <a:p>
            <a:pPr lvl="2"/>
            <a:endParaRPr lang="en-US" dirty="0">
              <a:solidFill>
                <a:srgbClr val="00004C"/>
              </a:solidFill>
            </a:endParaRPr>
          </a:p>
          <a:p>
            <a:pPr lvl="2"/>
            <a:r>
              <a:rPr lang="en-US" b="1" dirty="0">
                <a:solidFill>
                  <a:srgbClr val="00004C"/>
                </a:solidFill>
              </a:rPr>
              <a:t>In counteroperations: </a:t>
            </a:r>
            <a:r>
              <a:rPr lang="en-US" dirty="0">
                <a:solidFill>
                  <a:srgbClr val="00004C"/>
                </a:solidFill>
              </a:rPr>
              <a:t>Automates testing of open-source exploits against adversary infrastructure, speeding up initial access for counterstrikes</a:t>
            </a:r>
          </a:p>
        </p:txBody>
      </p:sp>
      <p:sp>
        <p:nvSpPr>
          <p:cNvPr id="3" name="Title 2">
            <a:extLst>
              <a:ext uri="{FF2B5EF4-FFF2-40B4-BE49-F238E27FC236}">
                <a16:creationId xmlns:a16="http://schemas.microsoft.com/office/drawing/2014/main" id="{C64C6455-58C0-BC47-4C29-087E40D3E3CD}"/>
              </a:ext>
            </a:extLst>
          </p:cNvPr>
          <p:cNvSpPr>
            <a:spLocks noGrp="1"/>
          </p:cNvSpPr>
          <p:nvPr>
            <p:ph type="title"/>
          </p:nvPr>
        </p:nvSpPr>
        <p:spPr/>
        <p:txBody>
          <a:bodyPr/>
          <a:lstStyle/>
          <a:p>
            <a:r>
              <a:rPr lang="en-US" dirty="0">
                <a:solidFill>
                  <a:srgbClr val="00004C"/>
                </a:solidFill>
              </a:rPr>
              <a:t>Open-Source Exploit Ecosystem</a:t>
            </a:r>
          </a:p>
        </p:txBody>
      </p:sp>
    </p:spTree>
    <p:extLst>
      <p:ext uri="{BB962C8B-B14F-4D97-AF65-F5344CB8AC3E}">
        <p14:creationId xmlns:p14="http://schemas.microsoft.com/office/powerpoint/2010/main" val="5486020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4E1F2F-1883-2BB8-39DF-AEF9FA7F5EFB}"/>
              </a:ext>
            </a:extLst>
          </p:cNvPr>
          <p:cNvSpPr>
            <a:spLocks noGrp="1"/>
          </p:cNvSpPr>
          <p:nvPr>
            <p:ph type="body" idx="1"/>
          </p:nvPr>
        </p:nvSpPr>
        <p:spPr/>
        <p:txBody>
          <a:bodyPr/>
          <a:lstStyle/>
          <a:p>
            <a:pPr algn="l"/>
            <a:r>
              <a:rPr lang="en-US" b="1" i="0" dirty="0">
                <a:solidFill>
                  <a:srgbClr val="172B4D"/>
                </a:solidFill>
                <a:effectLst/>
                <a:latin typeface="-apple-system"/>
              </a:rPr>
              <a:t>Exploit Frameworks (Metasploit Modules)</a:t>
            </a:r>
          </a:p>
          <a:p>
            <a:pPr marL="169329" indent="0" algn="l">
              <a:buNone/>
            </a:pPr>
            <a:endParaRPr lang="en-US" b="1" dirty="0">
              <a:solidFill>
                <a:srgbClr val="00004C"/>
              </a:solidFill>
            </a:endParaRPr>
          </a:p>
          <a:p>
            <a:pPr lvl="1"/>
            <a:r>
              <a:rPr lang="en-US" b="1" dirty="0">
                <a:solidFill>
                  <a:srgbClr val="00004C"/>
                </a:solidFill>
              </a:rPr>
              <a:t>Key Features for This Course</a:t>
            </a:r>
          </a:p>
          <a:p>
            <a:pPr lvl="2"/>
            <a:r>
              <a:rPr lang="en-US" b="1" dirty="0">
                <a:solidFill>
                  <a:srgbClr val="00004C"/>
                </a:solidFill>
              </a:rPr>
              <a:t>2,000+ Modules: </a:t>
            </a:r>
            <a:r>
              <a:rPr lang="en-US" dirty="0">
                <a:solidFill>
                  <a:srgbClr val="00004C"/>
                </a:solidFill>
              </a:rPr>
              <a:t>Pre-built exploits (e.g., ms17_010_eternalblue for SMB </a:t>
            </a:r>
            <a:r>
              <a:rPr lang="en-US" dirty="0" err="1">
                <a:solidFill>
                  <a:srgbClr val="00004C"/>
                </a:solidFill>
              </a:rPr>
              <a:t>EternalBlue</a:t>
            </a:r>
            <a:r>
              <a:rPr lang="en-US" dirty="0">
                <a:solidFill>
                  <a:srgbClr val="00004C"/>
                </a:solidFill>
              </a:rPr>
              <a:t> CVE-2017-0144)</a:t>
            </a:r>
          </a:p>
          <a:p>
            <a:pPr marL="1430831" lvl="2" indent="0">
              <a:buNone/>
            </a:pPr>
            <a:endParaRPr lang="en-US" dirty="0">
              <a:solidFill>
                <a:srgbClr val="00004C"/>
              </a:solidFill>
            </a:endParaRPr>
          </a:p>
          <a:p>
            <a:pPr lvl="2"/>
            <a:r>
              <a:rPr lang="en-US" b="1" dirty="0">
                <a:solidFill>
                  <a:srgbClr val="00004C"/>
                </a:solidFill>
              </a:rPr>
              <a:t>Payloads: </a:t>
            </a:r>
            <a:r>
              <a:rPr lang="en-US" dirty="0">
                <a:solidFill>
                  <a:srgbClr val="00004C"/>
                </a:solidFill>
              </a:rPr>
              <a:t>Reverse shells, </a:t>
            </a:r>
            <a:r>
              <a:rPr lang="en-US" dirty="0" err="1">
                <a:solidFill>
                  <a:srgbClr val="00004C"/>
                </a:solidFill>
              </a:rPr>
              <a:t>meterspreter</a:t>
            </a:r>
            <a:r>
              <a:rPr lang="en-US" dirty="0">
                <a:solidFill>
                  <a:srgbClr val="00004C"/>
                </a:solidFill>
              </a:rPr>
              <a:t> for post-exploitation on compromised C2 nodes</a:t>
            </a:r>
          </a:p>
          <a:p>
            <a:pPr marL="1430831" lvl="2" indent="0">
              <a:buNone/>
            </a:pPr>
            <a:endParaRPr lang="en-US" dirty="0">
              <a:solidFill>
                <a:srgbClr val="00004C"/>
              </a:solidFill>
            </a:endParaRPr>
          </a:p>
          <a:p>
            <a:pPr lvl="2"/>
            <a:r>
              <a:rPr lang="en-US" b="1" dirty="0">
                <a:solidFill>
                  <a:srgbClr val="00004C"/>
                </a:solidFill>
              </a:rPr>
              <a:t>Auxiliary Modules: </a:t>
            </a:r>
            <a:r>
              <a:rPr lang="en-US" dirty="0">
                <a:solidFill>
                  <a:srgbClr val="00004C"/>
                </a:solidFill>
              </a:rPr>
              <a:t>Scanners/vuln checkers (e.g., </a:t>
            </a:r>
            <a:r>
              <a:rPr lang="en-US" dirty="0" err="1">
                <a:solidFill>
                  <a:srgbClr val="00004C"/>
                </a:solidFill>
              </a:rPr>
              <a:t>http_version</a:t>
            </a:r>
            <a:r>
              <a:rPr lang="en-US" dirty="0">
                <a:solidFill>
                  <a:srgbClr val="00004C"/>
                </a:solidFill>
              </a:rPr>
              <a:t> for confirming enumerated services)</a:t>
            </a:r>
          </a:p>
          <a:p>
            <a:pPr marL="1430831" lvl="2" indent="0">
              <a:buNone/>
            </a:pPr>
            <a:endParaRPr lang="en-US" dirty="0">
              <a:solidFill>
                <a:srgbClr val="00004C"/>
              </a:solidFill>
            </a:endParaRPr>
          </a:p>
          <a:p>
            <a:pPr lvl="2"/>
            <a:r>
              <a:rPr lang="en-US" b="1" dirty="0">
                <a:solidFill>
                  <a:srgbClr val="00004C"/>
                </a:solidFill>
              </a:rPr>
              <a:t>Resource Scripts: </a:t>
            </a:r>
            <a:r>
              <a:rPr lang="en-US" dirty="0">
                <a:solidFill>
                  <a:srgbClr val="00004C"/>
                </a:solidFill>
              </a:rPr>
              <a:t>Automate workflows for operational efficiency</a:t>
            </a:r>
          </a:p>
        </p:txBody>
      </p:sp>
      <p:sp>
        <p:nvSpPr>
          <p:cNvPr id="3" name="Title 2">
            <a:extLst>
              <a:ext uri="{FF2B5EF4-FFF2-40B4-BE49-F238E27FC236}">
                <a16:creationId xmlns:a16="http://schemas.microsoft.com/office/drawing/2014/main" id="{C64C6455-58C0-BC47-4C29-087E40D3E3CD}"/>
              </a:ext>
            </a:extLst>
          </p:cNvPr>
          <p:cNvSpPr>
            <a:spLocks noGrp="1"/>
          </p:cNvSpPr>
          <p:nvPr>
            <p:ph type="title"/>
          </p:nvPr>
        </p:nvSpPr>
        <p:spPr/>
        <p:txBody>
          <a:bodyPr/>
          <a:lstStyle/>
          <a:p>
            <a:r>
              <a:rPr lang="en-US" dirty="0">
                <a:solidFill>
                  <a:srgbClr val="00004C"/>
                </a:solidFill>
              </a:rPr>
              <a:t>Open-Source Exploit Ecosystem</a:t>
            </a:r>
          </a:p>
        </p:txBody>
      </p:sp>
    </p:spTree>
    <p:extLst>
      <p:ext uri="{BB962C8B-B14F-4D97-AF65-F5344CB8AC3E}">
        <p14:creationId xmlns:p14="http://schemas.microsoft.com/office/powerpoint/2010/main" val="19628257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4E1F2F-1883-2BB8-39DF-AEF9FA7F5EFB}"/>
              </a:ext>
            </a:extLst>
          </p:cNvPr>
          <p:cNvSpPr>
            <a:spLocks noGrp="1"/>
          </p:cNvSpPr>
          <p:nvPr>
            <p:ph type="body" idx="1"/>
          </p:nvPr>
        </p:nvSpPr>
        <p:spPr/>
        <p:txBody>
          <a:bodyPr/>
          <a:lstStyle/>
          <a:p>
            <a:pPr algn="l"/>
            <a:r>
              <a:rPr lang="en-US" b="1" i="0" dirty="0">
                <a:solidFill>
                  <a:srgbClr val="172B4D"/>
                </a:solidFill>
                <a:effectLst/>
                <a:latin typeface="-apple-system"/>
              </a:rPr>
              <a:t>Exploit Frameworks (Metasploit Modules)</a:t>
            </a:r>
          </a:p>
          <a:p>
            <a:pPr marL="169329" indent="0" algn="l">
              <a:buNone/>
            </a:pPr>
            <a:endParaRPr lang="en-US" b="1" dirty="0">
              <a:solidFill>
                <a:srgbClr val="00004C"/>
              </a:solidFill>
            </a:endParaRPr>
          </a:p>
          <a:p>
            <a:pPr lvl="1"/>
            <a:r>
              <a:rPr lang="en-US" b="1" dirty="0">
                <a:solidFill>
                  <a:srgbClr val="00004C"/>
                </a:solidFill>
              </a:rPr>
              <a:t>Basic Usage Workflow</a:t>
            </a:r>
          </a:p>
          <a:p>
            <a:pPr lvl="2"/>
            <a:r>
              <a:rPr lang="en-US" b="1" dirty="0">
                <a:solidFill>
                  <a:srgbClr val="00004C"/>
                </a:solidFill>
              </a:rPr>
              <a:t>Launch: </a:t>
            </a:r>
            <a:r>
              <a:rPr lang="en-US" dirty="0" err="1">
                <a:solidFill>
                  <a:srgbClr val="00004C"/>
                </a:solidFill>
              </a:rPr>
              <a:t>msfconsole</a:t>
            </a:r>
            <a:r>
              <a:rPr lang="en-US" dirty="0">
                <a:solidFill>
                  <a:srgbClr val="00004C"/>
                </a:solidFill>
              </a:rPr>
              <a:t> (interactive shell)</a:t>
            </a:r>
          </a:p>
          <a:p>
            <a:pPr lvl="2"/>
            <a:r>
              <a:rPr lang="en-US" b="1" dirty="0">
                <a:solidFill>
                  <a:srgbClr val="00004C"/>
                </a:solidFill>
              </a:rPr>
              <a:t>Search: </a:t>
            </a:r>
            <a:r>
              <a:rPr lang="en-US" dirty="0">
                <a:solidFill>
                  <a:srgbClr val="00004C"/>
                </a:solidFill>
              </a:rPr>
              <a:t>search [keyword] (e.g., search log4shell for CVE-2021-44228 modules)</a:t>
            </a:r>
          </a:p>
          <a:p>
            <a:pPr lvl="2"/>
            <a:r>
              <a:rPr lang="en-US" b="1" dirty="0">
                <a:solidFill>
                  <a:srgbClr val="00004C"/>
                </a:solidFill>
              </a:rPr>
              <a:t>Use Module: </a:t>
            </a:r>
            <a:r>
              <a:rPr lang="en-US" dirty="0">
                <a:solidFill>
                  <a:srgbClr val="00004C"/>
                </a:solidFill>
              </a:rPr>
              <a:t>use exploit/multi/http/log4shell_header_injection</a:t>
            </a:r>
            <a:endParaRPr lang="en-US" b="1" dirty="0">
              <a:solidFill>
                <a:srgbClr val="00004C"/>
              </a:solidFill>
            </a:endParaRPr>
          </a:p>
          <a:p>
            <a:pPr lvl="2"/>
            <a:r>
              <a:rPr lang="en-US" b="1" dirty="0">
                <a:solidFill>
                  <a:srgbClr val="00004C"/>
                </a:solidFill>
              </a:rPr>
              <a:t>Configure: </a:t>
            </a:r>
            <a:r>
              <a:rPr lang="en-US" dirty="0">
                <a:solidFill>
                  <a:srgbClr val="00004C"/>
                </a:solidFill>
              </a:rPr>
              <a:t>set RHOSTS [adversary IP]; set LHOST [blue space callback]</a:t>
            </a:r>
            <a:endParaRPr lang="en-US" b="1" dirty="0">
              <a:solidFill>
                <a:srgbClr val="00004C"/>
              </a:solidFill>
            </a:endParaRPr>
          </a:p>
          <a:p>
            <a:pPr lvl="2"/>
            <a:r>
              <a:rPr lang="en-US" b="1" dirty="0">
                <a:solidFill>
                  <a:srgbClr val="00004C"/>
                </a:solidFill>
              </a:rPr>
              <a:t>Execute: </a:t>
            </a:r>
            <a:r>
              <a:rPr lang="en-US" dirty="0">
                <a:solidFill>
                  <a:srgbClr val="00004C"/>
                </a:solidFill>
              </a:rPr>
              <a:t>exploit or run – Attempts access, handles payloads automatically</a:t>
            </a:r>
            <a:endParaRPr lang="en-US" b="1" dirty="0">
              <a:solidFill>
                <a:srgbClr val="00004C"/>
              </a:solidFill>
            </a:endParaRPr>
          </a:p>
          <a:p>
            <a:pPr lvl="2"/>
            <a:r>
              <a:rPr lang="en-US" b="1" dirty="0">
                <a:solidFill>
                  <a:srgbClr val="00004C"/>
                </a:solidFill>
              </a:rPr>
              <a:t>Example Output: </a:t>
            </a:r>
            <a:r>
              <a:rPr lang="en-US" dirty="0">
                <a:solidFill>
                  <a:srgbClr val="00004C"/>
                </a:solidFill>
              </a:rPr>
              <a:t>Successful RCE → Meterpreter session for disrupting adversary services</a:t>
            </a:r>
          </a:p>
        </p:txBody>
      </p:sp>
      <p:sp>
        <p:nvSpPr>
          <p:cNvPr id="3" name="Title 2">
            <a:extLst>
              <a:ext uri="{FF2B5EF4-FFF2-40B4-BE49-F238E27FC236}">
                <a16:creationId xmlns:a16="http://schemas.microsoft.com/office/drawing/2014/main" id="{C64C6455-58C0-BC47-4C29-087E40D3E3CD}"/>
              </a:ext>
            </a:extLst>
          </p:cNvPr>
          <p:cNvSpPr>
            <a:spLocks noGrp="1"/>
          </p:cNvSpPr>
          <p:nvPr>
            <p:ph type="title"/>
          </p:nvPr>
        </p:nvSpPr>
        <p:spPr/>
        <p:txBody>
          <a:bodyPr/>
          <a:lstStyle/>
          <a:p>
            <a:r>
              <a:rPr lang="en-US" dirty="0">
                <a:solidFill>
                  <a:srgbClr val="00004C"/>
                </a:solidFill>
              </a:rPr>
              <a:t>Open-Source Exploit Ecosystem</a:t>
            </a:r>
          </a:p>
        </p:txBody>
      </p:sp>
    </p:spTree>
    <p:extLst>
      <p:ext uri="{BB962C8B-B14F-4D97-AF65-F5344CB8AC3E}">
        <p14:creationId xmlns:p14="http://schemas.microsoft.com/office/powerpoint/2010/main" val="15534870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4E1F2F-1883-2BB8-39DF-AEF9FA7F5EFB}"/>
              </a:ext>
            </a:extLst>
          </p:cNvPr>
          <p:cNvSpPr>
            <a:spLocks noGrp="1"/>
          </p:cNvSpPr>
          <p:nvPr>
            <p:ph type="body" idx="1"/>
          </p:nvPr>
        </p:nvSpPr>
        <p:spPr/>
        <p:txBody>
          <a:bodyPr/>
          <a:lstStyle/>
          <a:p>
            <a:pPr algn="l"/>
            <a:r>
              <a:rPr lang="en-US" b="1" i="0" dirty="0">
                <a:solidFill>
                  <a:srgbClr val="172B4D"/>
                </a:solidFill>
                <a:effectLst/>
                <a:latin typeface="-apple-system"/>
              </a:rPr>
              <a:t>Exploit Frameworks (Metasploit Modules)</a:t>
            </a:r>
          </a:p>
          <a:p>
            <a:pPr marL="169329" indent="0" algn="l">
              <a:buNone/>
            </a:pPr>
            <a:endParaRPr lang="en-US" b="1" dirty="0">
              <a:solidFill>
                <a:srgbClr val="00004C"/>
              </a:solidFill>
            </a:endParaRPr>
          </a:p>
          <a:p>
            <a:pPr lvl="1"/>
            <a:r>
              <a:rPr lang="en-US" b="1" dirty="0">
                <a:solidFill>
                  <a:srgbClr val="00004C"/>
                </a:solidFill>
              </a:rPr>
              <a:t>Ties to Course and Blue Space</a:t>
            </a:r>
          </a:p>
          <a:p>
            <a:pPr lvl="2"/>
            <a:r>
              <a:rPr lang="en-US" b="1" dirty="0">
                <a:solidFill>
                  <a:srgbClr val="00004C"/>
                </a:solidFill>
              </a:rPr>
              <a:t>Integrates prior lessons: </a:t>
            </a:r>
            <a:r>
              <a:rPr lang="en-US" dirty="0">
                <a:solidFill>
                  <a:srgbClr val="00004C"/>
                </a:solidFill>
              </a:rPr>
              <a:t>Feed Nmap -</a:t>
            </a:r>
            <a:r>
              <a:rPr lang="en-US" dirty="0" err="1">
                <a:solidFill>
                  <a:srgbClr val="00004C"/>
                </a:solidFill>
              </a:rPr>
              <a:t>sV</a:t>
            </a:r>
            <a:r>
              <a:rPr lang="en-US" dirty="0">
                <a:solidFill>
                  <a:srgbClr val="00004C"/>
                </a:solidFill>
              </a:rPr>
              <a:t> results (e.g., Apache version) into module options for targeted testing</a:t>
            </a:r>
          </a:p>
          <a:p>
            <a:pPr marL="1430831" lvl="2" indent="0">
              <a:buNone/>
            </a:pPr>
            <a:endParaRPr lang="en-US" dirty="0">
              <a:solidFill>
                <a:srgbClr val="00004C"/>
              </a:solidFill>
            </a:endParaRPr>
          </a:p>
          <a:p>
            <a:pPr lvl="2"/>
            <a:r>
              <a:rPr lang="en-US" b="1" dirty="0">
                <a:solidFill>
                  <a:srgbClr val="00004C"/>
                </a:solidFill>
              </a:rPr>
              <a:t>Lab Prep: </a:t>
            </a:r>
            <a:r>
              <a:rPr lang="en-US" dirty="0">
                <a:solidFill>
                  <a:srgbClr val="00004C"/>
                </a:solidFill>
              </a:rPr>
              <a:t>Use in isolated environments to validate exploits before live deployment against covert targets</a:t>
            </a:r>
          </a:p>
          <a:p>
            <a:pPr marL="1430831" lvl="2" indent="0">
              <a:buNone/>
            </a:pPr>
            <a:endParaRPr lang="en-US" dirty="0">
              <a:solidFill>
                <a:srgbClr val="00004C"/>
              </a:solidFill>
            </a:endParaRPr>
          </a:p>
          <a:p>
            <a:pPr lvl="2"/>
            <a:r>
              <a:rPr lang="en-US" b="1" dirty="0">
                <a:solidFill>
                  <a:srgbClr val="00004C"/>
                </a:solidFill>
              </a:rPr>
              <a:t>Advantage: </a:t>
            </a:r>
            <a:r>
              <a:rPr lang="en-US" dirty="0">
                <a:solidFill>
                  <a:srgbClr val="00004C"/>
                </a:solidFill>
              </a:rPr>
              <a:t>From blue space, run sessions with full logging/control, unlike manual scripts; enables rapid iteration for precise counterstrike effects</a:t>
            </a:r>
          </a:p>
        </p:txBody>
      </p:sp>
      <p:sp>
        <p:nvSpPr>
          <p:cNvPr id="3" name="Title 2">
            <a:extLst>
              <a:ext uri="{FF2B5EF4-FFF2-40B4-BE49-F238E27FC236}">
                <a16:creationId xmlns:a16="http://schemas.microsoft.com/office/drawing/2014/main" id="{C64C6455-58C0-BC47-4C29-087E40D3E3CD}"/>
              </a:ext>
            </a:extLst>
          </p:cNvPr>
          <p:cNvSpPr>
            <a:spLocks noGrp="1"/>
          </p:cNvSpPr>
          <p:nvPr>
            <p:ph type="title"/>
          </p:nvPr>
        </p:nvSpPr>
        <p:spPr/>
        <p:txBody>
          <a:bodyPr/>
          <a:lstStyle/>
          <a:p>
            <a:r>
              <a:rPr lang="en-US" dirty="0">
                <a:solidFill>
                  <a:srgbClr val="00004C"/>
                </a:solidFill>
              </a:rPr>
              <a:t>Open-Source Exploit Ecosystem</a:t>
            </a:r>
          </a:p>
        </p:txBody>
      </p:sp>
    </p:spTree>
    <p:extLst>
      <p:ext uri="{BB962C8B-B14F-4D97-AF65-F5344CB8AC3E}">
        <p14:creationId xmlns:p14="http://schemas.microsoft.com/office/powerpoint/2010/main" val="28652272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4E1F2F-1883-2BB8-39DF-AEF9FA7F5EFB}"/>
              </a:ext>
            </a:extLst>
          </p:cNvPr>
          <p:cNvSpPr>
            <a:spLocks noGrp="1"/>
          </p:cNvSpPr>
          <p:nvPr>
            <p:ph type="body" idx="1"/>
          </p:nvPr>
        </p:nvSpPr>
        <p:spPr/>
        <p:txBody>
          <a:bodyPr/>
          <a:lstStyle/>
          <a:p>
            <a:r>
              <a:rPr lang="en-US" b="1" dirty="0">
                <a:solidFill>
                  <a:srgbClr val="00004C"/>
                </a:solidFill>
              </a:rPr>
              <a:t>Custom Exploit Development (Out of Scope)</a:t>
            </a:r>
          </a:p>
          <a:p>
            <a:endParaRPr lang="en-US" dirty="0">
              <a:solidFill>
                <a:srgbClr val="00004C"/>
              </a:solidFill>
            </a:endParaRPr>
          </a:p>
          <a:p>
            <a:pPr lvl="1">
              <a:buFont typeface="Arial" panose="020B0604020202020204" pitchFamily="34" charset="0"/>
              <a:buChar char="•"/>
            </a:pPr>
            <a:r>
              <a:rPr lang="en-US" b="0" i="0" dirty="0">
                <a:solidFill>
                  <a:srgbClr val="00004C"/>
                </a:solidFill>
                <a:effectLst/>
              </a:rPr>
              <a:t>Custom exploit development is advanced, in this course the focus is on leveraging existing open-source</a:t>
            </a:r>
          </a:p>
          <a:p>
            <a:pPr marL="795847" lvl="1" indent="0">
              <a:buNone/>
            </a:pPr>
            <a:endParaRPr lang="en-US" b="0" i="0" dirty="0">
              <a:solidFill>
                <a:srgbClr val="00004C"/>
              </a:solidFill>
              <a:effectLst/>
            </a:endParaRPr>
          </a:p>
          <a:p>
            <a:pPr lvl="1">
              <a:buFont typeface="Arial" panose="020B0604020202020204" pitchFamily="34" charset="0"/>
              <a:buChar char="•"/>
            </a:pPr>
            <a:r>
              <a:rPr lang="en-US" b="0" i="0" dirty="0">
                <a:solidFill>
                  <a:srgbClr val="00004C"/>
                </a:solidFill>
                <a:effectLst/>
              </a:rPr>
              <a:t>If needed, reference custom development for future training</a:t>
            </a:r>
          </a:p>
          <a:p>
            <a:pPr marL="795847" lvl="1" indent="0">
              <a:buNone/>
            </a:pPr>
            <a:endParaRPr lang="en-US" b="0" i="0" dirty="0">
              <a:solidFill>
                <a:srgbClr val="00004C"/>
              </a:solidFill>
              <a:effectLst/>
            </a:endParaRPr>
          </a:p>
          <a:p>
            <a:pPr lvl="1">
              <a:buFont typeface="Arial" panose="020B0604020202020204" pitchFamily="34" charset="0"/>
              <a:buChar char="•"/>
            </a:pPr>
            <a:r>
              <a:rPr lang="en-US" b="1" i="0" dirty="0">
                <a:solidFill>
                  <a:srgbClr val="00004C"/>
                </a:solidFill>
                <a:effectLst/>
              </a:rPr>
              <a:t>Emphasis: </a:t>
            </a:r>
            <a:r>
              <a:rPr lang="en-US" b="0" i="0" dirty="0">
                <a:solidFill>
                  <a:srgbClr val="00004C"/>
                </a:solidFill>
                <a:effectLst/>
              </a:rPr>
              <a:t>Reuse community work to accelerate counterstrike planning from blue vantage</a:t>
            </a:r>
          </a:p>
          <a:p>
            <a:pPr lvl="1"/>
            <a:endParaRPr lang="en-US" dirty="0"/>
          </a:p>
        </p:txBody>
      </p:sp>
      <p:sp>
        <p:nvSpPr>
          <p:cNvPr id="3" name="Title 2">
            <a:extLst>
              <a:ext uri="{FF2B5EF4-FFF2-40B4-BE49-F238E27FC236}">
                <a16:creationId xmlns:a16="http://schemas.microsoft.com/office/drawing/2014/main" id="{C64C6455-58C0-BC47-4C29-087E40D3E3CD}"/>
              </a:ext>
            </a:extLst>
          </p:cNvPr>
          <p:cNvSpPr>
            <a:spLocks noGrp="1"/>
          </p:cNvSpPr>
          <p:nvPr>
            <p:ph type="title"/>
          </p:nvPr>
        </p:nvSpPr>
        <p:spPr/>
        <p:txBody>
          <a:bodyPr/>
          <a:lstStyle/>
          <a:p>
            <a:r>
              <a:rPr lang="en-US" dirty="0">
                <a:solidFill>
                  <a:srgbClr val="00004C"/>
                </a:solidFill>
              </a:rPr>
              <a:t>Open-Source Exploit Ecosystem</a:t>
            </a:r>
          </a:p>
        </p:txBody>
      </p:sp>
    </p:spTree>
    <p:extLst>
      <p:ext uri="{BB962C8B-B14F-4D97-AF65-F5344CB8AC3E}">
        <p14:creationId xmlns:p14="http://schemas.microsoft.com/office/powerpoint/2010/main" val="13706491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4E1F2F-1883-2BB8-39DF-AEF9FA7F5EFB}"/>
              </a:ext>
            </a:extLst>
          </p:cNvPr>
          <p:cNvSpPr>
            <a:spLocks noGrp="1"/>
          </p:cNvSpPr>
          <p:nvPr>
            <p:ph type="body" idx="1"/>
          </p:nvPr>
        </p:nvSpPr>
        <p:spPr/>
        <p:txBody>
          <a:bodyPr/>
          <a:lstStyle/>
          <a:p>
            <a:r>
              <a:rPr lang="en-US" b="1" dirty="0">
                <a:solidFill>
                  <a:srgbClr val="00004C"/>
                </a:solidFill>
              </a:rPr>
              <a:t>Reliability Assessment</a:t>
            </a:r>
          </a:p>
          <a:p>
            <a:endParaRPr lang="en-US" dirty="0"/>
          </a:p>
          <a:p>
            <a:pPr lvl="1"/>
            <a:r>
              <a:rPr lang="en-US" dirty="0">
                <a:solidFill>
                  <a:srgbClr val="00004C"/>
                </a:solidFill>
              </a:rPr>
              <a:t>Determine if the exploit works consistently across different versions and configurations by reviewing its documented performance and testing it in a simulated adversary environment to verify success rates.</a:t>
            </a:r>
          </a:p>
          <a:p>
            <a:pPr marL="795847" lvl="1" indent="0">
              <a:buNone/>
            </a:pPr>
            <a:endParaRPr lang="en-US" dirty="0">
              <a:solidFill>
                <a:srgbClr val="00004C"/>
              </a:solidFill>
            </a:endParaRPr>
          </a:p>
          <a:p>
            <a:pPr lvl="1"/>
            <a:r>
              <a:rPr lang="en-US" dirty="0">
                <a:solidFill>
                  <a:srgbClr val="00004C"/>
                </a:solidFill>
              </a:rPr>
              <a:t>In operational contexts, prioritize proven exploits that have demonstrated high reliability to ensure predictable effects when targeting covert infrastructure for counterstrike operations.</a:t>
            </a:r>
          </a:p>
        </p:txBody>
      </p:sp>
      <p:sp>
        <p:nvSpPr>
          <p:cNvPr id="3" name="Title 2">
            <a:extLst>
              <a:ext uri="{FF2B5EF4-FFF2-40B4-BE49-F238E27FC236}">
                <a16:creationId xmlns:a16="http://schemas.microsoft.com/office/drawing/2014/main" id="{C64C6455-58C0-BC47-4C29-087E40D3E3CD}"/>
              </a:ext>
            </a:extLst>
          </p:cNvPr>
          <p:cNvSpPr>
            <a:spLocks noGrp="1"/>
          </p:cNvSpPr>
          <p:nvPr>
            <p:ph type="title"/>
          </p:nvPr>
        </p:nvSpPr>
        <p:spPr/>
        <p:txBody>
          <a:bodyPr/>
          <a:lstStyle/>
          <a:p>
            <a:r>
              <a:rPr lang="en-US" dirty="0">
                <a:solidFill>
                  <a:srgbClr val="00004C"/>
                </a:solidFill>
              </a:rPr>
              <a:t>Open-Source Exploit Ecosystem</a:t>
            </a:r>
          </a:p>
        </p:txBody>
      </p:sp>
    </p:spTree>
    <p:extLst>
      <p:ext uri="{BB962C8B-B14F-4D97-AF65-F5344CB8AC3E}">
        <p14:creationId xmlns:p14="http://schemas.microsoft.com/office/powerpoint/2010/main" val="26209609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4E1F2F-1883-2BB8-39DF-AEF9FA7F5EFB}"/>
              </a:ext>
            </a:extLst>
          </p:cNvPr>
          <p:cNvSpPr>
            <a:spLocks noGrp="1"/>
          </p:cNvSpPr>
          <p:nvPr>
            <p:ph type="body" idx="1"/>
          </p:nvPr>
        </p:nvSpPr>
        <p:spPr/>
        <p:txBody>
          <a:bodyPr/>
          <a:lstStyle/>
          <a:p>
            <a:r>
              <a:rPr lang="en-US" b="1" dirty="0">
                <a:solidFill>
                  <a:srgbClr val="00004C"/>
                </a:solidFill>
              </a:rPr>
              <a:t>Stability Check</a:t>
            </a:r>
          </a:p>
          <a:p>
            <a:endParaRPr lang="en-US" dirty="0">
              <a:solidFill>
                <a:srgbClr val="00004C"/>
              </a:solidFill>
            </a:endParaRPr>
          </a:p>
          <a:p>
            <a:pPr lvl="1"/>
            <a:r>
              <a:rPr lang="en-US" dirty="0">
                <a:solidFill>
                  <a:srgbClr val="00004C"/>
                </a:solidFill>
              </a:rPr>
              <a:t>Assess whether the exploit risks crashing the target system without achieving the intended effect, such as through unintended buffer overflows that result in denial of service rather than remote code execution.</a:t>
            </a:r>
          </a:p>
          <a:p>
            <a:pPr marL="795847" lvl="1" indent="0">
              <a:buNone/>
            </a:pPr>
            <a:endParaRPr lang="en-US" dirty="0">
              <a:solidFill>
                <a:srgbClr val="00004C"/>
              </a:solidFill>
            </a:endParaRPr>
          </a:p>
          <a:p>
            <a:pPr lvl="1"/>
            <a:r>
              <a:rPr lang="en-US" dirty="0">
                <a:solidFill>
                  <a:srgbClr val="00004C"/>
                </a:solidFill>
              </a:rPr>
              <a:t>Leverage blue space advantages by conducting stability tests in isolated labs, allowing optimization for persistent disruption of adversary nodes without real-world operational risks.</a:t>
            </a:r>
          </a:p>
        </p:txBody>
      </p:sp>
      <p:sp>
        <p:nvSpPr>
          <p:cNvPr id="3" name="Title 2">
            <a:extLst>
              <a:ext uri="{FF2B5EF4-FFF2-40B4-BE49-F238E27FC236}">
                <a16:creationId xmlns:a16="http://schemas.microsoft.com/office/drawing/2014/main" id="{C64C6455-58C0-BC47-4C29-087E40D3E3CD}"/>
              </a:ext>
            </a:extLst>
          </p:cNvPr>
          <p:cNvSpPr>
            <a:spLocks noGrp="1"/>
          </p:cNvSpPr>
          <p:nvPr>
            <p:ph type="title"/>
          </p:nvPr>
        </p:nvSpPr>
        <p:spPr/>
        <p:txBody>
          <a:bodyPr/>
          <a:lstStyle/>
          <a:p>
            <a:r>
              <a:rPr lang="en-US" dirty="0">
                <a:solidFill>
                  <a:srgbClr val="00004C"/>
                </a:solidFill>
              </a:rPr>
              <a:t>Open-Source Exploit Ecosystem</a:t>
            </a:r>
          </a:p>
        </p:txBody>
      </p:sp>
    </p:spTree>
    <p:extLst>
      <p:ext uri="{BB962C8B-B14F-4D97-AF65-F5344CB8AC3E}">
        <p14:creationId xmlns:p14="http://schemas.microsoft.com/office/powerpoint/2010/main" val="9726360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4E1F2F-1883-2BB8-39DF-AEF9FA7F5EFB}"/>
              </a:ext>
            </a:extLst>
          </p:cNvPr>
          <p:cNvSpPr>
            <a:spLocks noGrp="1"/>
          </p:cNvSpPr>
          <p:nvPr>
            <p:ph type="body" idx="1"/>
          </p:nvPr>
        </p:nvSpPr>
        <p:spPr/>
        <p:txBody>
          <a:bodyPr/>
          <a:lstStyle/>
          <a:p>
            <a:r>
              <a:rPr lang="en-US" b="1" dirty="0">
                <a:solidFill>
                  <a:srgbClr val="00004C"/>
                </a:solidFill>
              </a:rPr>
              <a:t>Requirements Review</a:t>
            </a:r>
          </a:p>
          <a:p>
            <a:endParaRPr lang="en-US" dirty="0">
              <a:solidFill>
                <a:srgbClr val="00004C"/>
              </a:solidFill>
            </a:endParaRPr>
          </a:p>
          <a:p>
            <a:pPr lvl="1"/>
            <a:r>
              <a:rPr lang="en-US" dirty="0">
                <a:solidFill>
                  <a:srgbClr val="00004C"/>
                </a:solidFill>
              </a:rPr>
              <a:t>Identify any preconditions for the exploit, such as specific file paths, required credentials, or network configurations, and cross-reference them against reconnaissance data (e.g., confirming an /admin directory exists via prior enumeration).</a:t>
            </a:r>
          </a:p>
          <a:p>
            <a:pPr marL="795847" lvl="1" indent="0">
              <a:buNone/>
            </a:pPr>
            <a:endParaRPr lang="en-US" dirty="0">
              <a:solidFill>
                <a:srgbClr val="00004C"/>
              </a:solidFill>
            </a:endParaRPr>
          </a:p>
          <a:p>
            <a:pPr lvl="1"/>
            <a:r>
              <a:rPr lang="en-US" dirty="0">
                <a:solidFill>
                  <a:srgbClr val="00004C"/>
                </a:solidFill>
              </a:rPr>
              <a:t>For counterstrike operations, ensure these requirements align with access paths launched from blue space to facilitate seamless initial access to adversary infrastructure.</a:t>
            </a:r>
          </a:p>
        </p:txBody>
      </p:sp>
      <p:sp>
        <p:nvSpPr>
          <p:cNvPr id="3" name="Title 2">
            <a:extLst>
              <a:ext uri="{FF2B5EF4-FFF2-40B4-BE49-F238E27FC236}">
                <a16:creationId xmlns:a16="http://schemas.microsoft.com/office/drawing/2014/main" id="{C64C6455-58C0-BC47-4C29-087E40D3E3CD}"/>
              </a:ext>
            </a:extLst>
          </p:cNvPr>
          <p:cNvSpPr>
            <a:spLocks noGrp="1"/>
          </p:cNvSpPr>
          <p:nvPr>
            <p:ph type="title"/>
          </p:nvPr>
        </p:nvSpPr>
        <p:spPr/>
        <p:txBody>
          <a:bodyPr/>
          <a:lstStyle/>
          <a:p>
            <a:r>
              <a:rPr lang="en-US" dirty="0">
                <a:solidFill>
                  <a:srgbClr val="00004C"/>
                </a:solidFill>
              </a:rPr>
              <a:t>Open-Source Exploit Ecosystem</a:t>
            </a:r>
          </a:p>
        </p:txBody>
      </p:sp>
    </p:spTree>
    <p:extLst>
      <p:ext uri="{BB962C8B-B14F-4D97-AF65-F5344CB8AC3E}">
        <p14:creationId xmlns:p14="http://schemas.microsoft.com/office/powerpoint/2010/main" val="23051576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4E1F2F-1883-2BB8-39DF-AEF9FA7F5EFB}"/>
              </a:ext>
            </a:extLst>
          </p:cNvPr>
          <p:cNvSpPr>
            <a:spLocks noGrp="1"/>
          </p:cNvSpPr>
          <p:nvPr>
            <p:ph type="body" idx="1"/>
          </p:nvPr>
        </p:nvSpPr>
        <p:spPr/>
        <p:txBody>
          <a:bodyPr/>
          <a:lstStyle/>
          <a:p>
            <a:r>
              <a:rPr lang="en-US" b="1" dirty="0">
                <a:solidFill>
                  <a:srgbClr val="00004C"/>
                </a:solidFill>
              </a:rPr>
              <a:t>OPSEC Evaluation</a:t>
            </a:r>
          </a:p>
          <a:p>
            <a:endParaRPr lang="en-US" dirty="0">
              <a:solidFill>
                <a:srgbClr val="00004C"/>
              </a:solidFill>
            </a:endParaRPr>
          </a:p>
          <a:p>
            <a:pPr lvl="1"/>
            <a:r>
              <a:rPr lang="en-US" dirty="0">
                <a:solidFill>
                  <a:srgbClr val="00004C"/>
                </a:solidFill>
              </a:rPr>
              <a:t>Evaluate the noisiness of the exploit, such as whether it generates detectable alerts through multiple failed attempts or anomalous traffic patterns that could alert adversary defenders.</a:t>
            </a:r>
          </a:p>
          <a:p>
            <a:pPr marL="795847" lvl="1" indent="0">
              <a:buNone/>
            </a:pPr>
            <a:endParaRPr lang="en-US" dirty="0">
              <a:solidFill>
                <a:srgbClr val="00004C"/>
              </a:solidFill>
            </a:endParaRPr>
          </a:p>
          <a:p>
            <a:pPr lvl="1"/>
            <a:r>
              <a:rPr lang="en-US" dirty="0">
                <a:solidFill>
                  <a:srgbClr val="00004C"/>
                </a:solidFill>
              </a:rPr>
              <a:t>From blue space, enhance OPSEC by blending exploit traffic with patterns the adversary expects, reducing detection risks compared to launches from unrelated or covert infrastructure.</a:t>
            </a:r>
          </a:p>
        </p:txBody>
      </p:sp>
      <p:sp>
        <p:nvSpPr>
          <p:cNvPr id="3" name="Title 2">
            <a:extLst>
              <a:ext uri="{FF2B5EF4-FFF2-40B4-BE49-F238E27FC236}">
                <a16:creationId xmlns:a16="http://schemas.microsoft.com/office/drawing/2014/main" id="{C64C6455-58C0-BC47-4C29-087E40D3E3CD}"/>
              </a:ext>
            </a:extLst>
          </p:cNvPr>
          <p:cNvSpPr>
            <a:spLocks noGrp="1"/>
          </p:cNvSpPr>
          <p:nvPr>
            <p:ph type="title"/>
          </p:nvPr>
        </p:nvSpPr>
        <p:spPr/>
        <p:txBody>
          <a:bodyPr/>
          <a:lstStyle/>
          <a:p>
            <a:r>
              <a:rPr lang="en-US" dirty="0">
                <a:solidFill>
                  <a:srgbClr val="00004C"/>
                </a:solidFill>
              </a:rPr>
              <a:t>Open-Source Exploit Ecosystem</a:t>
            </a:r>
          </a:p>
        </p:txBody>
      </p:sp>
    </p:spTree>
    <p:extLst>
      <p:ext uri="{BB962C8B-B14F-4D97-AF65-F5344CB8AC3E}">
        <p14:creationId xmlns:p14="http://schemas.microsoft.com/office/powerpoint/2010/main" val="16604311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4E1F2F-1883-2BB8-39DF-AEF9FA7F5EFB}"/>
              </a:ext>
            </a:extLst>
          </p:cNvPr>
          <p:cNvSpPr>
            <a:spLocks noGrp="1"/>
          </p:cNvSpPr>
          <p:nvPr>
            <p:ph type="body" idx="1"/>
          </p:nvPr>
        </p:nvSpPr>
        <p:spPr/>
        <p:txBody>
          <a:bodyPr/>
          <a:lstStyle/>
          <a:p>
            <a:r>
              <a:rPr lang="en-US" b="1" dirty="0" err="1">
                <a:solidFill>
                  <a:srgbClr val="00004C"/>
                </a:solidFill>
              </a:rPr>
              <a:t>Searchsploit</a:t>
            </a:r>
            <a:r>
              <a:rPr lang="en-US" b="1" dirty="0">
                <a:solidFill>
                  <a:srgbClr val="00004C"/>
                </a:solidFill>
              </a:rPr>
              <a:t> Basics</a:t>
            </a:r>
          </a:p>
          <a:p>
            <a:endParaRPr lang="en-US" dirty="0">
              <a:solidFill>
                <a:srgbClr val="00004C"/>
              </a:solidFill>
            </a:endParaRPr>
          </a:p>
          <a:p>
            <a:pPr lvl="1"/>
            <a:r>
              <a:rPr lang="en-US" b="1" dirty="0">
                <a:solidFill>
                  <a:srgbClr val="00004C"/>
                </a:solidFill>
              </a:rPr>
              <a:t>Install: </a:t>
            </a:r>
            <a:r>
              <a:rPr lang="en-US" dirty="0">
                <a:solidFill>
                  <a:srgbClr val="00004C"/>
                </a:solidFill>
              </a:rPr>
              <a:t>Part of Kali; update with </a:t>
            </a:r>
            <a:r>
              <a:rPr lang="en-US" dirty="0" err="1">
                <a:solidFill>
                  <a:srgbClr val="00004C"/>
                </a:solidFill>
              </a:rPr>
              <a:t>searchsploit</a:t>
            </a:r>
            <a:r>
              <a:rPr lang="en-US" dirty="0">
                <a:solidFill>
                  <a:srgbClr val="00004C"/>
                </a:solidFill>
              </a:rPr>
              <a:t> –u</a:t>
            </a:r>
          </a:p>
          <a:p>
            <a:pPr lvl="1"/>
            <a:endParaRPr lang="en-US" dirty="0">
              <a:solidFill>
                <a:srgbClr val="00004C"/>
              </a:solidFill>
            </a:endParaRPr>
          </a:p>
          <a:p>
            <a:pPr lvl="1"/>
            <a:r>
              <a:rPr lang="en-US" b="1" dirty="0">
                <a:solidFill>
                  <a:srgbClr val="00004C"/>
                </a:solidFill>
              </a:rPr>
              <a:t>Syntax: </a:t>
            </a:r>
            <a:r>
              <a:rPr lang="en-US" dirty="0" err="1">
                <a:solidFill>
                  <a:srgbClr val="00004C"/>
                </a:solidFill>
              </a:rPr>
              <a:t>searchsploit</a:t>
            </a:r>
            <a:r>
              <a:rPr lang="en-US" dirty="0">
                <a:solidFill>
                  <a:srgbClr val="00004C"/>
                </a:solidFill>
              </a:rPr>
              <a:t> [app] [version] [platform]</a:t>
            </a:r>
          </a:p>
          <a:p>
            <a:pPr lvl="1"/>
            <a:endParaRPr lang="en-US" dirty="0">
              <a:solidFill>
                <a:srgbClr val="00004C"/>
              </a:solidFill>
            </a:endParaRPr>
          </a:p>
          <a:p>
            <a:pPr lvl="1"/>
            <a:r>
              <a:rPr lang="en-US" b="1" dirty="0">
                <a:solidFill>
                  <a:srgbClr val="00004C"/>
                </a:solidFill>
              </a:rPr>
              <a:t>Example: </a:t>
            </a:r>
            <a:r>
              <a:rPr lang="en-US" dirty="0" err="1">
                <a:solidFill>
                  <a:srgbClr val="00004C"/>
                </a:solidFill>
              </a:rPr>
              <a:t>searchsploit</a:t>
            </a:r>
            <a:r>
              <a:rPr lang="en-US" dirty="0">
                <a:solidFill>
                  <a:srgbClr val="00004C"/>
                </a:solidFill>
              </a:rPr>
              <a:t> ssh 7.4 </a:t>
            </a:r>
            <a:r>
              <a:rPr lang="en-US" dirty="0" err="1">
                <a:solidFill>
                  <a:srgbClr val="00004C"/>
                </a:solidFill>
              </a:rPr>
              <a:t>linux</a:t>
            </a:r>
            <a:r>
              <a:rPr lang="en-US" dirty="0">
                <a:solidFill>
                  <a:srgbClr val="00004C"/>
                </a:solidFill>
              </a:rPr>
              <a:t> → Lists exploits for enumerated SSH</a:t>
            </a:r>
          </a:p>
        </p:txBody>
      </p:sp>
      <p:sp>
        <p:nvSpPr>
          <p:cNvPr id="3" name="Title 2">
            <a:extLst>
              <a:ext uri="{FF2B5EF4-FFF2-40B4-BE49-F238E27FC236}">
                <a16:creationId xmlns:a16="http://schemas.microsoft.com/office/drawing/2014/main" id="{C64C6455-58C0-BC47-4C29-087E40D3E3CD}"/>
              </a:ext>
            </a:extLst>
          </p:cNvPr>
          <p:cNvSpPr>
            <a:spLocks noGrp="1"/>
          </p:cNvSpPr>
          <p:nvPr>
            <p:ph type="title"/>
          </p:nvPr>
        </p:nvSpPr>
        <p:spPr/>
        <p:txBody>
          <a:bodyPr/>
          <a:lstStyle/>
          <a:p>
            <a:r>
              <a:rPr lang="en-US" dirty="0">
                <a:solidFill>
                  <a:srgbClr val="00004C"/>
                </a:solidFill>
              </a:rPr>
              <a:t>Open-Source Exploit Ecosystem</a:t>
            </a:r>
          </a:p>
        </p:txBody>
      </p:sp>
    </p:spTree>
    <p:extLst>
      <p:ext uri="{BB962C8B-B14F-4D97-AF65-F5344CB8AC3E}">
        <p14:creationId xmlns:p14="http://schemas.microsoft.com/office/powerpoint/2010/main" val="7117797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4E1F2F-1883-2BB8-39DF-AEF9FA7F5EFB}"/>
              </a:ext>
            </a:extLst>
          </p:cNvPr>
          <p:cNvSpPr>
            <a:spLocks noGrp="1"/>
          </p:cNvSpPr>
          <p:nvPr>
            <p:ph type="body" idx="1"/>
          </p:nvPr>
        </p:nvSpPr>
        <p:spPr/>
        <p:txBody>
          <a:bodyPr/>
          <a:lstStyle/>
          <a:p>
            <a:r>
              <a:rPr lang="en-US" b="1" dirty="0">
                <a:solidFill>
                  <a:srgbClr val="00004C"/>
                </a:solidFill>
              </a:rPr>
              <a:t>Details and Usage</a:t>
            </a:r>
          </a:p>
          <a:p>
            <a:endParaRPr lang="en-US" dirty="0"/>
          </a:p>
          <a:p>
            <a:pPr lvl="1"/>
            <a:r>
              <a:rPr lang="en-US" b="1" dirty="0">
                <a:solidFill>
                  <a:srgbClr val="00004C"/>
                </a:solidFill>
              </a:rPr>
              <a:t>Output: </a:t>
            </a:r>
            <a:r>
              <a:rPr lang="en-US" dirty="0">
                <a:solidFill>
                  <a:srgbClr val="00004C"/>
                </a:solidFill>
              </a:rPr>
              <a:t>Shows EDB-ID, type, platform</a:t>
            </a:r>
          </a:p>
          <a:p>
            <a:pPr lvl="1"/>
            <a:endParaRPr lang="en-US" dirty="0">
              <a:solidFill>
                <a:srgbClr val="00004C"/>
              </a:solidFill>
            </a:endParaRPr>
          </a:p>
          <a:p>
            <a:pPr lvl="1"/>
            <a:r>
              <a:rPr lang="en-US" b="1" dirty="0">
                <a:solidFill>
                  <a:srgbClr val="00004C"/>
                </a:solidFill>
              </a:rPr>
              <a:t>Examine: </a:t>
            </a:r>
            <a:r>
              <a:rPr lang="en-US" dirty="0" err="1">
                <a:solidFill>
                  <a:srgbClr val="00004C"/>
                </a:solidFill>
              </a:rPr>
              <a:t>searchsploit</a:t>
            </a:r>
            <a:r>
              <a:rPr lang="en-US" dirty="0">
                <a:solidFill>
                  <a:srgbClr val="00004C"/>
                </a:solidFill>
              </a:rPr>
              <a:t> -m [ID] to view full code</a:t>
            </a:r>
          </a:p>
          <a:p>
            <a:pPr lvl="1"/>
            <a:endParaRPr lang="en-US" b="1" dirty="0">
              <a:solidFill>
                <a:srgbClr val="00004C"/>
              </a:solidFill>
            </a:endParaRPr>
          </a:p>
          <a:p>
            <a:pPr lvl="1"/>
            <a:r>
              <a:rPr lang="en-US" b="1" dirty="0">
                <a:solidFill>
                  <a:srgbClr val="00004C"/>
                </a:solidFill>
              </a:rPr>
              <a:t>Copy: </a:t>
            </a:r>
            <a:r>
              <a:rPr lang="en-US" dirty="0" err="1">
                <a:solidFill>
                  <a:srgbClr val="00004C"/>
                </a:solidFill>
              </a:rPr>
              <a:t>searchsploit</a:t>
            </a:r>
            <a:r>
              <a:rPr lang="en-US" dirty="0">
                <a:solidFill>
                  <a:srgbClr val="00004C"/>
                </a:solidFill>
              </a:rPr>
              <a:t> -p [ID] to download for modification</a:t>
            </a:r>
          </a:p>
          <a:p>
            <a:pPr lvl="1"/>
            <a:endParaRPr lang="en-US" b="1" dirty="0">
              <a:solidFill>
                <a:srgbClr val="00004C"/>
              </a:solidFill>
            </a:endParaRPr>
          </a:p>
          <a:p>
            <a:pPr lvl="1"/>
            <a:r>
              <a:rPr lang="en-US" b="1" dirty="0">
                <a:solidFill>
                  <a:srgbClr val="00004C"/>
                </a:solidFill>
              </a:rPr>
              <a:t>Prep for operations: </a:t>
            </a:r>
            <a:r>
              <a:rPr lang="en-US" dirty="0">
                <a:solidFill>
                  <a:srgbClr val="00004C"/>
                </a:solidFill>
              </a:rPr>
              <a:t>Adapt for adversary target</a:t>
            </a:r>
          </a:p>
        </p:txBody>
      </p:sp>
      <p:sp>
        <p:nvSpPr>
          <p:cNvPr id="3" name="Title 2">
            <a:extLst>
              <a:ext uri="{FF2B5EF4-FFF2-40B4-BE49-F238E27FC236}">
                <a16:creationId xmlns:a16="http://schemas.microsoft.com/office/drawing/2014/main" id="{C64C6455-58C0-BC47-4C29-087E40D3E3CD}"/>
              </a:ext>
            </a:extLst>
          </p:cNvPr>
          <p:cNvSpPr>
            <a:spLocks noGrp="1"/>
          </p:cNvSpPr>
          <p:nvPr>
            <p:ph type="title"/>
          </p:nvPr>
        </p:nvSpPr>
        <p:spPr/>
        <p:txBody>
          <a:bodyPr/>
          <a:lstStyle/>
          <a:p>
            <a:r>
              <a:rPr lang="en-US" dirty="0">
                <a:solidFill>
                  <a:srgbClr val="00004C"/>
                </a:solidFill>
              </a:rPr>
              <a:t>Open-Source Exploit Ecosystem</a:t>
            </a:r>
          </a:p>
        </p:txBody>
      </p:sp>
    </p:spTree>
    <p:extLst>
      <p:ext uri="{BB962C8B-B14F-4D97-AF65-F5344CB8AC3E}">
        <p14:creationId xmlns:p14="http://schemas.microsoft.com/office/powerpoint/2010/main" val="18352771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4E1F2F-1883-2BB8-39DF-AEF9FA7F5EFB}"/>
              </a:ext>
            </a:extLst>
          </p:cNvPr>
          <p:cNvSpPr>
            <a:spLocks noGrp="1"/>
          </p:cNvSpPr>
          <p:nvPr>
            <p:ph type="body" idx="1"/>
          </p:nvPr>
        </p:nvSpPr>
        <p:spPr/>
        <p:txBody>
          <a:bodyPr/>
          <a:lstStyle/>
          <a:p>
            <a:r>
              <a:rPr lang="en-US" b="1" dirty="0">
                <a:solidFill>
                  <a:srgbClr val="00004C"/>
                </a:solidFill>
              </a:rPr>
              <a:t>Live Demo: </a:t>
            </a:r>
            <a:r>
              <a:rPr lang="en-US" b="1" dirty="0" err="1">
                <a:solidFill>
                  <a:srgbClr val="00004C"/>
                </a:solidFill>
              </a:rPr>
              <a:t>Searchsploit</a:t>
            </a:r>
            <a:endParaRPr lang="en-US" b="1" dirty="0">
              <a:solidFill>
                <a:srgbClr val="00004C"/>
              </a:solidFill>
            </a:endParaRPr>
          </a:p>
          <a:p>
            <a:endParaRPr lang="en-US" dirty="0">
              <a:solidFill>
                <a:srgbClr val="00004C"/>
              </a:solidFill>
            </a:endParaRPr>
          </a:p>
          <a:p>
            <a:pPr lvl="1"/>
            <a:r>
              <a:rPr lang="en-US" b="1" dirty="0">
                <a:solidFill>
                  <a:srgbClr val="00004C"/>
                </a:solidFill>
              </a:rPr>
              <a:t>Input: </a:t>
            </a:r>
            <a:r>
              <a:rPr lang="en-US" dirty="0">
                <a:solidFill>
                  <a:srgbClr val="00004C"/>
                </a:solidFill>
              </a:rPr>
              <a:t>From demo (e.g., nginx 1.18)</a:t>
            </a:r>
          </a:p>
          <a:p>
            <a:pPr marL="795847" lvl="1" indent="0">
              <a:buNone/>
            </a:pPr>
            <a:endParaRPr lang="en-US" dirty="0">
              <a:solidFill>
                <a:srgbClr val="00004C"/>
              </a:solidFill>
            </a:endParaRPr>
          </a:p>
          <a:p>
            <a:pPr lvl="1"/>
            <a:r>
              <a:rPr lang="en-US" b="1" dirty="0">
                <a:solidFill>
                  <a:srgbClr val="00004C"/>
                </a:solidFill>
              </a:rPr>
              <a:t>Command: </a:t>
            </a:r>
            <a:r>
              <a:rPr lang="en-US" dirty="0" err="1">
                <a:solidFill>
                  <a:srgbClr val="00004C"/>
                </a:solidFill>
              </a:rPr>
              <a:t>searchsploit</a:t>
            </a:r>
            <a:r>
              <a:rPr lang="en-US" dirty="0">
                <a:solidFill>
                  <a:srgbClr val="00004C"/>
                </a:solidFill>
              </a:rPr>
              <a:t> nginx 1.18</a:t>
            </a:r>
          </a:p>
          <a:p>
            <a:pPr marL="795847" lvl="1" indent="0">
              <a:buNone/>
            </a:pPr>
            <a:endParaRPr lang="en-US" dirty="0">
              <a:solidFill>
                <a:srgbClr val="00004C"/>
              </a:solidFill>
            </a:endParaRPr>
          </a:p>
          <a:p>
            <a:pPr lvl="1"/>
            <a:r>
              <a:rPr lang="en-US" b="1" dirty="0">
                <a:solidFill>
                  <a:srgbClr val="00004C"/>
                </a:solidFill>
              </a:rPr>
              <a:t>Results: </a:t>
            </a:r>
            <a:r>
              <a:rPr lang="en-US" dirty="0">
                <a:solidFill>
                  <a:srgbClr val="00004C"/>
                </a:solidFill>
              </a:rPr>
              <a:t>Relevant exploits/</a:t>
            </a:r>
            <a:r>
              <a:rPr lang="en-US" dirty="0" err="1">
                <a:solidFill>
                  <a:srgbClr val="00004C"/>
                </a:solidFill>
              </a:rPr>
              <a:t>PoCs</a:t>
            </a:r>
            <a:endParaRPr lang="en-US" dirty="0">
              <a:solidFill>
                <a:srgbClr val="00004C"/>
              </a:solidFill>
            </a:endParaRPr>
          </a:p>
          <a:p>
            <a:pPr marL="795847" lvl="1" indent="0">
              <a:buNone/>
            </a:pPr>
            <a:endParaRPr lang="en-US" dirty="0">
              <a:solidFill>
                <a:srgbClr val="00004C"/>
              </a:solidFill>
            </a:endParaRPr>
          </a:p>
          <a:p>
            <a:pPr lvl="1"/>
            <a:r>
              <a:rPr lang="en-US" b="1" dirty="0">
                <a:solidFill>
                  <a:srgbClr val="00004C"/>
                </a:solidFill>
              </a:rPr>
              <a:t>Interpretation: </a:t>
            </a:r>
            <a:r>
              <a:rPr lang="en-US" dirty="0">
                <a:solidFill>
                  <a:srgbClr val="00004C"/>
                </a:solidFill>
              </a:rPr>
              <a:t>Select for potential counterstrike vector</a:t>
            </a:r>
          </a:p>
        </p:txBody>
      </p:sp>
      <p:sp>
        <p:nvSpPr>
          <p:cNvPr id="3" name="Title 2">
            <a:extLst>
              <a:ext uri="{FF2B5EF4-FFF2-40B4-BE49-F238E27FC236}">
                <a16:creationId xmlns:a16="http://schemas.microsoft.com/office/drawing/2014/main" id="{C64C6455-58C0-BC47-4C29-087E40D3E3CD}"/>
              </a:ext>
            </a:extLst>
          </p:cNvPr>
          <p:cNvSpPr>
            <a:spLocks noGrp="1"/>
          </p:cNvSpPr>
          <p:nvPr>
            <p:ph type="title"/>
          </p:nvPr>
        </p:nvSpPr>
        <p:spPr/>
        <p:txBody>
          <a:bodyPr/>
          <a:lstStyle/>
          <a:p>
            <a:r>
              <a:rPr lang="en-US" dirty="0">
                <a:solidFill>
                  <a:srgbClr val="00004C"/>
                </a:solidFill>
              </a:rPr>
              <a:t>Open-Source Exploit Ecosystem</a:t>
            </a:r>
          </a:p>
        </p:txBody>
      </p:sp>
    </p:spTree>
    <p:extLst>
      <p:ext uri="{BB962C8B-B14F-4D97-AF65-F5344CB8AC3E}">
        <p14:creationId xmlns:p14="http://schemas.microsoft.com/office/powerpoint/2010/main" val="22483623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4E1F2F-1883-2BB8-39DF-AEF9FA7F5EFB}"/>
              </a:ext>
            </a:extLst>
          </p:cNvPr>
          <p:cNvSpPr>
            <a:spLocks noGrp="1"/>
          </p:cNvSpPr>
          <p:nvPr>
            <p:ph type="body" idx="1"/>
          </p:nvPr>
        </p:nvSpPr>
        <p:spPr/>
        <p:txBody>
          <a:bodyPr/>
          <a:lstStyle/>
          <a:p>
            <a:r>
              <a:rPr lang="en-US" b="1" dirty="0">
                <a:solidFill>
                  <a:srgbClr val="00004C"/>
                </a:solidFill>
              </a:rPr>
              <a:t>GitHub Search Strategies</a:t>
            </a:r>
          </a:p>
          <a:p>
            <a:endParaRPr lang="en-US" b="1" dirty="0">
              <a:solidFill>
                <a:srgbClr val="00004C"/>
              </a:solidFill>
            </a:endParaRPr>
          </a:p>
          <a:p>
            <a:pPr lvl="1"/>
            <a:r>
              <a:rPr lang="en-US" b="1" dirty="0">
                <a:solidFill>
                  <a:srgbClr val="00004C"/>
                </a:solidFill>
              </a:rPr>
              <a:t>Keywords: </a:t>
            </a:r>
            <a:r>
              <a:rPr lang="en-US" dirty="0">
                <a:solidFill>
                  <a:srgbClr val="00004C"/>
                </a:solidFill>
              </a:rPr>
              <a:t>"exploit CVE-XXXX" or "PoC [service]“</a:t>
            </a:r>
          </a:p>
          <a:p>
            <a:pPr lvl="1"/>
            <a:endParaRPr lang="en-US" dirty="0">
              <a:solidFill>
                <a:srgbClr val="00004C"/>
              </a:solidFill>
            </a:endParaRPr>
          </a:p>
          <a:p>
            <a:pPr lvl="1"/>
            <a:r>
              <a:rPr lang="en-US" b="1" dirty="0">
                <a:solidFill>
                  <a:srgbClr val="00004C"/>
                </a:solidFill>
              </a:rPr>
              <a:t>Filters: </a:t>
            </a:r>
            <a:r>
              <a:rPr lang="en-US" dirty="0">
                <a:solidFill>
                  <a:srgbClr val="00004C"/>
                </a:solidFill>
              </a:rPr>
              <a:t>Language (Python), stars &gt;50 for quality</a:t>
            </a:r>
          </a:p>
          <a:p>
            <a:pPr lvl="1"/>
            <a:endParaRPr lang="en-US" dirty="0">
              <a:solidFill>
                <a:srgbClr val="00004C"/>
              </a:solidFill>
            </a:endParaRPr>
          </a:p>
          <a:p>
            <a:pPr lvl="1"/>
            <a:r>
              <a:rPr lang="en-US" b="1" dirty="0">
                <a:solidFill>
                  <a:srgbClr val="00004C"/>
                </a:solidFill>
              </a:rPr>
              <a:t>Operational: </a:t>
            </a:r>
            <a:r>
              <a:rPr lang="en-US" dirty="0">
                <a:solidFill>
                  <a:srgbClr val="00004C"/>
                </a:solidFill>
              </a:rPr>
              <a:t>Find recent exploits for zero-days in adversary systems</a:t>
            </a:r>
          </a:p>
        </p:txBody>
      </p:sp>
      <p:sp>
        <p:nvSpPr>
          <p:cNvPr id="3" name="Title 2">
            <a:extLst>
              <a:ext uri="{FF2B5EF4-FFF2-40B4-BE49-F238E27FC236}">
                <a16:creationId xmlns:a16="http://schemas.microsoft.com/office/drawing/2014/main" id="{C64C6455-58C0-BC47-4C29-087E40D3E3CD}"/>
              </a:ext>
            </a:extLst>
          </p:cNvPr>
          <p:cNvSpPr>
            <a:spLocks noGrp="1"/>
          </p:cNvSpPr>
          <p:nvPr>
            <p:ph type="title"/>
          </p:nvPr>
        </p:nvSpPr>
        <p:spPr/>
        <p:txBody>
          <a:bodyPr/>
          <a:lstStyle/>
          <a:p>
            <a:r>
              <a:rPr lang="en-US" dirty="0">
                <a:solidFill>
                  <a:srgbClr val="00004C"/>
                </a:solidFill>
              </a:rPr>
              <a:t>Open-Source Exploit Ecosystem</a:t>
            </a:r>
          </a:p>
        </p:txBody>
      </p:sp>
    </p:spTree>
    <p:extLst>
      <p:ext uri="{BB962C8B-B14F-4D97-AF65-F5344CB8AC3E}">
        <p14:creationId xmlns:p14="http://schemas.microsoft.com/office/powerpoint/2010/main" val="29859266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4E1F2F-1883-2BB8-39DF-AEF9FA7F5EFB}"/>
              </a:ext>
            </a:extLst>
          </p:cNvPr>
          <p:cNvSpPr>
            <a:spLocks noGrp="1"/>
          </p:cNvSpPr>
          <p:nvPr>
            <p:ph type="body" idx="1"/>
          </p:nvPr>
        </p:nvSpPr>
        <p:spPr/>
        <p:txBody>
          <a:bodyPr/>
          <a:lstStyle/>
          <a:p>
            <a:r>
              <a:rPr lang="en-US" b="1" dirty="0">
                <a:solidFill>
                  <a:srgbClr val="00004C"/>
                </a:solidFill>
              </a:rPr>
              <a:t>GitHub Quality Check</a:t>
            </a:r>
          </a:p>
          <a:p>
            <a:endParaRPr lang="en-US" b="1" dirty="0">
              <a:solidFill>
                <a:srgbClr val="00004C"/>
              </a:solidFill>
            </a:endParaRPr>
          </a:p>
          <a:p>
            <a:pPr lvl="1"/>
            <a:r>
              <a:rPr lang="en-US" b="1" dirty="0">
                <a:solidFill>
                  <a:srgbClr val="00004C"/>
                </a:solidFill>
              </a:rPr>
              <a:t>Metrics: </a:t>
            </a:r>
            <a:r>
              <a:rPr lang="en-US" dirty="0">
                <a:solidFill>
                  <a:srgbClr val="00004C"/>
                </a:solidFill>
              </a:rPr>
              <a:t>Stars, forks, last commit, author rep</a:t>
            </a:r>
          </a:p>
          <a:p>
            <a:pPr marL="795847" lvl="1" indent="0">
              <a:buNone/>
            </a:pPr>
            <a:endParaRPr lang="en-US" dirty="0">
              <a:solidFill>
                <a:srgbClr val="00004C"/>
              </a:solidFill>
            </a:endParaRPr>
          </a:p>
          <a:p>
            <a:pPr lvl="1"/>
            <a:r>
              <a:rPr lang="en-US" dirty="0">
                <a:solidFill>
                  <a:srgbClr val="00004C"/>
                </a:solidFill>
              </a:rPr>
              <a:t>Read issues/PRs for fixes, successes</a:t>
            </a:r>
          </a:p>
          <a:p>
            <a:pPr lvl="1"/>
            <a:endParaRPr lang="en-US" b="1" dirty="0">
              <a:solidFill>
                <a:srgbClr val="00004C"/>
              </a:solidFill>
            </a:endParaRPr>
          </a:p>
          <a:p>
            <a:pPr lvl="1"/>
            <a:r>
              <a:rPr lang="en-US" b="1" dirty="0">
                <a:solidFill>
                  <a:srgbClr val="00004C"/>
                </a:solidFill>
              </a:rPr>
              <a:t>Verify: </a:t>
            </a:r>
            <a:r>
              <a:rPr lang="en-US" dirty="0">
                <a:solidFill>
                  <a:srgbClr val="00004C"/>
                </a:solidFill>
              </a:rPr>
              <a:t>Cross-check with CVE details for accuracy in counterstrike planning</a:t>
            </a:r>
          </a:p>
        </p:txBody>
      </p:sp>
      <p:sp>
        <p:nvSpPr>
          <p:cNvPr id="3" name="Title 2">
            <a:extLst>
              <a:ext uri="{FF2B5EF4-FFF2-40B4-BE49-F238E27FC236}">
                <a16:creationId xmlns:a16="http://schemas.microsoft.com/office/drawing/2014/main" id="{C64C6455-58C0-BC47-4C29-087E40D3E3CD}"/>
              </a:ext>
            </a:extLst>
          </p:cNvPr>
          <p:cNvSpPr>
            <a:spLocks noGrp="1"/>
          </p:cNvSpPr>
          <p:nvPr>
            <p:ph type="title"/>
          </p:nvPr>
        </p:nvSpPr>
        <p:spPr/>
        <p:txBody>
          <a:bodyPr/>
          <a:lstStyle/>
          <a:p>
            <a:r>
              <a:rPr lang="en-US" dirty="0">
                <a:solidFill>
                  <a:srgbClr val="00004C"/>
                </a:solidFill>
              </a:rPr>
              <a:t>Open-Source Exploit Ecosystem</a:t>
            </a:r>
          </a:p>
        </p:txBody>
      </p:sp>
    </p:spTree>
    <p:extLst>
      <p:ext uri="{BB962C8B-B14F-4D97-AF65-F5344CB8AC3E}">
        <p14:creationId xmlns:p14="http://schemas.microsoft.com/office/powerpoint/2010/main" val="37321886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4E1F2F-1883-2BB8-39DF-AEF9FA7F5EFB}"/>
              </a:ext>
            </a:extLst>
          </p:cNvPr>
          <p:cNvSpPr>
            <a:spLocks noGrp="1"/>
          </p:cNvSpPr>
          <p:nvPr>
            <p:ph type="body" idx="1"/>
          </p:nvPr>
        </p:nvSpPr>
        <p:spPr/>
        <p:txBody>
          <a:bodyPr/>
          <a:lstStyle/>
          <a:p>
            <a:r>
              <a:rPr lang="en-US" b="1" dirty="0">
                <a:solidFill>
                  <a:srgbClr val="00004C"/>
                </a:solidFill>
              </a:rPr>
              <a:t>Cloning Process</a:t>
            </a:r>
          </a:p>
          <a:p>
            <a:endParaRPr lang="en-US" b="1" dirty="0">
              <a:solidFill>
                <a:srgbClr val="00004C"/>
              </a:solidFill>
            </a:endParaRPr>
          </a:p>
          <a:p>
            <a:pPr lvl="1"/>
            <a:r>
              <a:rPr lang="en-US" dirty="0">
                <a:solidFill>
                  <a:srgbClr val="00004C"/>
                </a:solidFill>
              </a:rPr>
              <a:t>git clone [repo URL]</a:t>
            </a:r>
          </a:p>
          <a:p>
            <a:pPr lvl="1"/>
            <a:endParaRPr lang="en-US" dirty="0">
              <a:solidFill>
                <a:srgbClr val="00004C"/>
              </a:solidFill>
            </a:endParaRPr>
          </a:p>
          <a:p>
            <a:pPr lvl="1"/>
            <a:r>
              <a:rPr lang="en-US" b="1" dirty="0">
                <a:solidFill>
                  <a:srgbClr val="00004C"/>
                </a:solidFill>
              </a:rPr>
              <a:t>Modify: </a:t>
            </a:r>
            <a:r>
              <a:rPr lang="en-US" dirty="0">
                <a:solidFill>
                  <a:srgbClr val="00004C"/>
                </a:solidFill>
              </a:rPr>
              <a:t>Edit params for target IP address/version</a:t>
            </a:r>
          </a:p>
          <a:p>
            <a:pPr lvl="1"/>
            <a:endParaRPr lang="en-US" dirty="0">
              <a:solidFill>
                <a:srgbClr val="00004C"/>
              </a:solidFill>
            </a:endParaRPr>
          </a:p>
          <a:p>
            <a:pPr lvl="1"/>
            <a:r>
              <a:rPr lang="en-US" b="1" dirty="0">
                <a:solidFill>
                  <a:srgbClr val="00004C"/>
                </a:solidFill>
              </a:rPr>
              <a:t>Test: </a:t>
            </a:r>
            <a:r>
              <a:rPr lang="en-US" dirty="0">
                <a:solidFill>
                  <a:srgbClr val="00004C"/>
                </a:solidFill>
              </a:rPr>
              <a:t>In blue lab simulating adversary env</a:t>
            </a:r>
          </a:p>
          <a:p>
            <a:pPr lvl="1"/>
            <a:endParaRPr lang="en-US" dirty="0">
              <a:solidFill>
                <a:srgbClr val="00004C"/>
              </a:solidFill>
            </a:endParaRPr>
          </a:p>
          <a:p>
            <a:pPr lvl="1"/>
            <a:r>
              <a:rPr lang="en-US" b="1" dirty="0">
                <a:solidFill>
                  <a:srgbClr val="00004C"/>
                </a:solidFill>
              </a:rPr>
              <a:t>Deploy: </a:t>
            </a:r>
            <a:r>
              <a:rPr lang="en-US" dirty="0">
                <a:solidFill>
                  <a:srgbClr val="00004C"/>
                </a:solidFill>
              </a:rPr>
              <a:t>From controlled vantage for effects</a:t>
            </a:r>
          </a:p>
        </p:txBody>
      </p:sp>
      <p:sp>
        <p:nvSpPr>
          <p:cNvPr id="3" name="Title 2">
            <a:extLst>
              <a:ext uri="{FF2B5EF4-FFF2-40B4-BE49-F238E27FC236}">
                <a16:creationId xmlns:a16="http://schemas.microsoft.com/office/drawing/2014/main" id="{C64C6455-58C0-BC47-4C29-087E40D3E3CD}"/>
              </a:ext>
            </a:extLst>
          </p:cNvPr>
          <p:cNvSpPr>
            <a:spLocks noGrp="1"/>
          </p:cNvSpPr>
          <p:nvPr>
            <p:ph type="title"/>
          </p:nvPr>
        </p:nvSpPr>
        <p:spPr/>
        <p:txBody>
          <a:bodyPr/>
          <a:lstStyle/>
          <a:p>
            <a:r>
              <a:rPr lang="en-US" dirty="0">
                <a:solidFill>
                  <a:srgbClr val="00004C"/>
                </a:solidFill>
              </a:rPr>
              <a:t>Open-Source Exploit Ecosystem</a:t>
            </a:r>
          </a:p>
        </p:txBody>
      </p:sp>
    </p:spTree>
    <p:extLst>
      <p:ext uri="{BB962C8B-B14F-4D97-AF65-F5344CB8AC3E}">
        <p14:creationId xmlns:p14="http://schemas.microsoft.com/office/powerpoint/2010/main" val="28121722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4E1F2F-1883-2BB8-39DF-AEF9FA7F5EFB}"/>
              </a:ext>
            </a:extLst>
          </p:cNvPr>
          <p:cNvSpPr>
            <a:spLocks noGrp="1"/>
          </p:cNvSpPr>
          <p:nvPr>
            <p:ph type="body" idx="1"/>
          </p:nvPr>
        </p:nvSpPr>
        <p:spPr/>
        <p:txBody>
          <a:bodyPr/>
          <a:lstStyle/>
          <a:p>
            <a:r>
              <a:rPr lang="en-US" b="1" dirty="0">
                <a:solidFill>
                  <a:srgbClr val="00004C"/>
                </a:solidFill>
              </a:rPr>
              <a:t>Live Demo: GitHub Exploit</a:t>
            </a:r>
          </a:p>
          <a:p>
            <a:endParaRPr lang="en-US" b="1" dirty="0">
              <a:solidFill>
                <a:srgbClr val="00004C"/>
              </a:solidFill>
            </a:endParaRPr>
          </a:p>
          <a:p>
            <a:pPr lvl="1"/>
            <a:r>
              <a:rPr lang="en-US" dirty="0">
                <a:solidFill>
                  <a:srgbClr val="00004C"/>
                </a:solidFill>
              </a:rPr>
              <a:t>Search: "</a:t>
            </a:r>
            <a:r>
              <a:rPr lang="en-US" dirty="0" err="1">
                <a:solidFill>
                  <a:srgbClr val="00004C"/>
                </a:solidFill>
              </a:rPr>
              <a:t>eternalblue</a:t>
            </a:r>
            <a:r>
              <a:rPr lang="en-US" dirty="0">
                <a:solidFill>
                  <a:srgbClr val="00004C"/>
                </a:solidFill>
              </a:rPr>
              <a:t> PoC"</a:t>
            </a:r>
          </a:p>
          <a:p>
            <a:pPr lvl="1"/>
            <a:endParaRPr lang="en-US" dirty="0">
              <a:solidFill>
                <a:srgbClr val="00004C"/>
              </a:solidFill>
            </a:endParaRPr>
          </a:p>
          <a:p>
            <a:pPr lvl="1"/>
            <a:r>
              <a:rPr lang="en-US" dirty="0">
                <a:solidFill>
                  <a:srgbClr val="00004C"/>
                </a:solidFill>
              </a:rPr>
              <a:t>Clone and review code</a:t>
            </a:r>
          </a:p>
          <a:p>
            <a:pPr lvl="1"/>
            <a:endParaRPr lang="en-US" dirty="0">
              <a:solidFill>
                <a:srgbClr val="00004C"/>
              </a:solidFill>
            </a:endParaRPr>
          </a:p>
          <a:p>
            <a:pPr lvl="1"/>
            <a:r>
              <a:rPr lang="en-US" dirty="0">
                <a:solidFill>
                  <a:srgbClr val="00004C"/>
                </a:solidFill>
              </a:rPr>
              <a:t>Tie-in: How to adapt for SMB vuln on Windows adversary host</a:t>
            </a:r>
          </a:p>
        </p:txBody>
      </p:sp>
      <p:sp>
        <p:nvSpPr>
          <p:cNvPr id="3" name="Title 2">
            <a:extLst>
              <a:ext uri="{FF2B5EF4-FFF2-40B4-BE49-F238E27FC236}">
                <a16:creationId xmlns:a16="http://schemas.microsoft.com/office/drawing/2014/main" id="{C64C6455-58C0-BC47-4C29-087E40D3E3CD}"/>
              </a:ext>
            </a:extLst>
          </p:cNvPr>
          <p:cNvSpPr>
            <a:spLocks noGrp="1"/>
          </p:cNvSpPr>
          <p:nvPr>
            <p:ph type="title"/>
          </p:nvPr>
        </p:nvSpPr>
        <p:spPr/>
        <p:txBody>
          <a:bodyPr/>
          <a:lstStyle/>
          <a:p>
            <a:r>
              <a:rPr lang="en-US" dirty="0">
                <a:solidFill>
                  <a:srgbClr val="00004C"/>
                </a:solidFill>
              </a:rPr>
              <a:t>Open-Source Exploit Ecosystem</a:t>
            </a:r>
          </a:p>
        </p:txBody>
      </p:sp>
    </p:spTree>
    <p:extLst>
      <p:ext uri="{BB962C8B-B14F-4D97-AF65-F5344CB8AC3E}">
        <p14:creationId xmlns:p14="http://schemas.microsoft.com/office/powerpoint/2010/main" val="37916259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679ED-E8EA-58F9-C3F0-060652E8F037}"/>
              </a:ext>
            </a:extLst>
          </p:cNvPr>
          <p:cNvSpPr>
            <a:spLocks noGrp="1"/>
          </p:cNvSpPr>
          <p:nvPr>
            <p:ph type="title"/>
          </p:nvPr>
        </p:nvSpPr>
        <p:spPr/>
        <p:txBody>
          <a:bodyPr/>
          <a:lstStyle/>
          <a:p>
            <a:r>
              <a:rPr lang="en-US" dirty="0">
                <a:solidFill>
                  <a:srgbClr val="00004C"/>
                </a:solidFill>
              </a:rPr>
              <a:t>Initial Access Techniques</a:t>
            </a:r>
          </a:p>
        </p:txBody>
      </p:sp>
    </p:spTree>
    <p:extLst>
      <p:ext uri="{BB962C8B-B14F-4D97-AF65-F5344CB8AC3E}">
        <p14:creationId xmlns:p14="http://schemas.microsoft.com/office/powerpoint/2010/main" val="2161891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1B7669-BDD9-64C3-FC18-CAA98686F8D4}"/>
              </a:ext>
            </a:extLst>
          </p:cNvPr>
          <p:cNvSpPr>
            <a:spLocks noGrp="1"/>
          </p:cNvSpPr>
          <p:nvPr>
            <p:ph type="body" idx="1"/>
          </p:nvPr>
        </p:nvSpPr>
        <p:spPr/>
        <p:txBody>
          <a:bodyPr/>
          <a:lstStyle/>
          <a:p>
            <a:r>
              <a:rPr lang="en-US" b="1" dirty="0">
                <a:solidFill>
                  <a:srgbClr val="00004C"/>
                </a:solidFill>
              </a:rPr>
              <a:t>MITRE ATT&amp;CK® Initial Access Tactic Overview</a:t>
            </a:r>
          </a:p>
          <a:p>
            <a:pPr marL="169329" indent="0">
              <a:buNone/>
            </a:pPr>
            <a:endParaRPr lang="en-US" b="1" dirty="0">
              <a:solidFill>
                <a:srgbClr val="00004C"/>
              </a:solidFill>
            </a:endParaRPr>
          </a:p>
          <a:p>
            <a:pPr lvl="1"/>
            <a:r>
              <a:rPr lang="en-US" b="1" dirty="0">
                <a:solidFill>
                  <a:srgbClr val="00004C"/>
                </a:solidFill>
              </a:rPr>
              <a:t>TA0001: Initial Access</a:t>
            </a:r>
          </a:p>
          <a:p>
            <a:pPr lvl="2"/>
            <a:r>
              <a:rPr lang="en-US" dirty="0">
                <a:solidFill>
                  <a:srgbClr val="00004C"/>
                </a:solidFill>
              </a:rPr>
              <a:t>Entry points for adversaries against us; we reverse for counterstrikes</a:t>
            </a:r>
          </a:p>
          <a:p>
            <a:pPr lvl="2"/>
            <a:endParaRPr lang="en-US" dirty="0">
              <a:solidFill>
                <a:srgbClr val="00004C"/>
              </a:solidFill>
            </a:endParaRPr>
          </a:p>
          <a:p>
            <a:pPr lvl="2"/>
            <a:r>
              <a:rPr lang="en-US" dirty="0">
                <a:solidFill>
                  <a:srgbClr val="00004C"/>
                </a:solidFill>
              </a:rPr>
              <a:t>Informed by open-source research: Vulns/exploits enable techniques</a:t>
            </a:r>
          </a:p>
          <a:p>
            <a:pPr lvl="2"/>
            <a:endParaRPr lang="en-US" dirty="0">
              <a:solidFill>
                <a:srgbClr val="00004C"/>
              </a:solidFill>
            </a:endParaRPr>
          </a:p>
          <a:p>
            <a:pPr lvl="2"/>
            <a:r>
              <a:rPr lang="en-US" b="1" dirty="0">
                <a:solidFill>
                  <a:srgbClr val="00004C"/>
                </a:solidFill>
              </a:rPr>
              <a:t>Blue space</a:t>
            </a:r>
            <a:r>
              <a:rPr lang="en-US" dirty="0">
                <a:solidFill>
                  <a:srgbClr val="00004C"/>
                </a:solidFill>
              </a:rPr>
              <a:t>: Launch from engaged networks, blending probes for access to covert targets</a:t>
            </a:r>
          </a:p>
        </p:txBody>
      </p:sp>
      <p:sp>
        <p:nvSpPr>
          <p:cNvPr id="3" name="Title 2">
            <a:extLst>
              <a:ext uri="{FF2B5EF4-FFF2-40B4-BE49-F238E27FC236}">
                <a16:creationId xmlns:a16="http://schemas.microsoft.com/office/drawing/2014/main" id="{5355B46F-C4F4-EB9E-76EF-24AD6ED65E6B}"/>
              </a:ext>
            </a:extLst>
          </p:cNvPr>
          <p:cNvSpPr>
            <a:spLocks noGrp="1"/>
          </p:cNvSpPr>
          <p:nvPr>
            <p:ph type="title"/>
          </p:nvPr>
        </p:nvSpPr>
        <p:spPr/>
        <p:txBody>
          <a:bodyPr/>
          <a:lstStyle/>
          <a:p>
            <a:r>
              <a:rPr lang="en-US" dirty="0">
                <a:solidFill>
                  <a:srgbClr val="00004C"/>
                </a:solidFill>
              </a:rPr>
              <a:t>Initial Access Techniques</a:t>
            </a:r>
          </a:p>
        </p:txBody>
      </p:sp>
    </p:spTree>
    <p:extLst>
      <p:ext uri="{BB962C8B-B14F-4D97-AF65-F5344CB8AC3E}">
        <p14:creationId xmlns:p14="http://schemas.microsoft.com/office/powerpoint/2010/main" val="17633372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1B7669-BDD9-64C3-FC18-CAA98686F8D4}"/>
              </a:ext>
            </a:extLst>
          </p:cNvPr>
          <p:cNvSpPr>
            <a:spLocks noGrp="1"/>
          </p:cNvSpPr>
          <p:nvPr>
            <p:ph type="body" idx="1"/>
          </p:nvPr>
        </p:nvSpPr>
        <p:spPr/>
        <p:txBody>
          <a:bodyPr/>
          <a:lstStyle/>
          <a:p>
            <a:r>
              <a:rPr lang="en-US" b="1" dirty="0">
                <a:solidFill>
                  <a:srgbClr val="00004C"/>
                </a:solidFill>
              </a:rPr>
              <a:t>T1190: Exploit Public-Facing Application</a:t>
            </a:r>
          </a:p>
          <a:p>
            <a:pPr marL="169329" indent="0">
              <a:buNone/>
            </a:pPr>
            <a:endParaRPr lang="en-US" dirty="0">
              <a:solidFill>
                <a:srgbClr val="00004C"/>
              </a:solidFill>
            </a:endParaRPr>
          </a:p>
          <a:p>
            <a:pPr lvl="1"/>
            <a:r>
              <a:rPr lang="en-US" b="1" dirty="0">
                <a:solidFill>
                  <a:srgbClr val="00004C"/>
                </a:solidFill>
              </a:rPr>
              <a:t>Most Relevant for DCO-RA</a:t>
            </a:r>
          </a:p>
          <a:p>
            <a:pPr lvl="2"/>
            <a:r>
              <a:rPr lang="en-US" dirty="0">
                <a:solidFill>
                  <a:srgbClr val="00004C"/>
                </a:solidFill>
              </a:rPr>
              <a:t>Exploit web apps, APIs on adversary infrastructure (e.g., SQLi, RCE via CVE)</a:t>
            </a:r>
          </a:p>
          <a:p>
            <a:pPr marL="1430831" lvl="2" indent="0">
              <a:buNone/>
            </a:pPr>
            <a:endParaRPr lang="en-US" dirty="0">
              <a:solidFill>
                <a:srgbClr val="00004C"/>
              </a:solidFill>
            </a:endParaRPr>
          </a:p>
          <a:p>
            <a:pPr lvl="2"/>
            <a:r>
              <a:rPr lang="en-US" b="1" dirty="0">
                <a:solidFill>
                  <a:srgbClr val="00004C"/>
                </a:solidFill>
              </a:rPr>
              <a:t>Examples: </a:t>
            </a:r>
            <a:r>
              <a:rPr lang="en-US" dirty="0">
                <a:solidFill>
                  <a:srgbClr val="00004C"/>
                </a:solidFill>
              </a:rPr>
              <a:t>Log4Shell on C2 web server → Shell access for disruption</a:t>
            </a:r>
          </a:p>
          <a:p>
            <a:pPr lvl="2"/>
            <a:endParaRPr lang="en-US" dirty="0">
              <a:solidFill>
                <a:srgbClr val="00004C"/>
              </a:solidFill>
            </a:endParaRPr>
          </a:p>
          <a:p>
            <a:pPr lvl="2"/>
            <a:r>
              <a:rPr lang="en-US" b="1" dirty="0">
                <a:solidFill>
                  <a:srgbClr val="00004C"/>
                </a:solidFill>
              </a:rPr>
              <a:t>From recon: </a:t>
            </a:r>
            <a:r>
              <a:rPr lang="en-US" dirty="0">
                <a:solidFill>
                  <a:srgbClr val="00004C"/>
                </a:solidFill>
              </a:rPr>
              <a:t>Use enumerated versions to select open-source exploits</a:t>
            </a:r>
          </a:p>
        </p:txBody>
      </p:sp>
      <p:sp>
        <p:nvSpPr>
          <p:cNvPr id="3" name="Title 2">
            <a:extLst>
              <a:ext uri="{FF2B5EF4-FFF2-40B4-BE49-F238E27FC236}">
                <a16:creationId xmlns:a16="http://schemas.microsoft.com/office/drawing/2014/main" id="{5355B46F-C4F4-EB9E-76EF-24AD6ED65E6B}"/>
              </a:ext>
            </a:extLst>
          </p:cNvPr>
          <p:cNvSpPr>
            <a:spLocks noGrp="1"/>
          </p:cNvSpPr>
          <p:nvPr>
            <p:ph type="title"/>
          </p:nvPr>
        </p:nvSpPr>
        <p:spPr/>
        <p:txBody>
          <a:bodyPr/>
          <a:lstStyle/>
          <a:p>
            <a:r>
              <a:rPr lang="en-US" dirty="0">
                <a:solidFill>
                  <a:srgbClr val="00004C"/>
                </a:solidFill>
              </a:rPr>
              <a:t>Initial Access Techniques</a:t>
            </a:r>
          </a:p>
        </p:txBody>
      </p:sp>
    </p:spTree>
    <p:extLst>
      <p:ext uri="{BB962C8B-B14F-4D97-AF65-F5344CB8AC3E}">
        <p14:creationId xmlns:p14="http://schemas.microsoft.com/office/powerpoint/2010/main" val="1850807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1B7669-BDD9-64C3-FC18-CAA98686F8D4}"/>
              </a:ext>
            </a:extLst>
          </p:cNvPr>
          <p:cNvSpPr>
            <a:spLocks noGrp="1"/>
          </p:cNvSpPr>
          <p:nvPr>
            <p:ph type="body" idx="1"/>
          </p:nvPr>
        </p:nvSpPr>
        <p:spPr/>
        <p:txBody>
          <a:bodyPr/>
          <a:lstStyle/>
          <a:p>
            <a:r>
              <a:rPr lang="en-US" b="1" dirty="0">
                <a:solidFill>
                  <a:srgbClr val="00004C"/>
                </a:solidFill>
              </a:rPr>
              <a:t>T1190 Examples</a:t>
            </a:r>
          </a:p>
          <a:p>
            <a:pPr marL="169329" indent="0">
              <a:buNone/>
            </a:pPr>
            <a:endParaRPr lang="en-US" b="1" dirty="0">
              <a:solidFill>
                <a:srgbClr val="00004C"/>
              </a:solidFill>
            </a:endParaRPr>
          </a:p>
          <a:p>
            <a:pPr lvl="1"/>
            <a:r>
              <a:rPr lang="en-US" b="1" dirty="0">
                <a:solidFill>
                  <a:srgbClr val="00004C"/>
                </a:solidFill>
              </a:rPr>
              <a:t>Web Server Exploits, RCE</a:t>
            </a:r>
          </a:p>
          <a:p>
            <a:pPr lvl="2"/>
            <a:r>
              <a:rPr lang="en-US" b="1" dirty="0">
                <a:solidFill>
                  <a:srgbClr val="00004C"/>
                </a:solidFill>
              </a:rPr>
              <a:t>Tool: </a:t>
            </a:r>
            <a:r>
              <a:rPr lang="en-US" dirty="0">
                <a:solidFill>
                  <a:srgbClr val="00004C"/>
                </a:solidFill>
              </a:rPr>
              <a:t>Metasploit module or custom PoC</a:t>
            </a:r>
          </a:p>
          <a:p>
            <a:pPr lvl="2"/>
            <a:endParaRPr lang="en-US" dirty="0">
              <a:solidFill>
                <a:srgbClr val="00004C"/>
              </a:solidFill>
            </a:endParaRPr>
          </a:p>
          <a:p>
            <a:pPr lvl="2"/>
            <a:r>
              <a:rPr lang="en-US" b="1" dirty="0">
                <a:solidFill>
                  <a:srgbClr val="00004C"/>
                </a:solidFill>
              </a:rPr>
              <a:t>Operational: </a:t>
            </a:r>
            <a:r>
              <a:rPr lang="en-US" dirty="0">
                <a:solidFill>
                  <a:srgbClr val="00004C"/>
                </a:solidFill>
              </a:rPr>
              <a:t>Gain foothold on public-facing attack nodes, then lateral for effects</a:t>
            </a:r>
          </a:p>
          <a:p>
            <a:pPr lvl="2"/>
            <a:endParaRPr lang="en-US" dirty="0">
              <a:solidFill>
                <a:srgbClr val="00004C"/>
              </a:solidFill>
            </a:endParaRPr>
          </a:p>
          <a:p>
            <a:pPr lvl="2"/>
            <a:r>
              <a:rPr lang="en-US" b="1" dirty="0">
                <a:solidFill>
                  <a:srgbClr val="00004C"/>
                </a:solidFill>
              </a:rPr>
              <a:t>Advantage: </a:t>
            </a:r>
            <a:r>
              <a:rPr lang="en-US" dirty="0">
                <a:solidFill>
                  <a:srgbClr val="00004C"/>
                </a:solidFill>
              </a:rPr>
              <a:t>Blue space allows precise timing to evade their detection</a:t>
            </a:r>
          </a:p>
        </p:txBody>
      </p:sp>
      <p:sp>
        <p:nvSpPr>
          <p:cNvPr id="3" name="Title 2">
            <a:extLst>
              <a:ext uri="{FF2B5EF4-FFF2-40B4-BE49-F238E27FC236}">
                <a16:creationId xmlns:a16="http://schemas.microsoft.com/office/drawing/2014/main" id="{5355B46F-C4F4-EB9E-76EF-24AD6ED65E6B}"/>
              </a:ext>
            </a:extLst>
          </p:cNvPr>
          <p:cNvSpPr>
            <a:spLocks noGrp="1"/>
          </p:cNvSpPr>
          <p:nvPr>
            <p:ph type="title"/>
          </p:nvPr>
        </p:nvSpPr>
        <p:spPr/>
        <p:txBody>
          <a:bodyPr/>
          <a:lstStyle/>
          <a:p>
            <a:r>
              <a:rPr lang="en-US" dirty="0">
                <a:solidFill>
                  <a:srgbClr val="00004C"/>
                </a:solidFill>
              </a:rPr>
              <a:t>Initial Access Techniques</a:t>
            </a:r>
          </a:p>
        </p:txBody>
      </p:sp>
    </p:spTree>
    <p:extLst>
      <p:ext uri="{BB962C8B-B14F-4D97-AF65-F5344CB8AC3E}">
        <p14:creationId xmlns:p14="http://schemas.microsoft.com/office/powerpoint/2010/main" val="6626279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1B7669-BDD9-64C3-FC18-CAA98686F8D4}"/>
              </a:ext>
            </a:extLst>
          </p:cNvPr>
          <p:cNvSpPr>
            <a:spLocks noGrp="1"/>
          </p:cNvSpPr>
          <p:nvPr>
            <p:ph type="body" idx="1"/>
          </p:nvPr>
        </p:nvSpPr>
        <p:spPr/>
        <p:txBody>
          <a:bodyPr/>
          <a:lstStyle/>
          <a:p>
            <a:r>
              <a:rPr lang="en-US" b="1" dirty="0">
                <a:solidFill>
                  <a:srgbClr val="00004C"/>
                </a:solidFill>
              </a:rPr>
              <a:t>T1133: External Remote Services</a:t>
            </a:r>
          </a:p>
          <a:p>
            <a:pPr marL="169329" indent="0">
              <a:buNone/>
            </a:pPr>
            <a:endParaRPr lang="en-US" b="1" dirty="0">
              <a:solidFill>
                <a:srgbClr val="00004C"/>
              </a:solidFill>
            </a:endParaRPr>
          </a:p>
          <a:p>
            <a:pPr lvl="1"/>
            <a:r>
              <a:rPr lang="en-US" b="1" dirty="0">
                <a:solidFill>
                  <a:srgbClr val="00004C"/>
                </a:solidFill>
              </a:rPr>
              <a:t>Exploiting VPN, RDP, SSH</a:t>
            </a:r>
          </a:p>
          <a:p>
            <a:pPr lvl="2"/>
            <a:r>
              <a:rPr lang="en-US" b="1" dirty="0">
                <a:solidFill>
                  <a:srgbClr val="00004C"/>
                </a:solidFill>
              </a:rPr>
              <a:t>Targets: </a:t>
            </a:r>
            <a:r>
              <a:rPr lang="en-US" dirty="0">
                <a:solidFill>
                  <a:srgbClr val="00004C"/>
                </a:solidFill>
              </a:rPr>
              <a:t>RDP (</a:t>
            </a:r>
            <a:r>
              <a:rPr lang="en-US" dirty="0" err="1">
                <a:solidFill>
                  <a:srgbClr val="00004C"/>
                </a:solidFill>
              </a:rPr>
              <a:t>BlueKeep</a:t>
            </a:r>
            <a:r>
              <a:rPr lang="en-US" dirty="0">
                <a:solidFill>
                  <a:srgbClr val="00004C"/>
                </a:solidFill>
              </a:rPr>
              <a:t> CVE), SSH (weak keys from </a:t>
            </a:r>
            <a:r>
              <a:rPr lang="en-US" dirty="0" err="1">
                <a:solidFill>
                  <a:srgbClr val="00004C"/>
                </a:solidFill>
              </a:rPr>
              <a:t>enum</a:t>
            </a:r>
            <a:r>
              <a:rPr lang="en-US" dirty="0">
                <a:solidFill>
                  <a:srgbClr val="00004C"/>
                </a:solidFill>
              </a:rPr>
              <a:t>)</a:t>
            </a:r>
          </a:p>
          <a:p>
            <a:pPr lvl="2"/>
            <a:endParaRPr lang="en-US" dirty="0">
              <a:solidFill>
                <a:srgbClr val="00004C"/>
              </a:solidFill>
            </a:endParaRPr>
          </a:p>
          <a:p>
            <a:pPr lvl="2"/>
            <a:r>
              <a:rPr lang="en-US" b="1" dirty="0">
                <a:solidFill>
                  <a:srgbClr val="00004C"/>
                </a:solidFill>
              </a:rPr>
              <a:t>Credential vs. Exploit: </a:t>
            </a:r>
            <a:r>
              <a:rPr lang="en-US" dirty="0">
                <a:solidFill>
                  <a:srgbClr val="00004C"/>
                </a:solidFill>
              </a:rPr>
              <a:t>Use discovered creds or vulns for access</a:t>
            </a:r>
          </a:p>
          <a:p>
            <a:pPr lvl="2"/>
            <a:endParaRPr lang="en-US" dirty="0">
              <a:solidFill>
                <a:srgbClr val="00004C"/>
              </a:solidFill>
            </a:endParaRPr>
          </a:p>
          <a:p>
            <a:pPr lvl="2"/>
            <a:r>
              <a:rPr lang="en-US" b="1" dirty="0">
                <a:solidFill>
                  <a:srgbClr val="00004C"/>
                </a:solidFill>
              </a:rPr>
              <a:t>Counterstrike: </a:t>
            </a:r>
            <a:r>
              <a:rPr lang="en-US" dirty="0">
                <a:solidFill>
                  <a:srgbClr val="00004C"/>
                </a:solidFill>
              </a:rPr>
              <a:t>Compromise remote services on adversary infrastructure for internal disruption</a:t>
            </a:r>
          </a:p>
          <a:p>
            <a:pPr lvl="1"/>
            <a:endParaRPr lang="en-US" dirty="0"/>
          </a:p>
        </p:txBody>
      </p:sp>
      <p:sp>
        <p:nvSpPr>
          <p:cNvPr id="3" name="Title 2">
            <a:extLst>
              <a:ext uri="{FF2B5EF4-FFF2-40B4-BE49-F238E27FC236}">
                <a16:creationId xmlns:a16="http://schemas.microsoft.com/office/drawing/2014/main" id="{5355B46F-C4F4-EB9E-76EF-24AD6ED65E6B}"/>
              </a:ext>
            </a:extLst>
          </p:cNvPr>
          <p:cNvSpPr>
            <a:spLocks noGrp="1"/>
          </p:cNvSpPr>
          <p:nvPr>
            <p:ph type="title"/>
          </p:nvPr>
        </p:nvSpPr>
        <p:spPr/>
        <p:txBody>
          <a:bodyPr/>
          <a:lstStyle/>
          <a:p>
            <a:r>
              <a:rPr lang="en-US" dirty="0">
                <a:solidFill>
                  <a:srgbClr val="00004C"/>
                </a:solidFill>
              </a:rPr>
              <a:t>Initial Access Techniques</a:t>
            </a:r>
          </a:p>
        </p:txBody>
      </p:sp>
    </p:spTree>
    <p:extLst>
      <p:ext uri="{BB962C8B-B14F-4D97-AF65-F5344CB8AC3E}">
        <p14:creationId xmlns:p14="http://schemas.microsoft.com/office/powerpoint/2010/main" val="7644612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1B7669-BDD9-64C3-FC18-CAA98686F8D4}"/>
              </a:ext>
            </a:extLst>
          </p:cNvPr>
          <p:cNvSpPr>
            <a:spLocks noGrp="1"/>
          </p:cNvSpPr>
          <p:nvPr>
            <p:ph type="body" idx="1"/>
          </p:nvPr>
        </p:nvSpPr>
        <p:spPr/>
        <p:txBody>
          <a:bodyPr/>
          <a:lstStyle/>
          <a:p>
            <a:r>
              <a:rPr lang="en-US" dirty="0"/>
              <a:t> </a:t>
            </a:r>
            <a:r>
              <a:rPr lang="en-US" b="1" dirty="0">
                <a:solidFill>
                  <a:srgbClr val="00004C"/>
                </a:solidFill>
              </a:rPr>
              <a:t>T1078: Valid Accounts</a:t>
            </a:r>
          </a:p>
          <a:p>
            <a:pPr marL="169329" indent="0">
              <a:buNone/>
            </a:pPr>
            <a:endParaRPr lang="en-US" b="1" dirty="0">
              <a:solidFill>
                <a:srgbClr val="00004C"/>
              </a:solidFill>
            </a:endParaRPr>
          </a:p>
          <a:p>
            <a:pPr lvl="1"/>
            <a:r>
              <a:rPr lang="en-US" b="1" dirty="0">
                <a:solidFill>
                  <a:srgbClr val="00004C"/>
                </a:solidFill>
              </a:rPr>
              <a:t>Using Discovered/Breached Credentials</a:t>
            </a:r>
          </a:p>
          <a:p>
            <a:pPr lvl="2"/>
            <a:r>
              <a:rPr lang="en-US" b="1" dirty="0">
                <a:solidFill>
                  <a:srgbClr val="00004C"/>
                </a:solidFill>
              </a:rPr>
              <a:t>Sources: </a:t>
            </a:r>
            <a:r>
              <a:rPr lang="en-US" dirty="0">
                <a:solidFill>
                  <a:srgbClr val="00004C"/>
                </a:solidFill>
              </a:rPr>
              <a:t>Recon enum4linux for users; open-source dumps (e.g., </a:t>
            </a:r>
            <a:r>
              <a:rPr lang="en-US" dirty="0" err="1">
                <a:solidFill>
                  <a:srgbClr val="00004C"/>
                </a:solidFill>
              </a:rPr>
              <a:t>HaveIBeenPwned</a:t>
            </a:r>
            <a:r>
              <a:rPr lang="en-US" dirty="0">
                <a:solidFill>
                  <a:srgbClr val="00004C"/>
                </a:solidFill>
              </a:rPr>
              <a:t> analogs); IOCs or other evidence discovered by the hunt team (e.g., captured credentials from malware analysis or network traffic in blue space hunts)</a:t>
            </a:r>
          </a:p>
          <a:p>
            <a:pPr marL="1430831" lvl="2" indent="0">
              <a:buNone/>
            </a:pPr>
            <a:endParaRPr lang="en-US" dirty="0">
              <a:solidFill>
                <a:srgbClr val="00004C"/>
              </a:solidFill>
            </a:endParaRPr>
          </a:p>
          <a:p>
            <a:pPr lvl="2"/>
            <a:r>
              <a:rPr lang="en-US" b="1" dirty="0">
                <a:solidFill>
                  <a:srgbClr val="00004C"/>
                </a:solidFill>
              </a:rPr>
              <a:t>Techniques: </a:t>
            </a:r>
            <a:r>
              <a:rPr lang="en-US" dirty="0">
                <a:solidFill>
                  <a:srgbClr val="00004C"/>
                </a:solidFill>
              </a:rPr>
              <a:t>Stuffing (reused </a:t>
            </a:r>
            <a:r>
              <a:rPr lang="en-US" dirty="0" err="1">
                <a:solidFill>
                  <a:srgbClr val="00004C"/>
                </a:solidFill>
              </a:rPr>
              <a:t>pwds</a:t>
            </a:r>
            <a:r>
              <a:rPr lang="en-US" dirty="0">
                <a:solidFill>
                  <a:srgbClr val="00004C"/>
                </a:solidFill>
              </a:rPr>
              <a:t>), spraying (common </a:t>
            </a:r>
            <a:r>
              <a:rPr lang="en-US" dirty="0" err="1">
                <a:solidFill>
                  <a:srgbClr val="00004C"/>
                </a:solidFill>
              </a:rPr>
              <a:t>pwds</a:t>
            </a:r>
            <a:r>
              <a:rPr lang="en-US" dirty="0">
                <a:solidFill>
                  <a:srgbClr val="00004C"/>
                </a:solidFill>
              </a:rPr>
              <a:t>)</a:t>
            </a:r>
          </a:p>
          <a:p>
            <a:pPr marL="1430831" lvl="2" indent="0">
              <a:buNone/>
            </a:pPr>
            <a:endParaRPr lang="en-US" dirty="0">
              <a:solidFill>
                <a:srgbClr val="00004C"/>
              </a:solidFill>
            </a:endParaRPr>
          </a:p>
          <a:p>
            <a:pPr lvl="2"/>
            <a:r>
              <a:rPr lang="en-US" b="1" dirty="0">
                <a:solidFill>
                  <a:srgbClr val="00004C"/>
                </a:solidFill>
              </a:rPr>
              <a:t>Counterstrike: </a:t>
            </a:r>
            <a:r>
              <a:rPr lang="en-US" dirty="0">
                <a:solidFill>
                  <a:srgbClr val="00004C"/>
                </a:solidFill>
              </a:rPr>
              <a:t>Authenticate to adversary services for stealthy persistence</a:t>
            </a:r>
          </a:p>
        </p:txBody>
      </p:sp>
      <p:sp>
        <p:nvSpPr>
          <p:cNvPr id="3" name="Title 2">
            <a:extLst>
              <a:ext uri="{FF2B5EF4-FFF2-40B4-BE49-F238E27FC236}">
                <a16:creationId xmlns:a16="http://schemas.microsoft.com/office/drawing/2014/main" id="{5355B46F-C4F4-EB9E-76EF-24AD6ED65E6B}"/>
              </a:ext>
            </a:extLst>
          </p:cNvPr>
          <p:cNvSpPr>
            <a:spLocks noGrp="1"/>
          </p:cNvSpPr>
          <p:nvPr>
            <p:ph type="title"/>
          </p:nvPr>
        </p:nvSpPr>
        <p:spPr/>
        <p:txBody>
          <a:bodyPr/>
          <a:lstStyle/>
          <a:p>
            <a:r>
              <a:rPr lang="en-US" dirty="0">
                <a:solidFill>
                  <a:srgbClr val="00004C"/>
                </a:solidFill>
              </a:rPr>
              <a:t>Initial Access Techniques</a:t>
            </a:r>
          </a:p>
        </p:txBody>
      </p:sp>
    </p:spTree>
    <p:extLst>
      <p:ext uri="{BB962C8B-B14F-4D97-AF65-F5344CB8AC3E}">
        <p14:creationId xmlns:p14="http://schemas.microsoft.com/office/powerpoint/2010/main" val="16485300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1B7669-BDD9-64C3-FC18-CAA98686F8D4}"/>
              </a:ext>
            </a:extLst>
          </p:cNvPr>
          <p:cNvSpPr>
            <a:spLocks noGrp="1"/>
          </p:cNvSpPr>
          <p:nvPr>
            <p:ph type="body" idx="1"/>
          </p:nvPr>
        </p:nvSpPr>
        <p:spPr/>
        <p:txBody>
          <a:bodyPr/>
          <a:lstStyle/>
          <a:p>
            <a:r>
              <a:rPr lang="en-US" b="1" dirty="0">
                <a:solidFill>
                  <a:srgbClr val="00004C"/>
                </a:solidFill>
              </a:rPr>
              <a:t>T1534: Internal Spear phishing</a:t>
            </a:r>
          </a:p>
          <a:p>
            <a:endParaRPr lang="en-US" dirty="0"/>
          </a:p>
          <a:p>
            <a:pPr lvl="1"/>
            <a:r>
              <a:rPr lang="en-US" b="1" dirty="0">
                <a:solidFill>
                  <a:srgbClr val="00004C"/>
                </a:solidFill>
              </a:rPr>
              <a:t>Seeding Blue Environment for Adversary Collection</a:t>
            </a:r>
          </a:p>
          <a:p>
            <a:pPr lvl="2"/>
            <a:r>
              <a:rPr lang="en-US" b="1" dirty="0">
                <a:solidFill>
                  <a:srgbClr val="00004C"/>
                </a:solidFill>
              </a:rPr>
              <a:t>Technique: </a:t>
            </a:r>
            <a:r>
              <a:rPr lang="en-US" dirty="0">
                <a:solidFill>
                  <a:srgbClr val="00004C"/>
                </a:solidFill>
              </a:rPr>
              <a:t>Plant lures (e.g., documents with exploit code, tracking pixels) in blue space, anticipating adversary exfiltration during their hunts or data theft</a:t>
            </a:r>
          </a:p>
          <a:p>
            <a:pPr lvl="2"/>
            <a:r>
              <a:rPr lang="en-US" b="1" dirty="0">
                <a:solidFill>
                  <a:srgbClr val="00004C"/>
                </a:solidFill>
              </a:rPr>
              <a:t>Execution: </a:t>
            </a:r>
            <a:r>
              <a:rPr lang="en-US" dirty="0">
                <a:solidFill>
                  <a:srgbClr val="00004C"/>
                </a:solidFill>
              </a:rPr>
              <a:t>Craft bait mimicking high-value intel (e.g., decoy military docs with embedded payloads) on compromised or monitored systems the adversary accesses</a:t>
            </a:r>
            <a:endParaRPr lang="en-US" b="1" dirty="0">
              <a:solidFill>
                <a:srgbClr val="00004C"/>
              </a:solidFill>
            </a:endParaRPr>
          </a:p>
          <a:p>
            <a:pPr lvl="2"/>
            <a:r>
              <a:rPr lang="en-US" b="1" dirty="0">
                <a:solidFill>
                  <a:srgbClr val="00004C"/>
                </a:solidFill>
              </a:rPr>
              <a:t>Lateral Movement: </a:t>
            </a:r>
            <a:r>
              <a:rPr lang="en-US" dirty="0">
                <a:solidFill>
                  <a:srgbClr val="00004C"/>
                </a:solidFill>
              </a:rPr>
              <a:t>When adversary opens/collects lure, trigger reverse exploit or beacon from their red network back to blue space, achieving initial access to their infrastructure</a:t>
            </a:r>
            <a:endParaRPr lang="en-US" b="1" dirty="0">
              <a:solidFill>
                <a:srgbClr val="00004C"/>
              </a:solidFill>
            </a:endParaRPr>
          </a:p>
          <a:p>
            <a:pPr lvl="2"/>
            <a:r>
              <a:rPr lang="en-US" b="1" dirty="0">
                <a:solidFill>
                  <a:srgbClr val="00004C"/>
                </a:solidFill>
              </a:rPr>
              <a:t>Counterstrike Value: </a:t>
            </a:r>
            <a:r>
              <a:rPr lang="en-US" dirty="0">
                <a:solidFill>
                  <a:srgbClr val="00004C"/>
                </a:solidFill>
              </a:rPr>
              <a:t>Flips adversary tactics—use their expected collection behavior for </a:t>
            </a:r>
            <a:r>
              <a:rPr lang="en-US" dirty="0" err="1">
                <a:solidFill>
                  <a:srgbClr val="00004C"/>
                </a:solidFill>
              </a:rPr>
              <a:t>counteraccess</a:t>
            </a:r>
            <a:r>
              <a:rPr lang="en-US" dirty="0">
                <a:solidFill>
                  <a:srgbClr val="00004C"/>
                </a:solidFill>
              </a:rPr>
              <a:t> to C2 or analysis nodes, expanding effects from blue vantage</a:t>
            </a:r>
          </a:p>
        </p:txBody>
      </p:sp>
      <p:sp>
        <p:nvSpPr>
          <p:cNvPr id="3" name="Title 2">
            <a:extLst>
              <a:ext uri="{FF2B5EF4-FFF2-40B4-BE49-F238E27FC236}">
                <a16:creationId xmlns:a16="http://schemas.microsoft.com/office/drawing/2014/main" id="{5355B46F-C4F4-EB9E-76EF-24AD6ED65E6B}"/>
              </a:ext>
            </a:extLst>
          </p:cNvPr>
          <p:cNvSpPr>
            <a:spLocks noGrp="1"/>
          </p:cNvSpPr>
          <p:nvPr>
            <p:ph type="title"/>
          </p:nvPr>
        </p:nvSpPr>
        <p:spPr/>
        <p:txBody>
          <a:bodyPr/>
          <a:lstStyle/>
          <a:p>
            <a:r>
              <a:rPr lang="en-US" dirty="0">
                <a:solidFill>
                  <a:srgbClr val="00004C"/>
                </a:solidFill>
              </a:rPr>
              <a:t>Initial Access Techniques</a:t>
            </a:r>
          </a:p>
        </p:txBody>
      </p:sp>
    </p:spTree>
    <p:extLst>
      <p:ext uri="{BB962C8B-B14F-4D97-AF65-F5344CB8AC3E}">
        <p14:creationId xmlns:p14="http://schemas.microsoft.com/office/powerpoint/2010/main" val="37115143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1B7669-BDD9-64C3-FC18-CAA98686F8D4}"/>
              </a:ext>
            </a:extLst>
          </p:cNvPr>
          <p:cNvSpPr>
            <a:spLocks noGrp="1"/>
          </p:cNvSpPr>
          <p:nvPr>
            <p:ph type="body" idx="1"/>
          </p:nvPr>
        </p:nvSpPr>
        <p:spPr/>
        <p:txBody>
          <a:bodyPr/>
          <a:lstStyle/>
          <a:p>
            <a:r>
              <a:rPr lang="en-US" b="1" dirty="0">
                <a:solidFill>
                  <a:srgbClr val="00004C"/>
                </a:solidFill>
              </a:rPr>
              <a:t>When to Use Each Technique</a:t>
            </a:r>
          </a:p>
          <a:p>
            <a:endParaRPr lang="en-US" b="1" dirty="0">
              <a:solidFill>
                <a:srgbClr val="00004C"/>
              </a:solidFill>
            </a:endParaRPr>
          </a:p>
          <a:p>
            <a:pPr lvl="1"/>
            <a:r>
              <a:rPr lang="en-US" b="1" dirty="0">
                <a:solidFill>
                  <a:srgbClr val="00004C"/>
                </a:solidFill>
              </a:rPr>
              <a:t>Technique Selection</a:t>
            </a:r>
          </a:p>
          <a:p>
            <a:pPr lvl="2"/>
            <a:r>
              <a:rPr lang="en-US" b="1" dirty="0">
                <a:solidFill>
                  <a:srgbClr val="00004C"/>
                </a:solidFill>
              </a:rPr>
              <a:t>T1190: </a:t>
            </a:r>
            <a:r>
              <a:rPr lang="en-US" dirty="0">
                <a:solidFill>
                  <a:srgbClr val="00004C"/>
                </a:solidFill>
              </a:rPr>
              <a:t>Public web/RDP exposed (high recon yield)</a:t>
            </a:r>
          </a:p>
          <a:p>
            <a:pPr marL="1430831" lvl="2" indent="0">
              <a:buNone/>
            </a:pPr>
            <a:endParaRPr lang="en-US" dirty="0">
              <a:solidFill>
                <a:srgbClr val="00004C"/>
              </a:solidFill>
            </a:endParaRPr>
          </a:p>
          <a:p>
            <a:pPr lvl="2"/>
            <a:r>
              <a:rPr lang="en-US" b="1" dirty="0">
                <a:solidFill>
                  <a:srgbClr val="00004C"/>
                </a:solidFill>
              </a:rPr>
              <a:t>T1133: </a:t>
            </a:r>
            <a:r>
              <a:rPr lang="en-US" dirty="0">
                <a:solidFill>
                  <a:srgbClr val="00004C"/>
                </a:solidFill>
              </a:rPr>
              <a:t>Remote services with known vulns</a:t>
            </a:r>
          </a:p>
          <a:p>
            <a:pPr lvl="2"/>
            <a:endParaRPr lang="en-US" b="1" dirty="0">
              <a:solidFill>
                <a:srgbClr val="00004C"/>
              </a:solidFill>
            </a:endParaRPr>
          </a:p>
          <a:p>
            <a:pPr lvl="2"/>
            <a:r>
              <a:rPr lang="en-US" b="1" dirty="0">
                <a:solidFill>
                  <a:srgbClr val="00004C"/>
                </a:solidFill>
              </a:rPr>
              <a:t>T1078: </a:t>
            </a:r>
            <a:r>
              <a:rPr lang="en-US" dirty="0">
                <a:solidFill>
                  <a:srgbClr val="00004C"/>
                </a:solidFill>
              </a:rPr>
              <a:t>Creds available, low exploit risk</a:t>
            </a:r>
          </a:p>
          <a:p>
            <a:pPr lvl="2"/>
            <a:endParaRPr lang="en-US" b="1" dirty="0">
              <a:solidFill>
                <a:srgbClr val="00004C"/>
              </a:solidFill>
            </a:endParaRPr>
          </a:p>
          <a:p>
            <a:pPr lvl="2"/>
            <a:r>
              <a:rPr lang="en-US" b="1" dirty="0">
                <a:solidFill>
                  <a:srgbClr val="00004C"/>
                </a:solidFill>
              </a:rPr>
              <a:t>T1534: </a:t>
            </a:r>
            <a:r>
              <a:rPr lang="en-US" dirty="0">
                <a:solidFill>
                  <a:srgbClr val="00004C"/>
                </a:solidFill>
              </a:rPr>
              <a:t>Adversary expected to collect/exfiltrate from blue space (e.g., plant lures in monitored environments for reverse access when they interact)</a:t>
            </a:r>
          </a:p>
          <a:p>
            <a:pPr lvl="2"/>
            <a:endParaRPr lang="en-US" dirty="0">
              <a:solidFill>
                <a:srgbClr val="00004C"/>
              </a:solidFill>
            </a:endParaRPr>
          </a:p>
          <a:p>
            <a:pPr lvl="2"/>
            <a:r>
              <a:rPr lang="en-US" dirty="0">
                <a:solidFill>
                  <a:srgbClr val="00004C"/>
                </a:solidFill>
              </a:rPr>
              <a:t>Base on open-source findings and target environment</a:t>
            </a:r>
          </a:p>
        </p:txBody>
      </p:sp>
      <p:sp>
        <p:nvSpPr>
          <p:cNvPr id="3" name="Title 2">
            <a:extLst>
              <a:ext uri="{FF2B5EF4-FFF2-40B4-BE49-F238E27FC236}">
                <a16:creationId xmlns:a16="http://schemas.microsoft.com/office/drawing/2014/main" id="{5355B46F-C4F4-EB9E-76EF-24AD6ED65E6B}"/>
              </a:ext>
            </a:extLst>
          </p:cNvPr>
          <p:cNvSpPr>
            <a:spLocks noGrp="1"/>
          </p:cNvSpPr>
          <p:nvPr>
            <p:ph type="title"/>
          </p:nvPr>
        </p:nvSpPr>
        <p:spPr/>
        <p:txBody>
          <a:bodyPr/>
          <a:lstStyle/>
          <a:p>
            <a:r>
              <a:rPr lang="en-US" dirty="0">
                <a:solidFill>
                  <a:srgbClr val="00004C"/>
                </a:solidFill>
              </a:rPr>
              <a:t>Initial Access Techniques</a:t>
            </a:r>
          </a:p>
        </p:txBody>
      </p:sp>
    </p:spTree>
    <p:extLst>
      <p:ext uri="{BB962C8B-B14F-4D97-AF65-F5344CB8AC3E}">
        <p14:creationId xmlns:p14="http://schemas.microsoft.com/office/powerpoint/2010/main" val="15043013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1B7669-BDD9-64C3-FC18-CAA98686F8D4}"/>
              </a:ext>
            </a:extLst>
          </p:cNvPr>
          <p:cNvSpPr>
            <a:spLocks noGrp="1"/>
          </p:cNvSpPr>
          <p:nvPr>
            <p:ph type="body" idx="1"/>
          </p:nvPr>
        </p:nvSpPr>
        <p:spPr/>
        <p:txBody>
          <a:bodyPr/>
          <a:lstStyle/>
          <a:p>
            <a:r>
              <a:rPr lang="en-US" b="1" dirty="0">
                <a:solidFill>
                  <a:srgbClr val="00004C"/>
                </a:solidFill>
              </a:rPr>
              <a:t>Operational Considerations for T1190</a:t>
            </a:r>
          </a:p>
          <a:p>
            <a:endParaRPr lang="en-US" dirty="0">
              <a:solidFill>
                <a:srgbClr val="00004C"/>
              </a:solidFill>
            </a:endParaRPr>
          </a:p>
          <a:p>
            <a:pPr lvl="1"/>
            <a:r>
              <a:rPr lang="en-US" dirty="0">
                <a:solidFill>
                  <a:srgbClr val="00004C"/>
                </a:solidFill>
              </a:rPr>
              <a:t>Prioritize stealth by using modified proof-of-concepts to evade common detection signatures (where feasible based on available open-source adaptations).</a:t>
            </a:r>
          </a:p>
          <a:p>
            <a:pPr lvl="1"/>
            <a:endParaRPr lang="en-US" dirty="0">
              <a:solidFill>
                <a:srgbClr val="00004C"/>
              </a:solidFill>
            </a:endParaRPr>
          </a:p>
          <a:p>
            <a:pPr lvl="1"/>
            <a:r>
              <a:rPr lang="en-US" dirty="0">
                <a:solidFill>
                  <a:srgbClr val="00004C"/>
                </a:solidFill>
              </a:rPr>
              <a:t>Maximize impact through remote code execution for delivering disruptive payloads, such as wipers on adversary command and control servers.</a:t>
            </a:r>
          </a:p>
          <a:p>
            <a:pPr lvl="1"/>
            <a:endParaRPr lang="en-US" dirty="0">
              <a:solidFill>
                <a:srgbClr val="00004C"/>
              </a:solidFill>
            </a:endParaRPr>
          </a:p>
          <a:p>
            <a:pPr lvl="1"/>
            <a:r>
              <a:rPr lang="en-US" dirty="0">
                <a:solidFill>
                  <a:srgbClr val="00004C"/>
                </a:solidFill>
              </a:rPr>
              <a:t>Leverage blue space by routing operations through expected traffic paths to the adversary, enabling undetected access to their covert infrastructure.</a:t>
            </a:r>
          </a:p>
        </p:txBody>
      </p:sp>
      <p:sp>
        <p:nvSpPr>
          <p:cNvPr id="3" name="Title 2">
            <a:extLst>
              <a:ext uri="{FF2B5EF4-FFF2-40B4-BE49-F238E27FC236}">
                <a16:creationId xmlns:a16="http://schemas.microsoft.com/office/drawing/2014/main" id="{5355B46F-C4F4-EB9E-76EF-24AD6ED65E6B}"/>
              </a:ext>
            </a:extLst>
          </p:cNvPr>
          <p:cNvSpPr>
            <a:spLocks noGrp="1"/>
          </p:cNvSpPr>
          <p:nvPr>
            <p:ph type="title"/>
          </p:nvPr>
        </p:nvSpPr>
        <p:spPr/>
        <p:txBody>
          <a:bodyPr/>
          <a:lstStyle/>
          <a:p>
            <a:r>
              <a:rPr lang="en-US" dirty="0">
                <a:solidFill>
                  <a:srgbClr val="00004C"/>
                </a:solidFill>
              </a:rPr>
              <a:t>Initial Access Techniques</a:t>
            </a:r>
          </a:p>
        </p:txBody>
      </p:sp>
    </p:spTree>
    <p:extLst>
      <p:ext uri="{BB962C8B-B14F-4D97-AF65-F5344CB8AC3E}">
        <p14:creationId xmlns:p14="http://schemas.microsoft.com/office/powerpoint/2010/main" val="3812287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1B7669-BDD9-64C3-FC18-CAA98686F8D4}"/>
              </a:ext>
            </a:extLst>
          </p:cNvPr>
          <p:cNvSpPr>
            <a:spLocks noGrp="1"/>
          </p:cNvSpPr>
          <p:nvPr>
            <p:ph type="body" idx="1"/>
          </p:nvPr>
        </p:nvSpPr>
        <p:spPr/>
        <p:txBody>
          <a:bodyPr/>
          <a:lstStyle/>
          <a:p>
            <a:r>
              <a:rPr lang="en-US" b="1" dirty="0">
                <a:solidFill>
                  <a:srgbClr val="00004C"/>
                </a:solidFill>
              </a:rPr>
              <a:t>Operational Considerations for Other Techniques</a:t>
            </a:r>
          </a:p>
          <a:p>
            <a:pPr marL="169329" indent="0">
              <a:buNone/>
            </a:pPr>
            <a:endParaRPr lang="en-US" dirty="0">
              <a:solidFill>
                <a:srgbClr val="00004C"/>
              </a:solidFill>
            </a:endParaRPr>
          </a:p>
          <a:p>
            <a:pPr lvl="1"/>
            <a:r>
              <a:rPr lang="en-US" b="1" dirty="0">
                <a:solidFill>
                  <a:srgbClr val="00004C"/>
                </a:solidFill>
              </a:rPr>
              <a:t>T1133: </a:t>
            </a:r>
            <a:r>
              <a:rPr lang="en-US" dirty="0">
                <a:solidFill>
                  <a:srgbClr val="00004C"/>
                </a:solidFill>
              </a:rPr>
              <a:t>Pivot from blue to remote service, monitor for logs</a:t>
            </a:r>
          </a:p>
          <a:p>
            <a:pPr lvl="1"/>
            <a:endParaRPr lang="en-US" dirty="0">
              <a:solidFill>
                <a:srgbClr val="00004C"/>
              </a:solidFill>
            </a:endParaRPr>
          </a:p>
          <a:p>
            <a:pPr lvl="1"/>
            <a:r>
              <a:rPr lang="en-US" b="1" dirty="0">
                <a:solidFill>
                  <a:srgbClr val="00004C"/>
                </a:solidFill>
              </a:rPr>
              <a:t>T1078: </a:t>
            </a:r>
            <a:r>
              <a:rPr lang="en-US" dirty="0">
                <a:solidFill>
                  <a:srgbClr val="00004C"/>
                </a:solidFill>
              </a:rPr>
              <a:t>Validate creds offline first; use IOCs from hunts to build credential lists</a:t>
            </a:r>
          </a:p>
          <a:p>
            <a:pPr lvl="1"/>
            <a:endParaRPr lang="en-US" dirty="0">
              <a:solidFill>
                <a:srgbClr val="00004C"/>
              </a:solidFill>
            </a:endParaRPr>
          </a:p>
          <a:p>
            <a:pPr lvl="1"/>
            <a:r>
              <a:rPr lang="en-US" b="1" dirty="0">
                <a:solidFill>
                  <a:srgbClr val="00004C"/>
                </a:solidFill>
              </a:rPr>
              <a:t>T1534: </a:t>
            </a:r>
            <a:r>
              <a:rPr lang="en-US" dirty="0">
                <a:solidFill>
                  <a:srgbClr val="00004C"/>
                </a:solidFill>
              </a:rPr>
              <a:t>Seed lures strategically in blue space (e.g., shared drives, email traps); monitor for adversary collection triggers to initiate reverse access</a:t>
            </a:r>
          </a:p>
          <a:p>
            <a:pPr lvl="1"/>
            <a:endParaRPr lang="en-US" dirty="0">
              <a:solidFill>
                <a:srgbClr val="00004C"/>
              </a:solidFill>
            </a:endParaRPr>
          </a:p>
          <a:p>
            <a:pPr lvl="1"/>
            <a:r>
              <a:rPr lang="en-US" b="1" dirty="0">
                <a:solidFill>
                  <a:srgbClr val="00004C"/>
                </a:solidFill>
              </a:rPr>
              <a:t>Overall: </a:t>
            </a:r>
            <a:r>
              <a:rPr lang="en-US" dirty="0">
                <a:solidFill>
                  <a:srgbClr val="00004C"/>
                </a:solidFill>
              </a:rPr>
              <a:t>Leverage blue control for safe execution, anticipating adversary behavior patterns from prior hunts</a:t>
            </a:r>
          </a:p>
        </p:txBody>
      </p:sp>
      <p:sp>
        <p:nvSpPr>
          <p:cNvPr id="3" name="Title 2">
            <a:extLst>
              <a:ext uri="{FF2B5EF4-FFF2-40B4-BE49-F238E27FC236}">
                <a16:creationId xmlns:a16="http://schemas.microsoft.com/office/drawing/2014/main" id="{5355B46F-C4F4-EB9E-76EF-24AD6ED65E6B}"/>
              </a:ext>
            </a:extLst>
          </p:cNvPr>
          <p:cNvSpPr>
            <a:spLocks noGrp="1"/>
          </p:cNvSpPr>
          <p:nvPr>
            <p:ph type="title"/>
          </p:nvPr>
        </p:nvSpPr>
        <p:spPr/>
        <p:txBody>
          <a:bodyPr/>
          <a:lstStyle/>
          <a:p>
            <a:r>
              <a:rPr lang="en-US" dirty="0">
                <a:solidFill>
                  <a:srgbClr val="00004C"/>
                </a:solidFill>
              </a:rPr>
              <a:t>Initial Access Techniques</a:t>
            </a:r>
          </a:p>
        </p:txBody>
      </p:sp>
    </p:spTree>
    <p:extLst>
      <p:ext uri="{BB962C8B-B14F-4D97-AF65-F5344CB8AC3E}">
        <p14:creationId xmlns:p14="http://schemas.microsoft.com/office/powerpoint/2010/main" val="33311983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1B7669-BDD9-64C3-FC18-CAA98686F8D4}"/>
              </a:ext>
            </a:extLst>
          </p:cNvPr>
          <p:cNvSpPr>
            <a:spLocks noGrp="1"/>
          </p:cNvSpPr>
          <p:nvPr>
            <p:ph type="body" idx="1"/>
          </p:nvPr>
        </p:nvSpPr>
        <p:spPr/>
        <p:txBody>
          <a:bodyPr/>
          <a:lstStyle/>
          <a:p>
            <a:r>
              <a:rPr lang="en-US" b="1" dirty="0">
                <a:solidFill>
                  <a:srgbClr val="00004C"/>
                </a:solidFill>
              </a:rPr>
              <a:t>Blue Space Advantages in Technique Execution</a:t>
            </a:r>
          </a:p>
          <a:p>
            <a:endParaRPr lang="en-US" dirty="0">
              <a:solidFill>
                <a:srgbClr val="00004C"/>
              </a:solidFill>
            </a:endParaRPr>
          </a:p>
          <a:p>
            <a:pPr lvl="1"/>
            <a:r>
              <a:rPr lang="en-US" b="1" dirty="0">
                <a:solidFill>
                  <a:srgbClr val="00004C"/>
                </a:solidFill>
              </a:rPr>
              <a:t>Compared to covert or unrelated infrastructure: </a:t>
            </a:r>
            <a:r>
              <a:rPr lang="en-US" dirty="0">
                <a:solidFill>
                  <a:srgbClr val="00004C"/>
                </a:solidFill>
              </a:rPr>
              <a:t>Operations from blue space allow blending with traffic the adversary already expects and engages with, facilitating access to otherwise blocked assets while maintaining operational security.</a:t>
            </a:r>
          </a:p>
          <a:p>
            <a:pPr lvl="1"/>
            <a:endParaRPr lang="en-US" dirty="0">
              <a:solidFill>
                <a:srgbClr val="00004C"/>
              </a:solidFill>
            </a:endParaRPr>
          </a:p>
          <a:p>
            <a:pPr lvl="1"/>
            <a:r>
              <a:rPr lang="en-US" b="1" dirty="0">
                <a:solidFill>
                  <a:srgbClr val="00004C"/>
                </a:solidFill>
              </a:rPr>
              <a:t>Compared to ally attacks: </a:t>
            </a:r>
            <a:r>
              <a:rPr lang="en-US" dirty="0">
                <a:solidFill>
                  <a:srgbClr val="00004C"/>
                </a:solidFill>
              </a:rPr>
              <a:t>Direct control from blue space ensures robust OPSEC and enables real-time adaptations based on ongoing reconnaissance, avoiding dependencies on external coordination.</a:t>
            </a:r>
          </a:p>
          <a:p>
            <a:pPr lvl="1"/>
            <a:endParaRPr lang="en-US" dirty="0">
              <a:solidFill>
                <a:srgbClr val="00004C"/>
              </a:solidFill>
            </a:endParaRPr>
          </a:p>
          <a:p>
            <a:pPr lvl="1"/>
            <a:r>
              <a:rPr lang="en-US" dirty="0">
                <a:solidFill>
                  <a:srgbClr val="00004C"/>
                </a:solidFill>
              </a:rPr>
              <a:t>Overall, this positioning supports precise, attributable effects generation as part of an authorized military campaign, turning defensive vantage into offensive advantage.</a:t>
            </a:r>
          </a:p>
        </p:txBody>
      </p:sp>
      <p:sp>
        <p:nvSpPr>
          <p:cNvPr id="3" name="Title 2">
            <a:extLst>
              <a:ext uri="{FF2B5EF4-FFF2-40B4-BE49-F238E27FC236}">
                <a16:creationId xmlns:a16="http://schemas.microsoft.com/office/drawing/2014/main" id="{5355B46F-C4F4-EB9E-76EF-24AD6ED65E6B}"/>
              </a:ext>
            </a:extLst>
          </p:cNvPr>
          <p:cNvSpPr>
            <a:spLocks noGrp="1"/>
          </p:cNvSpPr>
          <p:nvPr>
            <p:ph type="title"/>
          </p:nvPr>
        </p:nvSpPr>
        <p:spPr/>
        <p:txBody>
          <a:bodyPr/>
          <a:lstStyle/>
          <a:p>
            <a:r>
              <a:rPr lang="en-US" dirty="0">
                <a:solidFill>
                  <a:srgbClr val="00004C"/>
                </a:solidFill>
              </a:rPr>
              <a:t>Initial Access Techniques</a:t>
            </a:r>
          </a:p>
        </p:txBody>
      </p:sp>
    </p:spTree>
    <p:extLst>
      <p:ext uri="{BB962C8B-B14F-4D97-AF65-F5344CB8AC3E}">
        <p14:creationId xmlns:p14="http://schemas.microsoft.com/office/powerpoint/2010/main" val="4061202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14FD5-FAC3-6AC5-09BD-235ED7B1FC21}"/>
              </a:ext>
            </a:extLst>
          </p:cNvPr>
          <p:cNvSpPr>
            <a:spLocks noGrp="1"/>
          </p:cNvSpPr>
          <p:nvPr>
            <p:ph type="title"/>
          </p:nvPr>
        </p:nvSpPr>
        <p:spPr/>
        <p:txBody>
          <a:bodyPr/>
          <a:lstStyle/>
          <a:p>
            <a:r>
              <a:rPr lang="en-US" dirty="0">
                <a:solidFill>
                  <a:srgbClr val="00004C"/>
                </a:solidFill>
              </a:rPr>
              <a:t>Operational Suitability Assessment </a:t>
            </a:r>
          </a:p>
        </p:txBody>
      </p:sp>
    </p:spTree>
    <p:extLst>
      <p:ext uri="{BB962C8B-B14F-4D97-AF65-F5344CB8AC3E}">
        <p14:creationId xmlns:p14="http://schemas.microsoft.com/office/powerpoint/2010/main" val="33834824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5DCB366-B147-298F-963D-0CF069F52797}"/>
              </a:ext>
            </a:extLst>
          </p:cNvPr>
          <p:cNvSpPr>
            <a:spLocks noGrp="1"/>
          </p:cNvSpPr>
          <p:nvPr>
            <p:ph type="body" idx="1"/>
          </p:nvPr>
        </p:nvSpPr>
        <p:spPr/>
        <p:txBody>
          <a:bodyPr/>
          <a:lstStyle/>
          <a:p>
            <a:r>
              <a:rPr lang="en-US" b="1" dirty="0">
                <a:solidFill>
                  <a:srgbClr val="00004C"/>
                </a:solidFill>
              </a:rPr>
              <a:t>Likelihood of Success Assessment</a:t>
            </a:r>
          </a:p>
          <a:p>
            <a:endParaRPr lang="en-US" dirty="0">
              <a:solidFill>
                <a:srgbClr val="00004C"/>
              </a:solidFill>
            </a:endParaRPr>
          </a:p>
          <a:p>
            <a:pPr lvl="1"/>
            <a:r>
              <a:rPr lang="en-US" dirty="0">
                <a:solidFill>
                  <a:srgbClr val="00004C"/>
                </a:solidFill>
              </a:rPr>
              <a:t>Determine if the exploit or technique will work effectively in the adversary's environment by matching it against reconnaissance data, such as the detected service version and configuration details.</a:t>
            </a:r>
          </a:p>
          <a:p>
            <a:pPr lvl="1"/>
            <a:endParaRPr lang="en-US" dirty="0">
              <a:solidFill>
                <a:srgbClr val="00004C"/>
              </a:solidFill>
            </a:endParaRPr>
          </a:p>
          <a:p>
            <a:pPr lvl="1"/>
            <a:r>
              <a:rPr lang="en-US" dirty="0">
                <a:solidFill>
                  <a:srgbClr val="00004C"/>
                </a:solidFill>
              </a:rPr>
              <a:t>Test the exploit in a laboratory simulation of the target to confirm its functionality and success rate.</a:t>
            </a:r>
          </a:p>
          <a:p>
            <a:pPr lvl="1"/>
            <a:endParaRPr lang="en-US" dirty="0">
              <a:solidFill>
                <a:srgbClr val="00004C"/>
              </a:solidFill>
            </a:endParaRPr>
          </a:p>
          <a:p>
            <a:pPr lvl="1"/>
            <a:r>
              <a:rPr lang="en-US" dirty="0">
                <a:solidFill>
                  <a:srgbClr val="00004C"/>
                </a:solidFill>
              </a:rPr>
              <a:t>For counterstrike operations, prioritize techniques with a high likelihood of success to ensure reliable disruption of adversary command and control infrastructure.</a:t>
            </a:r>
          </a:p>
        </p:txBody>
      </p:sp>
      <p:sp>
        <p:nvSpPr>
          <p:cNvPr id="3" name="Title 2">
            <a:extLst>
              <a:ext uri="{FF2B5EF4-FFF2-40B4-BE49-F238E27FC236}">
                <a16:creationId xmlns:a16="http://schemas.microsoft.com/office/drawing/2014/main" id="{DA9B687F-D283-827E-3BEF-9A5C58252182}"/>
              </a:ext>
            </a:extLst>
          </p:cNvPr>
          <p:cNvSpPr>
            <a:spLocks noGrp="1"/>
          </p:cNvSpPr>
          <p:nvPr>
            <p:ph type="title"/>
          </p:nvPr>
        </p:nvSpPr>
        <p:spPr/>
        <p:txBody>
          <a:bodyPr/>
          <a:lstStyle/>
          <a:p>
            <a:r>
              <a:rPr lang="en-US" dirty="0">
                <a:solidFill>
                  <a:srgbClr val="00004C"/>
                </a:solidFill>
              </a:rPr>
              <a:t>Operational Suitability Assessment </a:t>
            </a:r>
          </a:p>
        </p:txBody>
      </p:sp>
    </p:spTree>
    <p:extLst>
      <p:ext uri="{BB962C8B-B14F-4D97-AF65-F5344CB8AC3E}">
        <p14:creationId xmlns:p14="http://schemas.microsoft.com/office/powerpoint/2010/main" val="195388367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5DCB366-B147-298F-963D-0CF069F52797}"/>
              </a:ext>
            </a:extLst>
          </p:cNvPr>
          <p:cNvSpPr>
            <a:spLocks noGrp="1"/>
          </p:cNvSpPr>
          <p:nvPr>
            <p:ph type="body" idx="1"/>
          </p:nvPr>
        </p:nvSpPr>
        <p:spPr/>
        <p:txBody>
          <a:bodyPr/>
          <a:lstStyle/>
          <a:p>
            <a:r>
              <a:rPr lang="en-US" b="1" dirty="0">
                <a:solidFill>
                  <a:srgbClr val="00004C"/>
                </a:solidFill>
              </a:rPr>
              <a:t>Stealth Assessment for Exploits and Techniques</a:t>
            </a:r>
          </a:p>
          <a:p>
            <a:endParaRPr lang="en-US" dirty="0"/>
          </a:p>
          <a:p>
            <a:pPr lvl="1"/>
            <a:r>
              <a:rPr lang="en-US" dirty="0">
                <a:solidFill>
                  <a:srgbClr val="00004C"/>
                </a:solidFill>
              </a:rPr>
              <a:t>Evaluate how detectable the exploit or technique might be during execution, considering factors such as generated logs, network traffic patterns, or application-level alerts that could be noticed by the adversary's defenders.</a:t>
            </a:r>
          </a:p>
          <a:p>
            <a:pPr lvl="1"/>
            <a:endParaRPr lang="en-US" dirty="0">
              <a:solidFill>
                <a:srgbClr val="00004C"/>
              </a:solidFill>
            </a:endParaRPr>
          </a:p>
          <a:p>
            <a:pPr lvl="1"/>
            <a:r>
              <a:rPr lang="en-US" dirty="0">
                <a:solidFill>
                  <a:srgbClr val="00004C"/>
                </a:solidFill>
              </a:rPr>
              <a:t>Implement mitigation strategies by leveraging your experience from blue space threat hunting, such as mimicking legitimate traffic patterns that the adversary has previously observed or engaged with to reduce the chances of detection.</a:t>
            </a:r>
          </a:p>
          <a:p>
            <a:pPr lvl="1"/>
            <a:endParaRPr lang="en-US" dirty="0">
              <a:solidFill>
                <a:srgbClr val="00004C"/>
              </a:solidFill>
            </a:endParaRPr>
          </a:p>
          <a:p>
            <a:pPr lvl="1"/>
            <a:r>
              <a:rPr lang="en-US" dirty="0">
                <a:solidFill>
                  <a:srgbClr val="00004C"/>
                </a:solidFill>
              </a:rPr>
              <a:t>Balance the need for stealth, which supports long-term persistence and follow-on operations, against more aggressive approaches that may be necessary for achieving quick, decisive effects in time-sensitive counterstrike scenarios.</a:t>
            </a:r>
          </a:p>
        </p:txBody>
      </p:sp>
      <p:sp>
        <p:nvSpPr>
          <p:cNvPr id="3" name="Title 2">
            <a:extLst>
              <a:ext uri="{FF2B5EF4-FFF2-40B4-BE49-F238E27FC236}">
                <a16:creationId xmlns:a16="http://schemas.microsoft.com/office/drawing/2014/main" id="{DA9B687F-D283-827E-3BEF-9A5C58252182}"/>
              </a:ext>
            </a:extLst>
          </p:cNvPr>
          <p:cNvSpPr>
            <a:spLocks noGrp="1"/>
          </p:cNvSpPr>
          <p:nvPr>
            <p:ph type="title"/>
          </p:nvPr>
        </p:nvSpPr>
        <p:spPr/>
        <p:txBody>
          <a:bodyPr/>
          <a:lstStyle/>
          <a:p>
            <a:r>
              <a:rPr lang="en-US" dirty="0">
                <a:solidFill>
                  <a:srgbClr val="00004C"/>
                </a:solidFill>
              </a:rPr>
              <a:t>Operational Suitability Assessment </a:t>
            </a:r>
          </a:p>
        </p:txBody>
      </p:sp>
    </p:spTree>
    <p:extLst>
      <p:ext uri="{BB962C8B-B14F-4D97-AF65-F5344CB8AC3E}">
        <p14:creationId xmlns:p14="http://schemas.microsoft.com/office/powerpoint/2010/main" val="21112184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5DCB366-B147-298F-963D-0CF069F52797}"/>
              </a:ext>
            </a:extLst>
          </p:cNvPr>
          <p:cNvSpPr>
            <a:spLocks noGrp="1"/>
          </p:cNvSpPr>
          <p:nvPr>
            <p:ph type="body" idx="1"/>
          </p:nvPr>
        </p:nvSpPr>
        <p:spPr/>
        <p:txBody>
          <a:bodyPr/>
          <a:lstStyle/>
          <a:p>
            <a:r>
              <a:rPr lang="en-US" b="1" dirty="0">
                <a:solidFill>
                  <a:srgbClr val="00004C"/>
                </a:solidFill>
              </a:rPr>
              <a:t>Reliability Assessment for Consistent Results</a:t>
            </a:r>
          </a:p>
          <a:p>
            <a:pPr lvl="1"/>
            <a:endParaRPr lang="en-US" dirty="0"/>
          </a:p>
          <a:p>
            <a:pPr lvl="1"/>
            <a:r>
              <a:rPr lang="en-US" dirty="0">
                <a:solidFill>
                  <a:srgbClr val="00004C"/>
                </a:solidFill>
              </a:rPr>
              <a:t>Examine whether the exploit or technique produces repeatable and consistent outcomes across multiple attempts, particularly in environments similar to the adversary's setup based on your reconnaissance findings.</a:t>
            </a:r>
          </a:p>
          <a:p>
            <a:pPr lvl="1"/>
            <a:endParaRPr lang="en-US" dirty="0">
              <a:solidFill>
                <a:srgbClr val="00004C"/>
              </a:solidFill>
            </a:endParaRPr>
          </a:p>
          <a:p>
            <a:pPr lvl="1"/>
            <a:r>
              <a:rPr lang="en-US" dirty="0">
                <a:solidFill>
                  <a:srgbClr val="00004C"/>
                </a:solidFill>
              </a:rPr>
              <a:t>Review community feedback and documentation from sources like </a:t>
            </a:r>
            <a:r>
              <a:rPr lang="en-US" dirty="0" err="1">
                <a:solidFill>
                  <a:srgbClr val="00004C"/>
                </a:solidFill>
              </a:rPr>
              <a:t>ExploitDB</a:t>
            </a:r>
            <a:r>
              <a:rPr lang="en-US" dirty="0">
                <a:solidFill>
                  <a:srgbClr val="00004C"/>
                </a:solidFill>
              </a:rPr>
              <a:t> or GitHub repositories to gauge real-world success rates and any known failure conditions that could impact operational effectiveness.</a:t>
            </a:r>
          </a:p>
          <a:p>
            <a:pPr lvl="1"/>
            <a:endParaRPr lang="en-US" dirty="0">
              <a:solidFill>
                <a:srgbClr val="00004C"/>
              </a:solidFill>
            </a:endParaRPr>
          </a:p>
          <a:p>
            <a:pPr lvl="1"/>
            <a:r>
              <a:rPr lang="en-US" dirty="0">
                <a:solidFill>
                  <a:srgbClr val="00004C"/>
                </a:solidFill>
              </a:rPr>
              <a:t>In operational planning, select exploits or techniques that demonstrate at least an 80% success rate in comparable configurations to ensure dependable performance when targeting adversary infrastructure for disruption or access.</a:t>
            </a:r>
          </a:p>
        </p:txBody>
      </p:sp>
      <p:sp>
        <p:nvSpPr>
          <p:cNvPr id="3" name="Title 2">
            <a:extLst>
              <a:ext uri="{FF2B5EF4-FFF2-40B4-BE49-F238E27FC236}">
                <a16:creationId xmlns:a16="http://schemas.microsoft.com/office/drawing/2014/main" id="{DA9B687F-D283-827E-3BEF-9A5C58252182}"/>
              </a:ext>
            </a:extLst>
          </p:cNvPr>
          <p:cNvSpPr>
            <a:spLocks noGrp="1"/>
          </p:cNvSpPr>
          <p:nvPr>
            <p:ph type="title"/>
          </p:nvPr>
        </p:nvSpPr>
        <p:spPr/>
        <p:txBody>
          <a:bodyPr/>
          <a:lstStyle/>
          <a:p>
            <a:r>
              <a:rPr lang="en-US" dirty="0">
                <a:solidFill>
                  <a:srgbClr val="00004C"/>
                </a:solidFill>
              </a:rPr>
              <a:t>Operational Suitability Assessment </a:t>
            </a:r>
          </a:p>
        </p:txBody>
      </p:sp>
    </p:spTree>
    <p:extLst>
      <p:ext uri="{BB962C8B-B14F-4D97-AF65-F5344CB8AC3E}">
        <p14:creationId xmlns:p14="http://schemas.microsoft.com/office/powerpoint/2010/main" val="14499855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5DCB366-B147-298F-963D-0CF069F52797}"/>
              </a:ext>
            </a:extLst>
          </p:cNvPr>
          <p:cNvSpPr>
            <a:spLocks noGrp="1"/>
          </p:cNvSpPr>
          <p:nvPr>
            <p:ph type="body" idx="1"/>
          </p:nvPr>
        </p:nvSpPr>
        <p:spPr/>
        <p:txBody>
          <a:bodyPr/>
          <a:lstStyle/>
          <a:p>
            <a:r>
              <a:rPr lang="en-US" b="1" dirty="0">
                <a:solidFill>
                  <a:srgbClr val="00004C"/>
                </a:solidFill>
              </a:rPr>
              <a:t>Risk Evaluation of Potential Negative Impacts</a:t>
            </a:r>
          </a:p>
          <a:p>
            <a:endParaRPr lang="en-US" dirty="0">
              <a:solidFill>
                <a:srgbClr val="00004C"/>
              </a:solidFill>
            </a:endParaRPr>
          </a:p>
          <a:p>
            <a:pPr lvl="1"/>
            <a:r>
              <a:rPr lang="en-US" dirty="0">
                <a:solidFill>
                  <a:srgbClr val="00004C"/>
                </a:solidFill>
              </a:rPr>
              <a:t>Identify possible unintended consequences, such as crashing the target system, causing unintended data loss, or triggering defensive mechanisms that could alert the adversary or complicate further operations.</a:t>
            </a:r>
          </a:p>
          <a:p>
            <a:pPr lvl="1"/>
            <a:endParaRPr lang="en-US" dirty="0">
              <a:solidFill>
                <a:srgbClr val="00004C"/>
              </a:solidFill>
            </a:endParaRPr>
          </a:p>
          <a:p>
            <a:pPr lvl="1"/>
            <a:r>
              <a:rPr lang="en-US" b="1" dirty="0">
                <a:solidFill>
                  <a:srgbClr val="00004C"/>
                </a:solidFill>
              </a:rPr>
              <a:t>Assess adversary response potential: </a:t>
            </a:r>
            <a:r>
              <a:rPr lang="en-US" dirty="0">
                <a:solidFill>
                  <a:srgbClr val="00004C"/>
                </a:solidFill>
              </a:rPr>
              <a:t>Consider how the adversary might react to the exploit (e.g., increased monitoring or retaliation) and evaluate whether it could lead to escalated actions against blue infrastructure, such as intensified attacks or operational shifts.</a:t>
            </a:r>
          </a:p>
        </p:txBody>
      </p:sp>
      <p:sp>
        <p:nvSpPr>
          <p:cNvPr id="3" name="Title 2">
            <a:extLst>
              <a:ext uri="{FF2B5EF4-FFF2-40B4-BE49-F238E27FC236}">
                <a16:creationId xmlns:a16="http://schemas.microsoft.com/office/drawing/2014/main" id="{DA9B687F-D283-827E-3BEF-9A5C58252182}"/>
              </a:ext>
            </a:extLst>
          </p:cNvPr>
          <p:cNvSpPr>
            <a:spLocks noGrp="1"/>
          </p:cNvSpPr>
          <p:nvPr>
            <p:ph type="title"/>
          </p:nvPr>
        </p:nvSpPr>
        <p:spPr/>
        <p:txBody>
          <a:bodyPr/>
          <a:lstStyle/>
          <a:p>
            <a:r>
              <a:rPr lang="en-US" dirty="0">
                <a:solidFill>
                  <a:srgbClr val="00004C"/>
                </a:solidFill>
              </a:rPr>
              <a:t>Operational Suitability Assessment </a:t>
            </a:r>
          </a:p>
        </p:txBody>
      </p:sp>
    </p:spTree>
    <p:extLst>
      <p:ext uri="{BB962C8B-B14F-4D97-AF65-F5344CB8AC3E}">
        <p14:creationId xmlns:p14="http://schemas.microsoft.com/office/powerpoint/2010/main" val="11776862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5DCB366-B147-298F-963D-0CF069F52797}"/>
              </a:ext>
            </a:extLst>
          </p:cNvPr>
          <p:cNvSpPr>
            <a:spLocks noGrp="1"/>
          </p:cNvSpPr>
          <p:nvPr>
            <p:ph type="body" idx="1"/>
          </p:nvPr>
        </p:nvSpPr>
        <p:spPr/>
        <p:txBody>
          <a:bodyPr/>
          <a:lstStyle/>
          <a:p>
            <a:r>
              <a:rPr lang="en-US" b="1" dirty="0">
                <a:solidFill>
                  <a:srgbClr val="00004C"/>
                </a:solidFill>
              </a:rPr>
              <a:t>Risk Evaluation of Potential Negative Impacts (cont’d)</a:t>
            </a:r>
          </a:p>
          <a:p>
            <a:pPr marL="169329" indent="0">
              <a:buNone/>
            </a:pPr>
            <a:endParaRPr lang="en-US" dirty="0">
              <a:solidFill>
                <a:srgbClr val="00004C"/>
              </a:solidFill>
            </a:endParaRPr>
          </a:p>
          <a:p>
            <a:pPr lvl="1"/>
            <a:r>
              <a:rPr lang="en-US" dirty="0">
                <a:solidFill>
                  <a:srgbClr val="00004C"/>
                </a:solidFill>
              </a:rPr>
              <a:t>Conduct thorough assessments through code reviews and laboratory testing conducted from your secure blue space vantage point to quantify and mitigate these risks before deployment.</a:t>
            </a:r>
          </a:p>
          <a:p>
            <a:pPr lvl="1"/>
            <a:endParaRPr lang="en-US" dirty="0">
              <a:solidFill>
                <a:srgbClr val="00004C"/>
              </a:solidFill>
            </a:endParaRPr>
          </a:p>
          <a:p>
            <a:pPr lvl="1"/>
            <a:r>
              <a:rPr lang="en-US" dirty="0">
                <a:solidFill>
                  <a:srgbClr val="00004C"/>
                </a:solidFill>
              </a:rPr>
              <a:t>Under the Rules of Engagement, accept calculated risks that align with authorized campaign objectives, ensuring that any potential downsides do not outweigh the strategic benefits of generating effects against the adversary.</a:t>
            </a:r>
          </a:p>
        </p:txBody>
      </p:sp>
      <p:sp>
        <p:nvSpPr>
          <p:cNvPr id="3" name="Title 2">
            <a:extLst>
              <a:ext uri="{FF2B5EF4-FFF2-40B4-BE49-F238E27FC236}">
                <a16:creationId xmlns:a16="http://schemas.microsoft.com/office/drawing/2014/main" id="{DA9B687F-D283-827E-3BEF-9A5C58252182}"/>
              </a:ext>
            </a:extLst>
          </p:cNvPr>
          <p:cNvSpPr>
            <a:spLocks noGrp="1"/>
          </p:cNvSpPr>
          <p:nvPr>
            <p:ph type="title"/>
          </p:nvPr>
        </p:nvSpPr>
        <p:spPr/>
        <p:txBody>
          <a:bodyPr/>
          <a:lstStyle/>
          <a:p>
            <a:r>
              <a:rPr lang="en-US" dirty="0">
                <a:solidFill>
                  <a:srgbClr val="00004C"/>
                </a:solidFill>
              </a:rPr>
              <a:t>Operational Suitability Assessment </a:t>
            </a:r>
          </a:p>
        </p:txBody>
      </p:sp>
    </p:spTree>
    <p:extLst>
      <p:ext uri="{BB962C8B-B14F-4D97-AF65-F5344CB8AC3E}">
        <p14:creationId xmlns:p14="http://schemas.microsoft.com/office/powerpoint/2010/main" val="1623795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5DCB366-B147-298F-963D-0CF069F52797}"/>
              </a:ext>
            </a:extLst>
          </p:cNvPr>
          <p:cNvSpPr>
            <a:spLocks noGrp="1"/>
          </p:cNvSpPr>
          <p:nvPr>
            <p:ph type="body" idx="1"/>
          </p:nvPr>
        </p:nvSpPr>
        <p:spPr/>
        <p:txBody>
          <a:bodyPr/>
          <a:lstStyle/>
          <a:p>
            <a:r>
              <a:rPr lang="en-US" b="1" dirty="0">
                <a:solidFill>
                  <a:srgbClr val="00004C"/>
                </a:solidFill>
              </a:rPr>
              <a:t>Authorities and Permissions Verification</a:t>
            </a:r>
          </a:p>
          <a:p>
            <a:endParaRPr lang="en-US" dirty="0">
              <a:solidFill>
                <a:srgbClr val="00004C"/>
              </a:solidFill>
            </a:endParaRPr>
          </a:p>
          <a:p>
            <a:pPr lvl="1"/>
            <a:r>
              <a:rPr lang="en-US" dirty="0">
                <a:solidFill>
                  <a:srgbClr val="00004C"/>
                </a:solidFill>
              </a:rPr>
              <a:t>Confirm compliance with the Rules of Engagement, which explicitly permit the exploitation of adversary infrastructure as part of authorized military operations.</a:t>
            </a:r>
          </a:p>
          <a:p>
            <a:pPr lvl="1"/>
            <a:endParaRPr lang="en-US" dirty="0">
              <a:solidFill>
                <a:srgbClr val="00004C"/>
              </a:solidFill>
            </a:endParaRPr>
          </a:p>
          <a:p>
            <a:pPr lvl="1"/>
            <a:r>
              <a:rPr lang="en-US" dirty="0">
                <a:solidFill>
                  <a:srgbClr val="00004C"/>
                </a:solidFill>
              </a:rPr>
              <a:t>Ensure all actions are conducted in accordance with lawful orders from the chain of command, maintaining clear documentation of approvals to support operational legitimacy.</a:t>
            </a:r>
          </a:p>
          <a:p>
            <a:pPr lvl="1"/>
            <a:endParaRPr lang="en-US" dirty="0">
              <a:solidFill>
                <a:srgbClr val="00004C"/>
              </a:solidFill>
            </a:endParaRPr>
          </a:p>
          <a:p>
            <a:pPr lvl="1"/>
            <a:r>
              <a:rPr lang="en-US" dirty="0">
                <a:solidFill>
                  <a:srgbClr val="00004C"/>
                </a:solidFill>
              </a:rPr>
              <a:t>Establish a chain of custody for the selection and use of exploits or techniques, recording decisions and rationale to facilitate accountability and post-operation reviews within the campaign framework.</a:t>
            </a:r>
          </a:p>
        </p:txBody>
      </p:sp>
      <p:sp>
        <p:nvSpPr>
          <p:cNvPr id="3" name="Title 2">
            <a:extLst>
              <a:ext uri="{FF2B5EF4-FFF2-40B4-BE49-F238E27FC236}">
                <a16:creationId xmlns:a16="http://schemas.microsoft.com/office/drawing/2014/main" id="{DA9B687F-D283-827E-3BEF-9A5C58252182}"/>
              </a:ext>
            </a:extLst>
          </p:cNvPr>
          <p:cNvSpPr>
            <a:spLocks noGrp="1"/>
          </p:cNvSpPr>
          <p:nvPr>
            <p:ph type="title"/>
          </p:nvPr>
        </p:nvSpPr>
        <p:spPr/>
        <p:txBody>
          <a:bodyPr/>
          <a:lstStyle/>
          <a:p>
            <a:r>
              <a:rPr lang="en-US" dirty="0">
                <a:solidFill>
                  <a:srgbClr val="00004C"/>
                </a:solidFill>
              </a:rPr>
              <a:t>Operational Suitability Assessment </a:t>
            </a:r>
          </a:p>
        </p:txBody>
      </p:sp>
    </p:spTree>
    <p:extLst>
      <p:ext uri="{BB962C8B-B14F-4D97-AF65-F5344CB8AC3E}">
        <p14:creationId xmlns:p14="http://schemas.microsoft.com/office/powerpoint/2010/main" val="40672050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5DCB366-B147-298F-963D-0CF069F52797}"/>
              </a:ext>
            </a:extLst>
          </p:cNvPr>
          <p:cNvSpPr>
            <a:spLocks noGrp="1"/>
          </p:cNvSpPr>
          <p:nvPr>
            <p:ph type="body" idx="1"/>
          </p:nvPr>
        </p:nvSpPr>
        <p:spPr/>
        <p:txBody>
          <a:bodyPr/>
          <a:lstStyle/>
          <a:p>
            <a:r>
              <a:rPr lang="en-US" b="1" dirty="0">
                <a:solidFill>
                  <a:srgbClr val="00004C"/>
                </a:solidFill>
              </a:rPr>
              <a:t>Time Considerations for Execution</a:t>
            </a:r>
          </a:p>
          <a:p>
            <a:endParaRPr lang="en-US" dirty="0">
              <a:solidFill>
                <a:srgbClr val="00004C"/>
              </a:solidFill>
            </a:endParaRPr>
          </a:p>
          <a:p>
            <a:pPr lvl="1"/>
            <a:r>
              <a:rPr lang="en-US" dirty="0">
                <a:solidFill>
                  <a:srgbClr val="00004C"/>
                </a:solidFill>
              </a:rPr>
              <a:t>Estimate the duration required for preparation, execution, and potential cleanup of the exploit or technique, such as one hour for modifying a proof-of-concept versus ten minutes for deploying a pre-built Metasploit module.</a:t>
            </a:r>
          </a:p>
          <a:p>
            <a:pPr lvl="1"/>
            <a:endParaRPr lang="en-US" dirty="0">
              <a:solidFill>
                <a:srgbClr val="00004C"/>
              </a:solidFill>
            </a:endParaRPr>
          </a:p>
          <a:p>
            <a:pPr lvl="1"/>
            <a:r>
              <a:rPr lang="en-US" dirty="0">
                <a:solidFill>
                  <a:srgbClr val="00004C"/>
                </a:solidFill>
              </a:rPr>
              <a:t>Factor in the full reconnaissance-to-exploit cycle, accounting for dynamic changes in the adversary's environment that could extend timelines during active operations.</a:t>
            </a:r>
          </a:p>
          <a:p>
            <a:pPr lvl="1"/>
            <a:endParaRPr lang="en-US" dirty="0">
              <a:solidFill>
                <a:srgbClr val="00004C"/>
              </a:solidFill>
            </a:endParaRPr>
          </a:p>
          <a:p>
            <a:pPr lvl="1"/>
            <a:r>
              <a:rPr lang="en-US" dirty="0">
                <a:solidFill>
                  <a:srgbClr val="00004C"/>
                </a:solidFill>
              </a:rPr>
              <a:t>Utilize the advantages of blue space operations, including parallel research and testing activities, to accelerate the overall planning and execution process for more responsive counterstrikes</a:t>
            </a:r>
            <a:r>
              <a:rPr lang="en-US" dirty="0"/>
              <a:t>.</a:t>
            </a:r>
          </a:p>
        </p:txBody>
      </p:sp>
      <p:sp>
        <p:nvSpPr>
          <p:cNvPr id="3" name="Title 2">
            <a:extLst>
              <a:ext uri="{FF2B5EF4-FFF2-40B4-BE49-F238E27FC236}">
                <a16:creationId xmlns:a16="http://schemas.microsoft.com/office/drawing/2014/main" id="{DA9B687F-D283-827E-3BEF-9A5C58252182}"/>
              </a:ext>
            </a:extLst>
          </p:cNvPr>
          <p:cNvSpPr>
            <a:spLocks noGrp="1"/>
          </p:cNvSpPr>
          <p:nvPr>
            <p:ph type="title"/>
          </p:nvPr>
        </p:nvSpPr>
        <p:spPr/>
        <p:txBody>
          <a:bodyPr/>
          <a:lstStyle/>
          <a:p>
            <a:r>
              <a:rPr lang="en-US" dirty="0">
                <a:solidFill>
                  <a:srgbClr val="00004C"/>
                </a:solidFill>
              </a:rPr>
              <a:t>Operational Suitability Assessment </a:t>
            </a:r>
          </a:p>
        </p:txBody>
      </p:sp>
    </p:spTree>
    <p:extLst>
      <p:ext uri="{BB962C8B-B14F-4D97-AF65-F5344CB8AC3E}">
        <p14:creationId xmlns:p14="http://schemas.microsoft.com/office/powerpoint/2010/main" val="28112823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5DCB366-B147-298F-963D-0CF069F52797}"/>
              </a:ext>
            </a:extLst>
          </p:cNvPr>
          <p:cNvSpPr>
            <a:spLocks noGrp="1"/>
          </p:cNvSpPr>
          <p:nvPr>
            <p:ph type="body" idx="1"/>
          </p:nvPr>
        </p:nvSpPr>
        <p:spPr/>
        <p:txBody>
          <a:bodyPr/>
          <a:lstStyle/>
          <a:p>
            <a:r>
              <a:rPr lang="en-US" b="1" dirty="0">
                <a:solidFill>
                  <a:srgbClr val="00004C"/>
                </a:solidFill>
              </a:rPr>
              <a:t>Balancing Multiple Factors in Decision Making</a:t>
            </a:r>
          </a:p>
          <a:p>
            <a:pPr lvl="1"/>
            <a:endParaRPr lang="en-US" dirty="0">
              <a:solidFill>
                <a:srgbClr val="00004C"/>
              </a:solidFill>
            </a:endParaRPr>
          </a:p>
          <a:p>
            <a:pPr lvl="1"/>
            <a:r>
              <a:rPr lang="en-US" dirty="0">
                <a:solidFill>
                  <a:srgbClr val="00004C"/>
                </a:solidFill>
              </a:rPr>
              <a:t>Develop a decision matrix to score and weigh key criteria, such as assigning 40% weight to likelihood of success, 20% to stealth, 15% to reliability, and adjusting based on operational priorities.</a:t>
            </a:r>
          </a:p>
          <a:p>
            <a:pPr marL="795847" lvl="1" indent="0">
              <a:buNone/>
            </a:pPr>
            <a:endParaRPr lang="en-US" dirty="0">
              <a:solidFill>
                <a:srgbClr val="00004C"/>
              </a:solidFill>
            </a:endParaRPr>
          </a:p>
          <a:p>
            <a:pPr lvl="1"/>
            <a:r>
              <a:rPr lang="en-US" b="1" dirty="0">
                <a:solidFill>
                  <a:srgbClr val="00004C"/>
                </a:solidFill>
              </a:rPr>
              <a:t>Incorporate military COA (Course of Action) development and decision-making processes: </a:t>
            </a:r>
            <a:r>
              <a:rPr lang="en-US" dirty="0">
                <a:solidFill>
                  <a:srgbClr val="00004C"/>
                </a:solidFill>
              </a:rPr>
              <a:t>Analyze multiple COAs (e.g., exploit-based access vs. credential stuffing), evaluate against mission objectives, adversary responses, and resource constraints, then select the optimal path using structured techniques like MDMP (Military Decision Making Process) adapted for cyber operations.</a:t>
            </a:r>
          </a:p>
        </p:txBody>
      </p:sp>
      <p:sp>
        <p:nvSpPr>
          <p:cNvPr id="3" name="Title 2">
            <a:extLst>
              <a:ext uri="{FF2B5EF4-FFF2-40B4-BE49-F238E27FC236}">
                <a16:creationId xmlns:a16="http://schemas.microsoft.com/office/drawing/2014/main" id="{DA9B687F-D283-827E-3BEF-9A5C58252182}"/>
              </a:ext>
            </a:extLst>
          </p:cNvPr>
          <p:cNvSpPr>
            <a:spLocks noGrp="1"/>
          </p:cNvSpPr>
          <p:nvPr>
            <p:ph type="title"/>
          </p:nvPr>
        </p:nvSpPr>
        <p:spPr/>
        <p:txBody>
          <a:bodyPr/>
          <a:lstStyle/>
          <a:p>
            <a:r>
              <a:rPr lang="en-US" dirty="0">
                <a:solidFill>
                  <a:srgbClr val="00004C"/>
                </a:solidFill>
              </a:rPr>
              <a:t>Operational Suitability Assessment </a:t>
            </a:r>
          </a:p>
        </p:txBody>
      </p:sp>
    </p:spTree>
    <p:extLst>
      <p:ext uri="{BB962C8B-B14F-4D97-AF65-F5344CB8AC3E}">
        <p14:creationId xmlns:p14="http://schemas.microsoft.com/office/powerpoint/2010/main" val="80572810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5DCB366-B147-298F-963D-0CF069F52797}"/>
              </a:ext>
            </a:extLst>
          </p:cNvPr>
          <p:cNvSpPr>
            <a:spLocks noGrp="1"/>
          </p:cNvSpPr>
          <p:nvPr>
            <p:ph type="body" idx="1"/>
          </p:nvPr>
        </p:nvSpPr>
        <p:spPr/>
        <p:txBody>
          <a:bodyPr/>
          <a:lstStyle/>
          <a:p>
            <a:r>
              <a:rPr lang="en-US" b="1" dirty="0">
                <a:solidFill>
                  <a:srgbClr val="00004C"/>
                </a:solidFill>
              </a:rPr>
              <a:t>Balancing Multiple Factors in Decision Making</a:t>
            </a:r>
          </a:p>
          <a:p>
            <a:pPr marL="169329" indent="0">
              <a:buNone/>
            </a:pPr>
            <a:endParaRPr lang="en-US" b="1" dirty="0">
              <a:solidFill>
                <a:srgbClr val="00004C"/>
              </a:solidFill>
            </a:endParaRPr>
          </a:p>
          <a:p>
            <a:pPr lvl="1"/>
            <a:r>
              <a:rPr lang="en-US" dirty="0">
                <a:solidFill>
                  <a:srgbClr val="00004C"/>
                </a:solidFill>
              </a:rPr>
              <a:t>Consider practical examples, like selecting a high-success but potentially noisy exploit for an urgent takedown of adversary command and control infrastructure where speed is paramount.</a:t>
            </a:r>
          </a:p>
          <a:p>
            <a:pPr lvl="1"/>
            <a:endParaRPr lang="en-US" dirty="0">
              <a:solidFill>
                <a:srgbClr val="00004C"/>
              </a:solidFill>
            </a:endParaRPr>
          </a:p>
          <a:p>
            <a:pPr lvl="1"/>
            <a:r>
              <a:rPr lang="en-US" dirty="0">
                <a:solidFill>
                  <a:srgbClr val="00004C"/>
                </a:solidFill>
              </a:rPr>
              <a:t>Integrate the unique advantages of operating from blue space, such as controlled testing and real-time adjustments, to optimize the overall selection and execution of techniques for maximum counterstrike effectiveness.</a:t>
            </a:r>
          </a:p>
        </p:txBody>
      </p:sp>
      <p:sp>
        <p:nvSpPr>
          <p:cNvPr id="3" name="Title 2">
            <a:extLst>
              <a:ext uri="{FF2B5EF4-FFF2-40B4-BE49-F238E27FC236}">
                <a16:creationId xmlns:a16="http://schemas.microsoft.com/office/drawing/2014/main" id="{DA9B687F-D283-827E-3BEF-9A5C58252182}"/>
              </a:ext>
            </a:extLst>
          </p:cNvPr>
          <p:cNvSpPr>
            <a:spLocks noGrp="1"/>
          </p:cNvSpPr>
          <p:nvPr>
            <p:ph type="title"/>
          </p:nvPr>
        </p:nvSpPr>
        <p:spPr/>
        <p:txBody>
          <a:bodyPr/>
          <a:lstStyle/>
          <a:p>
            <a:r>
              <a:rPr lang="en-US" dirty="0">
                <a:solidFill>
                  <a:srgbClr val="00004C"/>
                </a:solidFill>
              </a:rPr>
              <a:t>Operational Suitability Assessment </a:t>
            </a:r>
          </a:p>
        </p:txBody>
      </p:sp>
    </p:spTree>
    <p:extLst>
      <p:ext uri="{BB962C8B-B14F-4D97-AF65-F5344CB8AC3E}">
        <p14:creationId xmlns:p14="http://schemas.microsoft.com/office/powerpoint/2010/main" val="16618452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5DCB366-B147-298F-963D-0CF069F52797}"/>
              </a:ext>
            </a:extLst>
          </p:cNvPr>
          <p:cNvSpPr>
            <a:spLocks noGrp="1"/>
          </p:cNvSpPr>
          <p:nvPr>
            <p:ph type="body" idx="1"/>
          </p:nvPr>
        </p:nvSpPr>
        <p:spPr/>
        <p:txBody>
          <a:bodyPr/>
          <a:lstStyle/>
          <a:p>
            <a:r>
              <a:rPr lang="en-US" b="1" dirty="0">
                <a:solidFill>
                  <a:srgbClr val="00004C"/>
                </a:solidFill>
              </a:rPr>
              <a:t>Documenting</a:t>
            </a:r>
            <a:r>
              <a:rPr lang="en-US" dirty="0"/>
              <a:t> </a:t>
            </a:r>
            <a:r>
              <a:rPr lang="en-US" b="1" dirty="0">
                <a:solidFill>
                  <a:srgbClr val="00004C"/>
                </a:solidFill>
              </a:rPr>
              <a:t>Rationale for Technique Selection</a:t>
            </a:r>
          </a:p>
          <a:p>
            <a:endParaRPr lang="en-US" dirty="0"/>
          </a:p>
          <a:p>
            <a:pPr lvl="1"/>
            <a:r>
              <a:rPr lang="en-US" dirty="0">
                <a:solidFill>
                  <a:srgbClr val="00004C"/>
                </a:solidFill>
              </a:rPr>
              <a:t>Maintain detailed records explaining the choice of a specific exploit or technique, including evidence such as "exact CVE match to enumerated version with reported 90% reliability in similar environments.“</a:t>
            </a:r>
          </a:p>
          <a:p>
            <a:pPr marL="795847" lvl="1" indent="0">
              <a:buNone/>
            </a:pPr>
            <a:endParaRPr lang="en-US" dirty="0">
              <a:solidFill>
                <a:srgbClr val="00004C"/>
              </a:solidFill>
            </a:endParaRPr>
          </a:p>
          <a:p>
            <a:pPr lvl="1"/>
            <a:r>
              <a:rPr lang="en-US" dirty="0">
                <a:solidFill>
                  <a:srgbClr val="00004C"/>
                </a:solidFill>
              </a:rPr>
              <a:t>This documentation supports operational debriefs, legal and compliance reviews, and lessons learned processes essential to ongoing military campaigns.</a:t>
            </a:r>
          </a:p>
          <a:p>
            <a:pPr lvl="1"/>
            <a:endParaRPr lang="en-US" dirty="0">
              <a:solidFill>
                <a:srgbClr val="00004C"/>
              </a:solidFill>
            </a:endParaRPr>
          </a:p>
          <a:p>
            <a:pPr lvl="1"/>
            <a:r>
              <a:rPr lang="en-US" dirty="0">
                <a:solidFill>
                  <a:srgbClr val="00004C"/>
                </a:solidFill>
              </a:rPr>
              <a:t>Incorporate tools and workflows for note-taking directly into operational planning conducted from blue space, ensuring comprehensive tracking from reconnaissance through effects generation.</a:t>
            </a:r>
          </a:p>
        </p:txBody>
      </p:sp>
      <p:sp>
        <p:nvSpPr>
          <p:cNvPr id="3" name="Title 2">
            <a:extLst>
              <a:ext uri="{FF2B5EF4-FFF2-40B4-BE49-F238E27FC236}">
                <a16:creationId xmlns:a16="http://schemas.microsoft.com/office/drawing/2014/main" id="{DA9B687F-D283-827E-3BEF-9A5C58252182}"/>
              </a:ext>
            </a:extLst>
          </p:cNvPr>
          <p:cNvSpPr>
            <a:spLocks noGrp="1"/>
          </p:cNvSpPr>
          <p:nvPr>
            <p:ph type="title"/>
          </p:nvPr>
        </p:nvSpPr>
        <p:spPr/>
        <p:txBody>
          <a:bodyPr/>
          <a:lstStyle/>
          <a:p>
            <a:r>
              <a:rPr lang="en-US" dirty="0">
                <a:solidFill>
                  <a:srgbClr val="00004C"/>
                </a:solidFill>
              </a:rPr>
              <a:t>Operational Suitability Assessment </a:t>
            </a:r>
          </a:p>
        </p:txBody>
      </p:sp>
    </p:spTree>
    <p:extLst>
      <p:ext uri="{BB962C8B-B14F-4D97-AF65-F5344CB8AC3E}">
        <p14:creationId xmlns:p14="http://schemas.microsoft.com/office/powerpoint/2010/main" val="97332697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54A4350-6C7C-7BFB-E772-95E452C2D17D}"/>
              </a:ext>
            </a:extLst>
          </p:cNvPr>
          <p:cNvSpPr>
            <a:spLocks noGrp="1"/>
          </p:cNvSpPr>
          <p:nvPr>
            <p:ph type="body" idx="1"/>
          </p:nvPr>
        </p:nvSpPr>
        <p:spPr/>
        <p:txBody>
          <a:bodyPr/>
          <a:lstStyle/>
          <a:p>
            <a:pPr marL="169329" indent="0">
              <a:buNone/>
            </a:pPr>
            <a:r>
              <a:rPr lang="en-US" dirty="0">
                <a:solidFill>
                  <a:srgbClr val="00004C"/>
                </a:solidFill>
              </a:rPr>
              <a:t>In this lesson you became familiar with:</a:t>
            </a:r>
          </a:p>
          <a:p>
            <a:endParaRPr lang="en-US" dirty="0"/>
          </a:p>
          <a:p>
            <a:r>
              <a:rPr lang="en-US" dirty="0">
                <a:solidFill>
                  <a:srgbClr val="00004C"/>
                </a:solidFill>
              </a:rPr>
              <a:t>Navigating Open-Source Ecosystem</a:t>
            </a:r>
          </a:p>
          <a:p>
            <a:r>
              <a:rPr lang="en-US" dirty="0">
                <a:solidFill>
                  <a:srgbClr val="00004C"/>
                </a:solidFill>
              </a:rPr>
              <a:t>Vulnerability Identification</a:t>
            </a:r>
          </a:p>
          <a:p>
            <a:r>
              <a:rPr lang="en-US" dirty="0">
                <a:solidFill>
                  <a:srgbClr val="00004C"/>
                </a:solidFill>
              </a:rPr>
              <a:t>Open-Source Exploit Ecosystem</a:t>
            </a:r>
          </a:p>
          <a:p>
            <a:r>
              <a:rPr lang="en-US" dirty="0">
                <a:solidFill>
                  <a:srgbClr val="00004C"/>
                </a:solidFill>
              </a:rPr>
              <a:t>Initial Access Techniques</a:t>
            </a:r>
          </a:p>
          <a:p>
            <a:r>
              <a:rPr lang="en-US" dirty="0">
                <a:solidFill>
                  <a:srgbClr val="00004C"/>
                </a:solidFill>
              </a:rPr>
              <a:t>Operational Suitability Assessment </a:t>
            </a:r>
            <a:endParaRPr lang="en-US" dirty="0"/>
          </a:p>
          <a:p>
            <a:endParaRPr lang="en-US" dirty="0"/>
          </a:p>
        </p:txBody>
      </p:sp>
      <p:sp>
        <p:nvSpPr>
          <p:cNvPr id="3" name="Title 2">
            <a:extLst>
              <a:ext uri="{FF2B5EF4-FFF2-40B4-BE49-F238E27FC236}">
                <a16:creationId xmlns:a16="http://schemas.microsoft.com/office/drawing/2014/main" id="{E861D3D1-8977-E69D-1703-187C35C70D24}"/>
              </a:ext>
            </a:extLst>
          </p:cNvPr>
          <p:cNvSpPr>
            <a:spLocks noGrp="1"/>
          </p:cNvSpPr>
          <p:nvPr>
            <p:ph type="title"/>
          </p:nvPr>
        </p:nvSpPr>
        <p:spPr/>
        <p:txBody>
          <a:bodyPr/>
          <a:lstStyle/>
          <a:p>
            <a:r>
              <a:rPr lang="en-US" dirty="0">
                <a:solidFill>
                  <a:srgbClr val="00004C"/>
                </a:solidFill>
              </a:rPr>
              <a:t>Lesson Summary</a:t>
            </a:r>
          </a:p>
        </p:txBody>
      </p:sp>
    </p:spTree>
    <p:extLst>
      <p:ext uri="{BB962C8B-B14F-4D97-AF65-F5344CB8AC3E}">
        <p14:creationId xmlns:p14="http://schemas.microsoft.com/office/powerpoint/2010/main" val="187058252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54A4350-6C7C-7BFB-E772-95E452C2D17D}"/>
              </a:ext>
            </a:extLst>
          </p:cNvPr>
          <p:cNvSpPr>
            <a:spLocks noGrp="1"/>
          </p:cNvSpPr>
          <p:nvPr>
            <p:ph type="body" idx="1"/>
          </p:nvPr>
        </p:nvSpPr>
        <p:spPr/>
        <p:txBody>
          <a:bodyPr/>
          <a:lstStyle/>
          <a:p>
            <a:r>
              <a:rPr lang="en-US" b="1" dirty="0">
                <a:solidFill>
                  <a:srgbClr val="00004C"/>
                </a:solidFill>
              </a:rPr>
              <a:t>Key Takeaways:</a:t>
            </a:r>
          </a:p>
          <a:p>
            <a:endParaRPr lang="en-US" dirty="0">
              <a:solidFill>
                <a:srgbClr val="00004C"/>
              </a:solidFill>
            </a:endParaRPr>
          </a:p>
          <a:p>
            <a:pPr lvl="1"/>
            <a:r>
              <a:rPr lang="en-US" dirty="0">
                <a:solidFill>
                  <a:srgbClr val="00004C"/>
                </a:solidFill>
              </a:rPr>
              <a:t>The core process involves progressing from initial enumeration of services and versions, through targeted CVE searches in databases like NVD, to thorough evaluation of exploits, and finally to selecting appropriate ATT&amp;CK® techniques for execution.</a:t>
            </a:r>
          </a:p>
          <a:p>
            <a:pPr marL="795847" lvl="1" indent="0">
              <a:buNone/>
            </a:pPr>
            <a:endParaRPr lang="en-US" dirty="0">
              <a:solidFill>
                <a:srgbClr val="00004C"/>
              </a:solidFill>
            </a:endParaRPr>
          </a:p>
          <a:p>
            <a:pPr lvl="1"/>
            <a:r>
              <a:rPr lang="en-US" dirty="0">
                <a:solidFill>
                  <a:srgbClr val="00004C"/>
                </a:solidFill>
              </a:rPr>
              <a:t>Leverage diverse open-source intelligence sources, including NVD for vulnerability details, </a:t>
            </a:r>
            <a:r>
              <a:rPr lang="en-US" dirty="0" err="1">
                <a:solidFill>
                  <a:srgbClr val="00004C"/>
                </a:solidFill>
              </a:rPr>
              <a:t>ExploitDB</a:t>
            </a:r>
            <a:r>
              <a:rPr lang="en-US" dirty="0">
                <a:solidFill>
                  <a:srgbClr val="00004C"/>
                </a:solidFill>
              </a:rPr>
              <a:t> for exploit code, and GitHub for proof-of-concepts, to build a robust foundation for counteroperations.</a:t>
            </a:r>
          </a:p>
        </p:txBody>
      </p:sp>
      <p:sp>
        <p:nvSpPr>
          <p:cNvPr id="3" name="Title 2">
            <a:extLst>
              <a:ext uri="{FF2B5EF4-FFF2-40B4-BE49-F238E27FC236}">
                <a16:creationId xmlns:a16="http://schemas.microsoft.com/office/drawing/2014/main" id="{E861D3D1-8977-E69D-1703-187C35C70D24}"/>
              </a:ext>
            </a:extLst>
          </p:cNvPr>
          <p:cNvSpPr>
            <a:spLocks noGrp="1"/>
          </p:cNvSpPr>
          <p:nvPr>
            <p:ph type="title"/>
          </p:nvPr>
        </p:nvSpPr>
        <p:spPr/>
        <p:txBody>
          <a:bodyPr/>
          <a:lstStyle/>
          <a:p>
            <a:r>
              <a:rPr lang="en-US" dirty="0">
                <a:solidFill>
                  <a:srgbClr val="00004C"/>
                </a:solidFill>
              </a:rPr>
              <a:t>Lesson Summary</a:t>
            </a:r>
          </a:p>
        </p:txBody>
      </p:sp>
    </p:spTree>
    <p:extLst>
      <p:ext uri="{BB962C8B-B14F-4D97-AF65-F5344CB8AC3E}">
        <p14:creationId xmlns:p14="http://schemas.microsoft.com/office/powerpoint/2010/main" val="23884254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54A4350-6C7C-7BFB-E772-95E452C2D17D}"/>
              </a:ext>
            </a:extLst>
          </p:cNvPr>
          <p:cNvSpPr>
            <a:spLocks noGrp="1"/>
          </p:cNvSpPr>
          <p:nvPr>
            <p:ph type="body" idx="1"/>
          </p:nvPr>
        </p:nvSpPr>
        <p:spPr/>
        <p:txBody>
          <a:bodyPr/>
          <a:lstStyle/>
          <a:p>
            <a:r>
              <a:rPr lang="en-US" b="1" dirty="0">
                <a:solidFill>
                  <a:srgbClr val="00004C"/>
                </a:solidFill>
              </a:rPr>
              <a:t>Key Takeaways:</a:t>
            </a:r>
          </a:p>
          <a:p>
            <a:endParaRPr lang="en-US" dirty="0">
              <a:solidFill>
                <a:srgbClr val="00004C"/>
              </a:solidFill>
            </a:endParaRPr>
          </a:p>
          <a:p>
            <a:pPr lvl="1"/>
            <a:r>
              <a:rPr lang="en-US" dirty="0">
                <a:solidFill>
                  <a:srgbClr val="00004C"/>
                </a:solidFill>
              </a:rPr>
              <a:t>MITRE ATT&amp;CK® framework integration: Research directly enables TA0001 Initial Access techniques, transforming reconnaissance insights into actionable counterstrike capabilities.</a:t>
            </a:r>
          </a:p>
          <a:p>
            <a:pPr marL="795847" lvl="1" indent="0">
              <a:buNone/>
            </a:pPr>
            <a:endParaRPr lang="en-US" dirty="0">
              <a:solidFill>
                <a:srgbClr val="00004C"/>
              </a:solidFill>
            </a:endParaRPr>
          </a:p>
          <a:p>
            <a:pPr lvl="1"/>
            <a:r>
              <a:rPr lang="en-US" dirty="0">
                <a:solidFill>
                  <a:srgbClr val="00004C"/>
                </a:solidFill>
              </a:rPr>
              <a:t>Blue space positioning provides significant enhancements in planning and execution, offering controlled environments for validation and adaptation that surpass the limitations of covert or allied proxy operations.</a:t>
            </a:r>
          </a:p>
          <a:p>
            <a:endParaRPr lang="en-US" dirty="0"/>
          </a:p>
        </p:txBody>
      </p:sp>
      <p:sp>
        <p:nvSpPr>
          <p:cNvPr id="3" name="Title 2">
            <a:extLst>
              <a:ext uri="{FF2B5EF4-FFF2-40B4-BE49-F238E27FC236}">
                <a16:creationId xmlns:a16="http://schemas.microsoft.com/office/drawing/2014/main" id="{E861D3D1-8977-E69D-1703-187C35C70D24}"/>
              </a:ext>
            </a:extLst>
          </p:cNvPr>
          <p:cNvSpPr>
            <a:spLocks noGrp="1"/>
          </p:cNvSpPr>
          <p:nvPr>
            <p:ph type="title"/>
          </p:nvPr>
        </p:nvSpPr>
        <p:spPr/>
        <p:txBody>
          <a:bodyPr/>
          <a:lstStyle/>
          <a:p>
            <a:r>
              <a:rPr lang="en-US" dirty="0">
                <a:solidFill>
                  <a:srgbClr val="00004C"/>
                </a:solidFill>
              </a:rPr>
              <a:t>Lesson Summary</a:t>
            </a:r>
          </a:p>
        </p:txBody>
      </p:sp>
    </p:spTree>
    <p:extLst>
      <p:ext uri="{BB962C8B-B14F-4D97-AF65-F5344CB8AC3E}">
        <p14:creationId xmlns:p14="http://schemas.microsoft.com/office/powerpoint/2010/main" val="33015886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54A4350-6C7C-7BFB-E772-95E452C2D17D}"/>
              </a:ext>
            </a:extLst>
          </p:cNvPr>
          <p:cNvSpPr>
            <a:spLocks noGrp="1"/>
          </p:cNvSpPr>
          <p:nvPr>
            <p:ph type="body" idx="1"/>
          </p:nvPr>
        </p:nvSpPr>
        <p:spPr/>
        <p:txBody>
          <a:bodyPr/>
          <a:lstStyle/>
          <a:p>
            <a:pPr marL="169329" indent="0">
              <a:buNone/>
            </a:pPr>
            <a:r>
              <a:rPr lang="en-US" b="1" dirty="0">
                <a:solidFill>
                  <a:srgbClr val="00004C"/>
                </a:solidFill>
              </a:rPr>
              <a:t>Up Next:</a:t>
            </a:r>
          </a:p>
          <a:p>
            <a:pPr marL="169329" indent="0">
              <a:buNone/>
            </a:pPr>
            <a:endParaRPr lang="en-US" b="1" dirty="0">
              <a:solidFill>
                <a:srgbClr val="00004C"/>
              </a:solidFill>
            </a:endParaRPr>
          </a:p>
          <a:p>
            <a:pPr lvl="1"/>
            <a:r>
              <a:rPr lang="en-US" dirty="0">
                <a:solidFill>
                  <a:srgbClr val="00004C"/>
                </a:solidFill>
              </a:rPr>
              <a:t>In the upcoming practical session, you will engage in a controlled laboratory environment to apply tools like </a:t>
            </a:r>
            <a:r>
              <a:rPr lang="en-US" dirty="0" err="1">
                <a:solidFill>
                  <a:srgbClr val="00004C"/>
                </a:solidFill>
              </a:rPr>
              <a:t>Searchsploit</a:t>
            </a:r>
            <a:r>
              <a:rPr lang="en-US" dirty="0">
                <a:solidFill>
                  <a:srgbClr val="00004C"/>
                </a:solidFill>
              </a:rPr>
              <a:t> and Metasploit against simulated adversary targets, building directly on the concepts covered in this lecture.</a:t>
            </a:r>
          </a:p>
          <a:p>
            <a:pPr lvl="1"/>
            <a:endParaRPr lang="en-US" dirty="0">
              <a:solidFill>
                <a:srgbClr val="00004C"/>
              </a:solidFill>
            </a:endParaRPr>
          </a:p>
        </p:txBody>
      </p:sp>
      <p:sp>
        <p:nvSpPr>
          <p:cNvPr id="3" name="Title 2">
            <a:extLst>
              <a:ext uri="{FF2B5EF4-FFF2-40B4-BE49-F238E27FC236}">
                <a16:creationId xmlns:a16="http://schemas.microsoft.com/office/drawing/2014/main" id="{E861D3D1-8977-E69D-1703-187C35C70D24}"/>
              </a:ext>
            </a:extLst>
          </p:cNvPr>
          <p:cNvSpPr>
            <a:spLocks noGrp="1"/>
          </p:cNvSpPr>
          <p:nvPr>
            <p:ph type="title"/>
          </p:nvPr>
        </p:nvSpPr>
        <p:spPr/>
        <p:txBody>
          <a:bodyPr/>
          <a:lstStyle/>
          <a:p>
            <a:r>
              <a:rPr lang="en-US" dirty="0">
                <a:solidFill>
                  <a:srgbClr val="00004C"/>
                </a:solidFill>
              </a:rPr>
              <a:t>Lesson Summary</a:t>
            </a:r>
          </a:p>
        </p:txBody>
      </p:sp>
    </p:spTree>
    <p:extLst>
      <p:ext uri="{BB962C8B-B14F-4D97-AF65-F5344CB8AC3E}">
        <p14:creationId xmlns:p14="http://schemas.microsoft.com/office/powerpoint/2010/main" val="88394360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00004C"/>
                </a:solidFill>
              </a:rPr>
              <a:t>Questions</a:t>
            </a:r>
            <a:r>
              <a:rPr lang="en-US" dirty="0"/>
              <a:t>?</a:t>
            </a:r>
          </a:p>
        </p:txBody>
      </p:sp>
    </p:spTree>
    <p:extLst>
      <p:ext uri="{BB962C8B-B14F-4D97-AF65-F5344CB8AC3E}">
        <p14:creationId xmlns:p14="http://schemas.microsoft.com/office/powerpoint/2010/main" val="2036068300"/>
      </p:ext>
    </p:extLst>
  </p:cSld>
  <p:clrMapOvr>
    <a:masterClrMapping/>
  </p:clrMapOvr>
</p:sld>
</file>

<file path=ppt/theme/theme1.xml><?xml version="1.0" encoding="utf-8"?>
<a:theme xmlns:a="http://schemas.openxmlformats.org/drawingml/2006/main" name="CyberTemplateL_Green Unclass">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800" dirty="0" smtClean="0">
            <a:solidFill>
              <a:schemeClr val="tx1"/>
            </a:solidFill>
          </a:defRPr>
        </a:defPPr>
      </a:lstStyle>
    </a:txDef>
  </a:objectDefaults>
  <a:extraClrSchemeLst/>
  <a:extLst>
    <a:ext uri="{05A4C25C-085E-4340-85A3-A5531E510DB2}">
      <thm15:themeFamily xmlns:thm15="http://schemas.microsoft.com/office/thememl/2012/main" name="Lecture Template Primary" id="{3FAB2691-938F-4A4F-BEE8-49EC265A7425}" vid="{8C052DBC-2246-405A-94F7-2BD3C078A3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titus xmlns="http://schemas.titus.com/TitusProperties/">
  <TitusGUID xmlns="">08ab3ad5-43d9-4692-81ca-47747515fe3c</TitusGUID>
  <TitusMetadata xmlns="">eyJucyI6Imh0dHA6XC9cL3d3dy50aXR1cy5jb21cL25zXC9Kb2ludCBTZXJ2aWNlIFByb3ZpZGVyIiwicHJvcHMiOlt7Im4iOiJDbGFzc2lmaWNhdGlvblRpdHVzIiwidmFscyI6W3sidmFsdWUiOiJCTEFOSyJ9XX0seyJuIjoiU2NpVGl0dXMiLCJ2YWxzIjpbXX0seyJuIjoiRGlzc2VtVGl0dXMiLCJ2YWxzIjpbXX0seyJuIjoiUmVsVGl0dXMiLCJ2YWxzIjpbXX0seyJuIjoiQ2xhc3NpZmllZEJ5IiwidmFscyI6W119LHsibiI6IkRlcml2ZWRGcm9tIiwidmFscyI6W119LHsibiI6IkRhdGVkIiwidmFscyI6W119LHsibiI6IkRlY2xhc3NpZnlPbiIsInZhbHMiOltdfSx7Im4iOiJBZGRpdGlvbmFsRmllbGRzIiwidmFscyI6W119LHsibiI6IkFFQU1hcmtpbmdzIiwidmFscyI6W119LHsibiI6IkZHSU1hcmtpbmdzIiwidmFscyI6W119LHsibiI6IkFDQ01NYXJraW5ncyIsInZhbHMiOltdfSx7Im4iOiJQcml2YWN5U2Vuc2l0aXZlIiwidmFscyI6W119LHsibiI6IkNVSUJ1dHRvbiIsInZhbHMiOltdfSx7Im4iOiJDb250cm9sbGVkQnkiLCJ2YWxzIjpbXX0seyJuIjoiQ1VJQ2F0ZWdvcnkiLCJ2YWxzIjpbXX0seyJuIjoiTGltaXRlZERpc3NlbWluYXRpb25Db250cm9sIiwidmFscyI6W119LHsibiI6IlBPQyIsInZhbHMiOltdfSx7Im4iOiJDcml0aWNhbEluZnJhc3RydWN0dXJlIiwidmFscyI6W119LHsibiI6IkRlZmVuc2UiLCJ2YWxzIjpbXX0seyJuIjoiRXhwb3J0Q29udHJvbGxlZCIsInZhbHMiOltdfSx7Im4iOiJGaW5hbmNpYWwiLCJ2YWxzIjpbXX0seyJuIjoiSW1taWdyYXRpb24iLCJ2YWxzIjpbXX0seyJuIjoiSW50ZWxsaWdlbmNlIiwidmFscyI6W119LHsibiI6IkludGVybmF0aW9uYWxBZ3JlZW1lbnRzIiwidmFscyI6W119LHsibiI6Ikxhd0VuZm9yY2VtZW50IiwidmFscyI6W119LHsibiI6IkxlZ2FsIiwidmFscyI6W119LHsibiI6Ik5hdHVyYWxDdWx0dXJhbFJlc291cmNlcyIsInZhbHMiOltdfSx7Im4iOiJOb3J0aEF0bGFudGljVHJlYXR5T3JnYW5pemF0aW9uIiwidmFscyI6W119LHsibiI6Ik5VQ0xFQVIiLCJ2YWxzIjpbXX0seyJuIjoiUGF0aWVudCIsInZhbHMiOltdfSx7Im4iOiJQcml2YWN5IiwidmFscyI6W119LHsibiI6IlByb2N1cmVtZW50QWNxdWlzaXRpb24iLCJ2YWxzIjpbXX0seyJuIjoiUHJvcHJpZXRhcnlCdXNpbmVzc0luZm9ybWF0aW9uIiwidmFscyI6W119LHsibiI6IlN0YXRpc3RpY2FsIiwidmFscyI6W119LHsibiI6IlRheCIsInZhbHMiOltdfSx7Im4iOiJUcmFuc3BvcnRhdGlvbiIsInZhbHMiOltdfSx7Im4iOiJSRUxDVUkiLCJ2YWxzIjpbXX1dfQ==</TitusMetadata>
</titus>
</file>

<file path=customXml/itemProps1.xml><?xml version="1.0" encoding="utf-8"?>
<ds:datastoreItem xmlns:ds="http://schemas.openxmlformats.org/officeDocument/2006/customXml" ds:itemID="{9ED1A20F-9DE4-4159-9A6D-18E30615BA76}">
  <ds:schemaRefs>
    <ds:schemaRef ds:uri="http://schemas.titus.com/TitusProperties/"/>
    <ds:schemaRef ds:uri=""/>
  </ds:schemaRefs>
</ds:datastoreItem>
</file>

<file path=docMetadata/LabelInfo.xml><?xml version="1.0" encoding="utf-8"?>
<clbl:labelList xmlns:clbl="http://schemas.microsoft.com/office/2020/mipLabelMetadata">
  <clbl:label id="{3de9faa6-9fe1-49b3-9a08-227a296b54a6}" enabled="1" method="Privileged" siteId="{66d73691-ea97-48b1-95d5-e94f0a46b878}" contentBits="0" removed="0"/>
</clbl:labelList>
</file>

<file path=docProps/app.xml><?xml version="1.0" encoding="utf-8"?>
<Properties xmlns="http://schemas.openxmlformats.org/officeDocument/2006/extended-properties" xmlns:vt="http://schemas.openxmlformats.org/officeDocument/2006/docPropsVTypes">
  <Template>Lecture Template</Template>
  <TotalTime>434</TotalTime>
  <Words>3959</Words>
  <Application>Microsoft Office PowerPoint</Application>
  <PresentationFormat>Widescreen</PresentationFormat>
  <Paragraphs>523</Paragraphs>
  <Slides>72</Slides>
  <Notes>64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72</vt:i4>
      </vt:variant>
    </vt:vector>
  </HeadingPairs>
  <TitlesOfParts>
    <vt:vector size="76" baseType="lpstr">
      <vt:lpstr>-apple-system</vt:lpstr>
      <vt:lpstr>Arial</vt:lpstr>
      <vt:lpstr>Calibri</vt:lpstr>
      <vt:lpstr>CyberTemplateL_Green Unclass</vt:lpstr>
      <vt:lpstr>Navigating Open-Source Ecosystem for Cyber Protection Teams</vt:lpstr>
      <vt:lpstr>Lesson Objectives</vt:lpstr>
      <vt:lpstr>Lesson Overview</vt:lpstr>
      <vt:lpstr>Introduction to Navigating Open-Source Ecosystem</vt:lpstr>
      <vt:lpstr>Intro to Navigating Open-Source Ecosystem</vt:lpstr>
      <vt:lpstr>Intro to Navigating Open-Source Ecosystem</vt:lpstr>
      <vt:lpstr>Intro to Navigating Open-Source Ecosystem</vt:lpstr>
      <vt:lpstr>Intro to Navigating Open-Source Ecosystem</vt:lpstr>
      <vt:lpstr>Vulnerability Identification</vt:lpstr>
      <vt:lpstr>Vulnerability Identification</vt:lpstr>
      <vt:lpstr>Vulnerability Identification</vt:lpstr>
      <vt:lpstr>Vulnerability Identification</vt:lpstr>
      <vt:lpstr>Vulnerability Identification</vt:lpstr>
      <vt:lpstr>Vulnerability Identification</vt:lpstr>
      <vt:lpstr>Vulnerability Identification</vt:lpstr>
      <vt:lpstr>Vulnerability Identification</vt:lpstr>
      <vt:lpstr>Vulnerability Identification</vt:lpstr>
      <vt:lpstr>Vulnerability Identification</vt:lpstr>
      <vt:lpstr>Vulnerability Identification</vt:lpstr>
      <vt:lpstr>Vulnerability Identification</vt:lpstr>
      <vt:lpstr>Vulnerability Identification</vt:lpstr>
      <vt:lpstr>Open-Source Exploit Ecosystem</vt:lpstr>
      <vt:lpstr>Open-Source Exploit Ecosystem</vt:lpstr>
      <vt:lpstr>Open-Source Exploit Ecosystem</vt:lpstr>
      <vt:lpstr>Open-Source Exploit Ecosystem</vt:lpstr>
      <vt:lpstr>Open-Source Exploit Ecosystem</vt:lpstr>
      <vt:lpstr>Open-Source Exploit Ecosystem</vt:lpstr>
      <vt:lpstr>Open-Source Exploit Ecosystem</vt:lpstr>
      <vt:lpstr>Open-Source Exploit Ecosystem</vt:lpstr>
      <vt:lpstr>Open-Source Exploit Ecosystem</vt:lpstr>
      <vt:lpstr>Open-Source Exploit Ecosystem</vt:lpstr>
      <vt:lpstr>Open-Source Exploit Ecosystem</vt:lpstr>
      <vt:lpstr>Open-Source Exploit Ecosystem</vt:lpstr>
      <vt:lpstr>Open-Source Exploit Ecosystem</vt:lpstr>
      <vt:lpstr>Open-Source Exploit Ecosystem</vt:lpstr>
      <vt:lpstr>Open-Source Exploit Ecosystem</vt:lpstr>
      <vt:lpstr>Open-Source Exploit Ecosystem</vt:lpstr>
      <vt:lpstr>Open-Source Exploit Ecosystem</vt:lpstr>
      <vt:lpstr>Open-Source Exploit Ecosystem</vt:lpstr>
      <vt:lpstr>Open-Source Exploit Ecosystem</vt:lpstr>
      <vt:lpstr>Open-Source Exploit Ecosystem</vt:lpstr>
      <vt:lpstr>Open-Source Exploit Ecosystem</vt:lpstr>
      <vt:lpstr>Open-Source Exploit Ecosystem</vt:lpstr>
      <vt:lpstr>Open-Source Exploit Ecosystem</vt:lpstr>
      <vt:lpstr>Open-Source Exploit Ecosystem</vt:lpstr>
      <vt:lpstr>Initial Access Techniques</vt:lpstr>
      <vt:lpstr>Initial Access Techniques</vt:lpstr>
      <vt:lpstr>Initial Access Techniques</vt:lpstr>
      <vt:lpstr>Initial Access Techniques</vt:lpstr>
      <vt:lpstr>Initial Access Techniques</vt:lpstr>
      <vt:lpstr>Initial Access Techniques</vt:lpstr>
      <vt:lpstr>Initial Access Techniques</vt:lpstr>
      <vt:lpstr>Initial Access Techniques</vt:lpstr>
      <vt:lpstr>Initial Access Techniques</vt:lpstr>
      <vt:lpstr>Initial Access Techniques</vt:lpstr>
      <vt:lpstr>Initial Access Techniques</vt:lpstr>
      <vt:lpstr>Operational Suitability Assessment </vt:lpstr>
      <vt:lpstr>Operational Suitability Assessment </vt:lpstr>
      <vt:lpstr>Operational Suitability Assessment </vt:lpstr>
      <vt:lpstr>Operational Suitability Assessment </vt:lpstr>
      <vt:lpstr>Operational Suitability Assessment </vt:lpstr>
      <vt:lpstr>Operational Suitability Assessment </vt:lpstr>
      <vt:lpstr>Operational Suitability Assessment </vt:lpstr>
      <vt:lpstr>Operational Suitability Assessment </vt:lpstr>
      <vt:lpstr>Operational Suitability Assessment </vt:lpstr>
      <vt:lpstr>Operational Suitability Assessment </vt:lpstr>
      <vt:lpstr>Operational Suitability Assessment </vt:lpstr>
      <vt:lpstr>Lesson Summary</vt:lpstr>
      <vt:lpstr>Lesson Summary</vt:lpstr>
      <vt:lpstr>Lesson Summary</vt:lpstr>
      <vt:lpstr>Lesson Summary</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Mattson Sarah E USA CTR</dc:creator>
  <cp:lastModifiedBy>Mattson, Sarah (Chiron)</cp:lastModifiedBy>
  <cp:revision>52</cp:revision>
  <dcterms:created xsi:type="dcterms:W3CDTF">2026-02-18T18:08:48Z</dcterms:created>
  <dcterms:modified xsi:type="dcterms:W3CDTF">2026-05-15T11:58:56Z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08ab3ad5-43d9-4692-81ca-47747515fe3c</vt:lpwstr>
  </property>
  <property fmtid="{D5CDD505-2E9C-101B-9397-08002B2CF9AE}" pid="3" name="ClassificationTitus">
    <vt:lpwstr>BLANK</vt:lpwstr>
  </property>
</Properties>
</file>