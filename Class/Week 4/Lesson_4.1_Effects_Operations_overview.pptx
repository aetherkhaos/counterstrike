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29"/>
  </p:notesMasterIdLst>
  <p:handoutMasterIdLst>
    <p:handoutMasterId r:id="rId3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oss, Clayton D" initials="CCD" lastIdx="1" clrIdx="0">
    <p:extLst>
      <p:ext uri="{19B8F6BF-5375-455C-9EA6-DF929625EA0E}">
        <p15:presenceInfo xmlns:p15="http://schemas.microsoft.com/office/powerpoint/2012/main" userId="Cross, Clayton 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0E08E-01CF-4E48-90FB-DD366ED47DBB}" v="3" dt="2026-06-08T03:08:25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63605" autoAdjust="0"/>
  </p:normalViewPr>
  <p:slideViewPr>
    <p:cSldViewPr snapToGrid="0">
      <p:cViewPr>
        <p:scale>
          <a:sx n="66" d="100"/>
          <a:sy n="66" d="100"/>
        </p:scale>
        <p:origin x="1764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6" d="100"/>
          <a:sy n="116" d="100"/>
        </p:scale>
        <p:origin x="238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oss, Clay" userId="f346be3b-e1cb-4aec-811e-8a3f5d1dd33f" providerId="ADAL" clId="{5AB2DC96-CDCC-45B4-B053-2F2446580AF9}"/>
    <pc:docChg chg="undo custSel modSld">
      <pc:chgData name="Cross, Clay" userId="f346be3b-e1cb-4aec-811e-8a3f5d1dd33f" providerId="ADAL" clId="{5AB2DC96-CDCC-45B4-B053-2F2446580AF9}" dt="2026-06-08T03:08:25.355" v="179"/>
      <pc:docMkLst>
        <pc:docMk/>
      </pc:docMkLst>
      <pc:sldChg chg="addSp delSp modSp mod modClrScheme chgLayout">
        <pc:chgData name="Cross, Clay" userId="f346be3b-e1cb-4aec-811e-8a3f5d1dd33f" providerId="ADAL" clId="{5AB2DC96-CDCC-45B4-B053-2F2446580AF9}" dt="2026-06-08T02:49:21.942" v="91" actId="14100"/>
        <pc:sldMkLst>
          <pc:docMk/>
          <pc:sldMk cId="0" sldId="257"/>
        </pc:sldMkLst>
        <pc:spChg chg="mod ord">
          <ac:chgData name="Cross, Clay" userId="f346be3b-e1cb-4aec-811e-8a3f5d1dd33f" providerId="ADAL" clId="{5AB2DC96-CDCC-45B4-B053-2F2446580AF9}" dt="2026-06-08T02:49:11.373" v="89" actId="14100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Cross, Clay" userId="f346be3b-e1cb-4aec-811e-8a3f5d1dd33f" providerId="ADAL" clId="{5AB2DC96-CDCC-45B4-B053-2F2446580AF9}" dt="2026-06-08T02:49:01.448" v="62" actId="700"/>
          <ac:spMkLst>
            <pc:docMk/>
            <pc:sldMk cId="0" sldId="257"/>
            <ac:spMk id="3" creationId="{00000000-0000-0000-0000-000000000000}"/>
          </ac:spMkLst>
        </pc:spChg>
        <pc:spChg chg="add del mod ord">
          <ac:chgData name="Cross, Clay" userId="f346be3b-e1cb-4aec-811e-8a3f5d1dd33f" providerId="ADAL" clId="{5AB2DC96-CDCC-45B4-B053-2F2446580AF9}" dt="2026-06-08T02:49:01.448" v="62" actId="700"/>
          <ac:spMkLst>
            <pc:docMk/>
            <pc:sldMk cId="0" sldId="257"/>
            <ac:spMk id="5" creationId="{A3DCC730-E8EF-A10D-7470-B8C8A3FD48DC}"/>
          </ac:spMkLst>
        </pc:spChg>
        <pc:spChg chg="add del mod ord">
          <ac:chgData name="Cross, Clay" userId="f346be3b-e1cb-4aec-811e-8a3f5d1dd33f" providerId="ADAL" clId="{5AB2DC96-CDCC-45B4-B053-2F2446580AF9}" dt="2026-06-08T02:49:01.448" v="62" actId="700"/>
          <ac:spMkLst>
            <pc:docMk/>
            <pc:sldMk cId="0" sldId="257"/>
            <ac:spMk id="6" creationId="{0598C3F3-3735-09D1-CA7D-799E89BD1227}"/>
          </ac:spMkLst>
        </pc:spChg>
        <pc:spChg chg="add del mod ord">
          <ac:chgData name="Cross, Clay" userId="f346be3b-e1cb-4aec-811e-8a3f5d1dd33f" providerId="ADAL" clId="{5AB2DC96-CDCC-45B4-B053-2F2446580AF9}" dt="2026-06-08T02:49:01.448" v="62" actId="700"/>
          <ac:spMkLst>
            <pc:docMk/>
            <pc:sldMk cId="0" sldId="257"/>
            <ac:spMk id="7" creationId="{84423A7B-0745-503A-E161-F150C1DDCF68}"/>
          </ac:spMkLst>
        </pc:spChg>
        <pc:picChg chg="mod">
          <ac:chgData name="Cross, Clay" userId="f346be3b-e1cb-4aec-811e-8a3f5d1dd33f" providerId="ADAL" clId="{5AB2DC96-CDCC-45B4-B053-2F2446580AF9}" dt="2026-06-08T02:49:21.942" v="91" actId="14100"/>
          <ac:picMkLst>
            <pc:docMk/>
            <pc:sldMk cId="0" sldId="257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50:24.011" v="96" actId="14100"/>
        <pc:sldMkLst>
          <pc:docMk/>
          <pc:sldMk cId="0" sldId="258"/>
        </pc:sldMkLst>
        <pc:spChg chg="mod">
          <ac:chgData name="Cross, Clay" userId="f346be3b-e1cb-4aec-811e-8a3f5d1dd33f" providerId="ADAL" clId="{5AB2DC96-CDCC-45B4-B053-2F2446580AF9}" dt="2026-06-08T02:50:16.384" v="94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69" v="63" actId="27636"/>
          <ac:spMkLst>
            <pc:docMk/>
            <pc:sldMk cId="0" sldId="258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0:24.011" v="96" actId="14100"/>
          <ac:picMkLst>
            <pc:docMk/>
            <pc:sldMk cId="0" sldId="258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51:39.226" v="99" actId="14100"/>
        <pc:sldMkLst>
          <pc:docMk/>
          <pc:sldMk cId="0" sldId="259"/>
        </pc:sldMkLst>
        <pc:spChg chg="mod">
          <ac:chgData name="Cross, Clay" userId="f346be3b-e1cb-4aec-811e-8a3f5d1dd33f" providerId="ADAL" clId="{5AB2DC96-CDCC-45B4-B053-2F2446580AF9}" dt="2026-06-08T02:51:22.929" v="97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73" v="64" actId="27636"/>
          <ac:spMkLst>
            <pc:docMk/>
            <pc:sldMk cId="0" sldId="259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1:39.226" v="99" actId="14100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52:58.760" v="103" actId="14100"/>
        <pc:sldMkLst>
          <pc:docMk/>
          <pc:sldMk cId="0" sldId="260"/>
        </pc:sldMkLst>
        <pc:spChg chg="mod">
          <ac:chgData name="Cross, Clay" userId="f346be3b-e1cb-4aec-811e-8a3f5d1dd33f" providerId="ADAL" clId="{5AB2DC96-CDCC-45B4-B053-2F2446580AF9}" dt="2026-06-08T02:52:50.289" v="101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73" v="65" actId="27636"/>
          <ac:spMkLst>
            <pc:docMk/>
            <pc:sldMk cId="0" sldId="260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2:58.760" v="103" actId="14100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53:34.841" v="107" actId="14100"/>
        <pc:sldMkLst>
          <pc:docMk/>
          <pc:sldMk cId="0" sldId="261"/>
        </pc:sldMkLst>
        <pc:spChg chg="mod">
          <ac:chgData name="Cross, Clay" userId="f346be3b-e1cb-4aec-811e-8a3f5d1dd33f" providerId="ADAL" clId="{5AB2DC96-CDCC-45B4-B053-2F2446580AF9}" dt="2026-06-08T02:53:28.562" v="105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73" v="66" actId="27636"/>
          <ac:spMkLst>
            <pc:docMk/>
            <pc:sldMk cId="0" sldId="261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3:34.841" v="107" actId="14100"/>
          <ac:picMkLst>
            <pc:docMk/>
            <pc:sldMk cId="0" sldId="261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54:52.459" v="112" actId="14100"/>
        <pc:sldMkLst>
          <pc:docMk/>
          <pc:sldMk cId="0" sldId="262"/>
        </pc:sldMkLst>
        <pc:spChg chg="mod">
          <ac:chgData name="Cross, Clay" userId="f346be3b-e1cb-4aec-811e-8a3f5d1dd33f" providerId="ADAL" clId="{5AB2DC96-CDCC-45B4-B053-2F2446580AF9}" dt="2026-06-08T02:54:39.559" v="109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73" v="67" actId="27636"/>
          <ac:spMkLst>
            <pc:docMk/>
            <pc:sldMk cId="0" sldId="262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4:52.459" v="112" actId="14100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49:01.483" v="69" actId="27636"/>
        <pc:sldMkLst>
          <pc:docMk/>
          <pc:sldMk cId="0" sldId="263"/>
        </pc:sldMkLst>
        <pc:spChg chg="mod">
          <ac:chgData name="Cross, Clay" userId="f346be3b-e1cb-4aec-811e-8a3f5d1dd33f" providerId="ADAL" clId="{5AB2DC96-CDCC-45B4-B053-2F2446580AF9}" dt="2026-06-08T02:49:01.483" v="69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73" v="68" actId="27636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Cross, Clay" userId="f346be3b-e1cb-4aec-811e-8a3f5d1dd33f" providerId="ADAL" clId="{5AB2DC96-CDCC-45B4-B053-2F2446580AF9}" dt="2026-06-08T02:56:42.183" v="116" actId="14100"/>
        <pc:sldMkLst>
          <pc:docMk/>
          <pc:sldMk cId="0" sldId="264"/>
        </pc:sldMkLst>
        <pc:spChg chg="mod">
          <ac:chgData name="Cross, Clay" userId="f346be3b-e1cb-4aec-811e-8a3f5d1dd33f" providerId="ADAL" clId="{5AB2DC96-CDCC-45B4-B053-2F2446580AF9}" dt="2026-06-08T02:56:35.073" v="114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85" v="70" actId="27636"/>
          <ac:spMkLst>
            <pc:docMk/>
            <pc:sldMk cId="0" sldId="264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6:42.183" v="116" actId="14100"/>
          <ac:picMkLst>
            <pc:docMk/>
            <pc:sldMk cId="0" sldId="264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49:01.485" v="72" actId="27636"/>
        <pc:sldMkLst>
          <pc:docMk/>
          <pc:sldMk cId="0" sldId="265"/>
        </pc:sldMkLst>
        <pc:spChg chg="mod">
          <ac:chgData name="Cross, Clay" userId="f346be3b-e1cb-4aec-811e-8a3f5d1dd33f" providerId="ADAL" clId="{5AB2DC96-CDCC-45B4-B053-2F2446580AF9}" dt="2026-06-08T02:49:01.485" v="72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85" v="71" actId="27636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Cross, Clay" userId="f346be3b-e1cb-4aec-811e-8a3f5d1dd33f" providerId="ADAL" clId="{5AB2DC96-CDCC-45B4-B053-2F2446580AF9}" dt="2026-06-08T02:57:55.330" v="120" actId="14100"/>
        <pc:sldMkLst>
          <pc:docMk/>
          <pc:sldMk cId="0" sldId="266"/>
        </pc:sldMkLst>
        <pc:spChg chg="mod">
          <ac:chgData name="Cross, Clay" userId="f346be3b-e1cb-4aec-811e-8a3f5d1dd33f" providerId="ADAL" clId="{5AB2DC96-CDCC-45B4-B053-2F2446580AF9}" dt="2026-06-08T02:57:47.855" v="118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85" v="73" actId="27636"/>
          <ac:spMkLst>
            <pc:docMk/>
            <pc:sldMk cId="0" sldId="266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7:55.330" v="120" actId="14100"/>
          <ac:picMkLst>
            <pc:docMk/>
            <pc:sldMk cId="0" sldId="266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58:58.402" v="124" actId="14100"/>
        <pc:sldMkLst>
          <pc:docMk/>
          <pc:sldMk cId="0" sldId="267"/>
        </pc:sldMkLst>
        <pc:spChg chg="mod">
          <ac:chgData name="Cross, Clay" userId="f346be3b-e1cb-4aec-811e-8a3f5d1dd33f" providerId="ADAL" clId="{5AB2DC96-CDCC-45B4-B053-2F2446580AF9}" dt="2026-06-08T02:58:45.170" v="122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495" v="74" actId="27636"/>
          <ac:spMkLst>
            <pc:docMk/>
            <pc:sldMk cId="0" sldId="267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8:58.402" v="124" actId="14100"/>
          <ac:picMkLst>
            <pc:docMk/>
            <pc:sldMk cId="0" sldId="267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59:44.121" v="128" actId="14100"/>
        <pc:sldMkLst>
          <pc:docMk/>
          <pc:sldMk cId="0" sldId="268"/>
        </pc:sldMkLst>
        <pc:spChg chg="mod">
          <ac:chgData name="Cross, Clay" userId="f346be3b-e1cb-4aec-811e-8a3f5d1dd33f" providerId="ADAL" clId="{5AB2DC96-CDCC-45B4-B053-2F2446580AF9}" dt="2026-06-08T02:59:31.781" v="126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09" v="75" actId="27636"/>
          <ac:spMkLst>
            <pc:docMk/>
            <pc:sldMk cId="0" sldId="268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2:59:44.121" v="128" actId="14100"/>
          <ac:picMkLst>
            <pc:docMk/>
            <pc:sldMk cId="0" sldId="268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1:06.395" v="134" actId="14100"/>
        <pc:sldMkLst>
          <pc:docMk/>
          <pc:sldMk cId="0" sldId="269"/>
        </pc:sldMkLst>
        <pc:spChg chg="mod">
          <ac:chgData name="Cross, Clay" userId="f346be3b-e1cb-4aec-811e-8a3f5d1dd33f" providerId="ADAL" clId="{5AB2DC96-CDCC-45B4-B053-2F2446580AF9}" dt="2026-06-08T03:00:47.913" v="130" actId="27636"/>
          <ac:spMkLst>
            <pc:docMk/>
            <pc:sldMk cId="0" sldId="269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13" v="76" actId="27636"/>
          <ac:spMkLst>
            <pc:docMk/>
            <pc:sldMk cId="0" sldId="269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1:06.395" v="134" actId="14100"/>
          <ac:picMkLst>
            <pc:docMk/>
            <pc:sldMk cId="0" sldId="269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1:52.658" v="139" actId="1076"/>
        <pc:sldMkLst>
          <pc:docMk/>
          <pc:sldMk cId="0" sldId="270"/>
        </pc:sldMkLst>
        <pc:spChg chg="mod">
          <ac:chgData name="Cross, Clay" userId="f346be3b-e1cb-4aec-811e-8a3f5d1dd33f" providerId="ADAL" clId="{5AB2DC96-CDCC-45B4-B053-2F2446580AF9}" dt="2026-06-08T03:01:41.920" v="136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15" v="77" actId="27636"/>
          <ac:spMkLst>
            <pc:docMk/>
            <pc:sldMk cId="0" sldId="270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1:52.658" v="139" actId="1076"/>
          <ac:picMkLst>
            <pc:docMk/>
            <pc:sldMk cId="0" sldId="270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2:38.846" v="143" actId="14100"/>
        <pc:sldMkLst>
          <pc:docMk/>
          <pc:sldMk cId="0" sldId="271"/>
        </pc:sldMkLst>
        <pc:spChg chg="mod">
          <ac:chgData name="Cross, Clay" userId="f346be3b-e1cb-4aec-811e-8a3f5d1dd33f" providerId="ADAL" clId="{5AB2DC96-CDCC-45B4-B053-2F2446580AF9}" dt="2026-06-08T03:02:28.799" v="141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15" v="78" actId="27636"/>
          <ac:spMkLst>
            <pc:docMk/>
            <pc:sldMk cId="0" sldId="271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2:38.846" v="143" actId="14100"/>
          <ac:picMkLst>
            <pc:docMk/>
            <pc:sldMk cId="0" sldId="271"/>
            <ac:picMk id="4" creationId="{00000000-0000-0000-0000-000000000000}"/>
          </ac:picMkLst>
        </pc:picChg>
      </pc:sldChg>
      <pc:sldChg chg="addSp delSp modSp mod modClrScheme chgLayout">
        <pc:chgData name="Cross, Clay" userId="f346be3b-e1cb-4aec-811e-8a3f5d1dd33f" providerId="ADAL" clId="{5AB2DC96-CDCC-45B4-B053-2F2446580AF9}" dt="2026-06-08T03:03:31.601" v="152" actId="14100"/>
        <pc:sldMkLst>
          <pc:docMk/>
          <pc:sldMk cId="0" sldId="272"/>
        </pc:sldMkLst>
        <pc:spChg chg="mod ord">
          <ac:chgData name="Cross, Clay" userId="f346be3b-e1cb-4aec-811e-8a3f5d1dd33f" providerId="ADAL" clId="{5AB2DC96-CDCC-45B4-B053-2F2446580AF9}" dt="2026-06-08T03:03:16.619" v="147" actId="700"/>
          <ac:spMkLst>
            <pc:docMk/>
            <pc:sldMk cId="0" sldId="272"/>
            <ac:spMk id="2" creationId="{00000000-0000-0000-0000-000000000000}"/>
          </ac:spMkLst>
        </pc:spChg>
        <pc:spChg chg="add del mod ord">
          <ac:chgData name="Cross, Clay" userId="f346be3b-e1cb-4aec-811e-8a3f5d1dd33f" providerId="ADAL" clId="{5AB2DC96-CDCC-45B4-B053-2F2446580AF9}" dt="2026-06-08T03:03:07.147" v="146" actId="700"/>
          <ac:spMkLst>
            <pc:docMk/>
            <pc:sldMk cId="0" sldId="272"/>
            <ac:spMk id="3" creationId="{00BCBAA7-7CF3-A0DA-CC2F-BD74DEE4CEBF}"/>
          </ac:spMkLst>
        </pc:spChg>
        <pc:spChg chg="mod ord">
          <ac:chgData name="Cross, Clay" userId="f346be3b-e1cb-4aec-811e-8a3f5d1dd33f" providerId="ADAL" clId="{5AB2DC96-CDCC-45B4-B053-2F2446580AF9}" dt="2026-06-08T03:03:24.554" v="150" actId="27636"/>
          <ac:spMkLst>
            <pc:docMk/>
            <pc:sldMk cId="0" sldId="272"/>
            <ac:spMk id="4" creationId="{00000000-0000-0000-0000-000000000000}"/>
          </ac:spMkLst>
        </pc:spChg>
        <pc:spChg chg="add del mod ord">
          <ac:chgData name="Cross, Clay" userId="f346be3b-e1cb-4aec-811e-8a3f5d1dd33f" providerId="ADAL" clId="{5AB2DC96-CDCC-45B4-B053-2F2446580AF9}" dt="2026-06-08T03:03:07.147" v="146" actId="700"/>
          <ac:spMkLst>
            <pc:docMk/>
            <pc:sldMk cId="0" sldId="272"/>
            <ac:spMk id="6" creationId="{DDDD5B36-C07B-7014-E70B-680695750688}"/>
          </ac:spMkLst>
        </pc:spChg>
        <pc:spChg chg="add del mod ord">
          <ac:chgData name="Cross, Clay" userId="f346be3b-e1cb-4aec-811e-8a3f5d1dd33f" providerId="ADAL" clId="{5AB2DC96-CDCC-45B4-B053-2F2446580AF9}" dt="2026-06-08T03:03:07.147" v="146" actId="700"/>
          <ac:spMkLst>
            <pc:docMk/>
            <pc:sldMk cId="0" sldId="272"/>
            <ac:spMk id="7" creationId="{6CF4563C-E5A0-6400-5ADC-BC304C591D14}"/>
          </ac:spMkLst>
        </pc:spChg>
        <pc:picChg chg="mod">
          <ac:chgData name="Cross, Clay" userId="f346be3b-e1cb-4aec-811e-8a3f5d1dd33f" providerId="ADAL" clId="{5AB2DC96-CDCC-45B4-B053-2F2446580AF9}" dt="2026-06-08T03:03:31.601" v="152" actId="14100"/>
          <ac:picMkLst>
            <pc:docMk/>
            <pc:sldMk cId="0" sldId="272"/>
            <ac:picMk id="5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4:11.440" v="156" actId="14100"/>
        <pc:sldMkLst>
          <pc:docMk/>
          <pc:sldMk cId="0" sldId="273"/>
        </pc:sldMkLst>
        <pc:spChg chg="mod">
          <ac:chgData name="Cross, Clay" userId="f346be3b-e1cb-4aec-811e-8a3f5d1dd33f" providerId="ADAL" clId="{5AB2DC96-CDCC-45B4-B053-2F2446580AF9}" dt="2026-06-08T03:04:01.346" v="154" actId="27636"/>
          <ac:spMkLst>
            <pc:docMk/>
            <pc:sldMk cId="0" sldId="273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15" v="81" actId="27636"/>
          <ac:spMkLst>
            <pc:docMk/>
            <pc:sldMk cId="0" sldId="273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4:11.440" v="156" actId="14100"/>
          <ac:picMkLst>
            <pc:docMk/>
            <pc:sldMk cId="0" sldId="273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4:36.269" v="160" actId="14100"/>
        <pc:sldMkLst>
          <pc:docMk/>
          <pc:sldMk cId="0" sldId="274"/>
        </pc:sldMkLst>
        <pc:spChg chg="mod">
          <ac:chgData name="Cross, Clay" userId="f346be3b-e1cb-4aec-811e-8a3f5d1dd33f" providerId="ADAL" clId="{5AB2DC96-CDCC-45B4-B053-2F2446580AF9}" dt="2026-06-08T03:04:28.018" v="158" actId="27636"/>
          <ac:spMkLst>
            <pc:docMk/>
            <pc:sldMk cId="0" sldId="274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15" v="82" actId="27636"/>
          <ac:spMkLst>
            <pc:docMk/>
            <pc:sldMk cId="0" sldId="274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4:36.269" v="160" actId="14100"/>
          <ac:picMkLst>
            <pc:docMk/>
            <pc:sldMk cId="0" sldId="274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5:27.934" v="164" actId="14100"/>
        <pc:sldMkLst>
          <pc:docMk/>
          <pc:sldMk cId="0" sldId="275"/>
        </pc:sldMkLst>
        <pc:spChg chg="mod">
          <ac:chgData name="Cross, Clay" userId="f346be3b-e1cb-4aec-811e-8a3f5d1dd33f" providerId="ADAL" clId="{5AB2DC96-CDCC-45B4-B053-2F2446580AF9}" dt="2026-06-08T03:05:13.826" v="162" actId="27636"/>
          <ac:spMkLst>
            <pc:docMk/>
            <pc:sldMk cId="0" sldId="275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29" v="83" actId="27636"/>
          <ac:spMkLst>
            <pc:docMk/>
            <pc:sldMk cId="0" sldId="275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5:27.934" v="164" actId="14100"/>
          <ac:picMkLst>
            <pc:docMk/>
            <pc:sldMk cId="0" sldId="275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6:03.137" v="167" actId="14100"/>
        <pc:sldMkLst>
          <pc:docMk/>
          <pc:sldMk cId="0" sldId="276"/>
        </pc:sldMkLst>
        <pc:spChg chg="mod">
          <ac:chgData name="Cross, Clay" userId="f346be3b-e1cb-4aec-811e-8a3f5d1dd33f" providerId="ADAL" clId="{5AB2DC96-CDCC-45B4-B053-2F2446580AF9}" dt="2026-06-08T03:05:54.785" v="165" actId="14100"/>
          <ac:spMkLst>
            <pc:docMk/>
            <pc:sldMk cId="0" sldId="276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32" v="84" actId="27636"/>
          <ac:spMkLst>
            <pc:docMk/>
            <pc:sldMk cId="0" sldId="276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6:03.137" v="167" actId="14100"/>
          <ac:picMkLst>
            <pc:docMk/>
            <pc:sldMk cId="0" sldId="276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6:55.109" v="170" actId="14100"/>
        <pc:sldMkLst>
          <pc:docMk/>
          <pc:sldMk cId="0" sldId="277"/>
        </pc:sldMkLst>
        <pc:spChg chg="mod">
          <ac:chgData name="Cross, Clay" userId="f346be3b-e1cb-4aec-811e-8a3f5d1dd33f" providerId="ADAL" clId="{5AB2DC96-CDCC-45B4-B053-2F2446580AF9}" dt="2026-06-08T03:06:46.031" v="168" actId="14100"/>
          <ac:spMkLst>
            <pc:docMk/>
            <pc:sldMk cId="0" sldId="277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32" v="85" actId="27636"/>
          <ac:spMkLst>
            <pc:docMk/>
            <pc:sldMk cId="0" sldId="277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6:55.109" v="170" actId="14100"/>
          <ac:picMkLst>
            <pc:docMk/>
            <pc:sldMk cId="0" sldId="277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7:41.262" v="173" actId="14100"/>
        <pc:sldMkLst>
          <pc:docMk/>
          <pc:sldMk cId="0" sldId="278"/>
        </pc:sldMkLst>
        <pc:spChg chg="mod">
          <ac:chgData name="Cross, Clay" userId="f346be3b-e1cb-4aec-811e-8a3f5d1dd33f" providerId="ADAL" clId="{5AB2DC96-CDCC-45B4-B053-2F2446580AF9}" dt="2026-06-08T03:07:29.991" v="171" actId="14100"/>
          <ac:spMkLst>
            <pc:docMk/>
            <pc:sldMk cId="0" sldId="278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32" v="86" actId="27636"/>
          <ac:spMkLst>
            <pc:docMk/>
            <pc:sldMk cId="0" sldId="278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7:41.262" v="173" actId="14100"/>
          <ac:picMkLst>
            <pc:docMk/>
            <pc:sldMk cId="0" sldId="278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3:08:25.355" v="179"/>
        <pc:sldMkLst>
          <pc:docMk/>
          <pc:sldMk cId="0" sldId="279"/>
        </pc:sldMkLst>
        <pc:spChg chg="mod">
          <ac:chgData name="Cross, Clay" userId="f346be3b-e1cb-4aec-811e-8a3f5d1dd33f" providerId="ADAL" clId="{5AB2DC96-CDCC-45B4-B053-2F2446580AF9}" dt="2026-06-08T03:08:08.065" v="174" actId="14100"/>
          <ac:spMkLst>
            <pc:docMk/>
            <pc:sldMk cId="0" sldId="279"/>
            <ac:spMk id="2" creationId="{00000000-0000-0000-0000-000000000000}"/>
          </ac:spMkLst>
        </pc:spChg>
        <pc:spChg chg="mod">
          <ac:chgData name="Cross, Clay" userId="f346be3b-e1cb-4aec-811e-8a3f5d1dd33f" providerId="ADAL" clId="{5AB2DC96-CDCC-45B4-B053-2F2446580AF9}" dt="2026-06-08T02:49:01.536" v="87" actId="27636"/>
          <ac:spMkLst>
            <pc:docMk/>
            <pc:sldMk cId="0" sldId="279"/>
            <ac:spMk id="3" creationId="{00000000-0000-0000-0000-000000000000}"/>
          </ac:spMkLst>
        </pc:spChg>
        <pc:picChg chg="mod">
          <ac:chgData name="Cross, Clay" userId="f346be3b-e1cb-4aec-811e-8a3f5d1dd33f" providerId="ADAL" clId="{5AB2DC96-CDCC-45B4-B053-2F2446580AF9}" dt="2026-06-08T03:08:25.355" v="179"/>
          <ac:picMkLst>
            <pc:docMk/>
            <pc:sldMk cId="0" sldId="279"/>
            <ac:picMk id="4" creationId="{00000000-0000-0000-0000-000000000000}"/>
          </ac:picMkLst>
        </pc:picChg>
      </pc:sldChg>
      <pc:sldChg chg="modSp mod">
        <pc:chgData name="Cross, Clay" userId="f346be3b-e1cb-4aec-811e-8a3f5d1dd33f" providerId="ADAL" clId="{5AB2DC96-CDCC-45B4-B053-2F2446580AF9}" dt="2026-06-08T02:49:01.538" v="88" actId="27636"/>
        <pc:sldMkLst>
          <pc:docMk/>
          <pc:sldMk cId="0" sldId="280"/>
        </pc:sldMkLst>
        <pc:spChg chg="mod">
          <ac:chgData name="Cross, Clay" userId="f346be3b-e1cb-4aec-811e-8a3f5d1dd33f" providerId="ADAL" clId="{5AB2DC96-CDCC-45B4-B053-2F2446580AF9}" dt="2026-06-08T02:49:01.538" v="88" actId="27636"/>
          <ac:spMkLst>
            <pc:docMk/>
            <pc:sldMk cId="0" sldId="28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5B5D0-340B-4E36-9CF9-185D0E66E27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283BF-5CBE-4454-B8C7-2AC6C6C0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3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 9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References:</a:t>
            </a:r>
            <a:endParaRPr lang="en-US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Key Points:</a:t>
            </a:r>
            <a:endParaRPr lang="en-US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Explanation of any images/charts/graphics:</a:t>
            </a:r>
            <a:endParaRPr lang="en-US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Questions students are most likely to ask:</a:t>
            </a: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Amplifying Details: </a:t>
            </a:r>
            <a:endParaRPr lang="en-US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400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 4.1 Effects Operations Overview — Content Guide</a:t>
            </a:r>
          </a:p>
          <a:p>
            <a:endParaRPr/>
          </a:p>
          <a:p>
            <a:r>
              <a:t>**Source:** `../Week 4 Overview.md`, `../labs/L4.1a_Disable_Adversary_Tooling/`, `../labs/L4.1b_False_Information_Injection/`</a:t>
            </a:r>
          </a:p>
          <a:p>
            <a:r>
              <a:t>**Audience:** CPT operators who have completed Weeks 1-3 and already hold staged access to the adversary stack.</a:t>
            </a:r>
          </a:p>
          <a:p>
            <a:r>
              <a:t>**Duration:** ~75 minutes (opening block of Day 1, Week 4)</a:t>
            </a:r>
          </a:p>
          <a:p>
            <a:r>
              <a:t>**Prerequisites:** Week 1 (METT-TC, CG/CV, EMLCOA, actions-on-contact), Week 2 (access tradecraft), Week 3 (on-target enumeration discipline).</a:t>
            </a:r>
          </a:p>
          <a:p>
            <a:r>
              <a:t>**References:**</a:t>
            </a:r>
          </a:p>
          <a:p>
            <a:endParaRPr/>
          </a:p>
          <a:p>
            <a:r>
              <a:t>- `../../week1/content-guides/1. Tactical Planning Part 1 Content Guide.md` (CG/CV vocabulary)</a:t>
            </a:r>
          </a:p>
          <a:p>
            <a:r>
              <a:t>- `../../week1/content-guides/5. MITRE ENGAGE Content Guide.md` and `../../week1/5. MITRE ENGAGE.md`</a:t>
            </a:r>
          </a:p>
          <a:p>
            <a:r>
              <a:t>- `../../week1/4. MITRE D3FEND CAD.md`</a:t>
            </a:r>
          </a:p>
          <a:p>
            <a:r>
              <a:t>- `../lab_env/README.md` (adversary stack layout)</a:t>
            </a:r>
          </a:p>
          <a:p>
            <a:endParaRPr/>
          </a:p>
          <a:p>
            <a:r>
              <a:t>---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"Week 3 got you inside the adversary stack."</a:t>
            </a:r>
          </a:p>
          <a:p>
            <a:r>
              <a:t>"That was the price of admission."</a:t>
            </a:r>
          </a:p>
          <a:p>
            <a:r>
              <a:t>"Week 4 asks the next question: now that you are there, what do you do?"</a:t>
            </a:r>
          </a:p>
          <a:p>
            <a:r>
              <a:t>"Access matters when it produces a deliberate, bounded effect."</a:t>
            </a:r>
          </a:p>
          <a:p>
            <a:r>
              <a:t>"Every effect still has to support the Week 1 CG/CV logic."</a:t>
            </a:r>
          </a:p>
          <a:p>
            <a:r>
              <a:t>"First two days: deliberate effects."</a:t>
            </a:r>
          </a:p>
          <a:p>
            <a:r>
              <a:t>"Last three days: doing this with AI help, and recognizing adversary AI use."</a:t>
            </a:r>
          </a:p>
          <a:p>
            <a:endParaRPr/>
          </a:p>
          <a:p>
            <a:r>
              <a:t>Show:</a:t>
            </a:r>
          </a:p>
          <a:p>
            <a:r>
              <a:t>Point from "Access" to "Effect."</a:t>
            </a:r>
          </a:p>
          <a:p>
            <a:r>
              <a:t>Point at the CG/CV callout.</a:t>
            </a:r>
          </a:p>
          <a:p>
            <a:endParaRPr/>
          </a:p>
          <a:p>
            <a:r>
              <a:t>Do:</a:t>
            </a:r>
          </a:p>
          <a:p>
            <a:r>
              <a:t>Ask: "From Week 1, what is the center of gravity of the APT we studied?"</a:t>
            </a:r>
          </a:p>
          <a:p>
            <a:r>
              <a:t>Take one answer.</a:t>
            </a:r>
          </a:p>
          <a:p>
            <a:r>
              <a:t>Ask: "And what is a critical vulnerability against that CG?"</a:t>
            </a:r>
          </a:p>
          <a:p>
            <a:r>
              <a:t>Capture both on the whiteboard as the running example.</a:t>
            </a:r>
          </a:p>
          <a:p>
            <a:endParaRPr/>
          </a:p>
          <a:p>
            <a:r>
              <a:t>Image Prompt:</a:t>
            </a:r>
          </a:p>
          <a:p>
            <a:r>
              <a:t>A split-screen graphic. Left panel: a stylized red-team dashboard labeled "Access" with a glowing foothold icon. Right panel: the same foothold now labeled "Effect" with four outbound arrows labeled Degrade/Disrupt/Deny, Deceive/Manipulate, Reconnoiter, Handoff. A dim CG/CV callout box underneath both panels.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"Effect versus action keeps you out of trouble."</a:t>
            </a:r>
          </a:p>
          <a:p>
            <a:r>
              <a:t>"Commander says: degrade their collection."</a:t>
            </a:r>
          </a:p>
          <a:p>
            <a:r>
              <a:t>"That is an effect."</a:t>
            </a:r>
          </a:p>
          <a:p>
            <a:r>
              <a:t>"You choose the action: stop a service, poison a database, corrupt logs."</a:t>
            </a:r>
          </a:p>
          <a:p>
            <a:r>
              <a:t>"Choice depends on assessment, risk, access reliability, team skill, and partner need."</a:t>
            </a:r>
          </a:p>
          <a:p>
            <a:r>
              <a:t>"Do not report an effect you did not actually achieve."</a:t>
            </a:r>
          </a:p>
          <a:p>
            <a:endParaRPr/>
          </a:p>
          <a:p>
            <a:r>
              <a:t>Show:</a:t>
            </a:r>
          </a:p>
          <a:p>
            <a:r>
              <a:t>Point to the effect column.</a:t>
            </a:r>
          </a:p>
          <a:p>
            <a:r>
              <a:t>Point to the action column.</a:t>
            </a:r>
          </a:p>
          <a:p>
            <a:r>
              <a:t>Linger on the multi-to-multi arrows.</a:t>
            </a:r>
          </a:p>
          <a:p>
            <a:endParaRPr/>
          </a:p>
          <a:p>
            <a:r>
              <a:t>Do:</a:t>
            </a:r>
          </a:p>
          <a:p>
            <a:r>
              <a:t>Ask: "Name an action you took in a Week 3 lab."</a:t>
            </a:r>
          </a:p>
          <a:p>
            <a:r>
              <a:t>Ask: "What effect, if any, did it produce?"</a:t>
            </a:r>
          </a:p>
          <a:p>
            <a:r>
              <a:t>Take two answers.</a:t>
            </a:r>
          </a:p>
          <a:p>
            <a:r>
              <a:t>Correct effect/action conflation.</a:t>
            </a:r>
          </a:p>
          <a:p>
            <a:endParaRPr/>
          </a:p>
          <a:p>
            <a:r>
              <a:t>Image Prompt:</a:t>
            </a:r>
          </a:p>
          <a:p>
            <a:r>
              <a:t>A two-column table graphic. Left column "Effect" (verbs: deny, degrade, disrupt, destroy, deceive, manipulate). Right column "Action" (specific tool/command examples: `systemctl disable`, `INSERT INTO exfil_logs ...`, `plant canary.docx`, `drop partner_rat.exe`). Arrows show that multiple actions can map to the same effect.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"This is Week 1 language, not a new dictionary."</a:t>
            </a:r>
          </a:p>
          <a:p>
            <a:r>
              <a:t>"D4M verbs describe what you want done to an adversary capability."</a:t>
            </a:r>
          </a:p>
          <a:p>
            <a:r>
              <a:t>"Related terms cover decision-cycle attack, intelligence collection, pathway denial, and partner transition."</a:t>
            </a:r>
          </a:p>
          <a:p>
            <a:r>
              <a:t>"Classification is not the command you typed."</a:t>
            </a:r>
          </a:p>
          <a:p>
            <a:r>
              <a:t>"Classification is what changed, how long it lasts, and how hard recovery is."</a:t>
            </a:r>
          </a:p>
          <a:p>
            <a:r>
              <a:t>"The next slides stay concrete and example-driven."</a:t>
            </a:r>
          </a:p>
          <a:p>
            <a:endParaRPr/>
          </a:p>
          <a:p>
            <a:r>
              <a:t>Show:</a:t>
            </a:r>
          </a:p>
          <a:p>
            <a:r>
              <a:t>Walk the D4M row left to right.</a:t>
            </a:r>
          </a:p>
          <a:p>
            <a:r>
              <a:t>Walk the related-effects row left to right.</a:t>
            </a:r>
          </a:p>
          <a:p>
            <a:r>
              <a:t>Point at the footer classification line.</a:t>
            </a:r>
          </a:p>
          <a:p>
            <a:endParaRPr/>
          </a:p>
          <a:p>
            <a:r>
              <a:t>Do:</a:t>
            </a:r>
          </a:p>
          <a:p>
            <a:r>
              <a:t>Tell students: "For every example, ask what the adversary lost, kept, missed, or misunderstood."</a:t>
            </a:r>
          </a:p>
          <a:p>
            <a:r>
              <a:t>Tell students: "Also ask what you must check before touching the keyboard."</a:t>
            </a:r>
          </a:p>
          <a:p>
            <a:endParaRPr/>
          </a:p>
          <a:p>
            <a:r>
              <a:t>Image Prompt:</a:t>
            </a:r>
          </a:p>
          <a:p>
            <a:r>
              <a:t>A two-row graphic. Top row labeled "D4M family" with four tiles: Deny, Degrade, Disrupt, Destroy. Bottom row labeled "Related effects" with four tiles: Deceive/Manipulate, Reconnoiter, Interdict, Handoff. Add a footer line: "Classify by outcome, duration, and recovery cost."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Say:</a:t>
            </a:r>
          </a:p>
          <a:p>
            <a:r>
              <a:rPr dirty="0"/>
              <a:t>"Deny is a hard stop."</a:t>
            </a:r>
          </a:p>
          <a:p>
            <a:r>
              <a:rPr dirty="0"/>
              <a:t>"The adversary still wants to run the capability, but cannot."</a:t>
            </a:r>
          </a:p>
          <a:p>
            <a:r>
              <a:rPr dirty="0"/>
              <a:t>"Scenario: the collector polls a staging API with one service credential."</a:t>
            </a:r>
          </a:p>
          <a:p>
            <a:r>
              <a:rPr dirty="0"/>
              <a:t>"That credential is the dependency that lets collection run."</a:t>
            </a:r>
          </a:p>
          <a:p>
            <a:r>
              <a:rPr dirty="0"/>
              <a:t>"Action: disable, revoke, or rotate that credential so the collector cannot log in."</a:t>
            </a:r>
          </a:p>
          <a:p>
            <a:r>
              <a:rPr dirty="0"/>
              <a:t>"Do not assume the credential matters; prove the workflow uses it."</a:t>
            </a:r>
          </a:p>
          <a:p>
            <a:r>
              <a:rPr dirty="0"/>
              <a:t>"Check for alternate credentials before calling this denial."</a:t>
            </a:r>
          </a:p>
          <a:p>
            <a:r>
              <a:rPr dirty="0"/>
              <a:t>"Evidence should show authentication failure and stopped collection."</a:t>
            </a:r>
          </a:p>
          <a:p>
            <a:r>
              <a:rPr dirty="0"/>
              <a:t>"If a backup token keeps the workflow alive, you did not deny it."</a:t>
            </a:r>
          </a:p>
          <a:p>
            <a:endParaRPr dirty="0"/>
          </a:p>
          <a:p>
            <a:r>
              <a:rPr dirty="0"/>
              <a:t>Show:</a:t>
            </a:r>
          </a:p>
          <a:p>
            <a:r>
              <a:rPr dirty="0"/>
              <a:t>Point to the revoked credential.</a:t>
            </a:r>
          </a:p>
          <a:p>
            <a:r>
              <a:rPr dirty="0"/>
              <a:t>Point to the failed login.</a:t>
            </a:r>
          </a:p>
          <a:p>
            <a:r>
              <a:rPr dirty="0"/>
              <a:t>Point to the missing downstream collection.</a:t>
            </a:r>
          </a:p>
          <a:p>
            <a:endParaRPr dirty="0"/>
          </a:p>
          <a:p>
            <a:r>
              <a:rPr dirty="0"/>
              <a:t>Do:</a:t>
            </a:r>
          </a:p>
          <a:p>
            <a:r>
              <a:rPr dirty="0"/>
              <a:t>Ask: "What would prove this credential is the real dependency?"</a:t>
            </a:r>
          </a:p>
          <a:p>
            <a:r>
              <a:rPr dirty="0"/>
              <a:t>Ask: "What alternate path would defeat this denial?"</a:t>
            </a:r>
          </a:p>
          <a:p>
            <a:endParaRPr dirty="0"/>
          </a:p>
          <a:p>
            <a:r>
              <a:rPr dirty="0"/>
              <a:t>Image Prompt:</a:t>
            </a:r>
          </a:p>
          <a:p>
            <a:r>
              <a:rPr dirty="0"/>
              <a:t>A denial graphic showing a collector trying to authenticate to a service. The credential path is marked revoked, the collection job fails at login, and the downstream dashboard shows no new collection.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"This is still deny because the selected path becomes unusable."</a:t>
            </a:r>
          </a:p>
          <a:p>
            <a:r>
              <a:t>"The target is network reachability, not the local tool."</a:t>
            </a:r>
          </a:p>
          <a:p>
            <a:r>
              <a:t>"Scenario: collection bundles leave through a relay path to a known reporting destination."</a:t>
            </a:r>
          </a:p>
          <a:p>
            <a:r>
              <a:t>"That path depends on a DNS, firewall, proxy, or route control point."</a:t>
            </a:r>
          </a:p>
          <a:p>
            <a:r>
              <a:t>"Action: block or sinkhole the selected route so bundles cannot reach the destination."</a:t>
            </a:r>
          </a:p>
          <a:p>
            <a:r>
              <a:t>"Students must identify the actual route before changing controls."</a:t>
            </a:r>
          </a:p>
          <a:p>
            <a:r>
              <a:t>"Check for fallbacks, second relays, or direct cloud paths."</a:t>
            </a:r>
          </a:p>
          <a:p>
            <a:r>
              <a:t>"Rule persistence matters if the mission window spans restarts."</a:t>
            </a:r>
          </a:p>
          <a:p>
            <a:r>
              <a:t>"Evidence should show connection failure and no successful transfer."</a:t>
            </a:r>
          </a:p>
          <a:p>
            <a:r>
              <a:t>"If traffic simply moves to another path, denial failed."</a:t>
            </a:r>
          </a:p>
          <a:p>
            <a:endParaRPr/>
          </a:p>
          <a:p>
            <a:r>
              <a:t>Show:</a:t>
            </a:r>
          </a:p>
          <a:p>
            <a:r>
              <a:t>Trace the normal route.</a:t>
            </a:r>
          </a:p>
          <a:p>
            <a:r>
              <a:t>Point to the block point.</a:t>
            </a:r>
          </a:p>
          <a:p>
            <a:r>
              <a:t>Point to alternate-route checks.</a:t>
            </a:r>
          </a:p>
          <a:p>
            <a:endParaRPr/>
          </a:p>
          <a:p>
            <a:r>
              <a:t>Do:</a:t>
            </a:r>
          </a:p>
          <a:p>
            <a:r>
              <a:t>Ask: "What makes this route the right control point?"</a:t>
            </a:r>
          </a:p>
          <a:p>
            <a:r>
              <a:t>Ask: "What evidence separates route denial from a local tool crash?"</a:t>
            </a:r>
          </a:p>
          <a:p>
            <a:endParaRPr/>
          </a:p>
          <a:p>
            <a:r>
              <a:t>Image Prompt:</a:t>
            </a:r>
          </a:p>
          <a:p>
            <a:r>
              <a:t>A route map showing collected data moving toward an exfil destination. The selected route is blocked at a firewall or DNS control point, with alternate routes shown as question-mark paths that students must check.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Say:</a:t>
            </a:r>
          </a:p>
          <a:p>
            <a:r>
              <a:rPr dirty="0"/>
              <a:t>"Degrade keeps the capability alive but worse."</a:t>
            </a:r>
          </a:p>
          <a:p>
            <a:r>
              <a:rPr dirty="0"/>
              <a:t>"Here, the product is less timely."</a:t>
            </a:r>
          </a:p>
          <a:p>
            <a:r>
              <a:rPr dirty="0"/>
              <a:t>"Scenario: a collector polls endpoints on a short interval and forwards results downstream."</a:t>
            </a:r>
          </a:p>
          <a:p>
            <a:r>
              <a:rPr dirty="0"/>
              <a:t>"The adversary still gets data because the pipeline remains alive."</a:t>
            </a:r>
          </a:p>
          <a:p>
            <a:r>
              <a:rPr dirty="0"/>
              <a:t>"Action: change the polling schedule so collection happens much less often."</a:t>
            </a:r>
          </a:p>
          <a:p>
            <a:r>
              <a:rPr dirty="0"/>
              <a:t>"Do not pick an interval at random."</a:t>
            </a:r>
          </a:p>
          <a:p>
            <a:r>
              <a:rPr dirty="0"/>
              <a:t>"Tie the delay to the mission window."</a:t>
            </a:r>
          </a:p>
          <a:p>
            <a:r>
              <a:rPr dirty="0"/>
              <a:t>"Know whether the config needs reload or restart."</a:t>
            </a:r>
          </a:p>
          <a:p>
            <a:r>
              <a:rPr dirty="0"/>
              <a:t>"Preserve the original value for rollback."</a:t>
            </a:r>
          </a:p>
          <a:p>
            <a:r>
              <a:rPr dirty="0"/>
              <a:t>"Evidence is a before/after cadence comparison."</a:t>
            </a:r>
          </a:p>
          <a:p>
            <a:endParaRPr dirty="0"/>
          </a:p>
          <a:p>
            <a:r>
              <a:rPr dirty="0"/>
              <a:t>Show:</a:t>
            </a:r>
          </a:p>
          <a:p>
            <a:r>
              <a:rPr dirty="0"/>
              <a:t>Compare normal cadence to delayed cadence.</a:t>
            </a:r>
          </a:p>
          <a:p>
            <a:r>
              <a:rPr dirty="0"/>
              <a:t>Point out that collection still occurs.</a:t>
            </a:r>
          </a:p>
          <a:p>
            <a:endParaRPr dirty="0"/>
          </a:p>
          <a:p>
            <a:r>
              <a:rPr dirty="0"/>
              <a:t>Do:</a:t>
            </a:r>
          </a:p>
          <a:p>
            <a:r>
              <a:rPr dirty="0"/>
              <a:t>Ask: "When does slow become operationally useful?"</a:t>
            </a:r>
          </a:p>
          <a:p>
            <a:r>
              <a:rPr dirty="0"/>
              <a:t>Ask: "When would this accidentally become deny?"</a:t>
            </a:r>
          </a:p>
          <a:p>
            <a:endParaRPr dirty="0"/>
          </a:p>
          <a:p>
            <a:r>
              <a:rPr dirty="0"/>
              <a:t>Image Prompt:</a:t>
            </a:r>
          </a:p>
          <a:p>
            <a:r>
              <a:rPr dirty="0"/>
              <a:t>A before/after timing graphic. Before: collector polls every five minutes. After: collector still works but polls much less often, with delayed entries arriving downstream.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"This degradation reduces coverage rather than timing."</a:t>
            </a:r>
          </a:p>
          <a:p>
            <a:r>
              <a:t>"The pipeline still runs."</a:t>
            </a:r>
          </a:p>
          <a:p>
            <a:r>
              <a:t>"The product is less complete."</a:t>
            </a:r>
          </a:p>
          <a:p>
            <a:r>
              <a:t>"Scenario: a redirector receives feeds from multiple implants."</a:t>
            </a:r>
          </a:p>
          <a:p>
            <a:r>
              <a:t>"Those feeds are consolidated, parsed, and forwarded to a backend database."</a:t>
            </a:r>
          </a:p>
          <a:p>
            <a:r>
              <a:t>"Action: remove or disable one feeder source while leaving the rest of the pipeline intact."</a:t>
            </a:r>
          </a:p>
          <a:p>
            <a:r>
              <a:t>"Students must know what the feeder uniquely contributes."</a:t>
            </a:r>
          </a:p>
          <a:p>
            <a:r>
              <a:t>"The goal is partial loss, not total outage."</a:t>
            </a:r>
          </a:p>
          <a:p>
            <a:r>
              <a:t>"Analyst visibility matters; obvious loss may trigger fast repair."</a:t>
            </a:r>
          </a:p>
          <a:p>
            <a:r>
              <a:t>"Evidence is lower volume or a missing coverage slice."</a:t>
            </a:r>
          </a:p>
          <a:p>
            <a:endParaRPr/>
          </a:p>
          <a:p>
            <a:r>
              <a:t>Show:</a:t>
            </a:r>
          </a:p>
          <a:p>
            <a:r>
              <a:t>Point to the removed feeder.</a:t>
            </a:r>
          </a:p>
          <a:p>
            <a:r>
              <a:t>Point to the remaining pipeline.</a:t>
            </a:r>
          </a:p>
          <a:p>
            <a:r>
              <a:t>Point to the output gap.</a:t>
            </a:r>
          </a:p>
          <a:p>
            <a:endParaRPr/>
          </a:p>
          <a:p>
            <a:r>
              <a:t>Do:</a:t>
            </a:r>
          </a:p>
          <a:p>
            <a:r>
              <a:t>Ask: "What would make this too obvious?"</a:t>
            </a:r>
          </a:p>
          <a:p>
            <a:r>
              <a:t>Ask: "What evidence proves degradation instead of denial?"</a:t>
            </a:r>
          </a:p>
          <a:p>
            <a:endParaRPr/>
          </a:p>
          <a:p>
            <a:r>
              <a:t>Image Prompt:</a:t>
            </a:r>
          </a:p>
          <a:p>
            <a:r>
              <a:t>A collection pipeline with three feeder sources entering one processing path. One feeder is removed, and the output still exists but has a visible coverage gap.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"Disrupt breaks rhythm."</a:t>
            </a:r>
          </a:p>
          <a:p>
            <a:r>
              <a:t>"The capability may come back."</a:t>
            </a:r>
          </a:p>
          <a:p>
            <a:r>
              <a:t>"The problem is that it comes back too late."</a:t>
            </a:r>
          </a:p>
          <a:p>
            <a:r>
              <a:t>"Scenario: a collection process has one reporting window that matters to the mission."</a:t>
            </a:r>
          </a:p>
          <a:p>
            <a:r>
              <a:t>"If that window is missed, later recovery does not undo the disruption."</a:t>
            </a:r>
          </a:p>
          <a:p>
            <a:r>
              <a:t>"Action: stop the process during the reporting window and allow recovery afterward."</a:t>
            </a:r>
          </a:p>
          <a:p>
            <a:r>
              <a:t>"Timing is the center of this example."</a:t>
            </a:r>
          </a:p>
          <a:p>
            <a:r>
              <a:t>"Students need the real reporting window, not a guess."</a:t>
            </a:r>
          </a:p>
          <a:p>
            <a:r>
              <a:t>"Watchdog or auto-restart behavior changes the effect."</a:t>
            </a:r>
          </a:p>
          <a:p>
            <a:r>
              <a:t>"Evidence is the missed window plus later recovery."</a:t>
            </a:r>
          </a:p>
          <a:p>
            <a:endParaRPr/>
          </a:p>
          <a:p>
            <a:r>
              <a:t>Show:</a:t>
            </a:r>
          </a:p>
          <a:p>
            <a:r>
              <a:t>Point to the reporting window.</a:t>
            </a:r>
          </a:p>
          <a:p>
            <a:r>
              <a:t>Point to the outage inside the window.</a:t>
            </a:r>
          </a:p>
          <a:p>
            <a:r>
              <a:t>Point to recovery after the window.</a:t>
            </a:r>
          </a:p>
          <a:p>
            <a:endParaRPr/>
          </a:p>
          <a:p>
            <a:r>
              <a:t>Do:</a:t>
            </a:r>
          </a:p>
          <a:p>
            <a:r>
              <a:t>Ask: "If it restarts after ten minutes but the window was five, what effect is that?"</a:t>
            </a:r>
          </a:p>
          <a:p>
            <a:r>
              <a:t>Ask: "What evidence would you capture?"</a:t>
            </a:r>
          </a:p>
          <a:p>
            <a:endParaRPr/>
          </a:p>
          <a:p>
            <a:r>
              <a:t>Image Prompt:</a:t>
            </a:r>
          </a:p>
          <a:p>
            <a:r>
              <a:t>A timeline with a normal reporting window on top and a disrupted window below. The process stops during the reporting period, then recovers later after the decisive time has passed.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"This disrupts coordination, not the whole capability."</a:t>
            </a:r>
          </a:p>
          <a:p>
            <a:r>
              <a:t>"The tasks may all still exist."</a:t>
            </a:r>
          </a:p>
          <a:p>
            <a:r>
              <a:t>"The sequence no longer supports the workflow."</a:t>
            </a:r>
          </a:p>
          <a:p>
            <a:r>
              <a:t>"Scenario: scheduled jobs collect, parse, stage, and forward data in a fixed order."</a:t>
            </a:r>
          </a:p>
          <a:p>
            <a:r>
              <a:t>"Downstream jobs depend on upstream output being ready at the right time."</a:t>
            </a:r>
          </a:p>
          <a:p>
            <a:r>
              <a:t>"Action: change schedule order or trigger timing so jobs run before prerequisites exist."</a:t>
            </a:r>
          </a:p>
          <a:p>
            <a:r>
              <a:t>"Students must map dependencies before changing schedule state."</a:t>
            </a:r>
          </a:p>
          <a:p>
            <a:r>
              <a:t>"Know whether the system self-corrects."</a:t>
            </a:r>
          </a:p>
          <a:p>
            <a:r>
              <a:t>"Manual cleanup means added adversary burden."</a:t>
            </a:r>
          </a:p>
          <a:p>
            <a:r>
              <a:t>"Evidence comes from job logs and delayed downstream action."</a:t>
            </a:r>
          </a:p>
          <a:p>
            <a:endParaRPr/>
          </a:p>
          <a:p>
            <a:r>
              <a:t>Show:</a:t>
            </a:r>
          </a:p>
          <a:p>
            <a:r>
              <a:t>Trace the normal order.</a:t>
            </a:r>
          </a:p>
          <a:p>
            <a:r>
              <a:t>Trace the scrambled order.</a:t>
            </a:r>
          </a:p>
          <a:p>
            <a:r>
              <a:t>Point to the broken handoff.</a:t>
            </a:r>
          </a:p>
          <a:p>
            <a:endParaRPr/>
          </a:p>
          <a:p>
            <a:r>
              <a:t>Do:</a:t>
            </a:r>
          </a:p>
          <a:p>
            <a:r>
              <a:t>Ask: "Which dependency must students prove first?"</a:t>
            </a:r>
          </a:p>
          <a:p>
            <a:r>
              <a:t>Ask: "When would this drift into denial?"</a:t>
            </a:r>
          </a:p>
          <a:p>
            <a:endParaRPr/>
          </a:p>
          <a:p>
            <a:r>
              <a:t>Image Prompt:</a:t>
            </a:r>
          </a:p>
          <a:p>
            <a:r>
              <a:t>A job-chain diagram showing tasks A, B, and C. Normal order is A -&gt; B -&gt; C. The disrupted version runs B before A or misses the handoff trigger, causing downstream delay.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"Destroy means recovery is hard."</a:t>
            </a:r>
          </a:p>
          <a:p>
            <a:r>
              <a:t>"Here, the destroyed dependency is key material."</a:t>
            </a:r>
          </a:p>
          <a:p>
            <a:r>
              <a:t>"Scenario: the reporting channel depends on one deployed certificate, private key, or token."</a:t>
            </a:r>
          </a:p>
          <a:p>
            <a:r>
              <a:t>"Without that material, the adversary must reissue and redeploy before the channel works."</a:t>
            </a:r>
          </a:p>
          <a:p>
            <a:r>
              <a:t>"Action: remove the required key material and any immediately usable local copy."</a:t>
            </a:r>
          </a:p>
          <a:p>
            <a:r>
              <a:t>"A deleted key only matters if it is unique and required."</a:t>
            </a:r>
          </a:p>
          <a:p>
            <a:r>
              <a:t>"Backups can turn destroy into short disruption."</a:t>
            </a:r>
          </a:p>
          <a:p>
            <a:r>
              <a:t>"This requires explicit mission approval."</a:t>
            </a:r>
          </a:p>
          <a:p>
            <a:r>
              <a:t>"Evidence must show failed channel operation and rebuild burden."</a:t>
            </a:r>
          </a:p>
          <a:p>
            <a:r>
              <a:t>"Do not call it destroy just because a file was deleted."</a:t>
            </a:r>
          </a:p>
          <a:p>
            <a:endParaRPr/>
          </a:p>
          <a:p>
            <a:r>
              <a:t>Show:</a:t>
            </a:r>
          </a:p>
          <a:p>
            <a:r>
              <a:t>Point to the key dependency.</a:t>
            </a:r>
          </a:p>
          <a:p>
            <a:r>
              <a:t>Point to backup checks.</a:t>
            </a:r>
          </a:p>
          <a:p>
            <a:r>
              <a:t>Point to rebuild requirement.</a:t>
            </a:r>
          </a:p>
          <a:p>
            <a:endParaRPr/>
          </a:p>
          <a:p>
            <a:r>
              <a:t>Do:</a:t>
            </a:r>
          </a:p>
          <a:p>
            <a:r>
              <a:t>Ask: "What makes this destructive instead of disruptive?"</a:t>
            </a:r>
          </a:p>
          <a:p>
            <a:r>
              <a:t>Ask: "What backup evidence would change your classification?"</a:t>
            </a:r>
          </a:p>
          <a:p>
            <a:endParaRPr/>
          </a:p>
          <a:p>
            <a:r>
              <a:t>Image Prompt:</a:t>
            </a:r>
          </a:p>
          <a:p>
            <a:r>
              <a:t>A capability stack where certificate/key material is highlighted as the single dependency for an encrypted reporting or exfil channel. Recovery arrow is labeled "reissue / redeploy required."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Say:</a:t>
            </a:r>
          </a:p>
          <a:p>
            <a:r>
              <a:rPr dirty="0"/>
              <a:t>"This destroys by increasing recovery burden."</a:t>
            </a:r>
          </a:p>
          <a:p>
            <a:r>
              <a:rPr dirty="0"/>
              <a:t>"The live data alone may not be enough."</a:t>
            </a:r>
          </a:p>
          <a:p>
            <a:r>
              <a:rPr dirty="0"/>
              <a:t>"The quick restore copy matters."</a:t>
            </a:r>
          </a:p>
          <a:p>
            <a:r>
              <a:rPr dirty="0"/>
              <a:t>"Scenario: staging data feeds the adversary's analytic or reporting backend."</a:t>
            </a:r>
          </a:p>
          <a:p>
            <a:r>
              <a:rPr dirty="0"/>
              <a:t>"A nearby export or snapshot lets them restore quickly if only live data is lost."</a:t>
            </a:r>
          </a:p>
          <a:p>
            <a:r>
              <a:rPr dirty="0"/>
              <a:t>"Action: remove the staging data and the quick local restore copy in the same operation."</a:t>
            </a:r>
          </a:p>
          <a:p>
            <a:r>
              <a:rPr dirty="0"/>
              <a:t>"Students must avoid unrelated data and partner equities."</a:t>
            </a:r>
          </a:p>
          <a:p>
            <a:r>
              <a:rPr dirty="0"/>
              <a:t>"Criticality has to be tied to the adversary capability."</a:t>
            </a:r>
          </a:p>
          <a:p>
            <a:r>
              <a:rPr dirty="0"/>
              <a:t>"Evidence is missing staging data plus no quick local restore."</a:t>
            </a:r>
          </a:p>
          <a:p>
            <a:r>
              <a:rPr dirty="0"/>
              <a:t>"If ordinary admin steps restore it in minutes, it was not destroy."</a:t>
            </a:r>
          </a:p>
          <a:p>
            <a:endParaRPr dirty="0"/>
          </a:p>
          <a:p>
            <a:r>
              <a:rPr dirty="0"/>
              <a:t>Show:</a:t>
            </a:r>
          </a:p>
          <a:p>
            <a:r>
              <a:rPr dirty="0"/>
              <a:t>Point to live staging data.</a:t>
            </a:r>
          </a:p>
          <a:p>
            <a:r>
              <a:rPr dirty="0"/>
              <a:t>Point to the quick restore copy.</a:t>
            </a:r>
          </a:p>
          <a:p>
            <a:r>
              <a:rPr dirty="0"/>
              <a:t>Point to the slower recovery path.</a:t>
            </a:r>
          </a:p>
          <a:p>
            <a:endParaRPr dirty="0"/>
          </a:p>
          <a:p>
            <a:r>
              <a:rPr dirty="0"/>
              <a:t>Do:</a:t>
            </a:r>
          </a:p>
          <a:p>
            <a:r>
              <a:rPr dirty="0"/>
              <a:t>Ask: "Why does the nearby restore copy matter?"</a:t>
            </a:r>
          </a:p>
          <a:p>
            <a:r>
              <a:rPr dirty="0"/>
              <a:t>Ask: "What second-order effects must be checked?"</a:t>
            </a:r>
          </a:p>
          <a:p>
            <a:endParaRPr dirty="0"/>
          </a:p>
          <a:p>
            <a:r>
              <a:rPr dirty="0"/>
              <a:t>Image Prompt:</a:t>
            </a:r>
          </a:p>
          <a:p>
            <a:r>
              <a:rPr dirty="0"/>
              <a:t>A staging database with a nearby quick restore export. Both the live staging data and quick restore copy are removed, while distant backup is shown as slow or unavailable.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"Deception succeeds when the adversary chooses wrong for a believable reason."</a:t>
            </a:r>
          </a:p>
          <a:p>
            <a:r>
              <a:t>"Scenario: an analyst dashboard ranks targets from a backend priority table."</a:t>
            </a:r>
          </a:p>
          <a:p>
            <a:r>
              <a:t>"Priority fields drive what operators investigate first."</a:t>
            </a:r>
          </a:p>
          <a:p>
            <a:r>
              <a:t>"Action: insert or alter a believable record so the wrong target rises in the queue."</a:t>
            </a:r>
          </a:p>
          <a:p>
            <a:r>
              <a:t>"The goal is mis-prioritization, not outage."</a:t>
            </a:r>
          </a:p>
          <a:p>
            <a:r>
              <a:t>"Check the data model before writing anything."</a:t>
            </a:r>
          </a:p>
          <a:p>
            <a:r>
              <a:t>"Evidence is the poisoned record plus changed analyst focus."</a:t>
            </a:r>
          </a:p>
          <a:p>
            <a:endParaRPr/>
          </a:p>
          <a:p>
            <a:r>
              <a:t>Show:</a:t>
            </a:r>
          </a:p>
          <a:p>
            <a:r>
              <a:t>Point to the priority record.</a:t>
            </a:r>
          </a:p>
          <a:p>
            <a:r>
              <a:t>Point to the dashboard queue.</a:t>
            </a:r>
          </a:p>
          <a:p>
            <a:r>
              <a:t>Point to the wrong high-priority target.</a:t>
            </a:r>
          </a:p>
          <a:p>
            <a:endParaRPr/>
          </a:p>
          <a:p>
            <a:r>
              <a:t>Do:</a:t>
            </a:r>
          </a:p>
          <a:p>
            <a:r>
              <a:t>Ask: "What makes a false priority believable?"</a:t>
            </a:r>
          </a:p>
          <a:p>
            <a:r>
              <a:t>Steer toward field consistency, timing, and existing patterns.</a:t>
            </a:r>
          </a:p>
          <a:p>
            <a:endParaRPr/>
          </a:p>
          <a:p>
            <a:r>
              <a:t>Image Prompt:</a:t>
            </a:r>
          </a:p>
          <a:p>
            <a:r>
              <a:t>A decision-cycle graphic where a target-priority table feeds an analyst dashboard. One inserted or changed priority record moves a low-value target into a high-priority lane, and the analyst queue follows the false priority.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Say:</a:t>
            </a:r>
          </a:p>
          <a:p>
            <a:r>
              <a:rPr dirty="0"/>
              <a:t>"This example manipulates the adversary's sense of sequence."</a:t>
            </a:r>
          </a:p>
          <a:p>
            <a:r>
              <a:rPr dirty="0"/>
              <a:t>"Scenario: analysts review documents, screenshots, or logs to reconstruct activity."</a:t>
            </a:r>
          </a:p>
          <a:p>
            <a:r>
              <a:rPr dirty="0"/>
              <a:t>"They trust artifacts that match normal naming, timing, and metadata."</a:t>
            </a:r>
          </a:p>
          <a:p>
            <a:r>
              <a:rPr dirty="0"/>
              <a:t>"Action: place a false timeline artifact in a location they already use."</a:t>
            </a:r>
          </a:p>
          <a:p>
            <a:r>
              <a:rPr dirty="0"/>
              <a:t>"The artifact must fit the environment around it."</a:t>
            </a:r>
          </a:p>
          <a:p>
            <a:r>
              <a:rPr dirty="0"/>
              <a:t>"If it looks staged, it fails."</a:t>
            </a:r>
          </a:p>
          <a:p>
            <a:r>
              <a:rPr dirty="0"/>
              <a:t>"Evidence is decoy review, mention, or follow-on action."</a:t>
            </a:r>
          </a:p>
          <a:p>
            <a:endParaRPr dirty="0"/>
          </a:p>
          <a:p>
            <a:r>
              <a:rPr dirty="0"/>
              <a:t>Show:</a:t>
            </a:r>
          </a:p>
          <a:p>
            <a:r>
              <a:rPr dirty="0"/>
              <a:t>Point to authentic timeline entries.</a:t>
            </a:r>
          </a:p>
          <a:p>
            <a:r>
              <a:rPr dirty="0"/>
              <a:t>Point to the planted artifact.</a:t>
            </a:r>
          </a:p>
          <a:p>
            <a:r>
              <a:rPr dirty="0"/>
              <a:t>Point to the wrong conclusion.</a:t>
            </a:r>
          </a:p>
          <a:p>
            <a:endParaRPr dirty="0"/>
          </a:p>
          <a:p>
            <a:r>
              <a:rPr dirty="0"/>
              <a:t>Do:</a:t>
            </a:r>
          </a:p>
          <a:p>
            <a:r>
              <a:rPr dirty="0"/>
              <a:t>Ask: "What would make this artifact stand out as fake?"</a:t>
            </a:r>
          </a:p>
          <a:p>
            <a:r>
              <a:rPr dirty="0"/>
              <a:t>Take two answers.</a:t>
            </a:r>
          </a:p>
          <a:p>
            <a:endParaRPr dirty="0"/>
          </a:p>
          <a:p>
            <a:r>
              <a:rPr dirty="0"/>
              <a:t>Image Prompt:</a:t>
            </a:r>
          </a:p>
          <a:p>
            <a:r>
              <a:rPr dirty="0"/>
              <a:t>A timeline view with authentic log entries and one planted artifact that shifts the apparent sequence of activity. Analyst attention follows the false timeline toward the wrong conclusion.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"Reconnoiter is an effect when it answers a mission gap."</a:t>
            </a:r>
          </a:p>
          <a:p>
            <a:r>
              <a:t>"Scenario: the team has access but does not know how collection actually flows."</a:t>
            </a:r>
          </a:p>
          <a:p>
            <a:r>
              <a:t>"The pipeline may include feeders, parser jobs, staging storage, and reporting relays."</a:t>
            </a:r>
          </a:p>
          <a:p>
            <a:r>
              <a:t>"Action: enumerate services, schedules, configs, data paths, and process state."</a:t>
            </a:r>
          </a:p>
          <a:p>
            <a:r>
              <a:t>"The result should support COA comparison."</a:t>
            </a:r>
          </a:p>
          <a:p>
            <a:r>
              <a:t>"Use read-only, low-noise collection first."</a:t>
            </a:r>
          </a:p>
          <a:p>
            <a:r>
              <a:t>"Evidence is a pipeline map tied to real artifacts."</a:t>
            </a:r>
          </a:p>
          <a:p>
            <a:endParaRPr/>
          </a:p>
          <a:p>
            <a:r>
              <a:t>Show:</a:t>
            </a:r>
          </a:p>
          <a:p>
            <a:r>
              <a:t>Build the map layer by layer.</a:t>
            </a:r>
          </a:p>
          <a:p>
            <a:r>
              <a:t>Point to newly discovered dependencies.</a:t>
            </a:r>
          </a:p>
          <a:p>
            <a:r>
              <a:t>Point to the likely choke point.</a:t>
            </a:r>
          </a:p>
          <a:p>
            <a:endParaRPr/>
          </a:p>
          <a:p>
            <a:r>
              <a:t>Do:</a:t>
            </a:r>
          </a:p>
          <a:p>
            <a:r>
              <a:t>Ask: "What fact would change your next COA?"</a:t>
            </a:r>
          </a:p>
          <a:p>
            <a:r>
              <a:t>Take one or two answers.</a:t>
            </a:r>
          </a:p>
          <a:p>
            <a:endParaRPr/>
          </a:p>
          <a:p>
            <a:r>
              <a:t>Image Prompt:</a:t>
            </a:r>
          </a:p>
          <a:p>
            <a:r>
              <a:t>A layered pipeline map that starts blank, then adds hosts, services, schedules, data paths, and choke points until the collection workflow is clear enough for planning.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"This recon example is about timing."</a:t>
            </a:r>
          </a:p>
          <a:p>
            <a:r>
              <a:t>"Scenario: stronger effects depend on when adversary operators are active or absent."</a:t>
            </a:r>
          </a:p>
          <a:p>
            <a:r>
              <a:t>"Logs may show login patterns, dashboard touches, task edits, or review cycles."</a:t>
            </a:r>
          </a:p>
          <a:p>
            <a:r>
              <a:t>"Action: compare multiple time sources to establish operator cadence."</a:t>
            </a:r>
          </a:p>
          <a:p>
            <a:r>
              <a:t>"Do not trust one timestamp without checking time basis."</a:t>
            </a:r>
          </a:p>
          <a:p>
            <a:r>
              <a:t>"Separate human activity from automation."</a:t>
            </a:r>
          </a:p>
          <a:p>
            <a:r>
              <a:t>"Evidence is a cadence pattern that changes when you act."</a:t>
            </a:r>
          </a:p>
          <a:p>
            <a:endParaRPr/>
          </a:p>
          <a:p>
            <a:r>
              <a:t>Show:</a:t>
            </a:r>
          </a:p>
          <a:p>
            <a:r>
              <a:t>Point to active periods.</a:t>
            </a:r>
          </a:p>
          <a:p>
            <a:r>
              <a:t>Point to quiet periods.</a:t>
            </a:r>
          </a:p>
          <a:p>
            <a:r>
              <a:t>Point to the proposed action window.</a:t>
            </a:r>
          </a:p>
          <a:p>
            <a:endParaRPr/>
          </a:p>
          <a:p>
            <a:r>
              <a:t>Do:</a:t>
            </a:r>
          </a:p>
          <a:p>
            <a:r>
              <a:t>Ask: "Why is timezone or clock drift a mission issue here?"</a:t>
            </a:r>
          </a:p>
          <a:p>
            <a:r>
              <a:t>Ask: "What source would corroborate operator activity?"</a:t>
            </a:r>
          </a:p>
          <a:p>
            <a:endParaRPr/>
          </a:p>
          <a:p>
            <a:r>
              <a:t>Image Prompt:</a:t>
            </a:r>
          </a:p>
          <a:p>
            <a:r>
              <a:t>A time-series graphic showing operator logins, dashboard use, job runs, and quiet periods. A highlighted action window appears where adversary attention is predictably low.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Say:</a:t>
            </a:r>
          </a:p>
          <a:p>
            <a:r>
              <a:rPr dirty="0"/>
              <a:t>"Interdict is pathway language."</a:t>
            </a:r>
          </a:p>
          <a:p>
            <a:r>
              <a:rPr dirty="0"/>
              <a:t>"Scenario: collected data reaches analysts through a named reporting destination."</a:t>
            </a:r>
          </a:p>
          <a:p>
            <a:r>
              <a:rPr dirty="0"/>
              <a:t>"The destination depends on DNS, proxy, or route resolution."</a:t>
            </a:r>
          </a:p>
          <a:p>
            <a:r>
              <a:rPr dirty="0"/>
              <a:t>"Action: sinkhole or redirect that destination so reporting never reaches the analyst node."</a:t>
            </a:r>
          </a:p>
          <a:p>
            <a:r>
              <a:rPr dirty="0"/>
              <a:t>"The endpoint tool may still run."</a:t>
            </a:r>
          </a:p>
          <a:p>
            <a:r>
              <a:rPr dirty="0"/>
              <a:t>"The path no longer delivers useful movement."</a:t>
            </a:r>
          </a:p>
          <a:p>
            <a:r>
              <a:rPr dirty="0"/>
              <a:t>"Evidence is sinkhole traffic or failed delivery before the analyst node."</a:t>
            </a:r>
          </a:p>
          <a:p>
            <a:endParaRPr dirty="0"/>
          </a:p>
          <a:p>
            <a:r>
              <a:rPr dirty="0"/>
              <a:t>Show:</a:t>
            </a:r>
          </a:p>
          <a:p>
            <a:r>
              <a:rPr dirty="0"/>
              <a:t>Trace normal reporting path.</a:t>
            </a:r>
          </a:p>
          <a:p>
            <a:r>
              <a:rPr dirty="0"/>
              <a:t>Point to the sinkhole point.</a:t>
            </a:r>
          </a:p>
          <a:p>
            <a:r>
              <a:rPr dirty="0"/>
              <a:t>Point to alternate-route checks.</a:t>
            </a:r>
          </a:p>
          <a:p>
            <a:endParaRPr dirty="0"/>
          </a:p>
          <a:p>
            <a:r>
              <a:rPr dirty="0"/>
              <a:t>Do:</a:t>
            </a:r>
          </a:p>
          <a:p>
            <a:r>
              <a:rPr dirty="0"/>
              <a:t>Ask: "Why is this interdict instead of local denial?"</a:t>
            </a:r>
          </a:p>
          <a:p>
            <a:r>
              <a:rPr dirty="0"/>
              <a:t>Make students answer in pathway terms.</a:t>
            </a:r>
          </a:p>
          <a:p>
            <a:endParaRPr dirty="0"/>
          </a:p>
          <a:p>
            <a:r>
              <a:rPr dirty="0"/>
              <a:t>Image Prompt:</a:t>
            </a:r>
          </a:p>
          <a:p>
            <a:r>
              <a:rPr dirty="0"/>
              <a:t>A reporting route map where traffic normally moves from collection nodes through a relay to an analyst destination. The route is redirected to a sinkhole, with alternate routes shown as checks.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Say:</a:t>
            </a:r>
          </a:p>
          <a:p>
            <a:r>
              <a:rPr dirty="0"/>
              <a:t>"This interdicts the handoff point."</a:t>
            </a:r>
          </a:p>
          <a:p>
            <a:r>
              <a:rPr dirty="0"/>
              <a:t>"Scenario: one stage drops data into a queue, share, or API endpoint."</a:t>
            </a:r>
          </a:p>
          <a:p>
            <a:r>
              <a:rPr dirty="0"/>
              <a:t>"A downstream stage reads from that handoff point and continues processing."</a:t>
            </a:r>
          </a:p>
          <a:p>
            <a:r>
              <a:rPr dirty="0"/>
              <a:t>"Action: remove or narrow access so the downstream stage cannot receive the handoff."</a:t>
            </a:r>
          </a:p>
          <a:p>
            <a:r>
              <a:rPr dirty="0"/>
              <a:t>"Upstream collection may still run."</a:t>
            </a:r>
          </a:p>
          <a:p>
            <a:r>
              <a:rPr dirty="0"/>
              <a:t>"The pathway between stages is cut."</a:t>
            </a:r>
          </a:p>
          <a:p>
            <a:r>
              <a:rPr dirty="0"/>
              <a:t>"Evidence is stalled queue growth and downstream starvation."</a:t>
            </a:r>
          </a:p>
          <a:p>
            <a:endParaRPr dirty="0"/>
          </a:p>
          <a:p>
            <a:r>
              <a:rPr dirty="0"/>
              <a:t>Show:</a:t>
            </a:r>
          </a:p>
          <a:p>
            <a:r>
              <a:rPr dirty="0"/>
              <a:t>Point to upstream collection.</a:t>
            </a:r>
          </a:p>
          <a:p>
            <a:r>
              <a:rPr dirty="0"/>
              <a:t>Point to the handoff queue.</a:t>
            </a:r>
          </a:p>
          <a:p>
            <a:r>
              <a:rPr dirty="0"/>
              <a:t>Point to isolated downstream stage.</a:t>
            </a:r>
          </a:p>
          <a:p>
            <a:endParaRPr dirty="0"/>
          </a:p>
          <a:p>
            <a:r>
              <a:rPr dirty="0"/>
              <a:t>Do:</a:t>
            </a:r>
          </a:p>
          <a:p>
            <a:r>
              <a:rPr dirty="0"/>
              <a:t>Ask: "What must students prove before changing permissions?"</a:t>
            </a:r>
          </a:p>
          <a:p>
            <a:r>
              <a:rPr dirty="0"/>
              <a:t>Ask: "What would show endpoint failure instead of pathway interdiction?"</a:t>
            </a:r>
          </a:p>
          <a:p>
            <a:endParaRPr dirty="0"/>
          </a:p>
          <a:p>
            <a:r>
              <a:rPr dirty="0"/>
              <a:t>Image Prompt:</a:t>
            </a:r>
          </a:p>
          <a:p>
            <a:r>
              <a:rPr dirty="0"/>
              <a:t>A workflow diagram with collection, queue, parser, and analyst stages. Permissions are removed between the queue and parser, so upstream data piles up while downstream processing starves.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"Handoff's outcome is partner reach."</a:t>
            </a:r>
          </a:p>
          <a:p>
            <a:r>
              <a:t>"Scenario: your team has tactical access that another team needs to continue the mission."</a:t>
            </a:r>
          </a:p>
          <a:p>
            <a:r>
              <a:t>"The partner cannot afford to rediscover the environment."</a:t>
            </a:r>
          </a:p>
          <a:p>
            <a:r>
              <a:t>"Action: deliver a concise access package with connection method, credential, host context, limits, and risk notes."</a:t>
            </a:r>
          </a:p>
          <a:p>
            <a:r>
              <a:t>"The package must be usable in the first few minutes."</a:t>
            </a:r>
          </a:p>
          <a:p>
            <a:r>
              <a:t>"Include what not to touch."</a:t>
            </a:r>
          </a:p>
          <a:p>
            <a:r>
              <a:t>"Evidence is the partner connecting and orienting from your report."</a:t>
            </a:r>
          </a:p>
          <a:p>
            <a:endParaRPr/>
          </a:p>
          <a:p>
            <a:r>
              <a:t>Show:</a:t>
            </a:r>
          </a:p>
          <a:p>
            <a:r>
              <a:t>Walk the package fields.</a:t>
            </a:r>
          </a:p>
          <a:p>
            <a:r>
              <a:t>Point to first-five-minutes usability.</a:t>
            </a:r>
          </a:p>
          <a:p>
            <a:r>
              <a:t>Point to risk notes.</a:t>
            </a:r>
          </a:p>
          <a:p>
            <a:endParaRPr/>
          </a:p>
          <a:p>
            <a:r>
              <a:t>Do:</a:t>
            </a:r>
          </a:p>
          <a:p>
            <a:r>
              <a:t>Ask: "What would make this package unusable?"</a:t>
            </a:r>
          </a:p>
          <a:p>
            <a:r>
              <a:t>Build a short list live.</a:t>
            </a:r>
          </a:p>
          <a:p>
            <a:endParaRPr/>
          </a:p>
          <a:p>
            <a:r>
              <a:t>Image Prompt:</a:t>
            </a:r>
          </a:p>
          <a:p>
            <a:r>
              <a:t>A handoff package with access path, credential, host context, risk notes, and recommended next objective. The partner team uses the package to connect without rediscovering the environment.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"This handoff is more than reporting access."</a:t>
            </a:r>
          </a:p>
          <a:p>
            <a:r>
              <a:t>"Scenario: a partner-approved capability must be placed or validated on the right node."</a:t>
            </a:r>
          </a:p>
          <a:p>
            <a:r>
              <a:t>"The partner needs confidence that it works and will still be there when they take over."</a:t>
            </a:r>
          </a:p>
          <a:p>
            <a:r>
              <a:t>"Action: validate placement, access method, persistence behavior, and operating notes."</a:t>
            </a:r>
          </a:p>
          <a:p>
            <a:r>
              <a:t>"Do not improvise unapproved tools."</a:t>
            </a:r>
          </a:p>
          <a:p>
            <a:r>
              <a:t>"Training and limits are part of the handoff."</a:t>
            </a:r>
          </a:p>
          <a:p>
            <a:r>
              <a:t>"Evidence is the partner operating from your notes without rediscovery."</a:t>
            </a:r>
          </a:p>
          <a:p>
            <a:endParaRPr/>
          </a:p>
          <a:p>
            <a:r>
              <a:t>Show:</a:t>
            </a:r>
          </a:p>
          <a:p>
            <a:r>
              <a:t>Point to the placement node.</a:t>
            </a:r>
          </a:p>
          <a:p>
            <a:r>
              <a:t>Point to persistence checks.</a:t>
            </a:r>
          </a:p>
          <a:p>
            <a:r>
              <a:t>Point to partner operating notes.</a:t>
            </a:r>
          </a:p>
          <a:p>
            <a:endParaRPr/>
          </a:p>
          <a:p>
            <a:r>
              <a:t>Do:</a:t>
            </a:r>
          </a:p>
          <a:p>
            <a:r>
              <a:t>Ask: "What must be validated before the partner accepts this?"</a:t>
            </a:r>
          </a:p>
          <a:p>
            <a:r>
              <a:t>Ask: "What would burn the handoff?"</a:t>
            </a:r>
          </a:p>
          <a:p>
            <a:endParaRPr/>
          </a:p>
          <a:p>
            <a:r>
              <a:t>Image Prompt:</a:t>
            </a:r>
          </a:p>
          <a:p>
            <a:r>
              <a:t>A partner-approved capability staged on the correct node with validation checks for placement, persistence, access method, and receiving-team operation.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"This is how you justify the effect."</a:t>
            </a:r>
          </a:p>
          <a:p>
            <a:r>
              <a:t>"D4M and interdict often attack CG as capability or pathway."</a:t>
            </a:r>
          </a:p>
          <a:p>
            <a:r>
              <a:t>"Deceive and manipulate attack decision cycle and EMLCOA."</a:t>
            </a:r>
          </a:p>
          <a:p>
            <a:r>
              <a:t>"Reconnoiter closes intelligence gaps and refines the next COA."</a:t>
            </a:r>
          </a:p>
          <a:p>
            <a:r>
              <a:t>"Handoff converts tactical success into operational reach."</a:t>
            </a:r>
          </a:p>
          <a:p>
            <a:r>
              <a:t>"Your answer to the commander should sound like Week 1 planning."</a:t>
            </a:r>
          </a:p>
          <a:p>
            <a:r>
              <a:t>"Every effect decision is a planning decision."</a:t>
            </a:r>
          </a:p>
          <a:p>
            <a:endParaRPr/>
          </a:p>
          <a:p>
            <a:r>
              <a:t>Show:</a:t>
            </a:r>
          </a:p>
          <a:p>
            <a:r>
              <a:t>Walk the four lanes left to right.</a:t>
            </a:r>
          </a:p>
          <a:p>
            <a:r>
              <a:t>Tie each effect family to its Week 1 product.</a:t>
            </a:r>
          </a:p>
          <a:p>
            <a:endParaRPr/>
          </a:p>
          <a:p>
            <a:r>
              <a:t>Do:</a:t>
            </a:r>
          </a:p>
          <a:p>
            <a:r>
              <a:t>Return to the APT example from Slide 1.</a:t>
            </a:r>
          </a:p>
          <a:p>
            <a:r>
              <a:t>Assign one effect family to each student pair.</a:t>
            </a:r>
          </a:p>
          <a:p>
            <a:r>
              <a:t>Give two minutes for Week 1 justification.</a:t>
            </a:r>
          </a:p>
          <a:p>
            <a:r>
              <a:t>Take one example back.</a:t>
            </a:r>
          </a:p>
          <a:p>
            <a:endParaRPr/>
          </a:p>
          <a:p>
            <a:r>
              <a:t>Image Prompt:</a:t>
            </a:r>
          </a:p>
          <a:p>
            <a:r>
              <a:t>A four-lane mapping graphic. Left lane labeled "Effect language" with the doctrinal verbs from Slide 3. Middle lane labeled "Attacks" (CG / Decision cycle / Intel gap / Reach). Right lane labeled "Week 1 Product" (SOM counter-CG, counter-EMLCOA, new RFI set, partner tipper).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"This course does not teach random hacking."</a:t>
            </a:r>
          </a:p>
          <a:p>
            <a:r>
              <a:t>"It trains command-directed effects operations."</a:t>
            </a:r>
          </a:p>
          <a:p>
            <a:r>
              <a:t>"Access is only one condition for action."</a:t>
            </a:r>
          </a:p>
          <a:p>
            <a:r>
              <a:t>"Reachability is not permission to start typing."</a:t>
            </a:r>
          </a:p>
          <a:p>
            <a:r>
              <a:t>"First: restate mission, desired effect, candidate actions, adversary response, team coordination, and success evidence."</a:t>
            </a:r>
          </a:p>
          <a:p>
            <a:r>
              <a:t>"Then: execute."</a:t>
            </a:r>
          </a:p>
          <a:p>
            <a:r>
              <a:t>"This is the bridge to the Week 1 tactical decision-making process."</a:t>
            </a:r>
          </a:p>
          <a:p>
            <a:endParaRPr/>
          </a:p>
          <a:p>
            <a:r>
              <a:t>Show:</a:t>
            </a:r>
          </a:p>
          <a:p>
            <a:r>
              <a:t>Point to "Mission Intent."</a:t>
            </a:r>
          </a:p>
          <a:p>
            <a:r>
              <a:t>Point to "COA Thinking."</a:t>
            </a:r>
          </a:p>
          <a:p>
            <a:r>
              <a:t>Point to "Disciplined Execution."</a:t>
            </a:r>
          </a:p>
          <a:p>
            <a:r>
              <a:t>Emphasize thinking before execution.</a:t>
            </a:r>
          </a:p>
          <a:p>
            <a:endParaRPr/>
          </a:p>
          <a:p>
            <a:r>
              <a:t>Do:</a:t>
            </a:r>
          </a:p>
          <a:p>
            <a:r>
              <a:t>Ask: "What is the risk of hacking first and planning afterward?"</a:t>
            </a:r>
          </a:p>
          <a:p>
            <a:r>
              <a:t>Take two answers.</a:t>
            </a:r>
          </a:p>
          <a:p>
            <a:r>
              <a:t>Steer toward wrong effect, burned access, poor deconfliction, and unusable reporting.</a:t>
            </a:r>
          </a:p>
          <a:p>
            <a:endParaRPr/>
          </a:p>
          <a:p>
            <a:r>
              <a:t>Image Prompt:</a:t>
            </a:r>
          </a:p>
          <a:p>
            <a:r>
              <a:t>A professional operations graphic with four linked blocks: "Mission Intent," "COA Thinking," "Disciplined Execution," and "Assessment / Report." Underneath, a short caption: "Do not outrun the tactical decision-making process."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"Apply Week 1 discipline to every keyboard action."</a:t>
            </a:r>
          </a:p>
          <a:p>
            <a:r>
              <a:t>"First: define mission and desired effect."</a:t>
            </a:r>
          </a:p>
          <a:p>
            <a:r>
              <a:t>"Then: build and compare COAs."</a:t>
            </a:r>
          </a:p>
          <a:p>
            <a:r>
              <a:t>"Include likely adversary response."</a:t>
            </a:r>
          </a:p>
          <a:p>
            <a:r>
              <a:t>"Select and coordinate one COA."</a:t>
            </a:r>
          </a:p>
          <a:p>
            <a:r>
              <a:t>"Execute, assess intended versus observed effect, and report in commander language."</a:t>
            </a:r>
          </a:p>
          <a:p>
            <a:r>
              <a:t>"The technical command is the last step, not the first."</a:t>
            </a:r>
          </a:p>
          <a:p>
            <a:endParaRPr/>
          </a:p>
          <a:p>
            <a:r>
              <a:t>Show:</a:t>
            </a:r>
          </a:p>
          <a:p>
            <a:r>
              <a:t>Walk the planning loop clockwise.</a:t>
            </a:r>
          </a:p>
          <a:p>
            <a:r>
              <a:t>Tie each node to Week 1 products.</a:t>
            </a:r>
          </a:p>
          <a:p>
            <a:endParaRPr/>
          </a:p>
          <a:p>
            <a:r>
              <a:t>Do:</a:t>
            </a:r>
          </a:p>
          <a:p>
            <a:r>
              <a:t>Scenario: "Task: deny adversary collection for one reporting period."</a:t>
            </a:r>
          </a:p>
          <a:p>
            <a:r>
              <a:t>Students verbalize mission analysis, candidate COA, anticipated adversary response, and assessment criterion.</a:t>
            </a:r>
          </a:p>
          <a:p>
            <a:endParaRPr/>
          </a:p>
          <a:p>
            <a:r>
              <a:t>Image Prompt:</a:t>
            </a:r>
          </a:p>
          <a:p>
            <a:r>
              <a:t>A planning loop diagram with five nodes: "Mission Analysis," "COA Development," "Wargame/EMLCOA Check," "Decision/Execution," and "Assessment/Report." Add small callouts showing where CG/CV and EMLCOA from Week 1 are used.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"Two labs today."</a:t>
            </a:r>
          </a:p>
          <a:p>
            <a:r>
              <a:t>"Same operational problem set."</a:t>
            </a:r>
          </a:p>
          <a:p>
            <a:r>
              <a:t>"Different effects."</a:t>
            </a:r>
          </a:p>
          <a:p>
            <a:r>
              <a:t>"L4.1a: collection-focused; choose degrade, disrupt, or deny where reversible paths are preferred."</a:t>
            </a:r>
          </a:p>
          <a:p>
            <a:r>
              <a:t>"L4.1b: decision-cycle-focused; deceive or manipulate without producing an outage."</a:t>
            </a:r>
          </a:p>
          <a:p>
            <a:r>
              <a:t>"Each lab produces a short effect report: effect, action, observed result, risk assessment."</a:t>
            </a:r>
          </a:p>
          <a:p>
            <a:r>
              <a:t>"Platform details live in the student briefs."</a:t>
            </a:r>
          </a:p>
          <a:p>
            <a:endParaRPr/>
          </a:p>
          <a:p>
            <a:r>
              <a:t>Show:</a:t>
            </a:r>
          </a:p>
          <a:p>
            <a:r>
              <a:t>Show the generic operation flow.</a:t>
            </a:r>
          </a:p>
          <a:p>
            <a:r>
              <a:t>Keep attention on access, workflow, and reporting.</a:t>
            </a:r>
          </a:p>
          <a:p>
            <a:endParaRPr/>
          </a:p>
          <a:p>
            <a:r>
              <a:t>Do:</a:t>
            </a:r>
          </a:p>
          <a:p>
            <a:r>
              <a:t>Hand out the L4.1a student brief.</a:t>
            </a:r>
          </a:p>
          <a:p>
            <a:r>
              <a:t>Remind students the brief is the authority document.</a:t>
            </a:r>
          </a:p>
          <a:p>
            <a:r>
              <a:t>Break for 15 minutes, then begin the lab.</a:t>
            </a:r>
          </a:p>
          <a:p>
            <a:endParaRPr/>
          </a:p>
          <a:p>
            <a:r>
              <a:t>Image Prompt:</a:t>
            </a:r>
          </a:p>
          <a:p>
            <a:r>
              <a:t>A generic operation flow diagram with three boxes: "Your Access Position," "Adversary Collection Workflow," and "Effect Reporting." Do not include platform or infrastructure implementation details.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"Five lines."</a:t>
            </a:r>
          </a:p>
          <a:p>
            <a:r>
              <a:t>"Effect, action, predicted response, observed result, risk reassessment."</a:t>
            </a:r>
          </a:p>
          <a:p>
            <a:r>
              <a:t>"That is your report."</a:t>
            </a:r>
          </a:p>
          <a:p>
            <a:r>
              <a:t>"It is short on purpose; commanders read five lines."</a:t>
            </a:r>
          </a:p>
          <a:p>
            <a:r>
              <a:t>"First three lines happen before keyboard action."</a:t>
            </a:r>
          </a:p>
          <a:p>
            <a:r>
              <a:t>"Last two lines prove whether the intended effect occurred and whether risk changed."</a:t>
            </a:r>
          </a:p>
          <a:p>
            <a:r>
              <a:t>"If the action cannot survive five-line reporting, reconsider it."</a:t>
            </a:r>
          </a:p>
          <a:p>
            <a:endParaRPr/>
          </a:p>
          <a:p>
            <a:r>
              <a:t>Show:</a:t>
            </a:r>
          </a:p>
          <a:p>
            <a:r>
              <a:t>Show the five-line cadence verbatim.</a:t>
            </a:r>
          </a:p>
          <a:p>
            <a:endParaRPr/>
          </a:p>
          <a:p>
            <a:r>
              <a:t>Do:</a:t>
            </a:r>
          </a:p>
          <a:p>
            <a:r>
              <a:t>Students write the blank template in their notebook.</a:t>
            </a:r>
          </a:p>
          <a:p>
            <a:r>
              <a:t>They fill it in twice today and twice tomorrow.</a:t>
            </a:r>
          </a:p>
          <a:p>
            <a:r>
              <a:t>Release to L4.1a.</a:t>
            </a:r>
          </a:p>
          <a:p>
            <a:endParaRPr/>
          </a:p>
          <a:p>
            <a:r>
              <a:t>Image Prompt:</a:t>
            </a:r>
          </a:p>
          <a:p>
            <a:r>
              <a:t>No image required for this slide.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>
            <a:spLocks noGrp="1"/>
          </p:cNvSpPr>
          <p:nvPr>
            <p:ph type="ctrTitle" hasCustomPrompt="1"/>
          </p:nvPr>
        </p:nvSpPr>
        <p:spPr>
          <a:xfrm>
            <a:off x="2062480" y="89884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Lesson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3533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Lesson Objective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body" idx="1" hasCustomPrompt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dirty="0"/>
              <a:t>ELOs and the TLOs they support</a:t>
            </a:r>
            <a:endParaRPr dirty="0"/>
          </a:p>
        </p:txBody>
      </p:sp>
      <p:sp>
        <p:nvSpPr>
          <p:cNvPr id="21" name="Google Shape;21;p14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;p14"/>
          <p:cNvSpPr txBox="1">
            <a:spLocks noGrp="1"/>
          </p:cNvSpPr>
          <p:nvPr>
            <p:ph type="title" hasCustomPrompt="1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Lesson Objectives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770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Lesson Overview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body" idx="1" hasCustomPrompt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dirty="0"/>
              <a:t>Brief Explanation of Lesson</a:t>
            </a:r>
            <a:endParaRPr dirty="0"/>
          </a:p>
        </p:txBody>
      </p:sp>
      <p:sp>
        <p:nvSpPr>
          <p:cNvPr id="21" name="Google Shape;21;p14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;p14"/>
          <p:cNvSpPr txBox="1">
            <a:spLocks noGrp="1"/>
          </p:cNvSpPr>
          <p:nvPr>
            <p:ph type="title" hasCustomPrompt="1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Lesson Overview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015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1723854" y="549275"/>
            <a:ext cx="9963493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1723854" y="3429000"/>
            <a:ext cx="9963493" cy="2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sz="13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1248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body" idx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21" name="Google Shape;21;p14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;p14"/>
          <p:cNvSpPr txBox="1">
            <a:spLocks noGrp="1"/>
          </p:cNvSpPr>
          <p:nvPr>
            <p:ph type="title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749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 userDrawn="1">
  <p:cSld name="Comparis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body" idx="1"/>
          </p:nvPr>
        </p:nvSpPr>
        <p:spPr>
          <a:xfrm>
            <a:off x="1141622" y="1000540"/>
            <a:ext cx="4874101" cy="4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67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3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2" hasCustomPrompt="1"/>
          </p:nvPr>
        </p:nvSpPr>
        <p:spPr>
          <a:xfrm>
            <a:off x="1141621" y="1582321"/>
            <a:ext cx="4854344" cy="4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Text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Text</a:t>
            </a:r>
          </a:p>
          <a:p>
            <a:pPr lvl="3"/>
            <a:r>
              <a:rPr lang="en-US" dirty="0"/>
              <a:t>Text</a:t>
            </a:r>
          </a:p>
          <a:p>
            <a:pPr lvl="4"/>
            <a:r>
              <a:rPr lang="en-US" dirty="0"/>
              <a:t>Text</a:t>
            </a:r>
          </a:p>
          <a:p>
            <a:pPr lvl="5"/>
            <a:r>
              <a:rPr lang="en-US" dirty="0"/>
              <a:t>Text</a:t>
            </a:r>
          </a:p>
          <a:p>
            <a:pPr lvl="6"/>
            <a:r>
              <a:rPr lang="en-US" dirty="0"/>
              <a:t>Text</a:t>
            </a:r>
          </a:p>
          <a:p>
            <a:pPr lvl="7"/>
            <a:r>
              <a:rPr lang="en-US" dirty="0"/>
              <a:t>Text</a:t>
            </a:r>
          </a:p>
          <a:p>
            <a:pPr lvl="0"/>
            <a:endParaRPr dirty="0"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3"/>
          </p:nvPr>
        </p:nvSpPr>
        <p:spPr>
          <a:xfrm>
            <a:off x="6195272" y="1000540"/>
            <a:ext cx="5603200" cy="4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67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3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4" hasCustomPrompt="1"/>
          </p:nvPr>
        </p:nvSpPr>
        <p:spPr>
          <a:xfrm>
            <a:off x="6199877" y="1582323"/>
            <a:ext cx="5598400" cy="4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Text</a:t>
            </a:r>
          </a:p>
          <a:p>
            <a:pPr lvl="3"/>
            <a:r>
              <a:rPr lang="en-US" dirty="0"/>
              <a:t>Text</a:t>
            </a:r>
          </a:p>
          <a:p>
            <a:pPr lvl="4"/>
            <a:r>
              <a:rPr lang="en-US" dirty="0"/>
              <a:t>Text</a:t>
            </a:r>
          </a:p>
          <a:p>
            <a:pPr lvl="5"/>
            <a:r>
              <a:rPr lang="en-US" dirty="0"/>
              <a:t>Text</a:t>
            </a:r>
          </a:p>
          <a:p>
            <a:pPr lvl="6"/>
            <a:r>
              <a:rPr lang="en-US" dirty="0"/>
              <a:t>Text</a:t>
            </a:r>
          </a:p>
          <a:p>
            <a:pPr lvl="7"/>
            <a:r>
              <a:rPr lang="en-US" dirty="0"/>
              <a:t>Text</a:t>
            </a:r>
          </a:p>
          <a:p>
            <a:pPr lvl="0"/>
            <a:endParaRPr dirty="0"/>
          </a:p>
        </p:txBody>
      </p:sp>
      <p:cxnSp>
        <p:nvCxnSpPr>
          <p:cNvPr id="38" name="Google Shape;38;p17"/>
          <p:cNvCxnSpPr>
            <a:cxnSpLocks/>
          </p:cNvCxnSpPr>
          <p:nvPr/>
        </p:nvCxnSpPr>
        <p:spPr>
          <a:xfrm>
            <a:off x="1141622" y="974035"/>
            <a:ext cx="1083024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17"/>
          <p:cNvCxnSpPr/>
          <p:nvPr/>
        </p:nvCxnSpPr>
        <p:spPr>
          <a:xfrm>
            <a:off x="6095137" y="974035"/>
            <a:ext cx="800" cy="53824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17"/>
          <p:cNvCxnSpPr>
            <a:cxnSpLocks/>
          </p:cNvCxnSpPr>
          <p:nvPr/>
        </p:nvCxnSpPr>
        <p:spPr>
          <a:xfrm>
            <a:off x="1141621" y="1504121"/>
            <a:ext cx="1083024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" name="Google Shape;19;p14"/>
          <p:cNvSpPr txBox="1">
            <a:spLocks noGrp="1"/>
          </p:cNvSpPr>
          <p:nvPr>
            <p:ph type="title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885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title"/>
          </p:nvPr>
        </p:nvSpPr>
        <p:spPr>
          <a:xfrm>
            <a:off x="1363363" y="952052"/>
            <a:ext cx="3098248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1" hasCustomPrompt="1"/>
          </p:nvPr>
        </p:nvSpPr>
        <p:spPr>
          <a:xfrm>
            <a:off x="4720611" y="952053"/>
            <a:ext cx="7091600" cy="5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57189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44025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2pPr>
            <a:lvl3pPr marL="1828754" marR="0" lvl="2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3pPr>
            <a:lvl4pPr marL="2438339" marR="0" lvl="3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4pPr>
            <a:lvl5pPr marL="3047924" marR="0" lvl="4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5pPr>
            <a:lvl6pPr marL="3657509" marR="0" lvl="5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6pPr>
            <a:lvl7pPr marL="4267093" marR="0" lvl="6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7pPr>
            <a:lvl8pPr marL="4876678" marR="0" lvl="7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8pPr>
            <a:lvl9pPr marL="5316934" marR="0" lvl="8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9pPr>
          </a:lstStyle>
          <a:p>
            <a:r>
              <a:rPr lang="en-US" dirty="0"/>
              <a:t>Text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Text</a:t>
            </a:r>
          </a:p>
          <a:p>
            <a:pPr lvl="3"/>
            <a:r>
              <a:rPr lang="en-US" dirty="0"/>
              <a:t>Text</a:t>
            </a:r>
          </a:p>
          <a:p>
            <a:pPr lvl="4"/>
            <a:r>
              <a:rPr lang="en-US" dirty="0"/>
              <a:t>Text</a:t>
            </a:r>
          </a:p>
          <a:p>
            <a:pPr lvl="5"/>
            <a:r>
              <a:rPr lang="en-US" dirty="0"/>
              <a:t>Text</a:t>
            </a:r>
          </a:p>
          <a:p>
            <a:pPr lvl="6"/>
            <a:r>
              <a:rPr lang="en-US" dirty="0"/>
              <a:t>Text</a:t>
            </a:r>
          </a:p>
          <a:p>
            <a:pPr lvl="7"/>
            <a:r>
              <a:rPr lang="en-US" dirty="0"/>
              <a:t>Text</a:t>
            </a:r>
          </a:p>
          <a:p>
            <a:pPr lvl="8"/>
            <a:r>
              <a:rPr lang="en-US" dirty="0"/>
              <a:t>Text</a:t>
            </a:r>
          </a:p>
          <a:p>
            <a:pPr lvl="8"/>
            <a:endParaRPr lang="en-US" dirty="0"/>
          </a:p>
          <a:p>
            <a:pPr lvl="8"/>
            <a:endParaRPr lang="en-US" dirty="0"/>
          </a:p>
          <a:p>
            <a:pPr lvl="0"/>
            <a:endParaRPr lang="en-US" dirty="0"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2"/>
          </p:nvPr>
        </p:nvSpPr>
        <p:spPr>
          <a:xfrm>
            <a:off x="1363363" y="2552252"/>
            <a:ext cx="3098248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3047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527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1301578" y="987425"/>
            <a:ext cx="3061420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9" name="Google Shape;49;p20"/>
          <p:cNvSpPr>
            <a:spLocks noGrp="1"/>
          </p:cNvSpPr>
          <p:nvPr>
            <p:ph type="pic" idx="2"/>
          </p:nvPr>
        </p:nvSpPr>
        <p:spPr>
          <a:xfrm>
            <a:off x="4666821" y="987425"/>
            <a:ext cx="7102000" cy="5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1301578" y="2587625"/>
            <a:ext cx="306142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1867" dirty="0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indent="-304792">
              <a:buClr>
                <a:schemeClr val="dk1"/>
              </a:buClr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843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 preserve="1">
  <p:cSld name="11_Title Slid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8049777" y="6566743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218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Use" preserve="1" userDrawn="1">
  <p:cSld name="Master Us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;p14"/>
          <p:cNvSpPr txBox="1">
            <a:spLocks noGrp="1"/>
          </p:cNvSpPr>
          <p:nvPr>
            <p:ph type="title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874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Lesson Summar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body" idx="1" hasCustomPrompt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dirty="0"/>
              <a:t>Brief Summary of Lesson</a:t>
            </a:r>
            <a:endParaRPr dirty="0"/>
          </a:p>
        </p:txBody>
      </p:sp>
      <p:sp>
        <p:nvSpPr>
          <p:cNvPr id="21" name="Google Shape;21;p14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;p14"/>
          <p:cNvSpPr txBox="1">
            <a:spLocks noGrp="1"/>
          </p:cNvSpPr>
          <p:nvPr>
            <p:ph type="title" hasCustomPrompt="1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Lesson Summary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0084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Question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 hasCustomPrompt="1"/>
          </p:nvPr>
        </p:nvSpPr>
        <p:spPr>
          <a:xfrm>
            <a:off x="1723854" y="549275"/>
            <a:ext cx="9963493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Questions?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8481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3C8531C-6664-AC0C-ED00-3D1957BC281F}"/>
              </a:ext>
            </a:extLst>
          </p:cNvPr>
          <p:cNvSpPr/>
          <p:nvPr userDrawn="1"/>
        </p:nvSpPr>
        <p:spPr>
          <a:xfrm>
            <a:off x="-1" y="-20168"/>
            <a:ext cx="12191999" cy="26361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D018CF-85D7-A3C5-985F-E66425541490}"/>
              </a:ext>
            </a:extLst>
          </p:cNvPr>
          <p:cNvSpPr/>
          <p:nvPr userDrawn="1"/>
        </p:nvSpPr>
        <p:spPr>
          <a:xfrm>
            <a:off x="1" y="243443"/>
            <a:ext cx="1128108" cy="6614557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Google Shape;7;p10"/>
          <p:cNvSpPr txBox="1">
            <a:spLocks noGrp="1"/>
          </p:cNvSpPr>
          <p:nvPr>
            <p:ph type="title"/>
          </p:nvPr>
        </p:nvSpPr>
        <p:spPr>
          <a:xfrm>
            <a:off x="1189403" y="646322"/>
            <a:ext cx="10682000" cy="57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 </a:t>
            </a:r>
            <a:endParaRPr dirty="0"/>
          </a:p>
        </p:txBody>
      </p:sp>
      <p:sp>
        <p:nvSpPr>
          <p:cNvPr id="8" name="Google Shape;8;p10"/>
          <p:cNvSpPr txBox="1">
            <a:spLocks noGrp="1"/>
          </p:cNvSpPr>
          <p:nvPr>
            <p:ph type="body" idx="1"/>
          </p:nvPr>
        </p:nvSpPr>
        <p:spPr>
          <a:xfrm>
            <a:off x="1189401" y="1384879"/>
            <a:ext cx="10682000" cy="485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endParaRPr dirty="0"/>
          </a:p>
        </p:txBody>
      </p:sp>
      <p:pic>
        <p:nvPicPr>
          <p:cNvPr id="9" name="Google Shape;9;p10"/>
          <p:cNvPicPr preferRelativeResize="0"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713" y="231455"/>
            <a:ext cx="928680" cy="92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>
            <a:spLocks noGrp="1"/>
          </p:cNvSpPr>
          <p:nvPr>
            <p:ph type="sldNum" idx="12"/>
          </p:nvPr>
        </p:nvSpPr>
        <p:spPr>
          <a:xfrm>
            <a:off x="10058399" y="6641435"/>
            <a:ext cx="2133600" cy="2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C8531C-6664-AC0C-ED00-3D1957BC281F}"/>
              </a:ext>
            </a:extLst>
          </p:cNvPr>
          <p:cNvSpPr/>
          <p:nvPr userDrawn="1"/>
        </p:nvSpPr>
        <p:spPr>
          <a:xfrm>
            <a:off x="-2" y="6594389"/>
            <a:ext cx="12191999" cy="26361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34" name="Group 33"/>
          <p:cNvGrpSpPr/>
          <p:nvPr userDrawn="1"/>
        </p:nvGrpSpPr>
        <p:grpSpPr>
          <a:xfrm>
            <a:off x="254537" y="37012"/>
            <a:ext cx="4123292" cy="140365"/>
            <a:chOff x="5526083" y="4992009"/>
            <a:chExt cx="3092469" cy="105274"/>
          </a:xfrm>
          <a:gradFill flip="none" rotWithShape="1">
            <a:gsLst>
              <a:gs pos="0">
                <a:schemeClr val="accent1"/>
              </a:gs>
              <a:gs pos="0">
                <a:schemeClr val="accent1"/>
              </a:gs>
            </a:gsLst>
            <a:lin ang="2700000" scaled="1"/>
            <a:tileRect/>
          </a:gradFill>
        </p:grpSpPr>
        <p:sp>
          <p:nvSpPr>
            <p:cNvPr id="35" name="Chevron 34"/>
            <p:cNvSpPr/>
            <p:nvPr userDrawn="1"/>
          </p:nvSpPr>
          <p:spPr>
            <a:xfrm>
              <a:off x="8339152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6" name="Chevron 35"/>
            <p:cNvSpPr/>
            <p:nvPr userDrawn="1"/>
          </p:nvSpPr>
          <p:spPr>
            <a:xfrm>
              <a:off x="8059751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7" name="Chevron 36"/>
            <p:cNvSpPr/>
            <p:nvPr userDrawn="1"/>
          </p:nvSpPr>
          <p:spPr>
            <a:xfrm>
              <a:off x="7773998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8" name="Chevron 37"/>
            <p:cNvSpPr/>
            <p:nvPr userDrawn="1"/>
          </p:nvSpPr>
          <p:spPr>
            <a:xfrm>
              <a:off x="7494596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9" name="Chevron 38"/>
            <p:cNvSpPr/>
            <p:nvPr userDrawn="1"/>
          </p:nvSpPr>
          <p:spPr>
            <a:xfrm>
              <a:off x="7215195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0" name="Chevron 39"/>
            <p:cNvSpPr/>
            <p:nvPr userDrawn="1"/>
          </p:nvSpPr>
          <p:spPr>
            <a:xfrm>
              <a:off x="6929442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1" name="Chevron 40"/>
            <p:cNvSpPr/>
            <p:nvPr userDrawn="1"/>
          </p:nvSpPr>
          <p:spPr>
            <a:xfrm>
              <a:off x="6650040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Chevron 41"/>
            <p:cNvSpPr/>
            <p:nvPr userDrawn="1"/>
          </p:nvSpPr>
          <p:spPr>
            <a:xfrm>
              <a:off x="6370639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3" name="Chevron 42"/>
            <p:cNvSpPr/>
            <p:nvPr userDrawn="1"/>
          </p:nvSpPr>
          <p:spPr>
            <a:xfrm>
              <a:off x="6084886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4" name="Chevron 43"/>
            <p:cNvSpPr/>
            <p:nvPr userDrawn="1"/>
          </p:nvSpPr>
          <p:spPr>
            <a:xfrm>
              <a:off x="5805484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5" name="Chevron 44"/>
            <p:cNvSpPr/>
            <p:nvPr userDrawn="1"/>
          </p:nvSpPr>
          <p:spPr>
            <a:xfrm>
              <a:off x="5526083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 Placeholder 16"/>
          <p:cNvSpPr txBox="1">
            <a:spLocks/>
          </p:cNvSpPr>
          <p:nvPr userDrawn="1"/>
        </p:nvSpPr>
        <p:spPr>
          <a:xfrm flipH="1">
            <a:off x="1043632" y="6366806"/>
            <a:ext cx="4211863" cy="221589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 dirty="0"/>
              <a:t>UNCLASSIFIED</a:t>
            </a:r>
          </a:p>
        </p:txBody>
      </p:sp>
      <p:sp>
        <p:nvSpPr>
          <p:cNvPr id="49" name="Text Placeholder 16"/>
          <p:cNvSpPr txBox="1">
            <a:spLocks/>
          </p:cNvSpPr>
          <p:nvPr userDrawn="1"/>
        </p:nvSpPr>
        <p:spPr>
          <a:xfrm>
            <a:off x="5482963" y="207088"/>
            <a:ext cx="6767512" cy="21210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 baseline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 dirty="0"/>
              <a:t>UNCLASSIFIED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ADCA60-3BD1-B7C2-7897-A83E6D91411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150855" y="3445521"/>
            <a:ext cx="5429815" cy="99117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6701C421-A6F9-D749-8480-ECF6D94627DA}"/>
              </a:ext>
            </a:extLst>
          </p:cNvPr>
          <p:cNvGrpSpPr/>
          <p:nvPr userDrawn="1"/>
        </p:nvGrpSpPr>
        <p:grpSpPr>
          <a:xfrm>
            <a:off x="7996753" y="6659805"/>
            <a:ext cx="4123292" cy="140365"/>
            <a:chOff x="5526083" y="4992009"/>
            <a:chExt cx="3092469" cy="105274"/>
          </a:xfrm>
          <a:gradFill flip="none" rotWithShape="1">
            <a:gsLst>
              <a:gs pos="0">
                <a:schemeClr val="accent1"/>
              </a:gs>
              <a:gs pos="0">
                <a:schemeClr val="accent1"/>
              </a:gs>
            </a:gsLst>
            <a:lin ang="2700000" scaled="1"/>
            <a:tileRect/>
          </a:gradFill>
        </p:grpSpPr>
        <p:sp>
          <p:nvSpPr>
            <p:cNvPr id="52" name="Chevron 34">
              <a:extLst>
                <a:ext uri="{FF2B5EF4-FFF2-40B4-BE49-F238E27FC236}">
                  <a16:creationId xmlns:a16="http://schemas.microsoft.com/office/drawing/2014/main" id="{A3DA9578-59FE-86FB-A354-142255DA60DA}"/>
                </a:ext>
              </a:extLst>
            </p:cNvPr>
            <p:cNvSpPr/>
            <p:nvPr userDrawn="1"/>
          </p:nvSpPr>
          <p:spPr>
            <a:xfrm>
              <a:off x="8339152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3" name="Chevron 35">
              <a:extLst>
                <a:ext uri="{FF2B5EF4-FFF2-40B4-BE49-F238E27FC236}">
                  <a16:creationId xmlns:a16="http://schemas.microsoft.com/office/drawing/2014/main" id="{B04AF141-545B-B49E-C1E8-94740B9919BB}"/>
                </a:ext>
              </a:extLst>
            </p:cNvPr>
            <p:cNvSpPr/>
            <p:nvPr userDrawn="1"/>
          </p:nvSpPr>
          <p:spPr>
            <a:xfrm>
              <a:off x="8059751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4" name="Chevron 36">
              <a:extLst>
                <a:ext uri="{FF2B5EF4-FFF2-40B4-BE49-F238E27FC236}">
                  <a16:creationId xmlns:a16="http://schemas.microsoft.com/office/drawing/2014/main" id="{1A4E42AC-7995-9220-EB0F-FB2C216318D3}"/>
                </a:ext>
              </a:extLst>
            </p:cNvPr>
            <p:cNvSpPr/>
            <p:nvPr userDrawn="1"/>
          </p:nvSpPr>
          <p:spPr>
            <a:xfrm>
              <a:off x="7773998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5" name="Chevron 37">
              <a:extLst>
                <a:ext uri="{FF2B5EF4-FFF2-40B4-BE49-F238E27FC236}">
                  <a16:creationId xmlns:a16="http://schemas.microsoft.com/office/drawing/2014/main" id="{53C22C0C-6ECA-E350-C18D-0954C59A74BA}"/>
                </a:ext>
              </a:extLst>
            </p:cNvPr>
            <p:cNvSpPr/>
            <p:nvPr userDrawn="1"/>
          </p:nvSpPr>
          <p:spPr>
            <a:xfrm>
              <a:off x="7494596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6" name="Chevron 38">
              <a:extLst>
                <a:ext uri="{FF2B5EF4-FFF2-40B4-BE49-F238E27FC236}">
                  <a16:creationId xmlns:a16="http://schemas.microsoft.com/office/drawing/2014/main" id="{F7C7267B-65F6-7F5D-55FA-BFF8A364F42B}"/>
                </a:ext>
              </a:extLst>
            </p:cNvPr>
            <p:cNvSpPr/>
            <p:nvPr userDrawn="1"/>
          </p:nvSpPr>
          <p:spPr>
            <a:xfrm>
              <a:off x="7215195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7" name="Chevron 39">
              <a:extLst>
                <a:ext uri="{FF2B5EF4-FFF2-40B4-BE49-F238E27FC236}">
                  <a16:creationId xmlns:a16="http://schemas.microsoft.com/office/drawing/2014/main" id="{7B9AD0EA-9215-55F3-CBC7-713862E4C839}"/>
                </a:ext>
              </a:extLst>
            </p:cNvPr>
            <p:cNvSpPr/>
            <p:nvPr userDrawn="1"/>
          </p:nvSpPr>
          <p:spPr>
            <a:xfrm>
              <a:off x="6929442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8" name="Chevron 40">
              <a:extLst>
                <a:ext uri="{FF2B5EF4-FFF2-40B4-BE49-F238E27FC236}">
                  <a16:creationId xmlns:a16="http://schemas.microsoft.com/office/drawing/2014/main" id="{BCD4AD2F-0902-4385-94F7-5ACB01D22A41}"/>
                </a:ext>
              </a:extLst>
            </p:cNvPr>
            <p:cNvSpPr/>
            <p:nvPr userDrawn="1"/>
          </p:nvSpPr>
          <p:spPr>
            <a:xfrm>
              <a:off x="6650040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9" name="Chevron 41">
              <a:extLst>
                <a:ext uri="{FF2B5EF4-FFF2-40B4-BE49-F238E27FC236}">
                  <a16:creationId xmlns:a16="http://schemas.microsoft.com/office/drawing/2014/main" id="{9C796D23-978C-FFFF-4038-1C937EE690D7}"/>
                </a:ext>
              </a:extLst>
            </p:cNvPr>
            <p:cNvSpPr/>
            <p:nvPr userDrawn="1"/>
          </p:nvSpPr>
          <p:spPr>
            <a:xfrm>
              <a:off x="6370639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0" name="Chevron 42">
              <a:extLst>
                <a:ext uri="{FF2B5EF4-FFF2-40B4-BE49-F238E27FC236}">
                  <a16:creationId xmlns:a16="http://schemas.microsoft.com/office/drawing/2014/main" id="{9080B428-A3B2-6A7E-177F-CF4DC7356652}"/>
                </a:ext>
              </a:extLst>
            </p:cNvPr>
            <p:cNvSpPr/>
            <p:nvPr userDrawn="1"/>
          </p:nvSpPr>
          <p:spPr>
            <a:xfrm>
              <a:off x="6084886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1" name="Chevron 43">
              <a:extLst>
                <a:ext uri="{FF2B5EF4-FFF2-40B4-BE49-F238E27FC236}">
                  <a16:creationId xmlns:a16="http://schemas.microsoft.com/office/drawing/2014/main" id="{54FDEC70-BB7A-14BD-BF44-B0F7EFDD1AA4}"/>
                </a:ext>
              </a:extLst>
            </p:cNvPr>
            <p:cNvSpPr/>
            <p:nvPr userDrawn="1"/>
          </p:nvSpPr>
          <p:spPr>
            <a:xfrm>
              <a:off x="5805484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2" name="Chevron 44">
              <a:extLst>
                <a:ext uri="{FF2B5EF4-FFF2-40B4-BE49-F238E27FC236}">
                  <a16:creationId xmlns:a16="http://schemas.microsoft.com/office/drawing/2014/main" id="{B3E053BC-053D-4B7F-17DA-2B8D0B40E67E}"/>
                </a:ext>
              </a:extLst>
            </p:cNvPr>
            <p:cNvSpPr/>
            <p:nvPr userDrawn="1"/>
          </p:nvSpPr>
          <p:spPr>
            <a:xfrm>
              <a:off x="5526083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41094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742" r:id="rId3"/>
    <p:sldLayoutId id="2147483738" r:id="rId4"/>
    <p:sldLayoutId id="2147483741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743" r:id="rId11"/>
    <p:sldLayoutId id="214748374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69329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6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sz="4400"/>
              <a:t>4.1 Effects Operations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/>
          </a:bodyPr>
          <a:lstStyle/>
          <a:p>
            <a:r>
              <a:rPr sz="2400" dirty="0"/>
              <a:t>Week 3: inside the adversary stack</a:t>
            </a:r>
          </a:p>
          <a:p>
            <a:r>
              <a:rPr sz="2400" dirty="0"/>
              <a:t>Access enables action</a:t>
            </a:r>
          </a:p>
          <a:p>
            <a:r>
              <a:rPr sz="2400" b="1" dirty="0"/>
              <a:t>Effects</a:t>
            </a:r>
            <a:r>
              <a:rPr sz="2400" dirty="0"/>
              <a:t> create mission value</a:t>
            </a:r>
          </a:p>
          <a:p>
            <a:r>
              <a:rPr sz="2400" dirty="0"/>
              <a:t>Week 1 still drives choices: </a:t>
            </a:r>
            <a:r>
              <a:rPr sz="2400" b="1" dirty="0"/>
              <a:t>CG / CV / exploitation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Effects Operations — Why We Are Here</a:t>
            </a:r>
          </a:p>
        </p:txBody>
      </p:sp>
      <p:pic>
        <p:nvPicPr>
          <p:cNvPr id="4" name="Picture 3" descr="f5eaa3111293067b475846a2a3f716ee094e26d9637fa2f5ee4d531e0cabd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2" y="1188719"/>
            <a:ext cx="5131633" cy="51316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/>
          </a:bodyPr>
          <a:lstStyle/>
          <a:p>
            <a:r>
              <a:rPr sz="2400" b="1" dirty="0"/>
              <a:t>Effect:</a:t>
            </a:r>
            <a:r>
              <a:rPr sz="2400" dirty="0"/>
              <a:t> intended adversary change</a:t>
            </a:r>
          </a:p>
          <a:p>
            <a:r>
              <a:rPr sz="2400" b="1" dirty="0"/>
              <a:t>Action:</a:t>
            </a:r>
            <a:r>
              <a:rPr sz="2400" dirty="0"/>
              <a:t> technical method</a:t>
            </a:r>
          </a:p>
          <a:p>
            <a:r>
              <a:rPr sz="2400" dirty="0"/>
              <a:t>Same effect, many actions</a:t>
            </a:r>
          </a:p>
          <a:p>
            <a:r>
              <a:rPr sz="2400" dirty="0"/>
              <a:t>Same action, many effects</a:t>
            </a:r>
          </a:p>
          <a:p>
            <a:r>
              <a:rPr sz="2400" dirty="0"/>
              <a:t>Commanders task effects; operators choose actions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Effect ≠ Action</a:t>
            </a:r>
          </a:p>
        </p:txBody>
      </p:sp>
      <p:pic>
        <p:nvPicPr>
          <p:cNvPr id="4" name="Picture 3" descr="9bb75042189b06f5ba81e63a0f29bbf5b6f8081d83a2dd943b9f440f05a602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88720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/>
          </a:bodyPr>
          <a:lstStyle/>
          <a:p>
            <a:r>
              <a:rPr sz="2400" b="1" dirty="0"/>
              <a:t>D4M:</a:t>
            </a:r>
            <a:r>
              <a:rPr sz="2400" dirty="0"/>
              <a:t> deny / degrade / disrupt / destroy</a:t>
            </a:r>
          </a:p>
          <a:p>
            <a:r>
              <a:rPr sz="2400" b="1" dirty="0"/>
              <a:t>Related:</a:t>
            </a:r>
            <a:r>
              <a:rPr sz="2400" dirty="0"/>
              <a:t> deceive / manipulate / reconnoiter / interdict / handoff</a:t>
            </a:r>
          </a:p>
          <a:p>
            <a:r>
              <a:rPr sz="2400" dirty="0"/>
              <a:t>Next: example-driven outcomes</a:t>
            </a:r>
          </a:p>
          <a:p>
            <a:r>
              <a:rPr sz="2400" dirty="0"/>
              <a:t>Classify by outcome, duration, recovery cost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Doctrinal Effects Language (D4M Family + Related Terms)</a:t>
            </a:r>
          </a:p>
        </p:txBody>
      </p:sp>
      <p:pic>
        <p:nvPicPr>
          <p:cNvPr id="4" name="Picture 3" descr="b999d70784cc0d0ed02d6a305596b1c28df3c85944d31024b518cb17e9e92c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2" y="1188719"/>
            <a:ext cx="5131633" cy="51316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collector cannot authenticate</a:t>
            </a:r>
          </a:p>
          <a:p>
            <a:r>
              <a:rPr sz="2400" b="1" dirty="0"/>
              <a:t>Example:</a:t>
            </a:r>
            <a:r>
              <a:rPr sz="2400" dirty="0"/>
              <a:t> revoke the collector credential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reach the identity/control plane reliably?</a:t>
            </a:r>
          </a:p>
          <a:p>
            <a:r>
              <a:rPr sz="2400" dirty="0">
                <a:latin typeface="Courier New"/>
              </a:rPr>
              <a:t>Dependency:</a:t>
            </a:r>
            <a:r>
              <a:rPr sz="2400" dirty="0"/>
              <a:t> is this the credential the workflow actually uses?</a:t>
            </a:r>
          </a:p>
          <a:p>
            <a:r>
              <a:rPr sz="2400" dirty="0">
                <a:latin typeface="Courier New"/>
              </a:rPr>
              <a:t>Alternates:</a:t>
            </a:r>
            <a:r>
              <a:rPr sz="2400" dirty="0"/>
              <a:t> backup token, service account, cached secret?</a:t>
            </a:r>
          </a:p>
          <a:p>
            <a:r>
              <a:rPr sz="2400" dirty="0">
                <a:latin typeface="Courier New"/>
              </a:rPr>
              <a:t>Rollback:</a:t>
            </a:r>
            <a:r>
              <a:rPr sz="2400" dirty="0"/>
              <a:t> who restores it, and how fast?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auth failure plus stopped collection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Deny Example — Revoke the Collector Credential</a:t>
            </a:r>
          </a:p>
        </p:txBody>
      </p:sp>
      <p:pic>
        <p:nvPicPr>
          <p:cNvPr id="4" name="Picture 3" descr="0d67ae69c6de920c44c11015b6e3161d07ad01d158ba60ceef7cb9e9ad4ce5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88720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/>
          </a:bodyPr>
          <a:lstStyle/>
          <a:p>
            <a:r>
              <a:rPr sz="2400" b="1" dirty="0"/>
              <a:t>Outcome:</a:t>
            </a:r>
            <a:r>
              <a:rPr sz="2400" dirty="0"/>
              <a:t> data cannot leave by that path</a:t>
            </a:r>
          </a:p>
          <a:p>
            <a:r>
              <a:rPr sz="2400" b="1" dirty="0"/>
              <a:t>Example:</a:t>
            </a:r>
            <a:r>
              <a:rPr sz="2400" dirty="0"/>
              <a:t> block the exfil route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change the right DNS/firewall/route point?</a:t>
            </a:r>
          </a:p>
          <a:p>
            <a:r>
              <a:rPr sz="2400" dirty="0">
                <a:latin typeface="Courier New"/>
              </a:rPr>
              <a:t>Path:</a:t>
            </a:r>
            <a:r>
              <a:rPr sz="2400" dirty="0"/>
              <a:t> destination, port, protocol, relay sequence?</a:t>
            </a:r>
          </a:p>
          <a:p>
            <a:r>
              <a:rPr sz="2400" dirty="0">
                <a:latin typeface="Courier New"/>
              </a:rPr>
              <a:t>Alternates:</a:t>
            </a:r>
            <a:r>
              <a:rPr sz="2400" dirty="0"/>
              <a:t> fallback route, second relay, direct cloud path?</a:t>
            </a:r>
          </a:p>
          <a:p>
            <a:r>
              <a:rPr sz="2400" dirty="0">
                <a:latin typeface="Courier New"/>
              </a:rPr>
              <a:t>Persistence:</a:t>
            </a:r>
            <a:r>
              <a:rPr sz="2400" dirty="0"/>
              <a:t> survives restart and mission window?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failed connection plus stalled transfer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Deny Example — Block the Exfil Route</a:t>
            </a:r>
          </a:p>
        </p:txBody>
      </p:sp>
      <p:pic>
        <p:nvPicPr>
          <p:cNvPr id="4" name="Picture 3" descr="d78ba57405cdae32f8fe019d759b03c7a8aaf9cc553cb5a2dd7840b6ec5483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88720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10000"/>
          </a:bodyPr>
          <a:lstStyle/>
          <a:p>
            <a:r>
              <a:rPr sz="2400" b="1" dirty="0"/>
              <a:t>Outcome:</a:t>
            </a:r>
            <a:r>
              <a:rPr sz="2400" dirty="0"/>
              <a:t> collection arrives too slowly</a:t>
            </a:r>
          </a:p>
          <a:p>
            <a:r>
              <a:rPr sz="2400" b="1" dirty="0"/>
              <a:t>Example:</a:t>
            </a:r>
            <a:r>
              <a:rPr sz="2400" dirty="0"/>
              <a:t> lengthen polling interval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edit config and reload safely?</a:t>
            </a:r>
          </a:p>
          <a:p>
            <a:r>
              <a:rPr sz="2400" dirty="0">
                <a:latin typeface="Courier New"/>
              </a:rPr>
              <a:t>Timing:</a:t>
            </a:r>
            <a:r>
              <a:rPr sz="2400" dirty="0"/>
              <a:t> what collection delay supports the mission?</a:t>
            </a:r>
          </a:p>
          <a:p>
            <a:r>
              <a:rPr sz="2400" dirty="0">
                <a:latin typeface="Courier New"/>
              </a:rPr>
              <a:t>Technique:</a:t>
            </a:r>
            <a:r>
              <a:rPr sz="2400" dirty="0"/>
              <a:t> reload, restart, or scheduled pickup?</a:t>
            </a:r>
          </a:p>
          <a:p>
            <a:r>
              <a:rPr sz="2400" dirty="0">
                <a:latin typeface="Courier New"/>
              </a:rPr>
              <a:t>Reversibility:</a:t>
            </a:r>
            <a:r>
              <a:rPr sz="2400" dirty="0"/>
              <a:t> known original value and restore path?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before/after cadence comparison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Degrade Example — Lengthen Polling Interval</a:t>
            </a:r>
          </a:p>
        </p:txBody>
      </p:sp>
      <p:pic>
        <p:nvPicPr>
          <p:cNvPr id="4" name="Picture 3" descr="6bfdbf4f582113fca1e6e8820080c63982a787b570d23e6644251864f45318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2" y="1160155"/>
            <a:ext cx="5160197" cy="5160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rPr sz="2400" b="1"/>
              <a:t>Outcome:</a:t>
            </a:r>
            <a:r>
              <a:rPr sz="2400"/>
              <a:t> coverage becomes incomplete</a:t>
            </a:r>
          </a:p>
          <a:p>
            <a:r>
              <a:rPr sz="2400" b="1"/>
              <a:t>Example:</a:t>
            </a:r>
            <a:r>
              <a:rPr sz="2400"/>
              <a:t> remove one feeder source</a:t>
            </a:r>
          </a:p>
          <a:p>
            <a:r>
              <a:rPr sz="2400">
                <a:latin typeface="Courier New"/>
              </a:rPr>
              <a:t>Access:</a:t>
            </a:r>
            <a:r>
              <a:rPr sz="2400"/>
              <a:t> can we change the source without breaking the pipeline?</a:t>
            </a:r>
          </a:p>
          <a:p>
            <a:r>
              <a:rPr sz="2400">
                <a:latin typeface="Courier New"/>
              </a:rPr>
              <a:t>Dependency:</a:t>
            </a:r>
            <a:r>
              <a:rPr sz="2400"/>
              <a:t> what does this feeder uniquely provide?</a:t>
            </a:r>
          </a:p>
          <a:p>
            <a:r>
              <a:rPr sz="2400">
                <a:latin typeface="Courier New"/>
              </a:rPr>
              <a:t>Blast radius:</a:t>
            </a:r>
            <a:r>
              <a:rPr sz="2400"/>
              <a:t> partial loss, not total outage?</a:t>
            </a:r>
          </a:p>
          <a:p>
            <a:r>
              <a:rPr sz="2400">
                <a:latin typeface="Courier New"/>
              </a:rPr>
              <a:t>Visibility:</a:t>
            </a:r>
            <a:r>
              <a:rPr sz="2400"/>
              <a:t> will analysts notice and compensate?</a:t>
            </a:r>
          </a:p>
          <a:p>
            <a:r>
              <a:rPr sz="2400">
                <a:latin typeface="Courier New"/>
              </a:rPr>
              <a:t>Proof:</a:t>
            </a:r>
            <a:r>
              <a:rPr sz="2400"/>
              <a:t> lower volume or missing coverage area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Degrade Example — Remove One Feeder Source</a:t>
            </a:r>
          </a:p>
        </p:txBody>
      </p:sp>
      <p:pic>
        <p:nvPicPr>
          <p:cNvPr id="7" name="Picture 6" descr="116092d2edf2afedcded00569cb4d5c901e0ddb06047ad398ee7f357e3cb41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077" y="1582323"/>
            <a:ext cx="4826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/>
          </a:bodyPr>
          <a:lstStyle/>
          <a:p>
            <a:r>
              <a:rPr sz="2400" b="1" dirty="0"/>
              <a:t>Outcome:</a:t>
            </a:r>
            <a:r>
              <a:rPr sz="2400" dirty="0"/>
              <a:t> decisive reporting window missed</a:t>
            </a:r>
          </a:p>
          <a:p>
            <a:r>
              <a:rPr sz="2400" b="1" dirty="0"/>
              <a:t>Example:</a:t>
            </a:r>
            <a:r>
              <a:rPr sz="2400" dirty="0"/>
              <a:t> stop process during reporting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reliable at the exact action time?</a:t>
            </a:r>
          </a:p>
          <a:p>
            <a:r>
              <a:rPr sz="2400" dirty="0">
                <a:latin typeface="Courier New"/>
              </a:rPr>
              <a:t>Window:</a:t>
            </a:r>
            <a:r>
              <a:rPr sz="2400" dirty="0"/>
              <a:t> start, duration, and mission relevance?</a:t>
            </a:r>
          </a:p>
          <a:p>
            <a:r>
              <a:rPr sz="2400" dirty="0">
                <a:latin typeface="Courier New"/>
              </a:rPr>
              <a:t>Recovery:</a:t>
            </a:r>
            <a:r>
              <a:rPr sz="2400" dirty="0"/>
              <a:t> auto-restart, manual restart, or watchdog?</a:t>
            </a:r>
          </a:p>
          <a:p>
            <a:r>
              <a:rPr sz="2400" dirty="0">
                <a:latin typeface="Courier New"/>
              </a:rPr>
              <a:t>Coordination:</a:t>
            </a:r>
            <a:r>
              <a:rPr sz="2400" dirty="0"/>
              <a:t> team ready to observe and deconflict?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missed window plus later recovery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Disrupt Example — Stop Process During Reporting</a:t>
            </a:r>
          </a:p>
        </p:txBody>
      </p:sp>
      <p:pic>
        <p:nvPicPr>
          <p:cNvPr id="4" name="Picture 3" descr="b97ccb9b98b77ac68518434d83d1f02143033643ffb84be127d410fb4abe5f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88720"/>
            <a:ext cx="5150196" cy="51501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rPr sz="2400" b="1"/>
              <a:t>Outcome:</a:t>
            </a:r>
            <a:r>
              <a:rPr sz="2400"/>
              <a:t> job chain runs out of sequence</a:t>
            </a:r>
          </a:p>
          <a:p>
            <a:r>
              <a:rPr sz="2400" b="1"/>
              <a:t>Example:</a:t>
            </a:r>
            <a:r>
              <a:rPr sz="2400"/>
              <a:t> scramble scheduler order</a:t>
            </a:r>
          </a:p>
          <a:p>
            <a:r>
              <a:rPr sz="2400">
                <a:latin typeface="Courier New"/>
              </a:rPr>
              <a:t>Access:</a:t>
            </a:r>
            <a:r>
              <a:rPr sz="2400"/>
              <a:t> can we edit scheduler state safely?</a:t>
            </a:r>
          </a:p>
          <a:p>
            <a:r>
              <a:rPr sz="2400">
                <a:latin typeface="Courier New"/>
              </a:rPr>
              <a:t>Chain:</a:t>
            </a:r>
            <a:r>
              <a:rPr sz="2400"/>
              <a:t> upstream and downstream task dependencies?</a:t>
            </a:r>
          </a:p>
          <a:p>
            <a:r>
              <a:rPr sz="2400">
                <a:latin typeface="Courier New"/>
              </a:rPr>
              <a:t>Timing:</a:t>
            </a:r>
            <a:r>
              <a:rPr sz="2400"/>
              <a:t> wrong order, wrong time, or missed trigger?</a:t>
            </a:r>
          </a:p>
          <a:p>
            <a:r>
              <a:rPr sz="2400">
                <a:latin typeface="Courier New"/>
              </a:rPr>
              <a:t>Recovery:</a:t>
            </a:r>
            <a:r>
              <a:rPr sz="2400"/>
              <a:t> automatic correction or manual cleanup?</a:t>
            </a:r>
          </a:p>
          <a:p>
            <a:r>
              <a:rPr sz="2400">
                <a:latin typeface="Courier New"/>
              </a:rPr>
              <a:t>Proof:</a:t>
            </a:r>
            <a:r>
              <a:rPr sz="2400"/>
              <a:t> job logs show broken sequence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Disrupt Example — Scramble Scheduler Order</a:t>
            </a:r>
          </a:p>
        </p:txBody>
      </p:sp>
      <p:pic>
        <p:nvPicPr>
          <p:cNvPr id="7" name="Picture 6" descr="1de1212f008037c0c042c973079294a9e783eb29ed50a8794e56654d94b053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077" y="1582323"/>
            <a:ext cx="4826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10000"/>
          </a:bodyPr>
          <a:lstStyle/>
          <a:p>
            <a:r>
              <a:rPr sz="2400" b="1" dirty="0"/>
              <a:t>Outcome:</a:t>
            </a:r>
            <a:r>
              <a:rPr sz="2400" dirty="0"/>
              <a:t> secure channel requires rebuild</a:t>
            </a:r>
          </a:p>
          <a:p>
            <a:r>
              <a:rPr sz="2400" b="1" dirty="0"/>
              <a:t>Example:</a:t>
            </a:r>
            <a:r>
              <a:rPr sz="2400" dirty="0"/>
              <a:t> remove key material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reach and verify the key location?</a:t>
            </a:r>
          </a:p>
          <a:p>
            <a:r>
              <a:rPr sz="2400" dirty="0">
                <a:latin typeface="Courier New"/>
              </a:rPr>
              <a:t>Uniqueness:</a:t>
            </a:r>
            <a:r>
              <a:rPr sz="2400" dirty="0"/>
              <a:t> only working key, cert, or token?</a:t>
            </a:r>
          </a:p>
          <a:p>
            <a:r>
              <a:rPr sz="2400" dirty="0">
                <a:latin typeface="Courier New"/>
              </a:rPr>
              <a:t>Backups:</a:t>
            </a:r>
            <a:r>
              <a:rPr sz="2400" dirty="0"/>
              <a:t> local copy, vault, snapshot, export?</a:t>
            </a:r>
          </a:p>
          <a:p>
            <a:r>
              <a:rPr sz="2400" dirty="0">
                <a:latin typeface="Courier New"/>
              </a:rPr>
              <a:t>Authority:</a:t>
            </a:r>
            <a:r>
              <a:rPr sz="2400" dirty="0"/>
              <a:t> mission approval for destructive action?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failed channel plus rebuild requirement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Destroy Example — Remove Key Material</a:t>
            </a:r>
          </a:p>
        </p:txBody>
      </p:sp>
      <p:pic>
        <p:nvPicPr>
          <p:cNvPr id="4" name="Picture 3" descr="5cd868d072f331fe6692746d2b6cec4767642c1b9fa5a08982082d91296b06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88720"/>
            <a:ext cx="5150196" cy="51501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10000"/>
          </a:bodyPr>
          <a:lstStyle/>
          <a:p>
            <a:r>
              <a:rPr sz="2400" b="1" dirty="0"/>
              <a:t>Outcome:</a:t>
            </a:r>
            <a:r>
              <a:rPr sz="2400" dirty="0"/>
              <a:t> staging function needs restoration</a:t>
            </a:r>
          </a:p>
          <a:p>
            <a:r>
              <a:rPr sz="2400" b="1" dirty="0"/>
              <a:t>Example:</a:t>
            </a:r>
            <a:r>
              <a:rPr sz="2400" dirty="0"/>
              <a:t> wipe staging data plus quick restore copy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affect data and local restore copy?</a:t>
            </a:r>
          </a:p>
          <a:p>
            <a:r>
              <a:rPr sz="2400" dirty="0">
                <a:latin typeface="Courier New"/>
              </a:rPr>
              <a:t>Criticality:</a:t>
            </a:r>
            <a:r>
              <a:rPr sz="2400" dirty="0"/>
              <a:t> does staging data drive the capability?</a:t>
            </a:r>
          </a:p>
          <a:p>
            <a:r>
              <a:rPr sz="2400" dirty="0">
                <a:latin typeface="Courier New"/>
              </a:rPr>
              <a:t>Containment:</a:t>
            </a:r>
            <a:r>
              <a:rPr sz="2400" dirty="0"/>
              <a:t> avoid unrelated or partner-needed data?</a:t>
            </a:r>
          </a:p>
          <a:p>
            <a:r>
              <a:rPr sz="2400" dirty="0">
                <a:latin typeface="Courier New"/>
              </a:rPr>
              <a:t>Recovery:</a:t>
            </a:r>
            <a:r>
              <a:rPr sz="2400" dirty="0"/>
              <a:t> distant backup, rebuild, or manual re-entry?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missing data plus no quick restore path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Destroy Example — Wipe Staging Data and Quick Restore Copy</a:t>
            </a:r>
          </a:p>
        </p:txBody>
      </p:sp>
      <p:pic>
        <p:nvPicPr>
          <p:cNvPr id="4" name="Picture 3" descr="972767b0f43eafa9ba8b370c6eb1beb032037210af406ded2b8361e77de314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60156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adversary mis-prioritizes effort</a:t>
            </a:r>
          </a:p>
          <a:p>
            <a:r>
              <a:rPr sz="2400" b="1" dirty="0"/>
              <a:t>Example:</a:t>
            </a:r>
            <a:r>
              <a:rPr sz="2400" dirty="0"/>
              <a:t> poison target-priority records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safely write to the right table or queue?</a:t>
            </a:r>
          </a:p>
          <a:p>
            <a:r>
              <a:rPr sz="2400" dirty="0">
                <a:latin typeface="Courier New"/>
              </a:rPr>
              <a:t>Model:</a:t>
            </a:r>
            <a:r>
              <a:rPr sz="2400" dirty="0"/>
              <a:t> fields, valid values, and downstream consumers?</a:t>
            </a:r>
          </a:p>
          <a:p>
            <a:r>
              <a:rPr sz="2400" dirty="0">
                <a:latin typeface="Courier New"/>
              </a:rPr>
              <a:t>Believability:</a:t>
            </a:r>
            <a:r>
              <a:rPr sz="2400" dirty="0"/>
              <a:t> consistent host, user, timing, and priority logic?</a:t>
            </a:r>
          </a:p>
          <a:p>
            <a:r>
              <a:rPr sz="2400" dirty="0">
                <a:latin typeface="Courier New"/>
              </a:rPr>
              <a:t>Detection:</a:t>
            </a:r>
            <a:r>
              <a:rPr sz="2400" dirty="0"/>
              <a:t> can we observe changed tasking or analyst focus?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poisoned record plus mis-prioritized 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Deceive / Manipulate Example — Poison Target-Priority Records</a:t>
            </a:r>
          </a:p>
        </p:txBody>
      </p:sp>
      <p:pic>
        <p:nvPicPr>
          <p:cNvPr id="4" name="Picture 3" descr="8b94e977bcbbb28b1a57399590c510b070017be921e4013feab8b7c4da6ffc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88720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adversary trusts the wrong sequence</a:t>
            </a:r>
          </a:p>
          <a:p>
            <a:r>
              <a:rPr sz="2400" b="1" dirty="0"/>
              <a:t>Example:</a:t>
            </a:r>
            <a:r>
              <a:rPr sz="2400" dirty="0"/>
              <a:t> plant a false timeline artifact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place the artifact where analysts already look?</a:t>
            </a:r>
          </a:p>
          <a:p>
            <a:r>
              <a:rPr sz="2400" dirty="0">
                <a:latin typeface="Courier New"/>
              </a:rPr>
              <a:t>Format:</a:t>
            </a:r>
            <a:r>
              <a:rPr sz="2400" dirty="0"/>
              <a:t> filename, timestamp, metadata, and style match?</a:t>
            </a:r>
          </a:p>
          <a:p>
            <a:r>
              <a:rPr sz="2400" dirty="0">
                <a:latin typeface="Courier New"/>
              </a:rPr>
              <a:t>Consistency:</a:t>
            </a:r>
            <a:r>
              <a:rPr sz="2400" dirty="0"/>
              <a:t> aligns with other logs and host behavior?</a:t>
            </a:r>
          </a:p>
          <a:p>
            <a:r>
              <a:rPr sz="2400" dirty="0">
                <a:latin typeface="Courier New"/>
              </a:rPr>
              <a:t>Risk:</a:t>
            </a:r>
            <a:r>
              <a:rPr sz="2400" dirty="0"/>
              <a:t> false artifact does not break normal workflow?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decoy review, mention, or follow-on 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Deceive / Manipulate Example — Plant a False Timeline Artifact</a:t>
            </a:r>
          </a:p>
        </p:txBody>
      </p:sp>
      <p:pic>
        <p:nvPicPr>
          <p:cNvPr id="4" name="Picture 3" descr="27211131244b1a8b9b78547ee43bf6c717fe7f951d0f737b3e8c4a0c818bb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88720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pipeline map changes the next COA</a:t>
            </a:r>
          </a:p>
          <a:p>
            <a:r>
              <a:rPr sz="2400" b="1" dirty="0"/>
              <a:t>Example:</a:t>
            </a:r>
            <a:r>
              <a:rPr sz="2400" dirty="0"/>
              <a:t> map the collection pipeline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what hosts, services, and data stores are in scope?</a:t>
            </a:r>
          </a:p>
          <a:p>
            <a:r>
              <a:rPr sz="2400" dirty="0">
                <a:latin typeface="Courier New"/>
              </a:rPr>
              <a:t>Safety:</a:t>
            </a:r>
            <a:r>
              <a:rPr sz="2400" dirty="0"/>
              <a:t> commands are read-only and low-noise?</a:t>
            </a:r>
          </a:p>
          <a:p>
            <a:r>
              <a:rPr sz="2400" dirty="0">
                <a:latin typeface="Courier New"/>
              </a:rPr>
              <a:t>Unknowns:</a:t>
            </a:r>
            <a:r>
              <a:rPr sz="2400" dirty="0"/>
              <a:t> controller, feeder, parser, database, relay?</a:t>
            </a:r>
          </a:p>
          <a:p>
            <a:r>
              <a:rPr sz="2400" dirty="0">
                <a:latin typeface="Courier New"/>
              </a:rPr>
              <a:t>Evidence:</a:t>
            </a:r>
            <a:r>
              <a:rPr sz="2400" dirty="0"/>
              <a:t> configs, schedules, process state, and data paths?</a:t>
            </a:r>
          </a:p>
          <a:p>
            <a:r>
              <a:rPr sz="2400" dirty="0">
                <a:latin typeface="Courier New"/>
              </a:rPr>
              <a:t>Output:</a:t>
            </a:r>
            <a:r>
              <a:rPr sz="2400" dirty="0"/>
              <a:t> diagram-ready facts for COA comparison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Reconnoiter Example — Map the Collection Pipeline</a:t>
            </a:r>
          </a:p>
        </p:txBody>
      </p:sp>
      <p:pic>
        <p:nvPicPr>
          <p:cNvPr id="4" name="Picture 3" descr="90f95fb424807316c24ca60a9c0bfd478c0409980a04320dbda12195d6c16a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60156"/>
            <a:ext cx="5131633" cy="51316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timing intelligence changes action window</a:t>
            </a:r>
          </a:p>
          <a:p>
            <a:r>
              <a:rPr sz="2400" b="1" dirty="0"/>
              <a:t>Example:</a:t>
            </a:r>
            <a:r>
              <a:rPr sz="2400" dirty="0"/>
              <a:t> confirm operator cadence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inspect logs without changing state?</a:t>
            </a:r>
          </a:p>
          <a:p>
            <a:r>
              <a:rPr sz="2400" dirty="0">
                <a:latin typeface="Courier New"/>
              </a:rPr>
              <a:t>Sources:</a:t>
            </a:r>
            <a:r>
              <a:rPr sz="2400" dirty="0"/>
              <a:t> login history, job logs, dashboard events, edits?</a:t>
            </a:r>
          </a:p>
          <a:p>
            <a:r>
              <a:rPr sz="2400" dirty="0">
                <a:latin typeface="Courier New"/>
              </a:rPr>
              <a:t>Time basis:</a:t>
            </a:r>
            <a:r>
              <a:rPr sz="2400" dirty="0"/>
              <a:t> </a:t>
            </a:r>
            <a:r>
              <a:rPr sz="2400" dirty="0" err="1"/>
              <a:t>timezone</a:t>
            </a:r>
            <a:r>
              <a:rPr sz="2400" dirty="0"/>
              <a:t>, clock drift, and log rollover?</a:t>
            </a:r>
          </a:p>
          <a:p>
            <a:r>
              <a:rPr sz="2400" dirty="0">
                <a:latin typeface="Courier New"/>
              </a:rPr>
              <a:t>Attribution:</a:t>
            </a:r>
            <a:r>
              <a:rPr sz="2400" dirty="0"/>
              <a:t> human operator, service account, or automation?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cadence pattern tied to next action timing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Reconnoiter Example — Confirm Operator Cadence</a:t>
            </a:r>
          </a:p>
        </p:txBody>
      </p:sp>
      <p:pic>
        <p:nvPicPr>
          <p:cNvPr id="4" name="Picture 3" descr="6b776eeb80214a871a033535a9bae55b7a2686bbe60b91500e399e549b8c7d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60156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054382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reporting path ends at a sink</a:t>
            </a:r>
          </a:p>
          <a:p>
            <a:r>
              <a:rPr sz="2400" b="1" dirty="0"/>
              <a:t>Example:</a:t>
            </a:r>
            <a:r>
              <a:rPr sz="2400" dirty="0"/>
              <a:t> sinkhole the reporting destination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change DNS, proxy, or routing control?</a:t>
            </a:r>
          </a:p>
          <a:p>
            <a:r>
              <a:rPr sz="2400" dirty="0">
                <a:latin typeface="Courier New"/>
              </a:rPr>
              <a:t>Path:</a:t>
            </a:r>
            <a:r>
              <a:rPr sz="2400" dirty="0"/>
              <a:t> destination name, address, protocol, and relay path?</a:t>
            </a:r>
          </a:p>
          <a:p>
            <a:r>
              <a:rPr sz="2400" dirty="0">
                <a:latin typeface="Courier New"/>
              </a:rPr>
              <a:t>Scope:</a:t>
            </a:r>
            <a:r>
              <a:rPr sz="2400" dirty="0"/>
              <a:t> affects intended reporting flow only?</a:t>
            </a:r>
          </a:p>
          <a:p>
            <a:r>
              <a:rPr sz="2400" dirty="0">
                <a:latin typeface="Courier New"/>
              </a:rPr>
              <a:t>Alternates:</a:t>
            </a:r>
            <a:r>
              <a:rPr sz="2400" dirty="0"/>
              <a:t> cached address, backup domain, direct IP path?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traffic reaches sink or fails before analyst node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 dirty="0"/>
              <a:t>Interdict Example — Sinkhole the Reporting Destination</a:t>
            </a:r>
          </a:p>
        </p:txBody>
      </p:sp>
      <p:pic>
        <p:nvPicPr>
          <p:cNvPr id="5" name="Picture 4" descr="dae906a4346d5d2c2e1e02d3dba111406fe9c0cbb50b8677e40a60dd47640b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60156"/>
            <a:ext cx="5131633" cy="51316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workflow segment is isolated</a:t>
            </a:r>
          </a:p>
          <a:p>
            <a:r>
              <a:rPr sz="2400" b="1" dirty="0"/>
              <a:t>Example:</a:t>
            </a:r>
            <a:r>
              <a:rPr sz="2400" dirty="0"/>
              <a:t> remove queue access between stages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can we change queue or share permissions?</a:t>
            </a:r>
          </a:p>
          <a:p>
            <a:r>
              <a:rPr sz="2400" dirty="0">
                <a:latin typeface="Courier New"/>
              </a:rPr>
              <a:t>Handoff:</a:t>
            </a:r>
            <a:r>
              <a:rPr sz="2400" dirty="0"/>
              <a:t> which stage writes and which stage reads?</a:t>
            </a:r>
          </a:p>
          <a:p>
            <a:r>
              <a:rPr sz="2400" dirty="0">
                <a:latin typeface="Courier New"/>
              </a:rPr>
              <a:t>Impact:</a:t>
            </a:r>
            <a:r>
              <a:rPr sz="2400" dirty="0"/>
              <a:t> upstream collection continues but cannot advance?</a:t>
            </a:r>
          </a:p>
          <a:p>
            <a:r>
              <a:rPr sz="2400" dirty="0">
                <a:latin typeface="Courier New"/>
              </a:rPr>
              <a:t>Containment:</a:t>
            </a:r>
            <a:r>
              <a:rPr sz="2400" dirty="0"/>
              <a:t> only intended queue, share, or API endpoint?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stalled queue plus isolated downstream stage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Interdict Example — Remove Queue Access Between Stages</a:t>
            </a:r>
          </a:p>
        </p:txBody>
      </p:sp>
      <p:pic>
        <p:nvPicPr>
          <p:cNvPr id="4" name="Picture 3" descr="362080ae1eab1007d43541b734052acdfebbf9394ba25c31cb7ef85d31afb9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88720"/>
            <a:ext cx="5150196" cy="51501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partner can use access immediately</a:t>
            </a:r>
          </a:p>
          <a:p>
            <a:r>
              <a:rPr sz="2400" b="1" dirty="0"/>
              <a:t>Example:</a:t>
            </a:r>
            <a:r>
              <a:rPr sz="2400" dirty="0"/>
              <a:t> deliver an access package</a:t>
            </a:r>
          </a:p>
          <a:p>
            <a:r>
              <a:rPr sz="2400" dirty="0">
                <a:latin typeface="Courier New"/>
              </a:rPr>
              <a:t>Access:</a:t>
            </a:r>
            <a:r>
              <a:rPr sz="2400" dirty="0"/>
              <a:t> tested path, account, credential, and method?</a:t>
            </a:r>
          </a:p>
          <a:p>
            <a:r>
              <a:rPr sz="2400" dirty="0">
                <a:latin typeface="Courier New"/>
              </a:rPr>
              <a:t>Context:</a:t>
            </a:r>
            <a:r>
              <a:rPr sz="2400" dirty="0"/>
              <a:t> host role, network position, privileges, limits?</a:t>
            </a:r>
          </a:p>
          <a:p>
            <a:r>
              <a:rPr sz="2400" dirty="0">
                <a:latin typeface="Courier New"/>
              </a:rPr>
              <a:t>Reliability:</a:t>
            </a:r>
            <a:r>
              <a:rPr sz="2400" dirty="0"/>
              <a:t> session lifetime, resets, MFA, timing windows?</a:t>
            </a:r>
          </a:p>
          <a:p>
            <a:r>
              <a:rPr sz="2400" dirty="0">
                <a:latin typeface="Courier New"/>
              </a:rPr>
              <a:t>Risk:</a:t>
            </a:r>
            <a:r>
              <a:rPr sz="2400" dirty="0"/>
              <a:t> deconfliction, burn risk, and do-not-touch notes?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partner can connect and orient in minutes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Handoff Example — Deliver an Access Package</a:t>
            </a:r>
          </a:p>
        </p:txBody>
      </p:sp>
      <p:pic>
        <p:nvPicPr>
          <p:cNvPr id="4" name="Picture 3" descr="1cd1227a2710dd2a602bfebf5970407a1a35024ccda9873f9e3939389c348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2" y="1160155"/>
            <a:ext cx="5131633" cy="51316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 fontScale="92500" lnSpcReduction="20000"/>
          </a:bodyPr>
          <a:lstStyle/>
          <a:p>
            <a:r>
              <a:rPr sz="2400" b="1" dirty="0"/>
              <a:t>Outcome:</a:t>
            </a:r>
            <a:r>
              <a:rPr sz="2400" dirty="0"/>
              <a:t> partner capability is ready to operate</a:t>
            </a:r>
          </a:p>
          <a:p>
            <a:r>
              <a:rPr sz="2400" b="1" dirty="0"/>
              <a:t>Example:</a:t>
            </a:r>
            <a:r>
              <a:rPr sz="2400" dirty="0"/>
              <a:t> validate a partner capability</a:t>
            </a:r>
          </a:p>
          <a:p>
            <a:r>
              <a:rPr sz="2400" dirty="0">
                <a:latin typeface="Courier New"/>
              </a:rPr>
              <a:t>Approval:</a:t>
            </a:r>
            <a:r>
              <a:rPr sz="2400" dirty="0"/>
              <a:t> capability, placement, and timing are authorized?</a:t>
            </a:r>
          </a:p>
          <a:p>
            <a:r>
              <a:rPr sz="2400" dirty="0">
                <a:latin typeface="Courier New"/>
              </a:rPr>
              <a:t>Node:</a:t>
            </a:r>
            <a:r>
              <a:rPr sz="2400" dirty="0"/>
              <a:t> correct host, privilege level, and network position?</a:t>
            </a:r>
          </a:p>
          <a:p>
            <a:r>
              <a:rPr sz="2400" dirty="0">
                <a:latin typeface="Courier New"/>
              </a:rPr>
              <a:t>Persistence:</a:t>
            </a:r>
            <a:r>
              <a:rPr sz="2400" dirty="0"/>
              <a:t> survives reboot, task rotation, or session loss?</a:t>
            </a:r>
          </a:p>
          <a:p>
            <a:r>
              <a:rPr sz="2400" dirty="0">
                <a:latin typeface="Courier New"/>
              </a:rPr>
              <a:t>Training:</a:t>
            </a:r>
            <a:r>
              <a:rPr sz="2400" dirty="0"/>
              <a:t> receiving team knows use, limits, and recovery?</a:t>
            </a:r>
          </a:p>
          <a:p>
            <a:r>
              <a:rPr sz="2400" dirty="0">
                <a:latin typeface="Courier New"/>
              </a:rPr>
              <a:t>Proof:</a:t>
            </a:r>
            <a:r>
              <a:rPr sz="2400" dirty="0"/>
              <a:t> partner can operate capability from handoff notes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Handoff Example — Validate a Partner Capability</a:t>
            </a:r>
          </a:p>
        </p:txBody>
      </p:sp>
      <p:pic>
        <p:nvPicPr>
          <p:cNvPr id="4" name="Picture 3" descr="0d60cdc62d12f6f3e4c66be2e4069260cc41466e1e37b4fa9943fdbaf492a8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2" y="1188719"/>
            <a:ext cx="5131633" cy="51316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/>
          </a:bodyPr>
          <a:lstStyle/>
          <a:p>
            <a:r>
              <a:rPr sz="2400" b="1" dirty="0"/>
              <a:t>D4M / interdict:</a:t>
            </a:r>
            <a:r>
              <a:rPr sz="2400" dirty="0"/>
              <a:t> CG as capability or pathway</a:t>
            </a:r>
          </a:p>
          <a:p>
            <a:r>
              <a:rPr sz="2400" b="1" dirty="0"/>
              <a:t>Deceive / manipulate:</a:t>
            </a:r>
            <a:r>
              <a:rPr sz="2400" dirty="0"/>
              <a:t> decision cycle and EMLCOA</a:t>
            </a:r>
          </a:p>
          <a:p>
            <a:r>
              <a:rPr sz="2400" b="1" dirty="0"/>
              <a:t>Reconnoiter:</a:t>
            </a:r>
            <a:r>
              <a:rPr sz="2400" dirty="0"/>
              <a:t> RFIs, assumptions, refined CV</a:t>
            </a:r>
          </a:p>
          <a:p>
            <a:r>
              <a:rPr sz="2400" b="1" dirty="0"/>
              <a:t>Handoff:</a:t>
            </a:r>
            <a:r>
              <a:rPr sz="2400" dirty="0"/>
              <a:t> partner reach and operational options</a:t>
            </a:r>
          </a:p>
          <a:p>
            <a:r>
              <a:rPr sz="2400" dirty="0"/>
              <a:t>Week 1 intent still applies: </a:t>
            </a:r>
            <a:r>
              <a:rPr sz="2400" b="1" dirty="0"/>
              <a:t>impose cost; generate options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Mapping Effects to Week 1 Vocabulary</a:t>
            </a:r>
          </a:p>
        </p:txBody>
      </p:sp>
      <p:pic>
        <p:nvPicPr>
          <p:cNvPr id="4" name="Picture 3" descr="85e08157744b4216643ef907d834b445cafb3b508e268a4c60392e168e6d85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2" y="1160155"/>
            <a:ext cx="5131633" cy="513163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/>
          </a:bodyPr>
          <a:lstStyle/>
          <a:p>
            <a:r>
              <a:rPr sz="2400" dirty="0"/>
              <a:t>Command-directed operations</a:t>
            </a:r>
          </a:p>
          <a:p>
            <a:r>
              <a:rPr sz="2400" dirty="0"/>
              <a:t>Not hacking just to hack</a:t>
            </a:r>
          </a:p>
          <a:p>
            <a:r>
              <a:rPr sz="2400" dirty="0"/>
              <a:t>Access is only one condition</a:t>
            </a:r>
          </a:p>
          <a:p>
            <a:r>
              <a:rPr sz="2400" dirty="0"/>
              <a:t>Think through the full tactical process</a:t>
            </a:r>
          </a:p>
          <a:p>
            <a:r>
              <a:rPr sz="2400" dirty="0"/>
              <a:t>Then execute, assess, and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Professional Operations Under Command Direction</a:t>
            </a:r>
          </a:p>
        </p:txBody>
      </p:sp>
      <p:pic>
        <p:nvPicPr>
          <p:cNvPr id="4" name="Picture 3" descr="076b0b3825f4b0622fbda17e81ae1a4a86d497a412f330c944ca01ea8d8114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2" y="1160155"/>
            <a:ext cx="5131633" cy="513163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/>
          </a:bodyPr>
          <a:lstStyle/>
          <a:p>
            <a:r>
              <a:rPr sz="2400" dirty="0"/>
              <a:t>Same Week 1 flow</a:t>
            </a:r>
          </a:p>
          <a:p>
            <a:r>
              <a:rPr sz="2400" b="1" dirty="0"/>
              <a:t>Mission analysis:</a:t>
            </a:r>
            <a:r>
              <a:rPr sz="2400" dirty="0"/>
              <a:t> task / purpose / constraints / desired effect</a:t>
            </a:r>
          </a:p>
          <a:p>
            <a:r>
              <a:rPr sz="2400" b="1" dirty="0"/>
              <a:t>COA comparison:</a:t>
            </a:r>
            <a:r>
              <a:rPr sz="2400" dirty="0"/>
              <a:t> feasible / acceptable / suitable / adversary response</a:t>
            </a:r>
          </a:p>
          <a:p>
            <a:r>
              <a:rPr sz="2400" b="1" dirty="0"/>
              <a:t>Execution:</a:t>
            </a:r>
            <a:r>
              <a:rPr sz="2400" dirty="0"/>
              <a:t> select / coordinate / act</a:t>
            </a:r>
          </a:p>
          <a:p>
            <a:r>
              <a:rPr sz="2400" b="1" dirty="0"/>
              <a:t>Assessment:</a:t>
            </a:r>
            <a:r>
              <a:rPr sz="2400" dirty="0"/>
              <a:t> intended effect vs observed effect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Counterstrike Planning Cycle (Week 1 Applied)</a:t>
            </a:r>
          </a:p>
        </p:txBody>
      </p:sp>
      <p:pic>
        <p:nvPicPr>
          <p:cNvPr id="4" name="Picture 3" descr="46fc9394001f6a25edd786caf580c90e19eb0a07869ee6f35c775bbc6fba8b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13" y="1160156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0029" y="1188720"/>
            <a:ext cx="4585971" cy="5131633"/>
          </a:xfrm>
        </p:spPr>
        <p:txBody>
          <a:bodyPr wrap="square">
            <a:normAutofit/>
          </a:bodyPr>
          <a:lstStyle/>
          <a:p>
            <a:r>
              <a:rPr sz="2400" b="1" dirty="0"/>
              <a:t>L4.1a:</a:t>
            </a:r>
            <a:r>
              <a:rPr sz="2400" dirty="0"/>
              <a:t> disable adversary tooling</a:t>
            </a:r>
          </a:p>
          <a:p>
            <a:r>
              <a:rPr sz="2400" dirty="0"/>
              <a:t>Effects: </a:t>
            </a:r>
            <a:r>
              <a:rPr sz="2400" b="1" dirty="0"/>
              <a:t>degrade / disrupt / deny</a:t>
            </a:r>
          </a:p>
          <a:p>
            <a:r>
              <a:rPr sz="2400" b="1" dirty="0"/>
              <a:t>L4.1b:</a:t>
            </a:r>
            <a:r>
              <a:rPr sz="2400" dirty="0"/>
              <a:t> false information injection</a:t>
            </a:r>
          </a:p>
          <a:p>
            <a:r>
              <a:rPr sz="2400" dirty="0"/>
              <a:t>Effects: </a:t>
            </a:r>
            <a:r>
              <a:rPr sz="2400" b="1" dirty="0"/>
              <a:t>deceive / manipulate</a:t>
            </a:r>
          </a:p>
          <a:p>
            <a:r>
              <a:rPr sz="2400" dirty="0"/>
              <a:t>Deliverable: short effect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Today's Two Labs — L4.1a and L4.1b</a:t>
            </a:r>
          </a:p>
        </p:txBody>
      </p:sp>
      <p:pic>
        <p:nvPicPr>
          <p:cNvPr id="4" name="Picture 3" descr="5af0528dde8c9bcef994de3351d15791f550b15134748abe8c6f1af75a3c6a98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90713" y="1188720"/>
            <a:ext cx="5131632" cy="51316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2400"/>
              <a:t>Before action: </a:t>
            </a:r>
            <a:r>
              <a:rPr sz="2400" b="1"/>
              <a:t>effect / action / predicted response</a:t>
            </a:r>
          </a:p>
          <a:p>
            <a:r>
              <a:rPr sz="2400"/>
              <a:t>After action: </a:t>
            </a:r>
            <a:r>
              <a:rPr sz="2400" b="1"/>
              <a:t>observed result / risk reassessment</a:t>
            </a:r>
          </a:p>
          <a:p>
            <a:r>
              <a:rPr sz="2400"/>
              <a:t>Five lines = report format</a:t>
            </a:r>
          </a:p>
          <a:p>
            <a:r>
              <a:rPr sz="2400"/>
              <a:t>Tomorrow: </a:t>
            </a:r>
            <a:r>
              <a:rPr sz="2400" b="1"/>
              <a:t>Reconnoiter</a:t>
            </a:r>
            <a:r>
              <a:rPr sz="2400"/>
              <a:t> and </a:t>
            </a:r>
            <a:r>
              <a:rPr sz="2400" b="1"/>
              <a:t>Handoff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Wrap — Planning Cadence, Then Execute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44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TemplateL_Green Unclas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8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cture Guide Template_AOC_20230414" id="{8959DFD7-926F-4406-8670-4DF5FDEA2D75}" vid="{199B4965-A47D-45F3-92F8-17A6BA23E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e5daa175-c0b1-4ddd-b63a-d3e50dcc4732</TitusGUID>
  <TitusMetadata xmlns="">eyJucyI6Imh0dHA6XC9cL3d3dy50aXR1cy5jb21cL25zXC9Kb2ludCBTZXJ2aWNlIFByb3ZpZGVyIiwicHJvcHMiOlt7Im4iOiJDbGFzc2lmaWNhdGlvblRpdHVzIiwidmFscyI6W3sidmFsdWUiOiJCTEFOSyJ9XX0seyJuIjoiU2NpVGl0dXMiLCJ2YWxzIjpbXX0seyJuIjoiRGlzc2VtVGl0dXMiLCJ2YWxzIjpbXX0seyJuIjoiUmVsVGl0dXMiLCJ2YWxzIjpbXX0seyJuIjoiQ2xhc3NpZmllZEJ5IiwidmFscyI6W119LHsibiI6IkRlcml2ZWRGcm9tIiwidmFscyI6W119LHsibiI6IkRhdGVkIiwidmFscyI6W119LHsibiI6IkRlY2xhc3NpZnlPbiIsInZhbHMiOltdfSx7Im4iOiJBZGRpdGlvbmFsRmllbGRzIiwidmFscyI6W119LHsibiI6IkFFQU1hcmtpbmdzIiwidmFscyI6W119LHsibiI6IkZHSU1hcmtpbmdzIiwidmFscyI6W119LHsibiI6IkFDQ01NYXJraW5ncyIsInZhbHMiOltdfSx7Im4iOiJQcml2YWN5U2Vuc2l0aXZlIiwidmFscyI6W119LHsibiI6IkNVSUJ1dHRvbiIsInZhbHMiOltdfSx7Im4iOiJDb250cm9sbGVkQnkiLCJ2YWxzIjpbXX0seyJuIjoiQ1VJQ2F0ZWdvcnkiLCJ2YWxzIjpbXX0seyJuIjoiTGltaXRlZERpc3NlbWluYXRpb25Db250cm9sIiwidmFscyI6W119LHsibiI6IlBPQyIsInZhbHMiOltdfSx7Im4iOiJDcml0aWNhbEluZnJhc3RydWN0dXJlIiwidmFscyI6W119LHsibiI6IkRlZmVuc2UiLCJ2YWxzIjpbXX0seyJuIjoiRXhwb3J0Q29udHJvbGxlZCIsInZhbHMiOltdfSx7Im4iOiJGaW5hbmNpYWwiLCJ2YWxzIjpbXX0seyJuIjoiSW1taWdyYXRpb24iLCJ2YWxzIjpbXX0seyJuIjoiSW50ZWxsaWdlbmNlIiwidmFscyI6W119LHsibiI6IkludGVybmF0aW9uYWxBZ3JlZW1lbnRzIiwidmFscyI6W119LHsibiI6Ikxhd0VuZm9yY2VtZW50IiwidmFscyI6W119LHsibiI6IkxlZ2FsIiwidmFscyI6W119LHsibiI6Ik5hdHVyYWxDdWx0dXJhbFJlc291cmNlcyIsInZhbHMiOltdfSx7Im4iOiJOb3J0aEF0bGFudGljVHJlYXR5T3JnYW5pemF0aW9uIiwidmFscyI6W119LHsibiI6Ik5VQ0xFQVIiLCJ2YWxzIjpbXX0seyJuIjoiUGF0aWVudCIsInZhbHMiOltdfSx7Im4iOiJQcml2YWN5IiwidmFscyI6W119LHsibiI6IlByb2N1cmVtZW50QWNxdWlzaXRpb24iLCJ2YWxzIjpbXX0seyJuIjoiUHJvcHJpZXRhcnlCdXNpbmVzc0luZm9ybWF0aW9uIiwidmFscyI6W119LHsibiI6IlN0YXRpc3RpY2FsIiwidmFscyI6W119LHsibiI6IlRheCIsInZhbHMiOltdfSx7Im4iOiJUcmFuc3BvcnRhdGlvbiIsInZhbHMiOltdfSx7Im4iOiJSRUxDVUkiLCJ2YWxzIjpbXX1dfQ==</TitusMetadata>
</titus>
</file>

<file path=customXml/itemProps1.xml><?xml version="1.0" encoding="utf-8"?>
<ds:datastoreItem xmlns:ds="http://schemas.openxmlformats.org/officeDocument/2006/customXml" ds:itemID="{9ED1A20F-9DE4-4159-9A6D-18E30615BA76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Lecture Guide Template_AOC_20230414</Template>
  <TotalTime>1626</TotalTime>
  <Words>5947</Words>
  <Application>Microsoft Office PowerPoint</Application>
  <PresentationFormat>Widescreen</PresentationFormat>
  <Paragraphs>693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CyberTemplateL_Green Unclass</vt:lpstr>
      <vt:lpstr>4.1 Effects Operations Overview</vt:lpstr>
      <vt:lpstr>Effects Operations — Why We Are Here</vt:lpstr>
      <vt:lpstr>Effect ≠ Action</vt:lpstr>
      <vt:lpstr>Doctrinal Effects Language (D4M Family + Related Terms)</vt:lpstr>
      <vt:lpstr>Deny Example — Revoke the Collector Credential</vt:lpstr>
      <vt:lpstr>Deny Example — Block the Exfil Route</vt:lpstr>
      <vt:lpstr>Degrade Example — Lengthen Polling Interval</vt:lpstr>
      <vt:lpstr>Degrade Example — Remove One Feeder Source</vt:lpstr>
      <vt:lpstr>Disrupt Example — Stop Process During Reporting</vt:lpstr>
      <vt:lpstr>Disrupt Example — Scramble Scheduler Order</vt:lpstr>
      <vt:lpstr>Destroy Example — Remove Key Material</vt:lpstr>
      <vt:lpstr>Destroy Example — Wipe Staging Data and Quick Restore Copy</vt:lpstr>
      <vt:lpstr>Deceive / Manipulate Example — Poison Target-Priority Records</vt:lpstr>
      <vt:lpstr>Deceive / Manipulate Example — Plant a False Timeline Artifact</vt:lpstr>
      <vt:lpstr>Reconnoiter Example — Map the Collection Pipeline</vt:lpstr>
      <vt:lpstr>Reconnoiter Example — Confirm Operator Cadence</vt:lpstr>
      <vt:lpstr>Interdict Example — Sinkhole the Reporting Destination</vt:lpstr>
      <vt:lpstr>Interdict Example — Remove Queue Access Between Stages</vt:lpstr>
      <vt:lpstr>Handoff Example — Deliver an Access Package</vt:lpstr>
      <vt:lpstr>Handoff Example — Validate a Partner Capability</vt:lpstr>
      <vt:lpstr>Mapping Effects to Week 1 Vocabulary</vt:lpstr>
      <vt:lpstr>Professional Operations Under Command Direction</vt:lpstr>
      <vt:lpstr>Counterstrike Planning Cycle (Week 1 Applied)</vt:lpstr>
      <vt:lpstr>Today's Two Labs — L4.1a and L4.1b</vt:lpstr>
      <vt:lpstr>Wrap — Planning Cadence, Then Execute</vt:lpstr>
      <vt:lpstr>Questions?</vt:lpstr>
    </vt:vector>
  </TitlesOfParts>
  <Company>DoD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(U) Security Products Software and Nomenclature</dc:title>
  <dc:creator>Cross, Clayton D</dc:creator>
  <cp:lastModifiedBy>Cross, Clay</cp:lastModifiedBy>
  <cp:revision>104</cp:revision>
  <dcterms:created xsi:type="dcterms:W3CDTF">2023-04-26T14:13:19Z</dcterms:created>
  <dcterms:modified xsi:type="dcterms:W3CDTF">2026-06-08T03:08:25Z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e5daa175-c0b1-4ddd-b63a-d3e50dcc4732</vt:lpwstr>
  </property>
  <property fmtid="{D5CDD505-2E9C-101B-9397-08002B2CF9AE}" pid="3" name="ClassificationTitus">
    <vt:lpwstr>BLANK</vt:lpwstr>
  </property>
</Properties>
</file>