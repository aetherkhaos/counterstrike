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 b="1">
                <a:solidFill>
                  <a:srgbClr val="002060"/>
                </a:solidFill>
                <a:latin typeface="Calibri"/>
              </a:defRPr>
            </a:pPr>
            <a:r>
              <a:t>Tactical Planning Part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800">
                <a:solidFill>
                  <a:srgbClr val="002060"/>
                </a:solidFill>
                <a:latin typeface="Calibri"/>
              </a:defRPr>
            </a:pPr>
            <a:r>
              <a:t>Applying the Tactical Planning Process Against a Real-World Adversary: FSB Center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2060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1800">
                <a:solidFill>
                  <a:srgbClr val="323232"/>
                </a:solidFill>
                <a:latin typeface="Calibri"/>
              </a:defRPr>
            </a:pPr>
            <a:r>
              <a:t>Introduction to the Tactical Engagement</a:t>
            </a:r>
          </a:p>
          <a:p>
            <a:pPr lvl="1">
              <a:defRPr sz="1800">
                <a:solidFill>
                  <a:srgbClr val="323232"/>
                </a:solidFill>
                <a:latin typeface="Calibri"/>
              </a:defRPr>
            </a:pPr>
            <a:r>
              <a:rPr b="1"/>
              <a:t>The Planning Process: </a:t>
            </a:r>
            <a:r>
              <a:t>METT-TC to TASKS</a:t>
            </a:r>
          </a:p>
          <a:p>
            <a:pPr lvl="1">
              <a:defRPr sz="1800">
                <a:solidFill>
                  <a:srgbClr val="323232"/>
                </a:solidFill>
                <a:latin typeface="Calibri"/>
              </a:defRPr>
            </a:pPr>
            <a:r>
              <a:t>Mission and Enemy Analysis</a:t>
            </a:r>
          </a:p>
          <a:p>
            <a:pPr lvl="1">
              <a:defRPr sz="1800">
                <a:solidFill>
                  <a:srgbClr val="323232"/>
                </a:solidFill>
                <a:latin typeface="Calibri"/>
              </a:defRPr>
            </a:pPr>
            <a:r>
              <a:t>Friendly Forces and Terrain Assessment</a:t>
            </a:r>
          </a:p>
          <a:p>
            <a:pPr lvl="1">
              <a:defRPr sz="1800">
                <a:solidFill>
                  <a:srgbClr val="323232"/>
                </a:solidFill>
                <a:latin typeface="Calibri"/>
              </a:defRPr>
            </a:pPr>
            <a:r>
              <a:rPr b="1"/>
              <a:t>Developing the Plan: </a:t>
            </a:r>
            <a:r>
              <a:t>EMLCOA, CG/CV, SOM, FSP</a:t>
            </a:r>
          </a:p>
          <a:p>
            <a:pPr lvl="1">
              <a:defRPr sz="1800">
                <a:solidFill>
                  <a:srgbClr val="323232"/>
                </a:solidFill>
                <a:latin typeface="Calibri"/>
              </a:defRPr>
            </a:pPr>
            <a:r>
              <a:t>Tasking Organic Assets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2060"/>
                </a:solidFill>
                <a:latin typeface="Calibri"/>
              </a:defRPr>
            </a:pPr>
            <a:r>
              <a:t>Introduction: Shifting the Mindset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323232"/>
                </a:solidFill>
                <a:latin typeface="Calibri"/>
              </a:defRPr>
            </a:pPr>
            <a:r>
              <a:rPr b="1"/>
              <a:t>Objective: </a:t>
            </a:r>
            <a:r>
              <a:t>Apply the tactical planning process against a real-world adversary: the Russian FSB Center 18.</a:t>
            </a:r>
          </a:p>
          <a:p>
            <a:pPr>
              <a:defRPr sz="1800">
                <a:solidFill>
                  <a:srgbClr val="323232"/>
                </a:solidFill>
                <a:latin typeface="Calibri"/>
              </a:defRPr>
            </a:pPr>
            <a:r>
              <a:rPr b="1"/>
              <a:t>Key Mindset Shift: </a:t>
            </a:r>
            <a:r>
              <a:t>We are not hunting decoupled "hacker groups" like "Gamaredon." We are conducting tactical engagements against a state intelligence entity—the Russian FSB.</a:t>
            </a:r>
          </a:p>
          <a:p>
            <a:pPr>
              <a:defRPr sz="1800">
                <a:solidFill>
                  <a:srgbClr val="323232"/>
                </a:solidFill>
                <a:latin typeface="Calibri"/>
              </a:defRPr>
            </a:pPr>
            <a:r>
              <a:rPr b="1"/>
              <a:t>Primary References: </a:t>
            </a:r>
            <a:r>
              <a:t/>
            </a:r>
          </a:p>
          <a:p>
            <a:pPr lvl="1">
              <a:defRPr sz="1800">
                <a:solidFill>
                  <a:srgbClr val="323232"/>
                </a:solidFill>
                <a:latin typeface="Calibri"/>
              </a:defRPr>
            </a:pPr>
            <a:r>
              <a:t>The Tactical Planning Process student handout</a:t>
            </a:r>
          </a:p>
          <a:p>
            <a:pPr lvl="1">
              <a:defRPr sz="1800">
                <a:solidFill>
                  <a:srgbClr val="323232"/>
                </a:solidFill>
                <a:latin typeface="Calibri"/>
              </a:defRPr>
            </a:pPr>
            <a:r>
              <a:t>ESET reports on FSB Center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4000" b="1">
                <a:solidFill>
                  <a:srgbClr val="002060"/>
                </a:solidFill>
                <a:latin typeface="Calibri"/>
              </a:defRPr>
            </a:pPr>
            <a:r>
              <a:t>The Tactical Planning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/>
          <a:p>
            <a:pPr algn="ctr">
              <a:defRPr sz="3200">
                <a:solidFill>
                  <a:srgbClr val="323232"/>
                </a:solidFill>
                <a:latin typeface="Calibri"/>
              </a:defRPr>
            </a:pPr>
            <a:r>
              <a:t>METT-TC -&gt; EMLCOA -&gt; CG/CV/EXP. PLAN -&gt; SOM -&gt; FSP -&gt; TASKS</a:t>
            </a:r>
            <a:br/>
            <a:br/>
            <a:r>
              <a:t>This is our roadmap for developing a comprehensive and actionable tactical plan.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4000" b="1">
                <a:solidFill>
                  <a:srgbClr val="002060"/>
                </a:solidFill>
                <a:latin typeface="Calibri"/>
              </a:defRPr>
            </a:pPr>
            <a:r>
              <a:t>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/>
          <a:p>
            <a:pPr algn="ctr">
              <a:defRPr sz="3200">
                <a:solidFill>
                  <a:srgbClr val="323232"/>
                </a:solidFill>
                <a:latin typeface="Calibri"/>
              </a:defRPr>
            </a:pPr>
            <a:r>
              <a:t>Deny or degrade the FSB Center 18's ability to collect intelligence from network X in order to preserve friendly freedom of maneuver in cyberspace.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2060"/>
                </a:solidFill>
                <a:latin typeface="Calibri"/>
              </a:defRPr>
            </a:pPr>
            <a:r>
              <a:t>Enemy Analysis: FSB Center 18 (SALUTE Report)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323232"/>
                </a:solidFill>
                <a:latin typeface="Calibri"/>
              </a:defRPr>
            </a:pPr>
            <a:r>
              <a:rPr b="1"/>
              <a:t>Size: </a:t>
            </a:r>
            <a:r>
              <a:t>Assumed to be well-funded and well-resourced as part of the FSB.</a:t>
            </a:r>
          </a:p>
          <a:p>
            <a:pPr>
              <a:defRPr sz="1800">
                <a:solidFill>
                  <a:srgbClr val="323232"/>
                </a:solidFill>
                <a:latin typeface="Calibri"/>
              </a:defRPr>
            </a:pPr>
            <a:r>
              <a:rPr b="1"/>
              <a:t>Activity: </a:t>
            </a:r>
            <a:r>
              <a:t>Cyberespionage, focused on data theft.</a:t>
            </a:r>
          </a:p>
          <a:p>
            <a:pPr>
              <a:defRPr sz="1800">
                <a:solidFill>
                  <a:srgbClr val="323232"/>
                </a:solidFill>
                <a:latin typeface="Calibri"/>
              </a:defRPr>
            </a:pPr>
            <a:r>
              <a:rPr b="1"/>
              <a:t>Location: </a:t>
            </a:r>
            <a:r>
              <a:t>Physically based in occupied Crimea; operates globally with infrastructure and within Ukrainian networks.</a:t>
            </a:r>
          </a:p>
          <a:p>
            <a:pPr>
              <a:defRPr sz="1800">
                <a:solidFill>
                  <a:srgbClr val="323232"/>
                </a:solidFill>
                <a:latin typeface="Calibri"/>
              </a:defRPr>
            </a:pPr>
            <a:r>
              <a:rPr b="1"/>
              <a:t>Unit: </a:t>
            </a:r>
            <a:r>
              <a:t>18th Center of Information Security of the FSB (Military Unit 64829).</a:t>
            </a:r>
          </a:p>
          <a:p>
            <a:pPr>
              <a:defRPr sz="1800">
                <a:solidFill>
                  <a:srgbClr val="323232"/>
                </a:solidFill>
                <a:latin typeface="Calibri"/>
              </a:defRPr>
            </a:pPr>
            <a:r>
              <a:rPr b="1"/>
              <a:t>Time: </a:t>
            </a:r>
            <a:r>
              <a:t>Operations are ongoing.</a:t>
            </a:r>
          </a:p>
          <a:p>
            <a:pPr>
              <a:defRPr sz="1800">
                <a:solidFill>
                  <a:srgbClr val="323232"/>
                </a:solidFill>
                <a:latin typeface="Calibri"/>
              </a:defRPr>
            </a:pPr>
            <a:r>
              <a:rPr b="1"/>
              <a:t>Equipment: </a:t>
            </a:r>
            <a:r>
              <a:t>Heavily obfuscated script-based tools (PowerShell, VBScript), droppers, stealers, and backdoors designed to bypass endpoint protection.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2060"/>
                </a:solidFill>
                <a:latin typeface="Calibri"/>
              </a:defRPr>
            </a:pPr>
            <a:r>
              <a:t>Enemy Capabilities: How They Operate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323232"/>
                </a:solidFill>
                <a:latin typeface="Calibri"/>
              </a:defRPr>
            </a:pPr>
            <a:r>
              <a:rPr b="1"/>
              <a:t>Initial Access: </a:t>
            </a:r>
            <a:r>
              <a:t>Spearphishing (malicious LNK/HTA attachments) and weaponized USB drives (PteroLNK).</a:t>
            </a:r>
          </a:p>
          <a:p>
            <a:pPr>
              <a:defRPr sz="1800">
                <a:solidFill>
                  <a:srgbClr val="323232"/>
                </a:solidFill>
                <a:latin typeface="Calibri"/>
              </a:defRPr>
            </a:pPr>
            <a:r>
              <a:rPr b="1"/>
              <a:t>Data Exfiltration: </a:t>
            </a:r>
            <a:r>
              <a:t>Stealing documents, browser credentials (PteroSteal), cookies (PteroCookie), and data from Signal (PteroSig) and Telegram (PteroGram).</a:t>
            </a:r>
          </a:p>
          <a:p>
            <a:pPr>
              <a:defRPr sz="1800">
                <a:solidFill>
                  <a:srgbClr val="323232"/>
                </a:solidFill>
                <a:latin typeface="Calibri"/>
              </a:defRPr>
            </a:pPr>
            <a:r>
              <a:rPr b="1"/>
              <a:t>Persistence &amp; Lateral Movement: </a:t>
            </a:r>
            <a:r>
              <a:t>Weaponized Office templates (PteroDoc, PteroTemplate) and extensive use of scheduled tasks.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2060"/>
                </a:solidFill>
                <a:latin typeface="Calibri"/>
              </a:defRPr>
            </a:pPr>
            <a:r>
              <a:t>Enemy Capabilities &amp; Limitations (DRAWD)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323232"/>
                </a:solidFill>
                <a:latin typeface="Calibri"/>
              </a:defRPr>
            </a:pPr>
            <a:r>
              <a:rPr b="1"/>
              <a:t>Defend: </a:t>
            </a:r>
            <a:r>
              <a:t>Defends access by deploying multiple, simple backdoors simultaneously and using third-party services like Telegram and Cloudflare to thwart blocking.</a:t>
            </a:r>
          </a:p>
          <a:p>
            <a:pPr>
              <a:defRPr sz="1800">
                <a:solidFill>
                  <a:srgbClr val="323232"/>
                </a:solidFill>
                <a:latin typeface="Calibri"/>
              </a:defRPr>
            </a:pPr>
            <a:r>
              <a:rPr b="1"/>
              <a:t>Reinforce: </a:t>
            </a:r>
            <a:r>
              <a:t>Reinforces positions by deploying more backdoors or handing off high-value access to more sophisticated actors like Center 16 (InvisiMole).</a:t>
            </a:r>
          </a:p>
          <a:p>
            <a:pPr>
              <a:defRPr sz="1800">
                <a:solidFill>
                  <a:srgbClr val="323232"/>
                </a:solidFill>
                <a:latin typeface="Calibri"/>
              </a:defRPr>
            </a:pPr>
            <a:r>
              <a:rPr b="1"/>
              <a:t>Attack: </a:t>
            </a:r>
            <a:r>
              <a:t>Capable of destructive attacks, but their mission is collection, not destruction. No destructive attacks observed.</a:t>
            </a:r>
          </a:p>
          <a:p>
            <a:pPr>
              <a:defRPr sz="1800">
                <a:solidFill>
                  <a:srgbClr val="323232"/>
                </a:solidFill>
                <a:latin typeface="Calibri"/>
              </a:defRPr>
            </a:pPr>
            <a:r>
              <a:rPr b="1"/>
              <a:t>Withdraw: </a:t>
            </a:r>
            <a:r>
              <a:t>Some malware can self-delete, but their pseudo-worm-like propagation makes a full, clean withdrawal difficult.</a:t>
            </a:r>
          </a:p>
          <a:p>
            <a:pPr>
              <a:defRPr sz="1800">
                <a:solidFill>
                  <a:srgbClr val="323232"/>
                </a:solidFill>
                <a:latin typeface="Calibri"/>
              </a:defRPr>
            </a:pPr>
            <a:r>
              <a:rPr b="1"/>
              <a:t>Delay: </a:t>
            </a:r>
            <a:r>
              <a:t>Uses heavy obfuscation and high-volume activity to overwhelm and delay defenders.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2060"/>
                </a:solidFill>
                <a:latin typeface="Calibri"/>
              </a:defRPr>
            </a:pPr>
            <a:r>
              <a:t>Troops and Fire Support Available (Organic)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323232"/>
                </a:solidFill>
                <a:latin typeface="Calibri"/>
              </a:defRPr>
            </a:pPr>
            <a:r>
              <a:rPr b="1"/>
              <a:t>Analysts: </a:t>
            </a:r>
            <a:r>
              <a:t>3 Host Analysts, 3 Network Analysts, 1 All-Source Analyst</a:t>
            </a:r>
          </a:p>
          <a:p>
            <a:pPr>
              <a:defRPr sz="1800">
                <a:solidFill>
                  <a:srgbClr val="323232"/>
                </a:solidFill>
                <a:latin typeface="Calibri"/>
              </a:defRPr>
            </a:pPr>
            <a:r>
              <a:rPr b="1"/>
              <a:t>Operators: </a:t>
            </a:r>
            <a:r>
              <a:t>1 Certified Counter-Strike Operator, 1 Certified Malware Analyst</a:t>
            </a:r>
          </a:p>
          <a:p>
            <a:pPr>
              <a:defRPr sz="1800">
                <a:solidFill>
                  <a:srgbClr val="323232"/>
                </a:solidFill>
                <a:latin typeface="Calibri"/>
              </a:defRPr>
            </a:pPr>
            <a:r>
              <a:rPr b="1"/>
              <a:t>Fire Support: </a:t>
            </a:r>
            <a:r>
              <a:t>1 SBO ME in Direct Support</a:t>
            </a:r>
          </a:p>
          <a:p>
            <a:pPr>
              <a:defRPr sz="1800">
                <a:solidFill>
                  <a:srgbClr val="323232"/>
                </a:solidFill>
                <a:latin typeface="Calibri"/>
              </a:defRPr>
            </a:pPr>
            <a:r>
              <a:rPr b="1"/>
              <a:t>Equipment: </a:t>
            </a:r>
            <a:r>
              <a:t>Standard complement of tools (network taps, forensic workstations, etc.)</a:t>
            </a:r>
          </a:p>
          <a:p>
            <a:pPr>
              <a:defRPr sz="1800">
                <a:solidFill>
                  <a:srgbClr val="323232"/>
                </a:solidFill>
                <a:latin typeface="Calibri"/>
              </a:defRPr>
            </a:pPr>
            <a:r>
              <a:rPr b="1"/>
              <a:t>Attachments: </a:t>
            </a:r>
            <a:r>
              <a:t>None.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4000" b="1">
                <a:solidFill>
                  <a:srgbClr val="002060"/>
                </a:solidFill>
                <a:latin typeface="Calibri"/>
              </a:defRPr>
            </a:pPr>
            <a:r>
              <a:t>Terrain Analysis (OCOKAW)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04672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200400"/>
                <a:gridCol w="3200400"/>
              </a:tblGrid>
              <a:tr h="73152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Factor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Friendly Perspective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Enemy Perspective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Observation &amp; Fields of Fire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Full physical and logical access to network traffic and logs.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Logical access to compromised hosts only; can view host-based logs.</a:t>
                      </a:r>
                    </a:p>
                  </a:txBody>
                  <a:tcPr anchor="ctr"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Cover &amp; Concealment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Conceal tools as normal processes; use normal user accounts.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Heavy obfuscation, use of LOLBAS, and fast-flux C2 infrastructure.</a:t>
                      </a:r>
                    </a:p>
                  </a:txBody>
                  <a:tcPr anchor="ctr"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Obstacles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Sheer volume of data to analyze.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Windows Defender, Crowdstrike EDR, network firewall, and an active hunt team.</a:t>
                      </a:r>
                    </a:p>
                  </a:txBody>
                  <a:tcPr anchor="ctr"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Key Terrain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Blue core router, NTDS.dit file, and access to user workstations/servers.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User workstations/servers containing target documents; persistence locations (Registry, Startup).</a:t>
                      </a:r>
                    </a:p>
                  </a:txBody>
                  <a:tcPr anchor="ctr"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Avenues of 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Spearphishing and removable media (USB drives).</a:t>
                      </a:r>
                    </a:p>
                  </a:txBody>
                  <a:tcPr anchor="ctr"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Weather (Cyber)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Potential power outages in Kyiv due to kinetic strikes.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Ongoing conflict in Ukraine may impact their operations.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2060"/>
                </a:solidFill>
                <a:latin typeface="Calibri"/>
              </a:defRPr>
            </a:pPr>
            <a:r>
              <a:t>Enemy's Most Likely Course of Action (EMLCOA)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323232"/>
                </a:solidFill>
                <a:latin typeface="Calibri"/>
              </a:defRPr>
            </a:pPr>
            <a:r>
              <a:rPr b="1"/>
              <a:t>Mission: </a:t>
            </a:r>
            <a:r>
              <a:t>To conduct cyberespionage by continuously collecting sensitive data from Ukrainian government networks to satisfy Russian intelligence requirements.</a:t>
            </a:r>
          </a:p>
          <a:p>
            <a:pPr>
              <a:defRPr sz="1800">
                <a:solidFill>
                  <a:srgbClr val="323232"/>
                </a:solidFill>
                <a:latin typeface="Calibri"/>
              </a:defRPr>
            </a:pPr>
            <a:r>
              <a:rPr b="1"/>
              <a:t>Current Action: </a:t>
            </a:r>
            <a:r>
              <a:t>FSB Center 18 will continue its high-tempo operation, gaining access via spearphishing/USBs, deploying PowerShell/VBScript stealers, and exfiltrating data using a resilient C2 network. In our network, they have infected it-wks-01 and it-wks-02 and are actively stealing documents.</a:t>
            </a:r>
          </a:p>
          <a:p>
            <a:pPr>
              <a:defRPr sz="1800">
                <a:solidFill>
                  <a:srgbClr val="323232"/>
                </a:solidFill>
                <a:latin typeface="Calibri"/>
              </a:defRPr>
            </a:pPr>
            <a:r>
              <a:rPr b="1"/>
              <a:t>On Contact: </a:t>
            </a:r>
            <a:r>
              <a:t>Upon detection (e.g., a blocked C2), they will not withdraw. They will rely on their other backdoors, deploy new ones, and may escalate by handing off access to a more sophisticated actor (InvisiMole).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2060"/>
                </a:solidFill>
                <a:latin typeface="Calibri"/>
              </a:defRPr>
            </a:pPr>
            <a:r>
              <a:t>The Exploitation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323232"/>
                </a:solidFill>
                <a:latin typeface="Calibri"/>
              </a:defRPr>
            </a:pPr>
            <a:r>
              <a:rPr b="1"/>
              <a:t>Center of Gravity (CG): </a:t>
            </a:r>
            <a:r>
              <a:t>The speed at which they exfiltrate data. They prioritize rapid theft over long-term stealth.</a:t>
            </a:r>
          </a:p>
          <a:p>
            <a:pPr>
              <a:defRPr sz="1800">
                <a:solidFill>
                  <a:srgbClr val="323232"/>
                </a:solidFill>
                <a:latin typeface="Calibri"/>
              </a:defRPr>
            </a:pPr>
            <a:r>
              <a:rPr b="1"/>
              <a:t>Critical Vulnerability (CV): </a:t>
            </a:r>
            <a:r>
              <a:t>Their reliance on script-based malware and Live-off-the-Land (LOLBAS) techniques, which are easier to deobfuscate and detect with the right analytics.</a:t>
            </a:r>
          </a:p>
          <a:p>
            <a:pPr>
              <a:defRPr sz="1800">
                <a:solidFill>
                  <a:srgbClr val="323232"/>
                </a:solidFill>
                <a:latin typeface="Calibri"/>
              </a:defRPr>
            </a:pPr>
            <a:r>
              <a:rPr b="1"/>
              <a:t>Exploitation Plan: </a:t>
            </a:r>
            <a:r>
              <a:t>Outpace the adversary by reducing detection time to near-real-time. We will create SIEM dashboards with "allow-list" logic for high-fidelity alerts on process creation and persistence changes, enabling immediate host quarantine.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2060"/>
                </a:solidFill>
                <a:latin typeface="Calibri"/>
              </a:defRPr>
            </a:pPr>
            <a:r>
              <a:t>Scheme of Maneuver (SOM)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323232"/>
                </a:solidFill>
                <a:latin typeface="Calibri"/>
              </a:defRPr>
            </a:pPr>
            <a:r>
              <a:rPr b="1"/>
              <a:t>Phase 1: </a:t>
            </a:r>
            <a:r>
              <a:t>Preparation &amp; Baselining**: Set the defense. Identify critical data sources and establish a baseline of "known good" activity.</a:t>
            </a:r>
          </a:p>
          <a:p>
            <a:pPr>
              <a:defRPr sz="1800">
                <a:solidFill>
                  <a:srgbClr val="323232"/>
                </a:solidFill>
                <a:latin typeface="Calibri"/>
              </a:defRPr>
            </a:pPr>
            <a:r>
              <a:rPr b="1"/>
              <a:t>Phase 2: </a:t>
            </a:r>
            <a:r>
              <a:t>Near-Real-Time Detection**: Ambush. Deploy "allow-list" SIEM dashboards to alert on any deviation from the baseline.</a:t>
            </a:r>
          </a:p>
          <a:p>
            <a:pPr>
              <a:defRPr sz="1800">
                <a:solidFill>
                  <a:srgbClr val="323232"/>
                </a:solidFill>
                <a:latin typeface="Calibri"/>
              </a:defRPr>
            </a:pPr>
            <a:r>
              <a:rPr b="1"/>
              <a:t>Phase 3: </a:t>
            </a:r>
            <a:r>
              <a:t>Isolation &amp; Triage**: Fix the Enemy. Immediately quarantine alerted hosts and conduct live forensics.</a:t>
            </a:r>
          </a:p>
          <a:p>
            <a:pPr>
              <a:defRPr sz="1800">
                <a:solidFill>
                  <a:srgbClr val="323232"/>
                </a:solidFill>
                <a:latin typeface="Calibri"/>
              </a:defRPr>
            </a:pPr>
            <a:r>
              <a:rPr b="1"/>
              <a:t>Phase 4: </a:t>
            </a:r>
            <a:r>
              <a:t>Scoping &amp; Hunt**: Exploit and Eradicate. Extract IoCs, hunt for other compromised hosts enterprise-wide, and repeat Phase 3.</a:t>
            </a:r>
          </a:p>
          <a:p>
            <a:pPr>
              <a:defRPr sz="1800">
                <a:solidFill>
                  <a:srgbClr val="323232"/>
                </a:solidFill>
                <a:latin typeface="Calibri"/>
              </a:defRPr>
            </a:pPr>
            <a:r>
              <a:rPr b="1"/>
              <a:t>Phase 5: </a:t>
            </a:r>
            <a:r>
              <a:t>Information Dissemination**: Share IoCs and findings with higher echelons.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4000" b="1">
                <a:solidFill>
                  <a:srgbClr val="002060"/>
                </a:solidFill>
                <a:latin typeface="Calibri"/>
              </a:defRPr>
            </a:pPr>
            <a:r>
              <a:t>Fire Support Plan (FSP)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0467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828800"/>
                <a:gridCol w="1828800"/>
                <a:gridCol w="1828800"/>
                <a:gridCol w="1188720"/>
              </a:tblGrid>
              <a:tr h="73152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Target Category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Trigger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Organic Action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Rear Echelon Action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Desired Effects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Adversary C2 Infrastructure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Confirmed beaconing from isolated host.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Block outbound traffic; submit RFF.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Conduct active recon &amp; exploit C2 node.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Degrade, Disrupt, Exploit</a:t>
                      </a:r>
                    </a:p>
                  </a:txBody>
                  <a:tcPr anchor="ctr"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Adversary Staging Server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Novel payload URL extracted from memory.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Block downloads; submit RFF with URL.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Enumerate/download full toolkit; neutralize server.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Deny, Intelligence Gain</a:t>
                      </a:r>
                    </a:p>
                  </a:txBody>
                  <a:tcPr anchor="ctr"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Compromised 3rd-Party Relay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Traffic identified routing through a known proxy.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Null-route traffic; submit RFF.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Coordinate with law enforcement or execute authorized DCORA.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Disrupt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4000" b="1">
                <a:solidFill>
                  <a:srgbClr val="002060"/>
                </a:solidFill>
                <a:latin typeface="Calibri"/>
              </a:defRPr>
            </a:pPr>
            <a:r>
              <a:t>Organic Asset Tasking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0467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760720"/>
              </a:tblGrid>
              <a:tr h="73152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Key Responsibilities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Mission Commander (MC)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Authorize key actions (quarantine, RFF submission), manage risk.</a:t>
                      </a:r>
                    </a:p>
                  </a:txBody>
                  <a:tcPr anchor="ctr"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Threat Intel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Provide initial TTPs, analyze extracted tools, update EMLCOA.</a:t>
                      </a:r>
                    </a:p>
                  </a:txBody>
                  <a:tcPr anchor="ctr"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Network Analyst (NetOps)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Build/monitor SIEM dashboards, trigger alerts, block C2 IPs locally.</a:t>
                      </a:r>
                    </a:p>
                  </a:txBody>
                  <a:tcPr anchor="ctr"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Host Analyst (HostOps)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Deploy EDR, execute immediate host quarantine, conduct live triage.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2060"/>
                </a:solidFill>
                <a:latin typeface="Calibri"/>
              </a:defRPr>
            </a:pPr>
            <a:r>
              <a:t>Conclusion &amp;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1800">
                <a:solidFill>
                  <a:srgbClr val="323232"/>
                </a:solidFill>
                <a:latin typeface="Calibri"/>
              </a:defRPr>
            </a:pPr>
            <a:r>
              <a:rPr b="1"/>
              <a:t>Tempo is Everything: </a:t>
            </a:r>
            <a:r>
              <a:t>Our plan is designed to outpace the adversary's "speed-over-stealth" methodology.</a:t>
            </a:r>
          </a:p>
          <a:p>
            <a:pPr lvl="1">
              <a:defRPr sz="1800">
                <a:solidFill>
                  <a:srgbClr val="323232"/>
                </a:solidFill>
                <a:latin typeface="Calibri"/>
              </a:defRPr>
            </a:pPr>
            <a:r>
              <a:rPr b="1"/>
              <a:t>Vulnerability Exploitation: </a:t>
            </a:r>
            <a:r>
              <a:t>We are directly targeting their reliance on script-based tools and LOLBAS.</a:t>
            </a:r>
          </a:p>
          <a:p>
            <a:pPr lvl="1">
              <a:defRPr sz="1800">
                <a:solidFill>
                  <a:srgbClr val="323232"/>
                </a:solidFill>
                <a:latin typeface="Calibri"/>
              </a:defRPr>
            </a:pPr>
            <a:r>
              <a:rPr b="1"/>
              <a:t>Integrated Defense: </a:t>
            </a:r>
            <a:r>
              <a:t>Success requires a seamless flow of information and action between NetOps, HostOps, and Intel.</a:t>
            </a:r>
          </a:p>
          <a:p>
            <a:pPr lvl="1">
              <a:defRPr sz="1800">
                <a:solidFill>
                  <a:srgbClr val="323232"/>
                </a:solidFill>
                <a:latin typeface="Calibri"/>
              </a:defRPr>
            </a:pPr>
            <a:r>
              <a:rPr b="1"/>
              <a:t>Unity of Effort: </a:t>
            </a:r>
            <a:r>
              <a:t>Clear roles and responsibilities prevent overlap and ensure we can execute the plan under pressure.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2060"/>
                </a:solidFill>
                <a:latin typeface="Calibri"/>
              </a:defRPr>
            </a:pPr>
            <a:r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1800">
                <a:solidFill>
                  <a:srgbClr val="323232"/>
                </a:solidFill>
                <a:latin typeface="Calibri"/>
              </a:defRPr>
            </a:pPr>
            <a:r>
              <a:rPr b="1"/>
              <a:t>UK NCSC: </a:t>
            </a:r>
            <a:r>
              <a:t>Russia's FSB Malign Cyber Activity Factsheet</a:t>
            </a:r>
          </a:p>
          <a:p>
            <a:pPr lvl="1">
              <a:defRPr sz="1800">
                <a:solidFill>
                  <a:srgbClr val="323232"/>
                </a:solidFill>
                <a:latin typeface="Calibri"/>
              </a:defRPr>
            </a:pPr>
            <a:r>
              <a:rPr b="1"/>
              <a:t>Palo Alto Unit 42: </a:t>
            </a:r>
            <a:r>
              <a:t>Gamaredon/Primitive Bear Ukraine Update 2021</a:t>
            </a:r>
          </a:p>
          <a:p>
            <a:pPr lvl="1">
              <a:defRPr sz="1800">
                <a:solidFill>
                  <a:srgbClr val="323232"/>
                </a:solidFill>
                <a:latin typeface="Calibri"/>
              </a:defRPr>
            </a:pPr>
            <a:r>
              <a:rPr b="1"/>
              <a:t>ESET Whitepaper: </a:t>
            </a:r>
            <a:r>
              <a:t>The Gamaredon way of Cyberespionage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