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2"/>
  </p:sldMasterIdLst>
  <p:notesMasterIdLst>
    <p:notesMasterId r:id="rId13"/>
  </p:notesMasterIdLst>
  <p:handoutMasterIdLst>
    <p:handoutMasterId r:id="rId14"/>
  </p:handout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ross, Clayton D" initials="CCD" lastIdx="1" clrIdx="0">
    <p:extLst>
      <p:ext uri="{19B8F6BF-5375-455C-9EA6-DF929625EA0E}">
        <p15:presenceInfo xmlns:p15="http://schemas.microsoft.com/office/powerpoint/2012/main" userId="Cross, Clayton 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56" autoAdjust="0"/>
    <p:restoredTop sz="63605" autoAdjust="0"/>
  </p:normalViewPr>
  <p:slideViewPr>
    <p:cSldViewPr snapToGrid="0">
      <p:cViewPr varScale="1">
        <p:scale>
          <a:sx n="70" d="100"/>
          <a:sy n="70" d="100"/>
        </p:scale>
        <p:origin x="1602"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16" d="100"/>
          <a:sy n="116" d="100"/>
        </p:scale>
        <p:origin x="2382"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custSel modSld">
      <pc:chgData name="Cross, Clay" userId="f346be3b-e1cb-4aec-811e-8a3f5d1dd33f" providerId="ADAL" clId="{5AB2DC96-CDCC-45B4-B053-2F2446580AF9}" dt="2026-06-09T04:24:17.840" v="31" actId="14100"/>
      <pc:docMkLst>
        <pc:docMk/>
      </pc:docMkLst>
      <pc:sldChg chg="modSp mod">
        <pc:chgData name="Cross, Clay" userId="f346be3b-e1cb-4aec-811e-8a3f5d1dd33f" providerId="ADAL" clId="{5AB2DC96-CDCC-45B4-B053-2F2446580AF9}" dt="2026-06-09T04:21:10.724" v="5" actId="27636"/>
        <pc:sldMkLst>
          <pc:docMk/>
          <pc:sldMk cId="0" sldId="257"/>
        </pc:sldMkLst>
        <pc:spChg chg="mod">
          <ac:chgData name="Cross, Clay" userId="f346be3b-e1cb-4aec-811e-8a3f5d1dd33f" providerId="ADAL" clId="{5AB2DC96-CDCC-45B4-B053-2F2446580AF9}" dt="2026-06-09T04:21:10.724" v="5" actId="27636"/>
          <ac:spMkLst>
            <pc:docMk/>
            <pc:sldMk cId="0" sldId="257"/>
            <ac:spMk id="2" creationId="{00000000-0000-0000-0000-000000000000}"/>
          </ac:spMkLst>
        </pc:spChg>
        <pc:picChg chg="mod">
          <ac:chgData name="Cross, Clay" userId="f346be3b-e1cb-4aec-811e-8a3f5d1dd33f" providerId="ADAL" clId="{5AB2DC96-CDCC-45B4-B053-2F2446580AF9}" dt="2026-06-09T04:21:07.419" v="3" actId="14100"/>
          <ac:picMkLst>
            <pc:docMk/>
            <pc:sldMk cId="0" sldId="257"/>
            <ac:picMk id="4" creationId="{00000000-0000-0000-0000-000000000000}"/>
          </ac:picMkLst>
        </pc:picChg>
      </pc:sldChg>
      <pc:sldChg chg="modSp mod">
        <pc:chgData name="Cross, Clay" userId="f346be3b-e1cb-4aec-811e-8a3f5d1dd33f" providerId="ADAL" clId="{5AB2DC96-CDCC-45B4-B053-2F2446580AF9}" dt="2026-06-09T04:21:40.137" v="10" actId="14100"/>
        <pc:sldMkLst>
          <pc:docMk/>
          <pc:sldMk cId="0" sldId="258"/>
        </pc:sldMkLst>
        <pc:spChg chg="mod">
          <ac:chgData name="Cross, Clay" userId="f346be3b-e1cb-4aec-811e-8a3f5d1dd33f" providerId="ADAL" clId="{5AB2DC96-CDCC-45B4-B053-2F2446580AF9}" dt="2026-06-09T04:21:30.729" v="7" actId="27636"/>
          <ac:spMkLst>
            <pc:docMk/>
            <pc:sldMk cId="0" sldId="258"/>
            <ac:spMk id="2" creationId="{00000000-0000-0000-0000-000000000000}"/>
          </ac:spMkLst>
        </pc:spChg>
        <pc:picChg chg="mod">
          <ac:chgData name="Cross, Clay" userId="f346be3b-e1cb-4aec-811e-8a3f5d1dd33f" providerId="ADAL" clId="{5AB2DC96-CDCC-45B4-B053-2F2446580AF9}" dt="2026-06-09T04:21:40.137" v="10" actId="14100"/>
          <ac:picMkLst>
            <pc:docMk/>
            <pc:sldMk cId="0" sldId="258"/>
            <ac:picMk id="4" creationId="{00000000-0000-0000-0000-000000000000}"/>
          </ac:picMkLst>
        </pc:picChg>
      </pc:sldChg>
      <pc:sldChg chg="modSp mod">
        <pc:chgData name="Cross, Clay" userId="f346be3b-e1cb-4aec-811e-8a3f5d1dd33f" providerId="ADAL" clId="{5AB2DC96-CDCC-45B4-B053-2F2446580AF9}" dt="2026-06-09T04:22:08.690" v="14" actId="14100"/>
        <pc:sldMkLst>
          <pc:docMk/>
          <pc:sldMk cId="0" sldId="259"/>
        </pc:sldMkLst>
        <pc:spChg chg="mod">
          <ac:chgData name="Cross, Clay" userId="f346be3b-e1cb-4aec-811e-8a3f5d1dd33f" providerId="ADAL" clId="{5AB2DC96-CDCC-45B4-B053-2F2446580AF9}" dt="2026-06-09T04:21:49.744" v="12" actId="27636"/>
          <ac:spMkLst>
            <pc:docMk/>
            <pc:sldMk cId="0" sldId="259"/>
            <ac:spMk id="2" creationId="{00000000-0000-0000-0000-000000000000}"/>
          </ac:spMkLst>
        </pc:spChg>
        <pc:picChg chg="mod">
          <ac:chgData name="Cross, Clay" userId="f346be3b-e1cb-4aec-811e-8a3f5d1dd33f" providerId="ADAL" clId="{5AB2DC96-CDCC-45B4-B053-2F2446580AF9}" dt="2026-06-09T04:22:08.690" v="14" actId="14100"/>
          <ac:picMkLst>
            <pc:docMk/>
            <pc:sldMk cId="0" sldId="259"/>
            <ac:picMk id="4" creationId="{00000000-0000-0000-0000-000000000000}"/>
          </ac:picMkLst>
        </pc:picChg>
      </pc:sldChg>
      <pc:sldChg chg="modSp mod">
        <pc:chgData name="Cross, Clay" userId="f346be3b-e1cb-4aec-811e-8a3f5d1dd33f" providerId="ADAL" clId="{5AB2DC96-CDCC-45B4-B053-2F2446580AF9}" dt="2026-06-09T04:22:34.429" v="18" actId="14100"/>
        <pc:sldMkLst>
          <pc:docMk/>
          <pc:sldMk cId="0" sldId="260"/>
        </pc:sldMkLst>
        <pc:spChg chg="mod">
          <ac:chgData name="Cross, Clay" userId="f346be3b-e1cb-4aec-811e-8a3f5d1dd33f" providerId="ADAL" clId="{5AB2DC96-CDCC-45B4-B053-2F2446580AF9}" dt="2026-06-09T04:22:27.023" v="16" actId="27636"/>
          <ac:spMkLst>
            <pc:docMk/>
            <pc:sldMk cId="0" sldId="260"/>
            <ac:spMk id="2" creationId="{00000000-0000-0000-0000-000000000000}"/>
          </ac:spMkLst>
        </pc:spChg>
        <pc:picChg chg="mod">
          <ac:chgData name="Cross, Clay" userId="f346be3b-e1cb-4aec-811e-8a3f5d1dd33f" providerId="ADAL" clId="{5AB2DC96-CDCC-45B4-B053-2F2446580AF9}" dt="2026-06-09T04:22:34.429" v="18" actId="14100"/>
          <ac:picMkLst>
            <pc:docMk/>
            <pc:sldMk cId="0" sldId="260"/>
            <ac:picMk id="4" creationId="{00000000-0000-0000-0000-000000000000}"/>
          </ac:picMkLst>
        </pc:picChg>
      </pc:sldChg>
      <pc:sldChg chg="delSp modSp mod">
        <pc:chgData name="Cross, Clay" userId="f346be3b-e1cb-4aec-811e-8a3f5d1dd33f" providerId="ADAL" clId="{5AB2DC96-CDCC-45B4-B053-2F2446580AF9}" dt="2026-06-09T04:23:35.581" v="25" actId="27636"/>
        <pc:sldMkLst>
          <pc:docMk/>
          <pc:sldMk cId="0" sldId="261"/>
        </pc:sldMkLst>
        <pc:spChg chg="mod">
          <ac:chgData name="Cross, Clay" userId="f346be3b-e1cb-4aec-811e-8a3f5d1dd33f" providerId="ADAL" clId="{5AB2DC96-CDCC-45B4-B053-2F2446580AF9}" dt="2026-06-09T04:23:35.581" v="25" actId="27636"/>
          <ac:spMkLst>
            <pc:docMk/>
            <pc:sldMk cId="0" sldId="261"/>
            <ac:spMk id="2" creationId="{00000000-0000-0000-0000-000000000000}"/>
          </ac:spMkLst>
        </pc:spChg>
        <pc:picChg chg="del mod">
          <ac:chgData name="Cross, Clay" userId="f346be3b-e1cb-4aec-811e-8a3f5d1dd33f" providerId="ADAL" clId="{5AB2DC96-CDCC-45B4-B053-2F2446580AF9}" dt="2026-06-09T04:23:30.447" v="23" actId="478"/>
          <ac:picMkLst>
            <pc:docMk/>
            <pc:sldMk cId="0" sldId="261"/>
            <ac:picMk id="4" creationId="{00000000-0000-0000-0000-000000000000}"/>
          </ac:picMkLst>
        </pc:picChg>
      </pc:sldChg>
      <pc:sldChg chg="modSp mod">
        <pc:chgData name="Cross, Clay" userId="f346be3b-e1cb-4aec-811e-8a3f5d1dd33f" providerId="ADAL" clId="{5AB2DC96-CDCC-45B4-B053-2F2446580AF9}" dt="2026-06-09T04:23:49.453" v="27" actId="27636"/>
        <pc:sldMkLst>
          <pc:docMk/>
          <pc:sldMk cId="0" sldId="262"/>
        </pc:sldMkLst>
        <pc:spChg chg="mod">
          <ac:chgData name="Cross, Clay" userId="f346be3b-e1cb-4aec-811e-8a3f5d1dd33f" providerId="ADAL" clId="{5AB2DC96-CDCC-45B4-B053-2F2446580AF9}" dt="2026-06-09T04:23:49.453" v="27" actId="27636"/>
          <ac:spMkLst>
            <pc:docMk/>
            <pc:sldMk cId="0" sldId="262"/>
            <ac:spMk id="3" creationId="{00000000-0000-0000-0000-000000000000}"/>
          </ac:spMkLst>
        </pc:spChg>
      </pc:sldChg>
      <pc:sldChg chg="modSp mod">
        <pc:chgData name="Cross, Clay" userId="f346be3b-e1cb-4aec-811e-8a3f5d1dd33f" providerId="ADAL" clId="{5AB2DC96-CDCC-45B4-B053-2F2446580AF9}" dt="2026-06-09T04:24:17.840" v="31" actId="14100"/>
        <pc:sldMkLst>
          <pc:docMk/>
          <pc:sldMk cId="0" sldId="263"/>
        </pc:sldMkLst>
        <pc:spChg chg="mod">
          <ac:chgData name="Cross, Clay" userId="f346be3b-e1cb-4aec-811e-8a3f5d1dd33f" providerId="ADAL" clId="{5AB2DC96-CDCC-45B4-B053-2F2446580AF9}" dt="2026-06-09T04:24:08.021" v="29" actId="27636"/>
          <ac:spMkLst>
            <pc:docMk/>
            <pc:sldMk cId="0" sldId="263"/>
            <ac:spMk id="2" creationId="{00000000-0000-0000-0000-000000000000}"/>
          </ac:spMkLst>
        </pc:spChg>
        <pc:picChg chg="mod">
          <ac:chgData name="Cross, Clay" userId="f346be3b-e1cb-4aec-811e-8a3f5d1dd33f" providerId="ADAL" clId="{5AB2DC96-CDCC-45B4-B053-2F2446580AF9}" dt="2026-06-09T04:24:17.840" v="31" actId="14100"/>
          <ac:picMkLst>
            <pc:docMk/>
            <pc:sldMk cId="0" sldId="263"/>
            <ac:picMk id="4"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DF5B5D0-340B-4E36-9CF9-185D0E66E274}" type="datetimeFigureOut">
              <a:rPr lang="en-US" smtClean="0"/>
              <a:t>6/9/2026</a:t>
            </a:fld>
            <a:endParaRPr lang="en-US"/>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54D283BF-5CBE-4454-B8C7-2AC6C6C06622}" type="slidenum">
              <a:rPr lang="en-US" smtClean="0"/>
              <a:t>‹#›</a:t>
            </a:fld>
            <a:endParaRPr lang="en-US"/>
          </a:p>
        </p:txBody>
      </p:sp>
    </p:spTree>
    <p:extLst>
      <p:ext uri="{BB962C8B-B14F-4D97-AF65-F5344CB8AC3E}">
        <p14:creationId xmlns:p14="http://schemas.microsoft.com/office/powerpoint/2010/main" val="3589563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Notes Placeholder 9"/>
          <p:cNvSpPr>
            <a:spLocks noGrp="1"/>
          </p:cNvSpPr>
          <p:nvPr>
            <p:ph type="body" sz="quarter" idx="3"/>
          </p:nvPr>
        </p:nvSpPr>
        <p:spPr>
          <a:xfrm>
            <a:off x="914400" y="3300413"/>
            <a:ext cx="7315200" cy="2700337"/>
          </a:xfrm>
          <a:prstGeom prst="rect">
            <a:avLst/>
          </a:prstGeom>
        </p:spPr>
        <p:txBody>
          <a:bodyPr vert="horz" lIns="91440" tIns="45720" rIns="91440" bIns="45720" rtlCol="0"/>
          <a:lstStyle/>
          <a:p>
            <a:r>
              <a:rPr lang="en-US" sz="1200" b="1" i="0" u="none" strike="noStrike" cap="none" dirty="0">
                <a:solidFill>
                  <a:srgbClr val="000000"/>
                </a:solidFill>
                <a:effectLst/>
                <a:latin typeface="Arial"/>
                <a:ea typeface="Arial"/>
                <a:cs typeface="Arial"/>
                <a:sym typeface="Arial"/>
              </a:rPr>
              <a:t>References: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Key Points: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Explanation of any images/charts/graphics: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Questions students are most likely to ask:</a:t>
            </a:r>
          </a:p>
          <a:p>
            <a:r>
              <a:rPr lang="en-US" sz="1200" b="1" i="0" u="none" strike="noStrike" cap="none" dirty="0">
                <a:solidFill>
                  <a:srgbClr val="000000"/>
                </a:solidFill>
                <a:effectLst/>
                <a:latin typeface="Arial"/>
                <a:ea typeface="Arial"/>
                <a:cs typeface="Arial"/>
                <a:sym typeface="Arial"/>
              </a:rPr>
              <a:t>Amplifying Details: </a:t>
            </a:r>
            <a:endParaRPr lang="en-US" sz="12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79400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 4.2 Persistent Effects and Handoff — Content Guide</a:t>
            </a:r>
          </a:p>
          <a:p>
            <a:endParaRPr/>
          </a:p>
          <a:p>
            <a:r>
              <a:t>**Source:** `../Week 4 Overview.md`, `../labs/L4.2a_Adversary_Tracking/`, `../labs/L4.2b_Handoff_and_Partner_RAT_Deploy/`</a:t>
            </a:r>
          </a:p>
          <a:p>
            <a:r>
              <a:t>**Audience:** CPT operators who completed Day 1 (L4.1a, L4.1b) and have working access to the adversary stack.</a:t>
            </a:r>
          </a:p>
          <a:p>
            <a:r>
              <a:t>**Duration:** ~60 minutes (opening block of Day 2, Week 4)</a:t>
            </a:r>
          </a:p>
          <a:p>
            <a:r>
              <a:t>**Prerequisites:** 4.1 Effects Operations Overview content guide, Day 1 labs.</a:t>
            </a:r>
          </a:p>
          <a:p>
            <a:r>
              <a:t>**References:**</a:t>
            </a:r>
          </a:p>
          <a:p>
            <a:endParaRPr/>
          </a:p>
          <a:p>
            <a:r>
              <a:t>- `./4.1 Effects Operations Overview Content Guide.md`</a:t>
            </a:r>
          </a:p>
          <a:p>
            <a:r>
              <a:t>- `../../week1/content-guides/5. MITRE ENGAGE Content Guide.md`</a:t>
            </a:r>
          </a:p>
          <a:p>
            <a:r>
              <a:t>- `../../week1/content-guides/1. Tactical Planning Part 1 Content Guide.md` (for the CG/CV reference)</a:t>
            </a:r>
          </a:p>
          <a:p>
            <a:r>
              <a:t>- `../lab_env/README.md`</a:t>
            </a:r>
          </a:p>
          <a:p>
            <a:endParaRPr/>
          </a:p>
          <a:p>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"Yesterday you produced effects that lived and died inside the adversary stack. Today you reach out past that stack. Survey is how you execute reconnoiter in practice — you collect technical and behavioral facts from the adversary workflow and turn them into pursuit-enabling intelligence. Handoff deploys another team's capability from your foothold when needed — that is a force-multiplier. These are the effects that make a CPT valuable outside its own enclave."</a:t>
            </a:r>
          </a:p>
          <a:p>
            <a:endParaRPr/>
          </a:p>
          <a:p>
            <a:r>
              <a:t>Show:</a:t>
            </a:r>
          </a:p>
          <a:p>
            <a:r>
              <a:t>The local-vs-extending graphic.</a:t>
            </a:r>
          </a:p>
          <a:p>
            <a:endParaRPr/>
          </a:p>
          <a:p>
            <a:r>
              <a:t>Do:</a:t>
            </a:r>
          </a:p>
          <a:p>
            <a:r>
              <a:t>Ask: "At your home unit, where does a partner team usually get stuck first: incomplete technical detail, unclear behavioral context, or both?" Use answers to frame why today's reporting quality matters.</a:t>
            </a:r>
          </a:p>
          <a:p>
            <a:endParaRPr/>
          </a:p>
          <a:p>
            <a:r>
              <a:t>Image Prompt:</a:t>
            </a:r>
          </a:p>
          <a:p>
            <a:r>
              <a:t>A two-row graphic. Top row labeled "Day 1 - Local effects" with small icons for Degrade/Disrupt/Deny and Deceive/Manipulate, constrained inside a dotted box labeled "Adversary Stack." Bottom row labeled "Day 2 - Extending effects" with icons for Reconnoiter (survey) and Handoff, arrows breaking out of the dotted box toward labeled targets "Adversary Analyst," "Partner Team."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"Do not treat this as raw log dump. Treat it as your situational awareness package from prior survey work. Four buckets: technical state, behavior, attribution-and-tracking, and expansion leads. This is what partners need first to decide if they can act now, need more evidence, or need you to collect additional detail before handoff."</a:t>
            </a:r>
          </a:p>
          <a:p>
            <a:endParaRPr/>
          </a:p>
          <a:p>
            <a:r>
              <a:t>Show:</a:t>
            </a:r>
          </a:p>
          <a:p>
            <a:r>
              <a:t>The four-column package graphic; walk one concrete example in each column and map it to Access Guide fields.</a:t>
            </a:r>
          </a:p>
          <a:p>
            <a:endParaRPr/>
          </a:p>
          <a:p>
            <a:r>
              <a:t>Do:</a:t>
            </a:r>
          </a:p>
          <a:p>
            <a:r>
              <a:t>Ask: "Which of these four buckets is usually weakest in your team handoffs, and what mission risk does that create?"</a:t>
            </a:r>
          </a:p>
          <a:p>
            <a:endParaRPr/>
          </a:p>
          <a:p>
            <a:r>
              <a:t>Image Prompt:</a:t>
            </a:r>
          </a:p>
          <a:p>
            <a:r>
              <a:t>A handoff prep board with four labeled columns: Technical State, Behavioral Indicators, Attribution and Tracking, Expansion Leads. Each column contains 2-3 short example artifacts feeding an "Access Guide Baseline" box.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"Slide 2 gave the baseline. This slide is the gap-closure step. Ask what the partner still cannot decide or execute. If the gap is technical validation, scan with purpose. If the gap is workflow confidence or persistent positioning, consider a pipeline plant. In both cases, tie every action to a partner decision and capture it in the guide."</a:t>
            </a:r>
          </a:p>
          <a:p>
            <a:endParaRPr/>
          </a:p>
          <a:p>
            <a:r>
              <a:t>Show:</a:t>
            </a:r>
          </a:p>
          <a:p>
            <a:r>
              <a:t>The decision flow and one example gap routed down each branch.</a:t>
            </a:r>
          </a:p>
          <a:p>
            <a:endParaRPr/>
          </a:p>
          <a:p>
            <a:r>
              <a:t>Do:</a:t>
            </a:r>
          </a:p>
          <a:p>
            <a:r>
              <a:t>Ask: "Name one handoff decision your partner cannot make yet, then pick scan or plant and defend your choice in one sentence."</a:t>
            </a:r>
          </a:p>
          <a:p>
            <a:endParaRPr/>
          </a:p>
          <a:p>
            <a:r>
              <a:t>Image Prompt:</a:t>
            </a:r>
          </a:p>
          <a:p>
            <a:r>
              <a:t>A decision flow: "Access Guide Baseline Ready?" -&gt; "What partner gap remains?" -&gt; branch A "Need technical validation" -&gt; "Targeted Scan/Enumeration"; branch B "Need workflow/handling confidence" -&gt; "Optional Pipeline Plant." Both branches feed "Handoff Decision + Access Guide Update."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"Handoff has two shapes. Access Guide handoff is you writing technical and behavioral context so clearly that another team can execute immediately. Capability handoff is you taking that team's tool and planting it in the position you already hold. Always produce the Access Guide first; only add capability handoff when partner mission need requires it."</a:t>
            </a:r>
          </a:p>
          <a:p>
            <a:endParaRPr/>
          </a:p>
          <a:p>
            <a:r>
              <a:t>Show:</a:t>
            </a:r>
          </a:p>
          <a:p>
            <a:r>
              <a:t>The two-lane diagram; linger on "Access Guide first, capability second."</a:t>
            </a:r>
          </a:p>
          <a:p>
            <a:endParaRPr/>
          </a:p>
          <a:p>
            <a:r>
              <a:t>Do:</a:t>
            </a:r>
          </a:p>
          <a:p>
            <a:r>
              <a:t>Ask: "If a partner receives only tool access but no Access Guide, what planning errors are most likely in the first 10 minutes?" Use answers to reinforce why guide quality comes first.</a:t>
            </a:r>
          </a:p>
          <a:p>
            <a:endParaRPr/>
          </a:p>
          <a:p>
            <a:r>
              <a:t>Image Prompt:</a:t>
            </a:r>
          </a:p>
          <a:p>
            <a:r>
              <a:t>A two-lane diagram. Top lane labeled "Access Guide Handoff" shows a completed guide flowing from a CPT operator to a partner team icon. Bottom lane labeled "Capability Handoff" shows the partner team's implant icon flowing back into the adversary stack via the CPT foothold.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"Write this template down. You will fill it in during L4.2b. This is not paperwork for its own sake — these seven sections are the questions a partner team will ask you in a five-minute sync call. If you cannot answer them crisply, they will not take the handoff, or worse, they will take it and do something you did not expect. The rollback plan is the section people skip and regret."</a:t>
            </a:r>
          </a:p>
          <a:p>
            <a:endParaRPr/>
          </a:p>
          <a:p>
            <a:r>
              <a:t>Show:</a:t>
            </a:r>
          </a:p>
          <a:p>
            <a:r>
              <a:t>The seven-section template.</a:t>
            </a:r>
          </a:p>
          <a:p>
            <a:endParaRPr/>
          </a:p>
          <a:p>
            <a:r>
              <a:t>Do:</a:t>
            </a:r>
          </a:p>
          <a:p>
            <a:r>
              <a:t>On the whiteboard, start a blank handoff template using yesterday's L4.1a lab target. Have the room call out what goes in each section. Tell them the L4.2b lab will grade them against this template.</a:t>
            </a:r>
          </a:p>
          <a:p>
            <a:endParaRPr/>
          </a:p>
          <a:p>
            <a:r>
              <a:t>Image Prompt:</a:t>
            </a:r>
          </a:p>
          <a:p>
            <a:r>
              <a:t>A seven-section form/template graphic titled "Access Guide." Each section labeled with one of the seven bullets plus a one-line "what goes here" prompt.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"Today I am grading your characterization quality. A partner team acts on what you documented, not on what you meant. If technical artifacts are incomplete, behavioral observations are vague, or your expansion method is unexplained, you force rediscovery and lose tempo. Five-item check: technical evidence, behavioral evidence, method justification, validated destination, and next-action estimate. If any one is missing, stop and complete the record first."</a:t>
            </a:r>
          </a:p>
          <a:p>
            <a:endParaRPr/>
          </a:p>
          <a:p>
            <a:r>
              <a:t>Show:</a:t>
            </a:r>
          </a:p>
          <a:p>
            <a:r>
              <a:t>The checklist graphic with the red header.</a:t>
            </a:r>
          </a:p>
          <a:p>
            <a:endParaRPr/>
          </a:p>
          <a:p>
            <a:r>
              <a:t>Do:</a:t>
            </a:r>
          </a:p>
          <a:p>
            <a:r>
              <a:t>Run a dry check: pick one student at random, give them a notional action ("deploy the partner RAT to `adv-c2`"), and have them read the five-item documentation check aloud against it. Correct any missing items.</a:t>
            </a:r>
          </a:p>
          <a:p>
            <a:endParaRPr/>
          </a:p>
          <a:p>
            <a:r>
              <a:t>Image Prompt:</a:t>
            </a:r>
          </a:p>
          <a:p>
            <a:r>
              <a:t>A five-box checklist graphic with header "Pre-Execution Documentation Check - Day 2." The five boxes are the five checklist items from the slide.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"Two labs, both in extending territory. 4.2a starts with on-target survey and then deliberate expansion to refine tracking. 4.2b is a handoff effect with a live implant and a complete Access Guide. After 4.2b we do the pivot lecture for tomorrow — the adversary runs these same playbooks with AI help, and that is the rest of the week."</a:t>
            </a:r>
          </a:p>
          <a:p>
            <a:endParaRPr/>
          </a:p>
          <a:p>
            <a:r>
              <a:t>Show:</a:t>
            </a:r>
          </a:p>
          <a:p>
            <a:r>
              <a:t>The annotated stack diagram.</a:t>
            </a:r>
          </a:p>
          <a:p>
            <a:endParaRPr/>
          </a:p>
          <a:p>
            <a:r>
              <a:t>Do:</a:t>
            </a:r>
          </a:p>
          <a:p>
            <a:r>
              <a:t>Hand out the L4.2a student brief. Remind them that precision in collection and reporting is graded, not just successful callback. Break 15 minutes, then release to the lab.</a:t>
            </a:r>
          </a:p>
          <a:p>
            <a:endParaRPr/>
          </a:p>
          <a:p>
            <a:r>
              <a:t>Image Prompt:</a:t>
            </a:r>
          </a:p>
          <a:p>
            <a:r>
              <a:t>Same adversary stack diagram as slide 7 of the 4.1 content guide, with two new annotations: a survey icon on the currently accessed node and a branch marker to "Scan Path" and "Plant Path (Optional)." Also show a partner-team implant icon being dropped at `adv-c2`.</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Say:</a:t>
            </a:r>
          </a:p>
          <a:p>
            <a:r>
              <a:t>"Look at what you ran in two days. Deny-or-degrade language on collection, deception on their analysis, reconnoiter via disciplined survey, then handoff when partners need to execute at tempo. One adversary stack. Human-paced. Now imagine an adversary running the same arc against you with a local LLM picking targets, tool-calling into your environment, and rewriting its own C2 on the fly. That is what Day 5 ends against. The only way you get good at defeating that is to build one first — which is what tomorrow is."</a:t>
            </a:r>
          </a:p>
          <a:p>
            <a:endParaRPr/>
          </a:p>
          <a:p>
            <a:r>
              <a:t>Show:</a:t>
            </a:r>
          </a:p>
          <a:p>
            <a:r>
              <a:t>A simple four-box checklist labeled with the four doctrinal buckets from the slide bullets; check them all.</a:t>
            </a:r>
          </a:p>
          <a:p>
            <a:endParaRPr/>
          </a:p>
          <a:p>
            <a:r>
              <a:t>Do:</a:t>
            </a:r>
          </a:p>
          <a:p>
            <a:r>
              <a:t>Collect the Day 1-2 five-line effect reports and handoff packages. Tell students these are the inputs for the Day 4 RAG agent — their own work becomes the agent's knowledge base. Dismiss.</a:t>
            </a:r>
          </a:p>
          <a:p>
            <a:endParaRPr/>
          </a:p>
          <a:p>
            <a:r>
              <a:t>Image Prompt:</a:t>
            </a:r>
          </a:p>
          <a:p>
            <a:r>
              <a:t>No image required for this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2"/>
        <p:cNvGrpSpPr/>
        <p:nvPr/>
      </p:nvGrpSpPr>
      <p:grpSpPr>
        <a:xfrm>
          <a:off x="0" y="0"/>
          <a:ext cx="0" cy="0"/>
          <a:chOff x="0" y="0"/>
          <a:chExt cx="0" cy="0"/>
        </a:xfrm>
      </p:grpSpPr>
      <p:sp>
        <p:nvSpPr>
          <p:cNvPr id="13" name="Google Shape;13;p11"/>
          <p:cNvSpPr txBox="1">
            <a:spLocks noGrp="1"/>
          </p:cNvSpPr>
          <p:nvPr>
            <p:ph type="ctrTitle" hasCustomPrompt="1"/>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Title</a:t>
            </a:r>
            <a:endParaRPr dirty="0"/>
          </a:p>
        </p:txBody>
      </p:sp>
    </p:spTree>
    <p:extLst>
      <p:ext uri="{BB962C8B-B14F-4D97-AF65-F5344CB8AC3E}">
        <p14:creationId xmlns:p14="http://schemas.microsoft.com/office/powerpoint/2010/main" val="2793533826"/>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bjectives">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ELOs and the TLOs they support</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Objectives</a:t>
            </a:r>
            <a:endParaRPr dirty="0"/>
          </a:p>
        </p:txBody>
      </p:sp>
    </p:spTree>
    <p:extLst>
      <p:ext uri="{BB962C8B-B14F-4D97-AF65-F5344CB8AC3E}">
        <p14:creationId xmlns:p14="http://schemas.microsoft.com/office/powerpoint/2010/main" val="157770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verview">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Explanation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Overview</a:t>
            </a:r>
            <a:endParaRPr dirty="0"/>
          </a:p>
        </p:txBody>
      </p:sp>
    </p:spTree>
    <p:extLst>
      <p:ext uri="{BB962C8B-B14F-4D97-AF65-F5344CB8AC3E}">
        <p14:creationId xmlns:p14="http://schemas.microsoft.com/office/powerpoint/2010/main" val="3600154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17" name="Google Shape;17;p1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609585" marR="0" lvl="0" indent="-304792"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mn-lt"/>
                <a:ea typeface="Calibri"/>
                <a:cs typeface="Calibri"/>
                <a:sym typeface="Calibri"/>
              </a:defRPr>
            </a:lvl1pPr>
            <a:lvl2pPr marL="1219170" marR="0" lvl="1" indent="-304792"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828754" marR="0" lvl="2" indent="-304792"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2438339" marR="0" lvl="3"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3047924" marR="0" lvl="4"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3657509" marR="0" lvl="5"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4267093" marR="0" lvl="6"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4876678" marR="0" lvl="7"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5486263" marR="0" lvl="8"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pPr lvl="0"/>
            <a:r>
              <a:rPr lang="en-US"/>
              <a:t>Edit Master text styles</a:t>
            </a:r>
          </a:p>
        </p:txBody>
      </p:sp>
    </p:spTree>
    <p:extLst>
      <p:ext uri="{BB962C8B-B14F-4D97-AF65-F5344CB8AC3E}">
        <p14:creationId xmlns:p14="http://schemas.microsoft.com/office/powerpoint/2010/main" val="1301248561"/>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72749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Comparison">
    <p:spTree>
      <p:nvGrpSpPr>
        <p:cNvPr id="1" name="Shape 33"/>
        <p:cNvGrpSpPr/>
        <p:nvPr/>
      </p:nvGrpSpPr>
      <p:grpSpPr>
        <a:xfrm>
          <a:off x="0" y="0"/>
          <a:ext cx="0" cy="0"/>
          <a:chOff x="0" y="0"/>
          <a:chExt cx="0" cy="0"/>
        </a:xfrm>
      </p:grpSpPr>
      <p:sp>
        <p:nvSpPr>
          <p:cNvPr id="34" name="Google Shape;34;p17"/>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Edit Master text styles</a:t>
            </a:r>
          </a:p>
        </p:txBody>
      </p:sp>
      <p:sp>
        <p:nvSpPr>
          <p:cNvPr id="35" name="Google Shape;35;p17"/>
          <p:cNvSpPr txBox="1">
            <a:spLocks noGrp="1"/>
          </p:cNvSpPr>
          <p:nvPr>
            <p:ph type="body" idx="2" hasCustomPrompt="1"/>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sp>
        <p:nvSpPr>
          <p:cNvPr id="36" name="Google Shape;36;p17"/>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Edit Master text styles</a:t>
            </a:r>
          </a:p>
        </p:txBody>
      </p:sp>
      <p:sp>
        <p:nvSpPr>
          <p:cNvPr id="37" name="Google Shape;37;p17"/>
          <p:cNvSpPr txBox="1">
            <a:spLocks noGrp="1"/>
          </p:cNvSpPr>
          <p:nvPr>
            <p:ph type="body" idx="4" hasCustomPrompt="1"/>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pPr lvl="0"/>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cxnSp>
        <p:nvCxnSpPr>
          <p:cNvPr id="38" name="Google Shape;38;p17"/>
          <p:cNvCxnSpPr>
            <a:cxnSpLocks/>
          </p:cNvCxnSpPr>
          <p:nvPr/>
        </p:nvCxnSpPr>
        <p:spPr>
          <a:xfrm>
            <a:off x="1141622" y="974035"/>
            <a:ext cx="10830241" cy="0"/>
          </a:xfrm>
          <a:prstGeom prst="straightConnector1">
            <a:avLst/>
          </a:prstGeom>
          <a:noFill/>
          <a:ln w="9525" cap="flat" cmpd="sng">
            <a:solidFill>
              <a:srgbClr val="BFBFBF"/>
            </a:solidFill>
            <a:prstDash val="solid"/>
            <a:miter lim="8000"/>
            <a:headEnd type="none" w="sm" len="sm"/>
            <a:tailEnd type="none" w="sm" len="sm"/>
          </a:ln>
        </p:spPr>
      </p:cxnSp>
      <p:cxnSp>
        <p:nvCxnSpPr>
          <p:cNvPr id="39" name="Google Shape;39;p17"/>
          <p:cNvCxnSpPr/>
          <p:nvPr/>
        </p:nvCxnSpPr>
        <p:spPr>
          <a:xfrm>
            <a:off x="6095137" y="974035"/>
            <a:ext cx="800" cy="5382400"/>
          </a:xfrm>
          <a:prstGeom prst="straightConnector1">
            <a:avLst/>
          </a:prstGeom>
          <a:noFill/>
          <a:ln w="9525" cap="flat" cmpd="sng">
            <a:solidFill>
              <a:srgbClr val="BFBFBF"/>
            </a:solidFill>
            <a:prstDash val="solid"/>
            <a:miter lim="8000"/>
            <a:headEnd type="none" w="sm" len="sm"/>
            <a:tailEnd type="none" w="sm" len="sm"/>
          </a:ln>
        </p:spPr>
      </p:cxnSp>
      <p:cxnSp>
        <p:nvCxnSpPr>
          <p:cNvPr id="40" name="Google Shape;40;p17"/>
          <p:cNvCxnSpPr>
            <a:cxnSpLocks/>
          </p:cNvCxnSpPr>
          <p:nvPr/>
        </p:nvCxnSpPr>
        <p:spPr>
          <a:xfrm>
            <a:off x="1141621" y="1504121"/>
            <a:ext cx="10830240" cy="0"/>
          </a:xfrm>
          <a:prstGeom prst="straightConnector1">
            <a:avLst/>
          </a:prstGeom>
          <a:noFill/>
          <a:ln w="9525" cap="flat" cmpd="sng">
            <a:solidFill>
              <a:srgbClr val="BFBFBF"/>
            </a:solidFill>
            <a:prstDash val="solid"/>
            <a:miter lim="8000"/>
            <a:headEnd type="none" w="sm" len="sm"/>
            <a:tailEnd type="none" w="sm" len="sm"/>
          </a:ln>
        </p:spPr>
      </p:cxnSp>
      <p:sp>
        <p:nvSpPr>
          <p:cNvPr id="11"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538853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1363363" y="952052"/>
            <a:ext cx="3098248"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5" name="Google Shape;45;p19"/>
          <p:cNvSpPr txBox="1">
            <a:spLocks noGrp="1"/>
          </p:cNvSpPr>
          <p:nvPr>
            <p:ph type="body" idx="1" hasCustomPrompt="1"/>
          </p:nvPr>
        </p:nvSpPr>
        <p:spPr>
          <a:xfrm>
            <a:off x="4720611" y="952053"/>
            <a:ext cx="7091600" cy="5404000"/>
          </a:xfrm>
          <a:prstGeom prst="rect">
            <a:avLst/>
          </a:prstGeom>
          <a:noFill/>
          <a:ln>
            <a:noFill/>
          </a:ln>
        </p:spPr>
        <p:txBody>
          <a:bodyPr spcFirstLastPara="1" wrap="square" lIns="91425" tIns="91425" rIns="91425" bIns="91425" anchor="t" anchorCtr="0">
            <a:noAutofit/>
          </a:bodyPr>
          <a:lstStyle>
            <a:lvl1pPr marL="609585" marR="0" lvl="0" indent="-457189" algn="l">
              <a:lnSpc>
                <a:spcPct val="90000"/>
              </a:lnSpc>
              <a:spcBef>
                <a:spcPts val="800"/>
              </a:spcBef>
              <a:spcAft>
                <a:spcPts val="0"/>
              </a:spcAft>
              <a:buClr>
                <a:schemeClr val="dk1"/>
              </a:buClr>
              <a:buSzPts val="1800"/>
              <a:buFont typeface="Arial"/>
              <a:buChar char="•"/>
              <a:defRPr sz="26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40256" algn="l">
              <a:lnSpc>
                <a:spcPct val="90000"/>
              </a:lnSpc>
              <a:spcBef>
                <a:spcPts val="4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423323" algn="l">
              <a:lnSpc>
                <a:spcPct val="90000"/>
              </a:lnSpc>
              <a:spcBef>
                <a:spcPts val="400"/>
              </a:spcBef>
              <a:spcAft>
                <a:spcPts val="0"/>
              </a:spcAft>
              <a:buClr>
                <a:schemeClr val="dk1"/>
              </a:buClr>
              <a:buSzPts val="14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316934" marR="0" lvl="8" indent="-228594" algn="l">
              <a:lnSpc>
                <a:spcPct val="90000"/>
              </a:lnSpc>
              <a:spcBef>
                <a:spcPts val="400"/>
              </a:spcBef>
              <a:spcAft>
                <a:spcPts val="0"/>
              </a:spcAft>
              <a:buClr>
                <a:schemeClr val="dk1"/>
              </a:buClr>
              <a:buSzPts val="1100"/>
              <a:buFont typeface="Arial" panose="020B0604020202020204" pitchFamily="34" charset="0"/>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8"/>
            <a:r>
              <a:rPr lang="en-US" dirty="0"/>
              <a:t>Text</a:t>
            </a:r>
          </a:p>
          <a:p>
            <a:pPr lvl="8"/>
            <a:endParaRPr lang="en-US" dirty="0"/>
          </a:p>
          <a:p>
            <a:pPr lvl="8"/>
            <a:endParaRPr lang="en-US" dirty="0"/>
          </a:p>
          <a:p>
            <a:pPr lvl="0"/>
            <a:endParaRPr lang="en-US" dirty="0"/>
          </a:p>
        </p:txBody>
      </p:sp>
      <p:sp>
        <p:nvSpPr>
          <p:cNvPr id="46" name="Google Shape;46;p19"/>
          <p:cNvSpPr txBox="1">
            <a:spLocks noGrp="1"/>
          </p:cNvSpPr>
          <p:nvPr>
            <p:ph type="body" idx="2"/>
          </p:nvPr>
        </p:nvSpPr>
        <p:spPr>
          <a:xfrm>
            <a:off x="1363363" y="2552252"/>
            <a:ext cx="3098248" cy="3811600"/>
          </a:xfrm>
          <a:prstGeom prst="rect">
            <a:avLst/>
          </a:prstGeom>
          <a:noFill/>
          <a:ln>
            <a:noFill/>
          </a:ln>
        </p:spPr>
        <p:txBody>
          <a:bodyPr spcFirstLastPara="1" wrap="square" lIns="91425" tIns="91425" rIns="91425" bIns="91425" anchor="t" anchorCtr="0">
            <a:noAutofit/>
          </a:bodyPr>
          <a:lstStyle>
            <a:lvl1pPr marL="609585" marR="0" lvl="0" indent="-304792" algn="l">
              <a:lnSpc>
                <a:spcPct val="90000"/>
              </a:lnSpc>
              <a:spcBef>
                <a:spcPts val="800"/>
              </a:spcBef>
              <a:spcAft>
                <a:spcPts val="0"/>
              </a:spcAft>
              <a:buClr>
                <a:schemeClr val="dk1"/>
              </a:buClr>
              <a:buSzPts val="1600"/>
              <a:buFont typeface="Arial"/>
              <a:buNone/>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pPr lvl="0"/>
            <a:r>
              <a:rPr lang="en-US"/>
              <a:t>Edit Master text styles</a:t>
            </a:r>
          </a:p>
        </p:txBody>
      </p:sp>
    </p:spTree>
    <p:extLst>
      <p:ext uri="{BB962C8B-B14F-4D97-AF65-F5344CB8AC3E}">
        <p14:creationId xmlns:p14="http://schemas.microsoft.com/office/powerpoint/2010/main" val="535271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1301578" y="987425"/>
            <a:ext cx="3061420"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9" name="Google Shape;49;p20"/>
          <p:cNvSpPr>
            <a:spLocks noGrp="1"/>
          </p:cNvSpPr>
          <p:nvPr>
            <p:ph type="pic" idx="2"/>
          </p:nvPr>
        </p:nvSpPr>
        <p:spPr>
          <a:xfrm>
            <a:off x="4666821" y="987425"/>
            <a:ext cx="7102000" cy="54116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800"/>
              </a:spcBef>
              <a:spcAft>
                <a:spcPts val="0"/>
              </a:spcAft>
              <a:buClr>
                <a:schemeClr val="dk1"/>
              </a:buClr>
              <a:buSzPts val="11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100"/>
              <a:buFont typeface="Arial"/>
              <a:buNone/>
              <a:defRPr sz="2133"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50" name="Google Shape;50;p20"/>
          <p:cNvSpPr txBox="1">
            <a:spLocks noGrp="1"/>
          </p:cNvSpPr>
          <p:nvPr>
            <p:ph type="body" idx="1"/>
          </p:nvPr>
        </p:nvSpPr>
        <p:spPr>
          <a:xfrm>
            <a:off x="1301578" y="2587625"/>
            <a:ext cx="3061420" cy="3811600"/>
          </a:xfrm>
          <a:prstGeom prst="rect">
            <a:avLst/>
          </a:prstGeom>
          <a:noFill/>
          <a:ln>
            <a:noFill/>
          </a:ln>
        </p:spPr>
        <p:txBody>
          <a:bodyPr spcFirstLastPara="1" wrap="square" lIns="91425" tIns="91425" rIns="91425" bIns="91425" anchor="t" anchorCtr="0">
            <a:noAutofit/>
          </a:bodyPr>
          <a:lstStyle>
            <a:lvl1pPr>
              <a:defRPr sz="1867" dirty="0">
                <a:solidFill>
                  <a:schemeClr val="dk1"/>
                </a:solidFill>
                <a:latin typeface="Arial" panose="020B0604020202020204" pitchFamily="34" charset="0"/>
                <a:ea typeface="Arial" panose="020B0604020202020204" pitchFamily="34" charset="0"/>
                <a:cs typeface="Arial" panose="020B0604020202020204" pitchFamily="34" charset="0"/>
              </a:defRPr>
            </a:lvl1pPr>
          </a:lstStyle>
          <a:p>
            <a:pPr lvl="0" indent="-304792">
              <a:buClr>
                <a:schemeClr val="dk1"/>
              </a:buClr>
              <a:buNone/>
            </a:pPr>
            <a:r>
              <a:rPr lang="en-US"/>
              <a:t>Edit Master text styles</a:t>
            </a:r>
          </a:p>
        </p:txBody>
      </p:sp>
    </p:spTree>
    <p:extLst>
      <p:ext uri="{BB962C8B-B14F-4D97-AF65-F5344CB8AC3E}">
        <p14:creationId xmlns:p14="http://schemas.microsoft.com/office/powerpoint/2010/main" val="140843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reserve="1">
  <p:cSld name="11_Title Slide">
    <p:spTree>
      <p:nvGrpSpPr>
        <p:cNvPr id="1" name="Shape 57"/>
        <p:cNvGrpSpPr/>
        <p:nvPr/>
      </p:nvGrpSpPr>
      <p:grpSpPr>
        <a:xfrm>
          <a:off x="0" y="0"/>
          <a:ext cx="0" cy="0"/>
          <a:chOff x="0" y="0"/>
          <a:chExt cx="0" cy="0"/>
        </a:xfrm>
      </p:grpSpPr>
      <p:sp>
        <p:nvSpPr>
          <p:cNvPr id="58" name="Google Shape;58;p23"/>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59" name="Google Shape;59;p23"/>
          <p:cNvSpPr txBox="1">
            <a:spLocks noGrp="1"/>
          </p:cNvSpPr>
          <p:nvPr>
            <p:ph type="ftr" idx="11"/>
          </p:nvPr>
        </p:nvSpPr>
        <p:spPr>
          <a:xfrm>
            <a:off x="8049777" y="6566743"/>
            <a:ext cx="3860800" cy="365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100"/>
              <a:buFont typeface="Arial"/>
              <a:buNone/>
              <a:defRPr sz="1867" b="1" i="0" u="none" strike="noStrike" cap="none">
                <a:solidFill>
                  <a:srgbClr val="00B05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802184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reserve="1" userDrawn="1">
  <p:cSld name="Master Use">
    <p:spTree>
      <p:nvGrpSpPr>
        <p:cNvPr id="1" name="Shape 60"/>
        <p:cNvGrpSpPr/>
        <p:nvPr/>
      </p:nvGrpSpPr>
      <p:grpSpPr>
        <a:xfrm>
          <a:off x="0" y="0"/>
          <a:ext cx="0" cy="0"/>
          <a:chOff x="0" y="0"/>
          <a:chExt cx="0" cy="0"/>
        </a:xfrm>
      </p:grpSpPr>
      <p:sp>
        <p:nvSpPr>
          <p:cNvPr id="4"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2588747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Summary">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Summary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Summary</a:t>
            </a:r>
            <a:endParaRPr dirty="0"/>
          </a:p>
        </p:txBody>
      </p:sp>
    </p:spTree>
    <p:extLst>
      <p:ext uri="{BB962C8B-B14F-4D97-AF65-F5344CB8AC3E}">
        <p14:creationId xmlns:p14="http://schemas.microsoft.com/office/powerpoint/2010/main" val="3060084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reserve="1" userDrawn="1">
  <p:cSld name="Questions">
    <p:spTree>
      <p:nvGrpSpPr>
        <p:cNvPr id="1" name="Shape 15"/>
        <p:cNvGrpSpPr/>
        <p:nvPr/>
      </p:nvGrpSpPr>
      <p:grpSpPr>
        <a:xfrm>
          <a:off x="0" y="0"/>
          <a:ext cx="0" cy="0"/>
          <a:chOff x="0" y="0"/>
          <a:chExt cx="0" cy="0"/>
        </a:xfrm>
      </p:grpSpPr>
      <p:sp>
        <p:nvSpPr>
          <p:cNvPr id="16" name="Google Shape;16;p12"/>
          <p:cNvSpPr txBox="1">
            <a:spLocks noGrp="1"/>
          </p:cNvSpPr>
          <p:nvPr>
            <p:ph type="title" hasCustomPrompt="1"/>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Questions?</a:t>
            </a:r>
            <a:endParaRPr dirty="0"/>
          </a:p>
        </p:txBody>
      </p:sp>
    </p:spTree>
    <p:extLst>
      <p:ext uri="{BB962C8B-B14F-4D97-AF65-F5344CB8AC3E}">
        <p14:creationId xmlns:p14="http://schemas.microsoft.com/office/powerpoint/2010/main" val="448481437"/>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14" name="Rectangle 13">
            <a:extLst>
              <a:ext uri="{FF2B5EF4-FFF2-40B4-BE49-F238E27FC236}">
                <a16:creationId xmlns:a16="http://schemas.microsoft.com/office/drawing/2014/main" id="{03C8531C-6664-AC0C-ED00-3D1957BC281F}"/>
              </a:ext>
            </a:extLst>
          </p:cNvPr>
          <p:cNvSpPr/>
          <p:nvPr userDrawn="1"/>
        </p:nvSpPr>
        <p:spPr>
          <a:xfrm>
            <a:off x="-1" y="-20168"/>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CAD018CF-85D7-A3C5-985F-E66425541490}"/>
              </a:ext>
            </a:extLst>
          </p:cNvPr>
          <p:cNvSpPr/>
          <p:nvPr userDrawn="1"/>
        </p:nvSpPr>
        <p:spPr>
          <a:xfrm>
            <a:off x="1" y="243443"/>
            <a:ext cx="1128108" cy="6614557"/>
          </a:xfrm>
          <a:prstGeom prst="rect">
            <a:avLst/>
          </a:prstGeom>
          <a:ln>
            <a:noFill/>
          </a:ln>
          <a:effectLst/>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7" name="Google Shape;7;p10"/>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dirty="0"/>
              <a:t> </a:t>
            </a:r>
            <a:endParaRPr dirty="0"/>
          </a:p>
        </p:txBody>
      </p:sp>
      <p:sp>
        <p:nvSpPr>
          <p:cNvPr id="8" name="Google Shape;8;p10"/>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pPr lvl="0"/>
            <a:endParaRPr dirty="0"/>
          </a:p>
        </p:txBody>
      </p:sp>
      <p:pic>
        <p:nvPicPr>
          <p:cNvPr id="9" name="Google Shape;9;p10"/>
          <p:cNvPicPr preferRelativeResize="0"/>
          <p:nvPr userDrawn="1"/>
        </p:nvPicPr>
        <p:blipFill>
          <a:blip r:embed="rId14">
            <a:extLst>
              <a:ext uri="{28A0092B-C50C-407E-A947-70E740481C1C}">
                <a14:useLocalDpi xmlns:a14="http://schemas.microsoft.com/office/drawing/2010/main" val="0"/>
              </a:ext>
            </a:extLst>
          </a:blip>
          <a:srcRect/>
          <a:stretch/>
        </p:blipFill>
        <p:spPr>
          <a:xfrm>
            <a:off x="99713" y="231455"/>
            <a:ext cx="928680" cy="928680"/>
          </a:xfrm>
          <a:prstGeom prst="rect">
            <a:avLst/>
          </a:prstGeom>
          <a:noFill/>
          <a:ln>
            <a:noFill/>
          </a:ln>
        </p:spPr>
      </p:pic>
      <p:sp>
        <p:nvSpPr>
          <p:cNvPr id="11" name="Google Shape;11;p10"/>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0" name="Rectangle 9">
            <a:extLst>
              <a:ext uri="{FF2B5EF4-FFF2-40B4-BE49-F238E27FC236}">
                <a16:creationId xmlns:a16="http://schemas.microsoft.com/office/drawing/2014/main" id="{03C8531C-6664-AC0C-ED00-3D1957BC281F}"/>
              </a:ext>
            </a:extLst>
          </p:cNvPr>
          <p:cNvSpPr/>
          <p:nvPr userDrawn="1"/>
        </p:nvSpPr>
        <p:spPr>
          <a:xfrm>
            <a:off x="-2" y="6594389"/>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grpSp>
        <p:nvGrpSpPr>
          <p:cNvPr id="34" name="Group 33"/>
          <p:cNvGrpSpPr/>
          <p:nvPr userDrawn="1"/>
        </p:nvGrpSpPr>
        <p:grpSpPr>
          <a:xfrm>
            <a:off x="254537" y="37012"/>
            <a:ext cx="4123292" cy="140365"/>
            <a:chOff x="5526083" y="4992009"/>
            <a:chExt cx="3092469" cy="105274"/>
          </a:xfrm>
          <a:gradFill flip="none" rotWithShape="1">
            <a:gsLst>
              <a:gs pos="0">
                <a:schemeClr val="accent1"/>
              </a:gs>
              <a:gs pos="0">
                <a:schemeClr val="accent1"/>
              </a:gs>
            </a:gsLst>
            <a:lin ang="2700000" scaled="1"/>
            <a:tileRect/>
          </a:gradFill>
        </p:grpSpPr>
        <p:sp>
          <p:nvSpPr>
            <p:cNvPr id="35" name="Chevron 34"/>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6" name="Chevron 35"/>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7" name="Chevron 36"/>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8" name="Chevron 37"/>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9" name="Chevron 38"/>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0" name="Chevron 39"/>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1" name="Chevron 40"/>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2" name="Chevron 41"/>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3" name="Chevron 42"/>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4" name="Chevron 43"/>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5" name="Chevron 44"/>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
        <p:nvSpPr>
          <p:cNvPr id="48" name="Text Placeholder 16"/>
          <p:cNvSpPr txBox="1">
            <a:spLocks/>
          </p:cNvSpPr>
          <p:nvPr userDrawn="1"/>
        </p:nvSpPr>
        <p:spPr>
          <a:xfrm flipH="1">
            <a:off x="1043632" y="6366806"/>
            <a:ext cx="4211863" cy="221589"/>
          </a:xfrm>
          <a:prstGeom prst="rect">
            <a:avLst/>
          </a:prstGeom>
        </p:spPr>
        <p:txBody>
          <a:bodyPr>
            <a:noAutofit/>
          </a:bodyPr>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0000"/>
              </a:buClr>
              <a:buFont typeface="Arial"/>
              <a:buNone/>
              <a:defRPr sz="1200" b="1" i="0" u="none" strike="noStrike" cap="none">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sp>
        <p:nvSpPr>
          <p:cNvPr id="49" name="Text Placeholder 16"/>
          <p:cNvSpPr txBox="1">
            <a:spLocks/>
          </p:cNvSpPr>
          <p:nvPr userDrawn="1"/>
        </p:nvSpPr>
        <p:spPr>
          <a:xfrm>
            <a:off x="5482963" y="207088"/>
            <a:ext cx="6767512" cy="212103"/>
          </a:xfrm>
          <a:prstGeom prst="rect">
            <a:avLst/>
          </a:prstGeom>
        </p:spPr>
        <p:txBody>
          <a:bodyPr>
            <a:noAutofit/>
          </a:bodyPr>
          <a:lstStyle>
            <a:defPPr marR="0" lvl="0" algn="l" rtl="0">
              <a:lnSpc>
                <a:spcPct val="100000"/>
              </a:lnSpc>
              <a:spcBef>
                <a:spcPts val="0"/>
              </a:spcBef>
              <a:spcAft>
                <a:spcPts val="0"/>
              </a:spcAft>
            </a:defPPr>
            <a:lvl1pPr marL="0" marR="0" lvl="0" indent="0" algn="r" rtl="0" eaLnBrk="1" hangingPunct="1">
              <a:lnSpc>
                <a:spcPct val="100000"/>
              </a:lnSpc>
              <a:spcBef>
                <a:spcPts val="0"/>
              </a:spcBef>
              <a:spcAft>
                <a:spcPts val="0"/>
              </a:spcAft>
              <a:buClr>
                <a:srgbClr val="000000"/>
              </a:buClr>
              <a:buFont typeface="Arial"/>
              <a:buNone/>
              <a:defRPr sz="1200" b="1" i="0" u="none" strike="noStrike" cap="none" baseline="0">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pic>
        <p:nvPicPr>
          <p:cNvPr id="21" name="Picture 20">
            <a:extLst>
              <a:ext uri="{FF2B5EF4-FFF2-40B4-BE49-F238E27FC236}">
                <a16:creationId xmlns:a16="http://schemas.microsoft.com/office/drawing/2014/main" id="{62ADCA60-3BD1-B7C2-7897-A83E6D91411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2150855" y="3445521"/>
            <a:ext cx="5429815" cy="991170"/>
          </a:xfrm>
          <a:prstGeom prst="rect">
            <a:avLst/>
          </a:prstGeom>
        </p:spPr>
      </p:pic>
      <p:grpSp>
        <p:nvGrpSpPr>
          <p:cNvPr id="51" name="Group 50">
            <a:extLst>
              <a:ext uri="{FF2B5EF4-FFF2-40B4-BE49-F238E27FC236}">
                <a16:creationId xmlns:a16="http://schemas.microsoft.com/office/drawing/2014/main" id="{6701C421-A6F9-D749-8480-ECF6D94627DA}"/>
              </a:ext>
            </a:extLst>
          </p:cNvPr>
          <p:cNvGrpSpPr/>
          <p:nvPr userDrawn="1"/>
        </p:nvGrpSpPr>
        <p:grpSpPr>
          <a:xfrm>
            <a:off x="7996753" y="6659805"/>
            <a:ext cx="4123292" cy="140365"/>
            <a:chOff x="5526083" y="4992009"/>
            <a:chExt cx="3092469" cy="105274"/>
          </a:xfrm>
          <a:gradFill flip="none" rotWithShape="1">
            <a:gsLst>
              <a:gs pos="0">
                <a:schemeClr val="accent1"/>
              </a:gs>
              <a:gs pos="0">
                <a:schemeClr val="accent1"/>
              </a:gs>
            </a:gsLst>
            <a:lin ang="2700000" scaled="1"/>
            <a:tileRect/>
          </a:gradFill>
        </p:grpSpPr>
        <p:sp>
          <p:nvSpPr>
            <p:cNvPr id="52" name="Chevron 34">
              <a:extLst>
                <a:ext uri="{FF2B5EF4-FFF2-40B4-BE49-F238E27FC236}">
                  <a16:creationId xmlns:a16="http://schemas.microsoft.com/office/drawing/2014/main" id="{A3DA9578-59FE-86FB-A354-142255DA60DA}"/>
                </a:ext>
              </a:extLst>
            </p:cNvPr>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3" name="Chevron 35">
              <a:extLst>
                <a:ext uri="{FF2B5EF4-FFF2-40B4-BE49-F238E27FC236}">
                  <a16:creationId xmlns:a16="http://schemas.microsoft.com/office/drawing/2014/main" id="{B04AF141-545B-B49E-C1E8-94740B9919BB}"/>
                </a:ext>
              </a:extLst>
            </p:cNvPr>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4" name="Chevron 36">
              <a:extLst>
                <a:ext uri="{FF2B5EF4-FFF2-40B4-BE49-F238E27FC236}">
                  <a16:creationId xmlns:a16="http://schemas.microsoft.com/office/drawing/2014/main" id="{1A4E42AC-7995-9220-EB0F-FB2C216318D3}"/>
                </a:ext>
              </a:extLst>
            </p:cNvPr>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5" name="Chevron 37">
              <a:extLst>
                <a:ext uri="{FF2B5EF4-FFF2-40B4-BE49-F238E27FC236}">
                  <a16:creationId xmlns:a16="http://schemas.microsoft.com/office/drawing/2014/main" id="{53C22C0C-6ECA-E350-C18D-0954C59A74BA}"/>
                </a:ext>
              </a:extLst>
            </p:cNvPr>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6" name="Chevron 38">
              <a:extLst>
                <a:ext uri="{FF2B5EF4-FFF2-40B4-BE49-F238E27FC236}">
                  <a16:creationId xmlns:a16="http://schemas.microsoft.com/office/drawing/2014/main" id="{F7C7267B-65F6-7F5D-55FA-BFF8A364F42B}"/>
                </a:ext>
              </a:extLst>
            </p:cNvPr>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7" name="Chevron 39">
              <a:extLst>
                <a:ext uri="{FF2B5EF4-FFF2-40B4-BE49-F238E27FC236}">
                  <a16:creationId xmlns:a16="http://schemas.microsoft.com/office/drawing/2014/main" id="{7B9AD0EA-9215-55F3-CBC7-713862E4C839}"/>
                </a:ext>
              </a:extLst>
            </p:cNvPr>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8" name="Chevron 40">
              <a:extLst>
                <a:ext uri="{FF2B5EF4-FFF2-40B4-BE49-F238E27FC236}">
                  <a16:creationId xmlns:a16="http://schemas.microsoft.com/office/drawing/2014/main" id="{BCD4AD2F-0902-4385-94F7-5ACB01D22A41}"/>
                </a:ext>
              </a:extLst>
            </p:cNvPr>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9" name="Chevron 41">
              <a:extLst>
                <a:ext uri="{FF2B5EF4-FFF2-40B4-BE49-F238E27FC236}">
                  <a16:creationId xmlns:a16="http://schemas.microsoft.com/office/drawing/2014/main" id="{9C796D23-978C-FFFF-4038-1C937EE690D7}"/>
                </a:ext>
              </a:extLst>
            </p:cNvPr>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0" name="Chevron 42">
              <a:extLst>
                <a:ext uri="{FF2B5EF4-FFF2-40B4-BE49-F238E27FC236}">
                  <a16:creationId xmlns:a16="http://schemas.microsoft.com/office/drawing/2014/main" id="{9080B428-A3B2-6A7E-177F-CF4DC7356652}"/>
                </a:ext>
              </a:extLst>
            </p:cNvPr>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1" name="Chevron 43">
              <a:extLst>
                <a:ext uri="{FF2B5EF4-FFF2-40B4-BE49-F238E27FC236}">
                  <a16:creationId xmlns:a16="http://schemas.microsoft.com/office/drawing/2014/main" id="{54FDEC70-BB7A-14BD-BF44-B0F7EFDD1AA4}"/>
                </a:ext>
              </a:extLst>
            </p:cNvPr>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2" name="Chevron 44">
              <a:extLst>
                <a:ext uri="{FF2B5EF4-FFF2-40B4-BE49-F238E27FC236}">
                  <a16:creationId xmlns:a16="http://schemas.microsoft.com/office/drawing/2014/main" id="{B3E053BC-053D-4B7F-17DA-2B8D0B40E67E}"/>
                </a:ext>
              </a:extLst>
            </p:cNvPr>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Tree>
    <p:extLst>
      <p:ext uri="{BB962C8B-B14F-4D97-AF65-F5344CB8AC3E}">
        <p14:creationId xmlns:p14="http://schemas.microsoft.com/office/powerpoint/2010/main" val="2594109494"/>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742" r:id="rId3"/>
    <p:sldLayoutId id="2147483738" r:id="rId4"/>
    <p:sldLayoutId id="2147483741" r:id="rId5"/>
    <p:sldLayoutId id="2147483664" r:id="rId6"/>
    <p:sldLayoutId id="2147483665" r:id="rId7"/>
    <p:sldLayoutId id="2147483666" r:id="rId8"/>
    <p:sldLayoutId id="2147483667" r:id="rId9"/>
    <p:sldLayoutId id="2147483668" r:id="rId10"/>
    <p:sldLayoutId id="2147483743" r:id="rId11"/>
    <p:sldLayoutId id="2147483740"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69329" marR="0" lvl="0" indent="0" algn="l" rtl="0" eaLnBrk="1" hangingPunct="1">
        <a:lnSpc>
          <a:spcPct val="100000"/>
        </a:lnSpc>
        <a:spcBef>
          <a:spcPts val="0"/>
        </a:spcBef>
        <a:spcAft>
          <a:spcPts val="0"/>
        </a:spcAft>
        <a:buClr>
          <a:srgbClr val="000000"/>
        </a:buClr>
        <a:buFont typeface="Arial"/>
        <a:buNone/>
        <a:defRPr sz="26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r>
              <a:rPr sz="4400"/>
              <a:t>4.2 Persistent Effects and Handoff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10029" y="1408827"/>
            <a:ext cx="4585971" cy="4911526"/>
          </a:xfrm>
        </p:spPr>
        <p:txBody>
          <a:bodyPr wrap="square">
            <a:normAutofit fontScale="77500" lnSpcReduction="20000"/>
          </a:bodyPr>
          <a:lstStyle/>
          <a:p>
            <a:r>
              <a:rPr sz="2400" dirty="0"/>
              <a:t>Day 1 effects (</a:t>
            </a:r>
            <a:r>
              <a:rPr sz="2400" b="1" dirty="0"/>
              <a:t>degrade / disrupt / deny</a:t>
            </a:r>
            <a:r>
              <a:rPr sz="2400" dirty="0"/>
              <a:t> collection and </a:t>
            </a:r>
            <a:r>
              <a:rPr sz="2400" b="1" dirty="0"/>
              <a:t>deceive / manipulate</a:t>
            </a:r>
            <a:r>
              <a:rPr sz="2400" dirty="0"/>
              <a:t> analysis) are </a:t>
            </a:r>
            <a:r>
              <a:rPr sz="2400" b="1" dirty="0"/>
              <a:t>local</a:t>
            </a:r>
            <a:r>
              <a:rPr sz="2400" dirty="0"/>
              <a:t> — they stop at the edge of the adversary stack</a:t>
            </a:r>
          </a:p>
          <a:p>
            <a:r>
              <a:rPr sz="2400" dirty="0"/>
              <a:t>Day 2 effects (</a:t>
            </a:r>
            <a:r>
              <a:rPr sz="2400" b="1" dirty="0"/>
              <a:t>reconnoiter</a:t>
            </a:r>
            <a:r>
              <a:rPr sz="2400" dirty="0"/>
              <a:t> via survey methods, then </a:t>
            </a:r>
            <a:r>
              <a:rPr sz="2400" b="1" dirty="0"/>
              <a:t>handoff</a:t>
            </a:r>
            <a:r>
              <a:rPr sz="2400" dirty="0"/>
              <a:t>) are </a:t>
            </a:r>
            <a:r>
              <a:rPr sz="2400" b="1" dirty="0"/>
              <a:t>extending</a:t>
            </a:r>
            <a:r>
              <a:rPr sz="2400" dirty="0"/>
              <a:t> — they reach past the adversary stack to collect technical and behavioral data, then pass action-ready context to partner teams</a:t>
            </a:r>
          </a:p>
          <a:p>
            <a:r>
              <a:rPr sz="2400" dirty="0"/>
              <a:t>These are the effects CPT commanders most care about because they generate options for pursuit</a:t>
            </a:r>
          </a:p>
          <a:p>
            <a:r>
              <a:rPr sz="2400" dirty="0"/>
              <a:t>They also demand the highest documentation discipline because another team may execute based on what you report</a:t>
            </a:r>
          </a:p>
        </p:txBody>
      </p:sp>
      <p:sp>
        <p:nvSpPr>
          <p:cNvPr id="3" name="Title 2"/>
          <p:cNvSpPr>
            <a:spLocks noGrp="1"/>
          </p:cNvSpPr>
          <p:nvPr>
            <p:ph type="title"/>
          </p:nvPr>
        </p:nvSpPr>
        <p:spPr/>
        <p:txBody>
          <a:bodyPr wrap="square">
            <a:normAutofit/>
          </a:bodyPr>
          <a:lstStyle/>
          <a:p>
            <a:r>
              <a:rPr sz="4000"/>
              <a:t>Yesterday We Denied and Deceived — Today We Survey and Hand Off</a:t>
            </a:r>
          </a:p>
        </p:txBody>
      </p:sp>
      <p:pic>
        <p:nvPicPr>
          <p:cNvPr id="4" name="Picture 3" descr="15bd90019b3d63dff8379b9020b1887b35773529a408d459601d565b3f97cf62.png"/>
          <p:cNvPicPr>
            <a:picLocks noChangeAspect="1"/>
          </p:cNvPicPr>
          <p:nvPr/>
        </p:nvPicPr>
        <p:blipFill>
          <a:blip r:embed="rId3"/>
          <a:stretch>
            <a:fillRect/>
          </a:stretch>
        </p:blipFill>
        <p:spPr>
          <a:xfrm>
            <a:off x="6096000" y="1408827"/>
            <a:ext cx="5131632" cy="51316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10029" y="1188720"/>
            <a:ext cx="4585971" cy="5131633"/>
          </a:xfrm>
        </p:spPr>
        <p:txBody>
          <a:bodyPr wrap="square">
            <a:normAutofit fontScale="62500" lnSpcReduction="20000"/>
          </a:bodyPr>
          <a:lstStyle/>
          <a:p>
            <a:r>
              <a:rPr sz="2400" dirty="0"/>
              <a:t>Initial access work from last week already produced a first-pass awareness picture; today we package that picture for partner action</a:t>
            </a:r>
          </a:p>
          <a:p>
            <a:r>
              <a:rPr sz="2400" dirty="0"/>
              <a:t>Organize existing survey-derived observations into four buckets:</a:t>
            </a:r>
          </a:p>
          <a:p>
            <a:pPr lvl="1"/>
            <a:r>
              <a:rPr sz="2400" b="1" dirty="0"/>
              <a:t>Technical state</a:t>
            </a:r>
            <a:r>
              <a:rPr sz="2400" dirty="0"/>
              <a:t> — host, user, process, service, and network facts from the current foothold</a:t>
            </a:r>
          </a:p>
          <a:p>
            <a:pPr lvl="1"/>
            <a:r>
              <a:rPr sz="2400" b="1" dirty="0"/>
              <a:t>Behavioral indicators</a:t>
            </a:r>
            <a:r>
              <a:rPr sz="2400" dirty="0"/>
              <a:t> — cadence, handling patterns, and likely next adversary action</a:t>
            </a:r>
          </a:p>
          <a:p>
            <a:pPr lvl="1"/>
            <a:r>
              <a:rPr sz="2400" b="1" dirty="0"/>
              <a:t>Attribution and tracking support</a:t>
            </a:r>
            <a:r>
              <a:rPr sz="2400" dirty="0"/>
              <a:t> — infrastructure, timing, and routing clues that support "who is handling this" and "from where"</a:t>
            </a:r>
          </a:p>
          <a:p>
            <a:pPr lvl="1"/>
            <a:r>
              <a:rPr sz="2400" b="1" dirty="0"/>
              <a:t>Expansion leads</a:t>
            </a:r>
            <a:r>
              <a:rPr sz="2400" dirty="0"/>
              <a:t> — additional systems, users, services, or workflows revealed by current access</a:t>
            </a:r>
          </a:p>
          <a:p>
            <a:r>
              <a:rPr sz="2400" dirty="0"/>
              <a:t>This package is the baseline for handoff quality: if these four buckets are weak, partner teams must re-discover before they can execute</a:t>
            </a:r>
          </a:p>
          <a:p>
            <a:r>
              <a:rPr sz="2400" dirty="0"/>
              <a:t>Effect framing remains </a:t>
            </a:r>
            <a:r>
              <a:rPr sz="2400" b="1" dirty="0"/>
              <a:t>reconnoiter</a:t>
            </a:r>
            <a:r>
              <a:rPr sz="2400" dirty="0"/>
              <a:t>; operational product is an actionable </a:t>
            </a:r>
            <a:r>
              <a:rPr sz="2400" b="1" dirty="0"/>
              <a:t>Access Guide</a:t>
            </a:r>
            <a:r>
              <a:rPr sz="2400" dirty="0"/>
              <a:t> baseline</a:t>
            </a:r>
          </a:p>
        </p:txBody>
      </p:sp>
      <p:sp>
        <p:nvSpPr>
          <p:cNvPr id="3" name="Title 2"/>
          <p:cNvSpPr>
            <a:spLocks noGrp="1"/>
          </p:cNvSpPr>
          <p:nvPr>
            <p:ph type="title"/>
          </p:nvPr>
        </p:nvSpPr>
        <p:spPr/>
        <p:txBody>
          <a:bodyPr wrap="square">
            <a:normAutofit/>
          </a:bodyPr>
          <a:lstStyle/>
          <a:p>
            <a:r>
              <a:rPr sz="4000"/>
              <a:t>Situational Awareness Package from Prior Survey</a:t>
            </a:r>
          </a:p>
        </p:txBody>
      </p:sp>
      <p:pic>
        <p:nvPicPr>
          <p:cNvPr id="4" name="Picture 3" descr="9121d070577003baf5d6148c9761a172d0d5d4d254f83236559c79cf053a393a.png"/>
          <p:cNvPicPr>
            <a:picLocks noChangeAspect="1"/>
          </p:cNvPicPr>
          <p:nvPr/>
        </p:nvPicPr>
        <p:blipFill>
          <a:blip r:embed="rId3"/>
          <a:stretch>
            <a:fillRect/>
          </a:stretch>
        </p:blipFill>
        <p:spPr>
          <a:xfrm>
            <a:off x="6690713" y="1188720"/>
            <a:ext cx="5131632" cy="51316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10029" y="1188720"/>
            <a:ext cx="4585971" cy="5131633"/>
          </a:xfrm>
        </p:spPr>
        <p:txBody>
          <a:bodyPr wrap="square">
            <a:normAutofit fontScale="55000" lnSpcReduction="20000"/>
          </a:bodyPr>
          <a:lstStyle/>
          <a:p>
            <a:r>
              <a:rPr sz="2400" dirty="0"/>
              <a:t>Once baseline awareness is organized, collect only what closes partner decision gaps or handoff execution gaps</a:t>
            </a:r>
          </a:p>
          <a:p>
            <a:r>
              <a:rPr sz="2400" dirty="0"/>
              <a:t>Two common additional-collection paths before/with handoff:</a:t>
            </a:r>
          </a:p>
          <a:p>
            <a:pPr lvl="1"/>
            <a:r>
              <a:rPr sz="2400" b="1" dirty="0"/>
              <a:t>Targeted scanning/enumeration from current foothold</a:t>
            </a:r>
            <a:r>
              <a:rPr sz="2400" dirty="0"/>
              <a:t> — gather missing validation on adjacent hosts, exposed services, user paths, and callback feasibility</a:t>
            </a:r>
          </a:p>
          <a:p>
            <a:pPr lvl="1"/>
            <a:r>
              <a:rPr sz="2400" b="1" dirty="0"/>
              <a:t>Pipeline plant (optional, informed)</a:t>
            </a:r>
            <a:r>
              <a:rPr sz="2400" dirty="0"/>
              <a:t> — introduce a controlled plant in a known adversary workflow when you need higher-confidence interaction evidence or persistent partner positioning</a:t>
            </a:r>
          </a:p>
          <a:p>
            <a:r>
              <a:rPr sz="2400" dirty="0"/>
              <a:t>Selection logic:</a:t>
            </a:r>
          </a:p>
          <a:p>
            <a:pPr lvl="1"/>
            <a:r>
              <a:rPr sz="2400" dirty="0"/>
              <a:t>Use additional scanning when the gap is coverage, reachability, or technical validation</a:t>
            </a:r>
          </a:p>
          <a:p>
            <a:pPr lvl="1"/>
            <a:r>
              <a:rPr sz="2400" dirty="0"/>
              <a:t>Use a pipeline plant when the gap is workflow understanding, adversary handling confirmation, or partner persistence requirements</a:t>
            </a:r>
          </a:p>
          <a:p>
            <a:pPr lvl="1"/>
            <a:r>
              <a:rPr sz="2400" dirty="0"/>
              <a:t>Record purpose, expected evidence, and risk in the Access Guide before execution</a:t>
            </a:r>
          </a:p>
          <a:p>
            <a:r>
              <a:rPr sz="2400" dirty="0"/>
              <a:t>Poor handoff prep is collecting "more data" without a stated partner decision it supports</a:t>
            </a:r>
          </a:p>
        </p:txBody>
      </p:sp>
      <p:sp>
        <p:nvSpPr>
          <p:cNvPr id="3" name="Title 2"/>
          <p:cNvSpPr>
            <a:spLocks noGrp="1"/>
          </p:cNvSpPr>
          <p:nvPr>
            <p:ph type="title"/>
          </p:nvPr>
        </p:nvSpPr>
        <p:spPr/>
        <p:txBody>
          <a:bodyPr wrap="square">
            <a:normAutofit/>
          </a:bodyPr>
          <a:lstStyle/>
          <a:p>
            <a:r>
              <a:rPr sz="4000"/>
              <a:t>Additional Collection for Handoff Decisions and Success</a:t>
            </a:r>
          </a:p>
        </p:txBody>
      </p:sp>
      <p:pic>
        <p:nvPicPr>
          <p:cNvPr id="4" name="Picture 3" descr="7f14a7fb0e1afe212c84f9f940f6a28c4e6cbf979d8f40161ed0991ec4d3da37.png"/>
          <p:cNvPicPr>
            <a:picLocks noChangeAspect="1"/>
          </p:cNvPicPr>
          <p:nvPr/>
        </p:nvPicPr>
        <p:blipFill>
          <a:blip r:embed="rId3"/>
          <a:stretch>
            <a:fillRect/>
          </a:stretch>
        </p:blipFill>
        <p:spPr>
          <a:xfrm>
            <a:off x="6690713" y="1381532"/>
            <a:ext cx="4957384" cy="49573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10029" y="1188720"/>
            <a:ext cx="4585971" cy="5131633"/>
          </a:xfrm>
        </p:spPr>
        <p:txBody>
          <a:bodyPr wrap="square">
            <a:normAutofit fontScale="62500" lnSpcReduction="20000"/>
          </a:bodyPr>
          <a:lstStyle/>
          <a:p>
            <a:r>
              <a:rPr sz="2400" b="1" dirty="0"/>
              <a:t>Handoff</a:t>
            </a:r>
            <a:r>
              <a:rPr sz="2400" dirty="0"/>
              <a:t> = convert your tactical access into operational reach for someone else</a:t>
            </a:r>
          </a:p>
          <a:p>
            <a:r>
              <a:rPr sz="2400" dirty="0"/>
              <a:t>Two flavors:</a:t>
            </a:r>
          </a:p>
          <a:p>
            <a:pPr lvl="1"/>
            <a:r>
              <a:rPr sz="2400" b="1" dirty="0"/>
              <a:t>Access Guide handoff</a:t>
            </a:r>
            <a:r>
              <a:rPr sz="2400" dirty="0"/>
              <a:t> — you package evidence so well that the partner team can act without re-discovering the target</a:t>
            </a:r>
          </a:p>
          <a:p>
            <a:pPr lvl="1"/>
            <a:r>
              <a:rPr sz="2400" b="1" dirty="0"/>
              <a:t>Capability handoff</a:t>
            </a:r>
            <a:r>
              <a:rPr sz="2400" dirty="0"/>
              <a:t> — you deploy the partner team's </a:t>
            </a:r>
            <a:r>
              <a:rPr sz="2400" b="1" dirty="0"/>
              <a:t>tool</a:t>
            </a:r>
            <a:r>
              <a:rPr sz="2400" dirty="0"/>
              <a:t> into your foothold and let them drive</a:t>
            </a:r>
          </a:p>
          <a:p>
            <a:r>
              <a:rPr sz="2400" dirty="0"/>
              <a:t>Capability handoff is powerful and </a:t>
            </a:r>
            <a:r>
              <a:rPr sz="2400" b="1" dirty="0"/>
              <a:t>dangerous</a:t>
            </a:r>
            <a:r>
              <a:rPr sz="2400" dirty="0"/>
              <a:t>: you are now running someone else's code on a target that is still nominally your responsibility</a:t>
            </a:r>
          </a:p>
          <a:p>
            <a:r>
              <a:rPr sz="2400" dirty="0"/>
              <a:t>CPT rule of thumb: the Access Guide must be good enough that the partner team could act </a:t>
            </a:r>
            <a:r>
              <a:rPr sz="2400" b="1" dirty="0"/>
              <a:t>without</a:t>
            </a:r>
            <a:r>
              <a:rPr sz="2400" dirty="0"/>
              <a:t> the capability handoff — the implant is an accelerator, not a crutch</a:t>
            </a:r>
          </a:p>
          <a:p>
            <a:r>
              <a:rPr sz="2400" dirty="0"/>
              <a:t>Include the expansion rationale (scan vs plant) so partners understand how evidence was produced and where uncertainty remains</a:t>
            </a:r>
          </a:p>
        </p:txBody>
      </p:sp>
      <p:sp>
        <p:nvSpPr>
          <p:cNvPr id="3" name="Title 2"/>
          <p:cNvSpPr>
            <a:spLocks noGrp="1"/>
          </p:cNvSpPr>
          <p:nvPr>
            <p:ph type="title"/>
          </p:nvPr>
        </p:nvSpPr>
        <p:spPr/>
        <p:txBody>
          <a:bodyPr wrap="square">
            <a:normAutofit/>
          </a:bodyPr>
          <a:lstStyle/>
          <a:p>
            <a:r>
              <a:rPr sz="4000"/>
              <a:t>What "Handoff" Means in Cyber</a:t>
            </a:r>
          </a:p>
        </p:txBody>
      </p:sp>
      <p:pic>
        <p:nvPicPr>
          <p:cNvPr id="4" name="Picture 3" descr="e80d77f424edb64d487cb5ad0cf9bb1fb5bc175ed247f97d2436ecb782c8a54c.png"/>
          <p:cNvPicPr>
            <a:picLocks noChangeAspect="1"/>
          </p:cNvPicPr>
          <p:nvPr/>
        </p:nvPicPr>
        <p:blipFill>
          <a:blip r:embed="rId3"/>
          <a:stretch>
            <a:fillRect/>
          </a:stretch>
        </p:blipFill>
        <p:spPr>
          <a:xfrm>
            <a:off x="6690713" y="1188720"/>
            <a:ext cx="5180686" cy="51806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10029" y="1188720"/>
            <a:ext cx="9831261" cy="5131633"/>
          </a:xfrm>
        </p:spPr>
        <p:txBody>
          <a:bodyPr wrap="square">
            <a:normAutofit fontScale="92500"/>
          </a:bodyPr>
          <a:lstStyle/>
          <a:p>
            <a:r>
              <a:rPr sz="2400" b="1" dirty="0"/>
              <a:t>Target identity</a:t>
            </a:r>
            <a:r>
              <a:rPr sz="2400" dirty="0"/>
              <a:t> — hostname, domain (if any), IPs, OS/kernel, key users</a:t>
            </a:r>
          </a:p>
          <a:p>
            <a:r>
              <a:rPr sz="2400" b="1" dirty="0"/>
              <a:t>Access story</a:t>
            </a:r>
            <a:r>
              <a:rPr sz="2400" dirty="0"/>
              <a:t> — how you got in, what credentials/tokens/sessions you are holding, and how long they last</a:t>
            </a:r>
          </a:p>
          <a:p>
            <a:r>
              <a:rPr sz="2400" b="1" dirty="0"/>
              <a:t>Current posture</a:t>
            </a:r>
            <a:r>
              <a:rPr sz="2400" dirty="0"/>
              <a:t> — what you have enumerated, what you have already changed (Day 1 effects go here), what you have </a:t>
            </a:r>
            <a:r>
              <a:rPr sz="2400" b="1" dirty="0"/>
              <a:t>not</a:t>
            </a:r>
            <a:r>
              <a:rPr sz="2400" dirty="0"/>
              <a:t> touched</a:t>
            </a:r>
          </a:p>
          <a:p>
            <a:r>
              <a:rPr sz="2400" b="1" dirty="0"/>
              <a:t>Expansion method and findings</a:t>
            </a:r>
            <a:r>
              <a:rPr sz="2400" dirty="0"/>
              <a:t> — what follow-on method you chose (scan or plant), what it produced, and confidence level</a:t>
            </a:r>
          </a:p>
          <a:p>
            <a:r>
              <a:rPr sz="2400" b="1" dirty="0"/>
              <a:t>Adversary tempo</a:t>
            </a:r>
            <a:r>
              <a:rPr sz="2400" dirty="0"/>
              <a:t> — cadence observed, next expected action, time-to-detect estimate</a:t>
            </a:r>
          </a:p>
          <a:p>
            <a:r>
              <a:rPr sz="2400" b="1" dirty="0"/>
              <a:t>Partner tasking</a:t>
            </a:r>
            <a:r>
              <a:rPr sz="2400" dirty="0"/>
              <a:t> — what specifically you want them to do once they have their implant in place</a:t>
            </a:r>
          </a:p>
          <a:p>
            <a:r>
              <a:rPr sz="2400" b="1" dirty="0"/>
              <a:t>Rollback plan</a:t>
            </a:r>
            <a:r>
              <a:rPr sz="2400" dirty="0"/>
              <a:t> — how to remove partner capability cleanly if mission direction changes</a:t>
            </a:r>
          </a:p>
        </p:txBody>
      </p:sp>
      <p:sp>
        <p:nvSpPr>
          <p:cNvPr id="3" name="Title 2"/>
          <p:cNvSpPr>
            <a:spLocks noGrp="1"/>
          </p:cNvSpPr>
          <p:nvPr>
            <p:ph type="title"/>
          </p:nvPr>
        </p:nvSpPr>
        <p:spPr/>
        <p:txBody>
          <a:bodyPr wrap="square">
            <a:normAutofit/>
          </a:bodyPr>
          <a:lstStyle/>
          <a:p>
            <a:r>
              <a:rPr sz="4000"/>
              <a:t>The Access Guide — What a Partner Team Actually Needs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1141621" y="1582321"/>
            <a:ext cx="4826000" cy="4826000"/>
          </a:xfrm>
        </p:spPr>
        <p:txBody>
          <a:bodyPr wrap="square">
            <a:normAutofit fontScale="55000" lnSpcReduction="20000"/>
          </a:bodyPr>
          <a:lstStyle/>
          <a:p>
            <a:r>
              <a:rPr sz="2400" dirty="0"/>
              <a:t>Day 2 effects are only as good as the evidence quality you record</a:t>
            </a:r>
          </a:p>
          <a:p>
            <a:r>
              <a:rPr sz="2400" dirty="0"/>
              <a:t>Your Access Guide must capture both:</a:t>
            </a:r>
          </a:p>
          <a:p>
            <a:pPr lvl="1"/>
            <a:r>
              <a:rPr sz="2400" b="1" dirty="0"/>
              <a:t>Technical characteristics</a:t>
            </a:r>
            <a:r>
              <a:rPr sz="2400" dirty="0"/>
              <a:t> — host/user/process/network/tooling details</a:t>
            </a:r>
          </a:p>
          <a:p>
            <a:pPr lvl="1"/>
            <a:r>
              <a:rPr sz="2400" b="1" dirty="0"/>
              <a:t>Behavioral characteristics</a:t>
            </a:r>
            <a:r>
              <a:rPr sz="2400" dirty="0"/>
              <a:t> — cadence, handling pattern, likely next action</a:t>
            </a:r>
          </a:p>
          <a:p>
            <a:r>
              <a:rPr sz="2400" dirty="0"/>
              <a:t>Poor characterization creates partner rework and can delay action windows</a:t>
            </a:r>
          </a:p>
          <a:p>
            <a:r>
              <a:rPr sz="2400" dirty="0"/>
              <a:t>Expansion decisions must be explicit so partners can reproduce or challenge your findings</a:t>
            </a:r>
          </a:p>
          <a:p>
            <a:r>
              <a:rPr sz="2400" dirty="0"/>
              <a:t>Checklist before any Day 2 execution:</a:t>
            </a:r>
          </a:p>
          <a:p>
            <a:pPr lvl="1"/>
            <a:r>
              <a:rPr sz="2400" dirty="0"/>
              <a:t>1. Technical artifacts captured and timestamped</a:t>
            </a:r>
          </a:p>
          <a:p>
            <a:pPr lvl="1"/>
            <a:r>
              <a:rPr sz="2400" dirty="0"/>
              <a:t>2. Behavioral observations captured with confidence notes</a:t>
            </a:r>
          </a:p>
          <a:p>
            <a:pPr lvl="1"/>
            <a:r>
              <a:rPr sz="2400" dirty="0"/>
              <a:t>3. Expansion method selected (scan or plant) and justified</a:t>
            </a:r>
          </a:p>
          <a:p>
            <a:pPr lvl="1"/>
            <a:r>
              <a:rPr sz="2400" dirty="0"/>
              <a:t>4. Callback / implant destination validated</a:t>
            </a:r>
          </a:p>
          <a:p>
            <a:pPr lvl="1"/>
            <a:r>
              <a:rPr sz="2400" dirty="0"/>
              <a:t>5. Next-action estimate written in the five-line report</a:t>
            </a:r>
          </a:p>
        </p:txBody>
      </p:sp>
      <p:sp>
        <p:nvSpPr>
          <p:cNvPr id="6" name="Title 5"/>
          <p:cNvSpPr>
            <a:spLocks noGrp="1"/>
          </p:cNvSpPr>
          <p:nvPr>
            <p:ph type="title"/>
          </p:nvPr>
        </p:nvSpPr>
        <p:spPr/>
        <p:txBody>
          <a:bodyPr wrap="square">
            <a:normAutofit/>
          </a:bodyPr>
          <a:lstStyle/>
          <a:p>
            <a:r>
              <a:rPr sz="4000"/>
              <a:t>Documentation Discipline — Characterize the Target and Actor Precisely</a:t>
            </a:r>
          </a:p>
        </p:txBody>
      </p:sp>
      <p:pic>
        <p:nvPicPr>
          <p:cNvPr id="7" name="Picture 6" descr="7721cd2862d7f81b1904932dc8a4fdde54489077f0582bba342895b1362bbbd8.png"/>
          <p:cNvPicPr>
            <a:picLocks noChangeAspect="1"/>
          </p:cNvPicPr>
          <p:nvPr/>
        </p:nvPicPr>
        <p:blipFill>
          <a:blip r:embed="rId3"/>
          <a:stretch>
            <a:fillRect/>
          </a:stretch>
        </p:blipFill>
        <p:spPr>
          <a:xfrm>
            <a:off x="6586077" y="1582323"/>
            <a:ext cx="4826000" cy="482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10029" y="1188720"/>
            <a:ext cx="4585971" cy="5131633"/>
          </a:xfrm>
        </p:spPr>
        <p:txBody>
          <a:bodyPr wrap="square">
            <a:normAutofit fontScale="85000" lnSpcReduction="20000"/>
          </a:bodyPr>
          <a:lstStyle/>
          <a:p>
            <a:r>
              <a:rPr sz="2400" b="1" dirty="0"/>
              <a:t>L4.2a Adversary Tracking</a:t>
            </a:r>
            <a:r>
              <a:rPr sz="2400" dirty="0"/>
              <a:t> — run on-target survey from your current foothold, then expand with deliberate follow-on collection to produce tracking-grade telemetry</a:t>
            </a:r>
          </a:p>
          <a:p>
            <a:r>
              <a:rPr sz="2400" b="1" dirty="0"/>
              <a:t>L4.2b Handoff and Partner RAT Deploy</a:t>
            </a:r>
            <a:r>
              <a:rPr sz="2400" dirty="0"/>
              <a:t> — produce an Access Guide and deploy an instructor-provided RAT binary into the adversary foothold, validating callback and documenting expected partner next actions</a:t>
            </a:r>
          </a:p>
          <a:p>
            <a:r>
              <a:rPr sz="2400" dirty="0"/>
              <a:t>Both labs are graded on the </a:t>
            </a:r>
            <a:r>
              <a:rPr sz="2400" b="1" dirty="0"/>
              <a:t>effect report</a:t>
            </a:r>
            <a:r>
              <a:rPr sz="2400" dirty="0"/>
              <a:t> plus the </a:t>
            </a:r>
            <a:r>
              <a:rPr sz="2400" b="1" dirty="0"/>
              <a:t>Access Guide</a:t>
            </a:r>
            <a:r>
              <a:rPr sz="2400" dirty="0"/>
              <a:t> (L4.2b only)</a:t>
            </a:r>
          </a:p>
          <a:p>
            <a:r>
              <a:rPr sz="2400" dirty="0"/>
              <a:t>End-of-day transition is the pivot to agentic operations — </a:t>
            </a:r>
            <a:r>
              <a:rPr sz="2400" b="1" dirty="0"/>
              <a:t>the adversary also automates</a:t>
            </a:r>
          </a:p>
        </p:txBody>
      </p:sp>
      <p:sp>
        <p:nvSpPr>
          <p:cNvPr id="3" name="Title 2"/>
          <p:cNvSpPr>
            <a:spLocks noGrp="1"/>
          </p:cNvSpPr>
          <p:nvPr>
            <p:ph type="title"/>
          </p:nvPr>
        </p:nvSpPr>
        <p:spPr/>
        <p:txBody>
          <a:bodyPr wrap="square">
            <a:normAutofit/>
          </a:bodyPr>
          <a:lstStyle/>
          <a:p>
            <a:r>
              <a:rPr sz="4000"/>
              <a:t>Today's Two Labs — L4.2a and L4.2b</a:t>
            </a:r>
          </a:p>
        </p:txBody>
      </p:sp>
      <p:pic>
        <p:nvPicPr>
          <p:cNvPr id="4" name="Picture 3" descr="f8af9e81e70eeffe737f90e5e75e49b7fa74da255bc288d7d8f2fb61a0b1cdea.png"/>
          <p:cNvPicPr>
            <a:picLocks noChangeAspect="1"/>
          </p:cNvPicPr>
          <p:nvPr/>
        </p:nvPicPr>
        <p:blipFill>
          <a:blip r:embed="rId3"/>
          <a:stretch>
            <a:fillRect/>
          </a:stretch>
        </p:blipFill>
        <p:spPr>
          <a:xfrm>
            <a:off x="6690713" y="1188720"/>
            <a:ext cx="5131632" cy="51316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normAutofit/>
          </a:bodyPr>
          <a:lstStyle/>
          <a:p>
            <a:r>
              <a:rPr sz="2400"/>
              <a:t>You have now run the Week 4 arc at least once: </a:t>
            </a:r>
            <a:r>
              <a:rPr sz="2400" b="1"/>
              <a:t>degrade / disrupt / deny</a:t>
            </a:r>
            <a:r>
              <a:rPr sz="2400"/>
              <a:t>, </a:t>
            </a:r>
            <a:r>
              <a:rPr sz="2400" b="1"/>
              <a:t>deceive / manipulate</a:t>
            </a:r>
            <a:r>
              <a:rPr sz="2400"/>
              <a:t>, </a:t>
            </a:r>
            <a:r>
              <a:rPr sz="2400" b="1"/>
              <a:t>reconnoiter (survey)</a:t>
            </a:r>
            <a:r>
              <a:rPr sz="2400"/>
              <a:t>, </a:t>
            </a:r>
            <a:r>
              <a:rPr sz="2400" b="1"/>
              <a:t>handoff</a:t>
            </a:r>
          </a:p>
          <a:p>
            <a:r>
              <a:rPr sz="2400"/>
              <a:t>Tomorrow: the adversary is doing all of this too, but faster — because they are using agents</a:t>
            </a:r>
          </a:p>
          <a:p>
            <a:r>
              <a:rPr sz="2400"/>
              <a:t>You will spend three days building the same automation layer they are using, then counter-striking it</a:t>
            </a:r>
          </a:p>
          <a:p>
            <a:r>
              <a:rPr sz="2400"/>
              <a:t>Tonight's read-ahead: </a:t>
            </a:r>
            <a:r>
              <a:rPr sz="2400">
                <a:latin typeface="Courier New"/>
              </a:rPr>
              <a:t>../Agentic Lesson Part 1 Outline.md</a:t>
            </a:r>
            <a:r>
              <a:rPr sz="2400"/>
              <a:t> and the first half of </a:t>
            </a:r>
            <a:r>
              <a:rPr sz="2400">
                <a:latin typeface="Courier New"/>
              </a:rPr>
              <a:t>../AI Part 1 Lecture Content.md</a:t>
            </a:r>
          </a:p>
        </p:txBody>
      </p:sp>
      <p:sp>
        <p:nvSpPr>
          <p:cNvPr id="3" name="Title 2"/>
          <p:cNvSpPr>
            <a:spLocks noGrp="1"/>
          </p:cNvSpPr>
          <p:nvPr>
            <p:ph type="title"/>
          </p:nvPr>
        </p:nvSpPr>
        <p:spPr/>
        <p:txBody>
          <a:bodyPr wrap="square">
            <a:normAutofit/>
          </a:bodyPr>
          <a:lstStyle/>
          <a:p>
            <a:r>
              <a:rPr sz="4000"/>
              <a:t>Wrap — Transition to Agentic Operations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sz="4400"/>
              <a:t>Questions?</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800" dirty="0" smtClean="0">
            <a:solidFill>
              <a:schemeClr val="tx1"/>
            </a:solidFill>
          </a:defRPr>
        </a:defPPr>
      </a:lstStyle>
    </a:txDef>
  </a:objectDefaults>
  <a:extraClrSchemeLst/>
  <a:extLst>
    <a:ext uri="{05A4C25C-085E-4340-85A3-A5531E510DB2}">
      <thm15:themeFamily xmlns:thm15="http://schemas.microsoft.com/office/thememl/2012/main" name="Lecture Guide Template_AOC_20230414" id="{8959DFD7-926F-4406-8670-4DF5FDEA2D75}" vid="{199B4965-A47D-45F3-92F8-17A6BA23EC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e5daa175-c0b1-4ddd-b63a-d3e50dcc4732</TitusGUID>
  <TitusMetadata xmlns="">eyJucyI6Imh0dHA6XC9cL3d3dy50aXR1cy5jb21cL25zXC9Kb2ludCBTZXJ2aWNlIFByb3ZpZGVyIiwicHJvcHMiOlt7Im4iOiJDbGFzc2lmaWNhdGlvblRpdHVzIiwidmFscyI6W3sidmFsdWUiOiJCTEFOSyJ9XX0seyJuIjoiU2NpVGl0dXMiLCJ2YWxzIjpbXX0seyJuIjoiRGlzc2VtVGl0dXMiLCJ2YWxzIjpbXX0seyJuIjoiUmVsVGl0dXMiLCJ2YWxzIjpbXX0seyJuIjoiQ2xhc3NpZmllZEJ5IiwidmFscyI6W119LHsibiI6IkRlcml2ZWRGcm9tIiwidmFscyI6W119LHsibiI6IkRhdGVkIiwidmFscyI6W119LHsibiI6IkRlY2xhc3NpZnlPbiIsInZhbHMiOltdfSx7Im4iOiJBZGRpdGlvbmFsRmllbGRzIiwidmFscyI6W119LHsibiI6IkFFQU1hcmtpbmdzIiwidmFscyI6W119LHsibiI6IkZHSU1hcmtpbmdzIiwidmFscyI6W119LHsibiI6IkFDQ01NYXJraW5ncyIsInZhbHMiOltdfSx7Im4iOiJQcml2YWN5U2Vuc2l0aXZlIiwidmFscyI6W119LHsibiI6IkNVSUJ1dHRvbiIsInZhbHMiOltdfSx7Im4iOiJDb250cm9sbGVkQnkiLCJ2YWxzIjpbXX0seyJuIjoiQ1VJQ2F0ZWdvcnkiLCJ2YWxzIjpbXX0seyJuIjoiTGltaXRlZERpc3NlbWluYXRpb25Db250cm9sIiwidmFscyI6W119LHsibiI6IlBPQyIsInZhbHMiOltdfSx7Im4iOiJDcml0aWNhbEluZnJhc3RydWN0dXJlIiwidmFscyI6W119LHsibiI6IkRlZmVuc2UiLCJ2YWxzIjpbXX0seyJuIjoiRXhwb3J0Q29udHJvbGxlZCIsInZhbHMiOltdfSx7Im4iOiJGaW5hbmNpYWwiLCJ2YWxzIjpbXX0seyJuIjoiSW1taWdyYXRpb24iLCJ2YWxzIjpbXX0seyJuIjoiSW50ZWxsaWdlbmNlIiwidmFscyI6W119LHsibiI6IkludGVybmF0aW9uYWxBZ3JlZW1lbnRzIiwidmFscyI6W119LHsibiI6Ikxhd0VuZm9yY2VtZW50IiwidmFscyI6W119LHsibiI6IkxlZ2FsIiwidmFscyI6W119LHsibiI6Ik5hdHVyYWxDdWx0dXJhbFJlc291cmNlcyIsInZhbHMiOltdfSx7Im4iOiJOb3J0aEF0bGFudGljVHJlYXR5T3JnYW5pemF0aW9uIiwidmFscyI6W119LHsibiI6Ik5VQ0xFQVIiLCJ2YWxzIjpbXX0seyJuIjoiUGF0aWVudCIsInZhbHMiOltdfSx7Im4iOiJQcml2YWN5IiwidmFscyI6W119LHsibiI6IlByb2N1cmVtZW50QWNxdWlzaXRpb24iLCJ2YWxzIjpbXX0seyJuIjoiUHJvcHJpZXRhcnlCdXNpbmVzc0luZm9ybWF0aW9uIiwidmFscyI6W119LHsibiI6IlN0YXRpc3RpY2FsIiwidmFscyI6W119LHsibiI6IlRheCIsInZhbHMiOltdfSx7Im4iOiJUcmFuc3BvcnRhdGlvbiIsInZhbHMiOltdfSx7Im4iOiJSRUxDVUkiLCJ2YWxzIjpbXX1dfQ==</TitusMetadata>
</titus>
</file>

<file path=customXml/itemProps1.xml><?xml version="1.0" encoding="utf-8"?>
<ds:datastoreItem xmlns:ds="http://schemas.openxmlformats.org/officeDocument/2006/customXml" ds:itemID="{9ED1A20F-9DE4-4159-9A6D-18E30615BA76}">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emplate>Lecture Guide Template_AOC_20230414</Template>
  <TotalTime>1610</TotalTime>
  <Words>2520</Words>
  <Application>Microsoft Office PowerPoint</Application>
  <PresentationFormat>Widescreen</PresentationFormat>
  <Paragraphs>167</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CyberTemplateL_Green Unclass</vt:lpstr>
      <vt:lpstr>4.2 Persistent Effects and Handoff</vt:lpstr>
      <vt:lpstr>Yesterday We Denied and Deceived — Today We Survey and Hand Off</vt:lpstr>
      <vt:lpstr>Situational Awareness Package from Prior Survey</vt:lpstr>
      <vt:lpstr>Additional Collection for Handoff Decisions and Success</vt:lpstr>
      <vt:lpstr>What "Handoff" Means in Cyber</vt:lpstr>
      <vt:lpstr>The Access Guide — What a Partner Team Actually Needs</vt:lpstr>
      <vt:lpstr>Documentation Discipline — Characterize the Target and Actor Precisely</vt:lpstr>
      <vt:lpstr>Today's Two Labs — L4.2a and L4.2b</vt:lpstr>
      <vt:lpstr>Wrap — Transition to Agentic Operations</vt:lpstr>
      <vt:lpstr>Questions?</vt:lpstr>
    </vt:vector>
  </TitlesOfParts>
  <Company>DoD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 Security Products Software and Nomenclature</dc:title>
  <dc:creator>Cross, Clayton D</dc:creator>
  <cp:lastModifiedBy>Cross, Clay</cp:lastModifiedBy>
  <cp:revision>104</cp:revision>
  <dcterms:created xsi:type="dcterms:W3CDTF">2023-04-26T14:13:19Z</dcterms:created>
  <dcterms:modified xsi:type="dcterms:W3CDTF">2026-06-09T04:24:27Z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e5daa175-c0b1-4ddd-b63a-d3e50dcc4732</vt:lpwstr>
  </property>
  <property fmtid="{D5CDD505-2E9C-101B-9397-08002B2CF9AE}" pid="3" name="ClassificationTitus">
    <vt:lpwstr>BLANK</vt:lpwstr>
  </property>
</Properties>
</file>